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b4f1f2f46534e6f" /><Relationship Type="http://schemas.openxmlformats.org/officeDocument/2006/relationships/extended-properties" Target="/docProps/app.xml" Id="Rbb828625c0384783" /><Relationship Type="http://schemas.openxmlformats.org/officeDocument/2006/relationships/officeDocument" Target="/ppt/presentation.xml" Id="R3ac32943dd944438" /></Relationships>
</file>

<file path=ppt/presentation.xml><?xml version="1.0" encoding="utf-8"?>
<p:presentation xmlns:p="http://schemas.openxmlformats.org/presentationml/2006/main">
  <p:sldMasterIdLst>
    <p:sldMasterId xmlns:r="http://schemas.openxmlformats.org/officeDocument/2006/relationships" id="2147483648" r:id="R89a7aaeb56f942b2"/>
  </p:sldMasterIdLst>
  <p:notesMasterIdLst>
    <p:notesMasterId xmlns:r="http://schemas.openxmlformats.org/officeDocument/2006/relationships" r:id="R319c8fb7bfbf49b8"/>
  </p:notesMasterIdLst>
  <p:sldIdLst>
    <p:sldId xmlns:r="http://schemas.openxmlformats.org/officeDocument/2006/relationships" id="256" r:id="R1fa0c3a3824543a8"/>
    <p:sldId xmlns:r="http://schemas.openxmlformats.org/officeDocument/2006/relationships" id="257" r:id="R9d6c42dd44f44097"/>
    <p:sldId xmlns:r="http://schemas.openxmlformats.org/officeDocument/2006/relationships" id="258" r:id="Rd411b697fc8c4533"/>
    <p:sldId xmlns:r="http://schemas.openxmlformats.org/officeDocument/2006/relationships" id="259" r:id="R2f27b087e32f4abb"/>
    <p:sldId xmlns:r="http://schemas.openxmlformats.org/officeDocument/2006/relationships" id="260" r:id="R5e5a6a7f03534185"/>
    <p:sldId xmlns:r="http://schemas.openxmlformats.org/officeDocument/2006/relationships" id="261" r:id="Raee1eaa3e28b44e1"/>
    <p:sldId xmlns:r="http://schemas.openxmlformats.org/officeDocument/2006/relationships" id="262" r:id="R7df1e5e0c7194a99"/>
    <p:sldId xmlns:r="http://schemas.openxmlformats.org/officeDocument/2006/relationships" id="263" r:id="R2ea46f8338c4437f"/>
    <p:sldId xmlns:r="http://schemas.openxmlformats.org/officeDocument/2006/relationships" id="264" r:id="Rec0d2a5642b449bf"/>
    <p:sldId xmlns:r="http://schemas.openxmlformats.org/officeDocument/2006/relationships" id="265" r:id="R3b44302c99ca42a4"/>
    <p:sldId xmlns:r="http://schemas.openxmlformats.org/officeDocument/2006/relationships" id="266" r:id="R799bb7f375234a6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7c04f73adc24584" /><Relationship Type="http://schemas.openxmlformats.org/officeDocument/2006/relationships/slideMaster" Target="/ppt/slideMasters/slideMaster1.xml" Id="R89a7aaeb56f942b2" /><Relationship Type="http://schemas.openxmlformats.org/officeDocument/2006/relationships/notesMaster" Target="/ppt/notesMasters/notesMaster1.xml" Id="R319c8fb7bfbf49b8" /><Relationship Type="http://schemas.openxmlformats.org/officeDocument/2006/relationships/presProps" Target="/ppt/presProps.xml" Id="R0f39b75f7ba542aa" /><Relationship Type="http://schemas.openxmlformats.org/officeDocument/2006/relationships/tableStyles" Target="/ppt/tableStyles.xml" Id="R1bf7bfc8b1454a8f" /><Relationship Type="http://schemas.openxmlformats.org/officeDocument/2006/relationships/slide" Target="/ppt/slides/slide1.xml" Id="R1fa0c3a3824543a8" /><Relationship Type="http://schemas.openxmlformats.org/officeDocument/2006/relationships/slide" Target="/ppt/slides/slide2.xml" Id="R9d6c42dd44f44097" /><Relationship Type="http://schemas.openxmlformats.org/officeDocument/2006/relationships/slide" Target="/ppt/slides/slide3.xml" Id="Rd411b697fc8c4533" /><Relationship Type="http://schemas.openxmlformats.org/officeDocument/2006/relationships/slide" Target="/ppt/slides/slide4.xml" Id="R2f27b087e32f4abb" /><Relationship Type="http://schemas.openxmlformats.org/officeDocument/2006/relationships/slide" Target="/ppt/slides/slide5.xml" Id="R5e5a6a7f03534185" /><Relationship Type="http://schemas.openxmlformats.org/officeDocument/2006/relationships/slide" Target="/ppt/slides/slide6.xml" Id="Raee1eaa3e28b44e1" /><Relationship Type="http://schemas.openxmlformats.org/officeDocument/2006/relationships/slide" Target="/ppt/slides/slide7.xml" Id="R7df1e5e0c7194a99" /><Relationship Type="http://schemas.openxmlformats.org/officeDocument/2006/relationships/slide" Target="/ppt/slides/slide8.xml" Id="R2ea46f8338c4437f" /><Relationship Type="http://schemas.openxmlformats.org/officeDocument/2006/relationships/slide" Target="/ppt/slides/slide9.xml" Id="Rec0d2a5642b449bf" /><Relationship Type="http://schemas.openxmlformats.org/officeDocument/2006/relationships/slide" Target="/ppt/slides/slide10.xml" Id="R3b44302c99ca42a4" /><Relationship Type="http://schemas.openxmlformats.org/officeDocument/2006/relationships/slide" Target="/ppt/slides/slide11.xml" Id="R799bb7f375234a6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948b6aab762441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HeatReady">
      <a:dk1>
        <a:srgbClr val="000000"/>
      </a:dk1>
      <a:lt1>
        <a:srgbClr val="FFFFFF"/>
      </a:lt1>
      <a:dk2>
        <a:srgbClr val="0D2A3A"/>
      </a:dk2>
      <a:lt2>
        <a:srgbClr val="DCE7E7"/>
      </a:lt2>
      <a:accent1>
        <a:srgbClr val="1AA58F"/>
      </a:accent1>
      <a:accent2>
        <a:srgbClr val="F06449"/>
      </a:accent2>
      <a:accent3>
        <a:srgbClr val="E2AD2B"/>
      </a:accent3>
      <a:accent4>
        <a:srgbClr val="6D5DD3"/>
      </a:accent4>
      <a:accent5>
        <a:srgbClr val="3183B8"/>
      </a:accent5>
      <a:accent6>
        <a:srgbClr val="D96787"/>
      </a:accent6>
      <a:hlink>
        <a:srgbClr val="1AA58F"/>
      </a:hlink>
      <a:folHlink>
        <a:srgbClr val="6D5DD3"/>
      </a:folHlink>
    </a:clrScheme>
    <a:fontScheme name="">
      <a:majorFont>
        <a:latin typeface="Aptos"/>
        <a:ea typeface=""/>
        <a:cs typeface=""/>
      </a:majorFont>
      <a:minorFont>
        <a:latin typeface="Aptos"/>
        <a:ea typeface=""/>
        <a:cs typeface=""/>
      </a:minorFont>
    </a:fontScheme>
    <a:fmtScheme name="HeatRead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334fdb51a349ce" /><Relationship Type="http://schemas.openxmlformats.org/officeDocument/2006/relationships/notesMaster" Target="/ppt/notesMasters/notesMaster1.xml" Id="R0fc904a9be5a4cc2" /></Relationships>
</file>

<file path=ppt/notesSlides/_rels/notesSlide2.xml.rels>&#65279;<?xml version="1.0" encoding="utf-8"?><Relationships xmlns="http://schemas.openxmlformats.org/package/2006/relationships"><Relationship Type="http://schemas.openxmlformats.org/officeDocument/2006/relationships/slide" Target="/ppt/slides/slide2.xml" Id="Rc94daf45b02a4009" /><Relationship Type="http://schemas.openxmlformats.org/officeDocument/2006/relationships/notesMaster" Target="/ppt/notesMasters/notesMaster1.xml" Id="R1b6d0bb1b78c4b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9d3ad92c3b4886" /><Relationship Type="http://schemas.openxmlformats.org/officeDocument/2006/relationships/notesMaster" Target="/ppt/notesMasters/notesMaster1.xml" Id="Re02bdcff85b246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2f89ec2aa834d34" /><Relationship Type="http://schemas.openxmlformats.org/officeDocument/2006/relationships/notesMaster" Target="/ppt/notesMasters/notesMaster1.xml" Id="Rc046aaef916242ab"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2d9a0e23764954" /><Relationship Type="http://schemas.openxmlformats.org/officeDocument/2006/relationships/notesMaster" Target="/ppt/notesMasters/notesMaster1.xml" Id="Rf0053563d24e42da" /></Relationships>
</file>

<file path=ppt/notesSlides/_rels/notesSlide6.xml.rels>&#65279;<?xml version="1.0" encoding="utf-8"?><Relationships xmlns="http://schemas.openxmlformats.org/package/2006/relationships"><Relationship Type="http://schemas.openxmlformats.org/officeDocument/2006/relationships/slide" Target="/ppt/slides/slide6.xml" Id="R3aed1da794eb4f08" /><Relationship Type="http://schemas.openxmlformats.org/officeDocument/2006/relationships/notesMaster" Target="/ppt/notesMasters/notesMaster1.xml" Id="R174460a0b9a14c3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e58b79b2a14cb1" /><Relationship Type="http://schemas.openxmlformats.org/officeDocument/2006/relationships/notesMaster" Target="/ppt/notesMasters/notesMaster1.xml" Id="R47f4473e0a354dd8" /></Relationships>
</file>

<file path=ppt/notesSlides/_rels/notesSlide8.xml.rels>&#65279;<?xml version="1.0" encoding="utf-8"?><Relationships xmlns="http://schemas.openxmlformats.org/package/2006/relationships"><Relationship Type="http://schemas.openxmlformats.org/officeDocument/2006/relationships/slide" Target="/ppt/slides/slide8.xml" Id="Rb7395f3db6d448cc" /><Relationship Type="http://schemas.openxmlformats.org/officeDocument/2006/relationships/notesMaster" Target="/ppt/notesMasters/notesMaster1.xml" Id="Rc1d39ae6f77245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1e22f79609074d98" /><Relationship Type="http://schemas.openxmlformats.org/officeDocument/2006/relationships/notesMaster" Target="/ppt/notesMasters/notesMaster1.xml" Id="Ra2be539afadb4e6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cf63ddf816446e9" /><Relationship Type="http://schemas.openxmlformats.org/officeDocument/2006/relationships/notesMaster" Target="/ppt/notesMasters/notesMaster1.xml" Id="Rf873a75fe314415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d929903405b4c4a" /><Relationship Type="http://schemas.openxmlformats.org/officeDocument/2006/relationships/notesMaster" Target="/ppt/notesMasters/notesMaster1.xml" Id="R19960aa17a2644e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0:00–0:20 | Yusuf. Riyadh HeatReady uses satellite data to rank 1 km zones in southeastern Riyadh where recent growth, hotter land surfaces and modelled population overlap. The decision is simple: where should a municipal team inspect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0:20–1:00 | Yusuf. Introduce both team members. Do not add unverified education or employment. Yusuf owns the technical explanation and demo. Raed owns how the output becomes a municipal workflow, how limits affect use, and how the pilot would be tested.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1:00–2:00 | Yusuf. The study covers 168.30 square kilometres in southeastern Riyadh, not the whole city. The intended user is a municipal planning and heat-resilience team. The MVP ranks 1 km zones for inspection. It does not prescribe trees, roofs or pavements automatically. No user interview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2:00–3:25 | Yusuf. Each source has one job. Annual land cover proposes endpoint growth. A separate Sentinel-2 and Sentinel-1 model confirms pixels that still look built-up in 2025. Landsat adds land-surface temperature, WorldPop adds modelled exposure, and Sentinel-2 adds vegetation. Tanager tests a desert failure mode. The score is 40 percent heat, 30 percent population, 20 percent confirmed growth and 10 percent lack of vegetation.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3:25–5:00 | Yusuf. Demonstrate the dashboard. The stricter rule retained 3.74 square kilometres of confirmed growth. Fourteen of 67 eligible cells are High priority. R05C10 is first at about 78.7. Show that each bar exposes the score components. The map is a screening result, so a local check must happen before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5:00–6:10 | Yusuf. The spatial east-side holdout reached F1 0.88, IoU 0.78 and balanced accuracy 0.89 against WorldCover. WorldCover is another satellite product, so this measures agreement, not field truth. Also state that land-surface temperature is not air temperature, WorldPop is modelled, bright desert remains difficult and the score weights need user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6:10–7:10 | Yusuf. The innovation is the conservative, explainable chain. Annual change alone is not trusted. Optical and radar evidence confirm it. Tanager showed that likely unbuilt bright surfaces can have a higher narrow-band NDBI than established built surfaces, so a simple threshold is unsafe. The impact is faster, repeatable screening, but this remains a value hypothesis until users test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7:10–8:00 | Raed. The next stage is a measured pilot, not a deployment claim. First interview users and confirm the workflow. Then inspect the top five zones and record useful results and false alarms. Adjust weights and add local constraints. Finally test a repeatable update in another Riyadh area. Our ask is support for one municipal pilot that measures whether the ranking improves screening.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only. Open if a judge asks for exact source dates, roles or licences.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only. Use for questions about leakage, train-test geography, annual trend uncertainty or the difference between satellite agreement and field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only. Yusuf handles technical and data questions. Raed handles decision workflow, user impact, limitations in use and the incubation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85d6acdb7544fb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60c968d8720454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8f25365e6f0490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c67aae036984c5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23c037a7ea54f6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e23de8232ac45c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C5B502-B139-4C0F-AE58-E495B42B71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C60721B-E36E-4E94-9A74-7FCDAB6FBBC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5CDFC46-C980-494C-891A-C818BEA9F43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25F746-5159-41F4-906B-7AB257A03D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28F6876-E0D0-4983-A6DE-A4D788E604E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F6CD120-7F91-451E-915E-4240440FE9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FF823A3-23FB-462E-9B2B-8BA26001C09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13007E3-0830-4648-9360-8DEB53B90FF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6A18CC-588D-4E7A-838F-BAA711E457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D98E8A4-44B1-4474-9D44-0455A09C40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7b7c05f7f234dd4" /><Relationship Type="http://schemas.openxmlformats.org/officeDocument/2006/relationships/slideLayout" Target="/ppt/slideLayouts/slideLayout1.xml" Id="R205837d5a5cc42c2" /><Relationship Type="http://schemas.openxmlformats.org/officeDocument/2006/relationships/slideLayout" Target="/ppt/slideLayouts/slideLayout2.xml" Id="R01e750c614b6496d" /><Relationship Type="http://schemas.openxmlformats.org/officeDocument/2006/relationships/slideLayout" Target="/ppt/slideLayouts/slideLayout3.xml" Id="R4435618b83c54eb3" /><Relationship Type="http://schemas.openxmlformats.org/officeDocument/2006/relationships/slideLayout" Target="/ppt/slideLayouts/slideLayout4.xml" Id="Rd535f00dfd92447a" /><Relationship Type="http://schemas.openxmlformats.org/officeDocument/2006/relationships/slideLayout" Target="/ppt/slideLayouts/slideLayout5.xml" Id="Rbe96fa3a920a45c3" /><Relationship Type="http://schemas.openxmlformats.org/officeDocument/2006/relationships/slideLayout" Target="/ppt/slideLayouts/slideLayout6.xml" Id="R66fecbbcb47942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5837d5a5cc42c2"/>
    <p:sldLayoutId xmlns:r="http://schemas.openxmlformats.org/officeDocument/2006/relationships" id="2147483650" r:id="R01e750c614b6496d"/>
    <p:sldLayoutId xmlns:r="http://schemas.openxmlformats.org/officeDocument/2006/relationships" id="2147483651" r:id="R4435618b83c54eb3"/>
    <p:sldLayoutId xmlns:r="http://schemas.openxmlformats.org/officeDocument/2006/relationships" id="2147483652" r:id="Rd535f00dfd92447a"/>
    <p:sldLayoutId xmlns:r="http://schemas.openxmlformats.org/officeDocument/2006/relationships" id="2147483653" r:id="Rbe96fa3a920a45c3"/>
    <p:sldLayoutId xmlns:r="http://schemas.openxmlformats.org/officeDocument/2006/relationships" id="2147483654" r:id="R66fecbbcb47942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HeatReady">
      <a:dk1>
        <a:srgbClr val="000000"/>
      </a:dk1>
      <a:lt1>
        <a:srgbClr val="FFFFFF"/>
      </a:lt1>
      <a:dk2>
        <a:srgbClr val="0D2A3A"/>
      </a:dk2>
      <a:lt2>
        <a:srgbClr val="DCE7E7"/>
      </a:lt2>
      <a:accent1>
        <a:srgbClr val="1AA58F"/>
      </a:accent1>
      <a:accent2>
        <a:srgbClr val="F06449"/>
      </a:accent2>
      <a:accent3>
        <a:srgbClr val="E2AD2B"/>
      </a:accent3>
      <a:accent4>
        <a:srgbClr val="6D5DD3"/>
      </a:accent4>
      <a:accent5>
        <a:srgbClr val="3183B8"/>
      </a:accent5>
      <a:accent6>
        <a:srgbClr val="D96787"/>
      </a:accent6>
      <a:hlink>
        <a:srgbClr val="1AA58F"/>
      </a:hlink>
      <a:folHlink>
        <a:srgbClr val="6D5DD3"/>
      </a:folHlink>
    </a:clrScheme>
    <a:fontScheme name="">
      <a:majorFont>
        <a:latin typeface="Aptos"/>
        <a:ea typeface=""/>
        <a:cs typeface=""/>
      </a:majorFont>
      <a:minorFont>
        <a:latin typeface="Aptos"/>
        <a:ea typeface=""/>
        <a:cs typeface=""/>
      </a:minorFont>
    </a:fontScheme>
    <a:fmtScheme name="HeatRead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be69ecf2b634d2f" /><Relationship Type="http://schemas.openxmlformats.org/officeDocument/2006/relationships/image" Target="/ppt/media/image.png" Id="Rdf896ac776134220" /><Relationship Type="http://schemas.openxmlformats.org/officeDocument/2006/relationships/notesSlide" Target="/ppt/notesSlides/notesSlide1.xml" Id="R3fa6d77a8a79420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5bf080c494a4335" /><Relationship Type="http://schemas.openxmlformats.org/officeDocument/2006/relationships/notesSlide" Target="/ppt/notesSlides/notesSlide2.xml" Id="R22cb37a9f64f4bd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0fb8b33f96343aa" /><Relationship Type="http://schemas.openxmlformats.org/officeDocument/2006/relationships/notesSlide" Target="/ppt/notesSlides/notesSlide3.xml" Id="R813ccbf0279b4b6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c52740d901545a2" /><Relationship Type="http://schemas.openxmlformats.org/officeDocument/2006/relationships/image" Target="/ppt/media/image2.png" Id="R67e3a17611d146c8" /><Relationship Type="http://schemas.openxmlformats.org/officeDocument/2006/relationships/notesSlide" Target="/ppt/notesSlides/notesSlide4.xml" Id="R623dc8b41b5643e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f8fa71b5f3b4460" /><Relationship Type="http://schemas.openxmlformats.org/officeDocument/2006/relationships/image" Target="/ppt/media/image3.png" Id="R0b102592495b4321" /><Relationship Type="http://schemas.openxmlformats.org/officeDocument/2006/relationships/image" Target="/ppt/media/image4.png" Id="R814ebeedfd4542bb" /><Relationship Type="http://schemas.openxmlformats.org/officeDocument/2006/relationships/notesSlide" Target="/ppt/notesSlides/notesSlide5.xml" Id="Rf414de2138bd417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0836775ad3e43b1" /><Relationship Type="http://schemas.openxmlformats.org/officeDocument/2006/relationships/image" Target="/ppt/media/image5.png" Id="R1a5d79b954b846f2" /><Relationship Type="http://schemas.openxmlformats.org/officeDocument/2006/relationships/notesSlide" Target="/ppt/notesSlides/notesSlide6.xml" Id="R762b708e17d545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1dda8f7dea6480a" /><Relationship Type="http://schemas.openxmlformats.org/officeDocument/2006/relationships/image" Target="/ppt/media/image6.png" Id="R44a1e3d910324f9e" /><Relationship Type="http://schemas.openxmlformats.org/officeDocument/2006/relationships/notesSlide" Target="/ppt/notesSlides/notesSlide7.xml" Id="R34b399c676f34bc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9a645acbf7c43e8" /><Relationship Type="http://schemas.openxmlformats.org/officeDocument/2006/relationships/notesSlide" Target="/ppt/notesSlides/notesSlide8.xml" Id="R2caf6ae3349145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31b0a475b084585" /><Relationship Type="http://schemas.openxmlformats.org/officeDocument/2006/relationships/notesSlide" Target="/ppt/notesSlides/notesSlide9.xml" Id="Rc4a8279cc080452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47187fda2f84b98" /><Relationship Type="http://schemas.openxmlformats.org/officeDocument/2006/relationships/image" Target="/ppt/media/image7.png" Id="Rf1e5cce8ea754226" /><Relationship Type="http://schemas.openxmlformats.org/officeDocument/2006/relationships/image" Target="/ppt/media/image8.png" Id="Rc52bfa21919b4fef" /><Relationship Type="http://schemas.openxmlformats.org/officeDocument/2006/relationships/notesSlide" Target="/ppt/notesSlides/notesSlide10.xml" Id="Rf3924c6152f2472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30a67e6cd684e1a" /><Relationship Type="http://schemas.openxmlformats.org/officeDocument/2006/relationships/notesSlide" Target="/ppt/notesSlides/notesSlide11.xml" Id="Rb9e88d6d82234789" /></Relationships>
</file>

<file path=ppt/slides/slide1.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329CE53D-1A72-4509-B214-A1570763490A}"/>
              </a:ext>
            </a:extLst>
          </p:cNvPr>
          <p:cNvPicPr>
            <a:picLocks xmlns:a="http://schemas.openxmlformats.org/drawingml/2006/main" noChangeAspect="1"/>
          </p:cNvPicPr>
          <p:nvPr/>
        </p:nvPicPr>
        <p:blipFill>
          <a:blip xmlns:r="http://schemas.openxmlformats.org/officeDocument/2006/relationships" xmlns:a="http://schemas.openxmlformats.org/drawingml/2006/main" r:embed="Rdf896ac776134220"/>
          <a:srcRect xmlns:a="http://schemas.openxmlformats.org/drawingml/2006/main" l="4671" t="0" r="4671" b="0"/>
          <a:stretch xmlns:a="http://schemas.openxmlformats.org/drawingml/2006/main">
            <a:fillRect l="0" t="0" r="0" b="0"/>
          </a:stretch>
        </p:blipFill>
        <p:spPr>
          <a:xfrm xmlns:a="http://schemas.openxmlformats.org/drawingml/2006/main">
            <a:off x="6572250" y="0"/>
            <a:ext cx="561975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701C276-F0AC-46E4-A88C-7B5CB837F410}"/>
              </a:ext>
            </a:extLst>
          </p:cNvPr>
          <p:cNvSpPr>
            <a:spLocks xmlns:a="http://schemas.openxmlformats.org/drawingml/2006/main" noGrp="1"/>
          </p:cNvSpPr>
          <p:nvPr/>
        </p:nvSpPr>
        <p:spPr>
          <a:xfrm xmlns:a="http://schemas.openxmlformats.org/drawingml/2006/main">
            <a:off x="6191250" y="0"/>
            <a:ext cx="762000" cy="6858000"/>
          </a:xfrm>
          <a:prstGeom xmlns:a="http://schemas.openxmlformats.org/drawingml/2006/main" prst="rect">
            <a:avLst/>
          </a:prstGeom>
          <a:solidFill xmlns:a="http://schemas.openxmlformats.org/drawingml/2006/main">
            <a:srgbClr val="071C2B"/>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B33FC7A-F3D2-43AA-8D94-0B8543341555}"/>
              </a:ext>
            </a:extLst>
          </p:cNvPr>
          <p:cNvSpPr>
            <a:spLocks xmlns:a="http://schemas.openxmlformats.org/drawingml/2006/main" noGrp="1"/>
          </p:cNvSpPr>
          <p:nvPr/>
        </p:nvSpPr>
        <p:spPr>
          <a:xfrm xmlns:a="http://schemas.openxmlformats.org/drawingml/2006/main">
            <a:off x="6572250" y="0"/>
            <a:ext cx="5619750" cy="609600"/>
          </a:xfrm>
          <a:prstGeom xmlns:a="http://schemas.openxmlformats.org/drawingml/2006/main" prst="rect">
            <a:avLst/>
          </a:prstGeom>
          <a:solidFill xmlns:a="http://schemas.openxmlformats.org/drawingml/2006/main">
            <a:srgbClr val="071C2B"/>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50B1F0-11B2-4CBB-80F3-4848E07D5619}"/>
              </a:ext>
            </a:extLst>
          </p:cNvPr>
          <p:cNvSpPr>
            <a:spLocks xmlns:a="http://schemas.openxmlformats.org/drawingml/2006/main" noGrp="1"/>
          </p:cNvSpPr>
          <p:nvPr/>
        </p:nvSpPr>
        <p:spPr>
          <a:xfrm xmlns:a="http://schemas.openxmlformats.org/drawingml/2006/main">
            <a:off x="6819900" y="1524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ctr">
              <a:defRPr sz="1125" b="1">
                <a:solidFill>
                  <a:srgbClr val="1AA58F"/>
                </a:solidFill>
                <a:latin typeface="Arial"/>
                <a:ea typeface="Arial"/>
                <a:cs typeface="Arial"/>
              </a:defRPr>
            </a:defPPr>
          </a:lstStyle>
          <a:p xmlns:a="http://schemas.openxmlformats.org/drawingml/2006/main">
            <a:pPr algn="ctr">
              <a:defRPr sz="1125" b="1">
                <a:solidFill>
                  <a:srgbClr val="1AA58F"/>
                </a:solidFill>
                <a:latin typeface="Arial"/>
                <a:ea typeface="Arial"/>
                <a:cs typeface="Arial"/>
              </a:defRPr>
            </a:pPr>
            <a:r>
              <a:rPr sz="1125" b="1">
                <a:solidFill>
                  <a:srgbClr val="1AA58F"/>
                </a:solidFill>
                <a:latin typeface="Arial"/>
                <a:ea typeface="Arial"/>
                <a:cs typeface="Arial"/>
              </a:rPr>
              <a:t>SATELLITE-DERIVED PRIORITY MAP</a:t>
            </a:r>
          </a:p>
        </p:txBody>
      </p:sp>
      <p:sp>
        <p:nvSpPr>
          <p:cNvPr id="5" name="">
            <a:extLst xmlns:a="http://schemas.openxmlformats.org/drawingml/2006/main">
              <a:ext uri="{FF2B5EF4-FFF2-40B4-BE49-F238E27FC236}">
                <a16:creationId xmlns:a16="http://schemas.microsoft.com/office/drawing/2014/main" id="{A6AD0D7D-DA18-441F-BF7D-9EACF02ABEAD}"/>
              </a:ext>
            </a:extLst>
          </p:cNvPr>
          <p:cNvSpPr>
            <a:spLocks xmlns:a="http://schemas.openxmlformats.org/drawingml/2006/main" noGrp="1"/>
          </p:cNvSpPr>
          <p:nvPr/>
        </p:nvSpPr>
        <p:spPr>
          <a:xfrm xmlns:a="http://schemas.openxmlformats.org/drawingml/2006/main">
            <a:off x="647700" y="7239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275" b="1">
                <a:solidFill>
                  <a:srgbClr val="1AA58F"/>
                </a:solidFill>
                <a:latin typeface="Arial"/>
                <a:ea typeface="Arial"/>
                <a:cs typeface="Arial"/>
              </a:defRPr>
            </a:defPPr>
          </a:lstStyle>
          <a:p xmlns:a="http://schemas.openxmlformats.org/drawingml/2006/main">
            <a:pPr algn="l">
              <a:defRPr sz="1275" b="1">
                <a:solidFill>
                  <a:srgbClr val="1AA58F"/>
                </a:solidFill>
                <a:latin typeface="Arial"/>
                <a:ea typeface="Arial"/>
                <a:cs typeface="Arial"/>
              </a:defRPr>
            </a:pPr>
            <a:r>
              <a:rPr sz="1275" b="1">
                <a:solidFill>
                  <a:srgbClr val="1AA58F"/>
                </a:solidFill>
                <a:latin typeface="Arial"/>
                <a:ea typeface="Arial"/>
                <a:cs typeface="Arial"/>
              </a:rPr>
              <a:t>RIYADH</a:t>
            </a:r>
          </a:p>
        </p:txBody>
      </p:sp>
      <p:sp>
        <p:nvSpPr>
          <p:cNvPr id="6" name="">
            <a:extLst xmlns:a="http://schemas.openxmlformats.org/drawingml/2006/main">
              <a:ext uri="{FF2B5EF4-FFF2-40B4-BE49-F238E27FC236}">
                <a16:creationId xmlns:a16="http://schemas.microsoft.com/office/drawing/2014/main" id="{12CA34AD-4D33-4AA3-BF52-BE550B81351A}"/>
              </a:ext>
            </a:extLst>
          </p:cNvPr>
          <p:cNvSpPr>
            <a:spLocks xmlns:a="http://schemas.openxmlformats.org/drawingml/2006/main" noGrp="1"/>
          </p:cNvSpPr>
          <p:nvPr/>
        </p:nvSpPr>
        <p:spPr>
          <a:xfrm xmlns:a="http://schemas.openxmlformats.org/drawingml/2006/main">
            <a:off x="647700" y="1123950"/>
            <a:ext cx="4953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4200" b="1">
                <a:solidFill>
                  <a:srgbClr val="F3F6F2"/>
                </a:solidFill>
                <a:latin typeface="Arial"/>
                <a:ea typeface="Arial"/>
                <a:cs typeface="Arial"/>
              </a:defRPr>
            </a:defPPr>
          </a:lstStyle>
          <a:p xmlns:a="http://schemas.openxmlformats.org/drawingml/2006/main">
            <a:pPr algn="l">
              <a:defRPr sz="4200" b="1">
                <a:solidFill>
                  <a:srgbClr val="F3F6F2"/>
                </a:solidFill>
                <a:latin typeface="Arial"/>
                <a:ea typeface="Arial"/>
                <a:cs typeface="Arial"/>
              </a:defRPr>
            </a:pPr>
            <a:r>
              <a:rPr sz="4200" b="1">
                <a:solidFill>
                  <a:srgbClr val="F3F6F2"/>
                </a:solidFill>
                <a:latin typeface="Arial"/>
                <a:ea typeface="Arial"/>
                <a:cs typeface="Arial"/>
              </a:rPr>
              <a:t>HeatReady</a:t>
            </a:r>
          </a:p>
        </p:txBody>
      </p:sp>
      <p:sp>
        <p:nvSpPr>
          <p:cNvPr id="7" name="">
            <a:extLst xmlns:a="http://schemas.openxmlformats.org/drawingml/2006/main">
              <a:ext uri="{FF2B5EF4-FFF2-40B4-BE49-F238E27FC236}">
                <a16:creationId xmlns:a16="http://schemas.microsoft.com/office/drawing/2014/main" id="{155226BA-52DB-46BB-B208-2C53DF774012}"/>
              </a:ext>
            </a:extLst>
          </p:cNvPr>
          <p:cNvSpPr>
            <a:spLocks xmlns:a="http://schemas.openxmlformats.org/drawingml/2006/main" noGrp="1"/>
          </p:cNvSpPr>
          <p:nvPr/>
        </p:nvSpPr>
        <p:spPr>
          <a:xfrm xmlns:a="http://schemas.openxmlformats.org/drawingml/2006/main">
            <a:off x="647700" y="1952625"/>
            <a:ext cx="4953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950">
                <a:solidFill>
                  <a:srgbClr val="AFC4C6"/>
                </a:solidFill>
                <a:latin typeface="Arial"/>
                <a:ea typeface="Arial"/>
                <a:cs typeface="Arial"/>
              </a:defRPr>
            </a:defPPr>
          </a:lstStyle>
          <a:p xmlns:a="http://schemas.openxmlformats.org/drawingml/2006/main">
            <a:pPr algn="l">
              <a:defRPr sz="1950">
                <a:solidFill>
                  <a:srgbClr val="AFC4C6"/>
                </a:solidFill>
                <a:latin typeface="Arial"/>
                <a:ea typeface="Arial"/>
                <a:cs typeface="Arial"/>
              </a:defRPr>
            </a:pPr>
            <a:r>
              <a:rPr sz="1950">
                <a:solidFill>
                  <a:srgbClr val="AFC4C6"/>
                </a:solidFill>
                <a:latin typeface="Arial"/>
                <a:ea typeface="Arial"/>
                <a:cs typeface="Arial"/>
              </a:rPr>
              <a:t>From satellite evidence to a clear municipal inspection priority</a:t>
            </a:r>
          </a:p>
        </p:txBody>
      </p:sp>
      <p:sp>
        <p:nvSpPr>
          <p:cNvPr id="8" name="">
            <a:extLst xmlns:a="http://schemas.openxmlformats.org/drawingml/2006/main">
              <a:ext uri="{FF2B5EF4-FFF2-40B4-BE49-F238E27FC236}">
                <a16:creationId xmlns:a16="http://schemas.microsoft.com/office/drawing/2014/main" id="{E6E4EE2D-C650-4A0A-80D7-456C01936328}"/>
              </a:ext>
            </a:extLst>
          </p:cNvPr>
          <p:cNvSpPr>
            <a:spLocks xmlns:a="http://schemas.openxmlformats.org/drawingml/2006/main" noGrp="1"/>
          </p:cNvSpPr>
          <p:nvPr/>
        </p:nvSpPr>
        <p:spPr>
          <a:xfrm xmlns:a="http://schemas.openxmlformats.org/drawingml/2006/main">
            <a:off x="647700" y="3086100"/>
            <a:ext cx="47625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9" name="">
            <a:extLst xmlns:a="http://schemas.openxmlformats.org/drawingml/2006/main">
              <a:ext uri="{FF2B5EF4-FFF2-40B4-BE49-F238E27FC236}">
                <a16:creationId xmlns:a16="http://schemas.microsoft.com/office/drawing/2014/main" id="{9319D505-CE3E-4A23-8251-C7FE5D8B6D42}"/>
              </a:ext>
            </a:extLst>
          </p:cNvPr>
          <p:cNvSpPr>
            <a:spLocks xmlns:a="http://schemas.openxmlformats.org/drawingml/2006/main" noGrp="1"/>
          </p:cNvSpPr>
          <p:nvPr/>
        </p:nvSpPr>
        <p:spPr>
          <a:xfrm xmlns:a="http://schemas.openxmlformats.org/drawingml/2006/main">
            <a:off x="647700" y="331470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E2AD2B"/>
                </a:solidFill>
                <a:latin typeface="Arial"/>
                <a:ea typeface="Arial"/>
                <a:cs typeface="Arial"/>
              </a:defRPr>
            </a:defPPr>
          </a:lstStyle>
          <a:p xmlns:a="http://schemas.openxmlformats.org/drawingml/2006/main">
            <a:pPr algn="l">
              <a:defRPr sz="975" b="1">
                <a:solidFill>
                  <a:srgbClr val="E2AD2B"/>
                </a:solidFill>
                <a:latin typeface="Arial"/>
                <a:ea typeface="Arial"/>
                <a:cs typeface="Arial"/>
              </a:defRPr>
            </a:pPr>
            <a:r>
              <a:rPr sz="975" b="1">
                <a:solidFill>
                  <a:srgbClr val="E2AD2B"/>
                </a:solidFill>
                <a:latin typeface="Arial"/>
                <a:ea typeface="Arial"/>
                <a:cs typeface="Arial"/>
              </a:rPr>
              <a:t>ONE DECISION</a:t>
            </a:r>
          </a:p>
        </p:txBody>
      </p:sp>
      <p:sp>
        <p:nvSpPr>
          <p:cNvPr id="10" name="">
            <a:extLst xmlns:a="http://schemas.openxmlformats.org/drawingml/2006/main">
              <a:ext uri="{FF2B5EF4-FFF2-40B4-BE49-F238E27FC236}">
                <a16:creationId xmlns:a16="http://schemas.microsoft.com/office/drawing/2014/main" id="{3C6AC990-CED5-4BC3-B37C-C3F60411E716}"/>
              </a:ext>
            </a:extLst>
          </p:cNvPr>
          <p:cNvSpPr>
            <a:spLocks xmlns:a="http://schemas.openxmlformats.org/drawingml/2006/main" noGrp="1"/>
          </p:cNvSpPr>
          <p:nvPr/>
        </p:nvSpPr>
        <p:spPr>
          <a:xfrm xmlns:a="http://schemas.openxmlformats.org/drawingml/2006/main">
            <a:off x="647700" y="3619500"/>
            <a:ext cx="4953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025" b="1">
                <a:solidFill>
                  <a:srgbClr val="F3F6F2"/>
                </a:solidFill>
                <a:latin typeface="Arial"/>
                <a:ea typeface="Arial"/>
                <a:cs typeface="Arial"/>
              </a:defRPr>
            </a:defPPr>
          </a:lstStyle>
          <a:p xmlns:a="http://schemas.openxmlformats.org/drawingml/2006/main">
            <a:pPr algn="l">
              <a:defRPr sz="2025" b="1">
                <a:solidFill>
                  <a:srgbClr val="F3F6F2"/>
                </a:solidFill>
                <a:latin typeface="Arial"/>
                <a:ea typeface="Arial"/>
                <a:cs typeface="Arial"/>
              </a:defRPr>
            </a:pPr>
            <a:r>
              <a:rPr sz="2025" b="1">
                <a:solidFill>
                  <a:srgbClr val="F3F6F2"/>
                </a:solidFill>
                <a:latin typeface="Arial"/>
                <a:ea typeface="Arial"/>
                <a:cs typeface="Arial"/>
              </a:rPr>
              <a:t>Which 1 km zones should a planning and heat-resilience team inspect first?</a:t>
            </a:r>
          </a:p>
        </p:txBody>
      </p:sp>
      <p:sp>
        <p:nvSpPr>
          <p:cNvPr id="11" name="">
            <a:extLst xmlns:a="http://schemas.openxmlformats.org/drawingml/2006/main">
              <a:ext uri="{FF2B5EF4-FFF2-40B4-BE49-F238E27FC236}">
                <a16:creationId xmlns:a16="http://schemas.microsoft.com/office/drawing/2014/main" id="{D3084BDD-2A4C-4B57-8B06-68CBD142149B}"/>
              </a:ext>
            </a:extLst>
          </p:cNvPr>
          <p:cNvSpPr>
            <a:spLocks xmlns:a="http://schemas.openxmlformats.org/drawingml/2006/main" noGrp="1"/>
          </p:cNvSpPr>
          <p:nvPr/>
        </p:nvSpPr>
        <p:spPr>
          <a:xfrm xmlns:a="http://schemas.openxmlformats.org/drawingml/2006/main">
            <a:off x="647700" y="5924550"/>
            <a:ext cx="514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a:solidFill>
                  <a:srgbClr val="AFC4C6"/>
                </a:solidFill>
                <a:latin typeface="Arial"/>
                <a:ea typeface="Arial"/>
                <a:cs typeface="Arial"/>
              </a:defRPr>
            </a:defPPr>
          </a:lstStyle>
          <a:p xmlns:a="http://schemas.openxmlformats.org/drawingml/2006/main">
            <a:pPr algn="l">
              <a:defRPr sz="1050">
                <a:solidFill>
                  <a:srgbClr val="AFC4C6"/>
                </a:solidFill>
                <a:latin typeface="Arial"/>
                <a:ea typeface="Arial"/>
                <a:cs typeface="Arial"/>
              </a:defRPr>
            </a:pPr>
            <a:r>
              <a:rPr sz="1050">
                <a:solidFill>
                  <a:srgbClr val="AFC4C6"/>
                </a:solidFill>
                <a:latin typeface="Arial"/>
                <a:ea typeface="Arial"/>
                <a:cs typeface="Arial"/>
              </a:rPr>
              <a:t>Milkaholics  •  Urban Expansion, Land Use Change &amp; Heat Risk  •  United Arab Emirates</a:t>
            </a:r>
          </a:p>
        </p:txBody>
      </p:sp>
    </p:spTree>
    <p:extLst>
      <p:ext uri="{BB962C8B-B14F-4D97-AF65-F5344CB8AC3E}">
        <p14:creationId xmlns:p14="http://schemas.microsoft.com/office/powerpoint/2010/main" val="359597919"/>
      </p:ext>
    </p:extLst>
  </p:cSld>
</p:sld>
</file>

<file path=ppt/slides/slide2.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E47F8E97-BBE9-4947-8B93-695AA1CB633A}"/>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TEAM CAPABILITY</a:t>
            </a:r>
          </a:p>
        </p:txBody>
      </p:sp>
      <p:sp>
        <p:nvSpPr>
          <p:cNvPr id="2" name="">
            <a:extLst xmlns:a="http://schemas.openxmlformats.org/drawingml/2006/main">
              <a:ext uri="{FF2B5EF4-FFF2-40B4-BE49-F238E27FC236}">
                <a16:creationId xmlns:a16="http://schemas.microsoft.com/office/drawing/2014/main" id="{9FEE8EB9-D6E5-4164-A3B9-E972BF284639}"/>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Two clear owners for one testable decision</a:t>
            </a:r>
          </a:p>
        </p:txBody>
      </p:sp>
      <p:sp>
        <p:nvSpPr>
          <p:cNvPr id="3" name="">
            <a:extLst xmlns:a="http://schemas.openxmlformats.org/drawingml/2006/main">
              <a:ext uri="{FF2B5EF4-FFF2-40B4-BE49-F238E27FC236}">
                <a16:creationId xmlns:a16="http://schemas.microsoft.com/office/drawing/2014/main" id="{A57D182D-FF6A-421E-B13E-CD0B1618B841}"/>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51715A1D-8A2B-466C-AD14-95E462793E9A}"/>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5" name="">
            <a:extLst xmlns:a="http://schemas.openxmlformats.org/drawingml/2006/main">
              <a:ext uri="{FF2B5EF4-FFF2-40B4-BE49-F238E27FC236}">
                <a16:creationId xmlns:a16="http://schemas.microsoft.com/office/drawing/2014/main" id="{52598878-BADF-495D-AA91-E90C81154D3B}"/>
              </a:ext>
            </a:extLst>
          </p:cNvPr>
          <p:cNvSpPr>
            <a:spLocks xmlns:a="http://schemas.openxmlformats.org/drawingml/2006/main" noGrp="1"/>
          </p:cNvSpPr>
          <p:nvPr/>
        </p:nvSpPr>
        <p:spPr>
          <a:xfrm xmlns:a="http://schemas.openxmlformats.org/drawingml/2006/main">
            <a:off x="590550" y="1638300"/>
            <a:ext cx="5257800" cy="4095750"/>
          </a:xfrm>
          <a:prstGeom xmlns:a="http://schemas.openxmlformats.org/drawingml/2006/main" prst="roundRect">
            <a:avLst>
              <a:gd name="adj" fmla="val 4186"/>
            </a:avLst>
          </a:prstGeom>
          <a:solidFill xmlns:a="http://schemas.openxmlformats.org/drawingml/2006/main">
            <a:srgbClr val="113646"/>
          </a:solidFill>
          <a:ln xmlns:a="http://schemas.openxmlformats.org/drawingml/2006/main" w="9525">
            <a:solidFill>
              <a:srgbClr val="31505F"/>
            </a:solidFill>
            <a:prstDash val="solid"/>
          </a:ln>
        </p:spPr>
      </p:sp>
      <p:sp>
        <p:nvSpPr>
          <p:cNvPr id="6" name="">
            <a:extLst xmlns:a="http://schemas.openxmlformats.org/drawingml/2006/main">
              <a:ext uri="{FF2B5EF4-FFF2-40B4-BE49-F238E27FC236}">
                <a16:creationId xmlns:a16="http://schemas.microsoft.com/office/drawing/2014/main" id="{6BADCAEB-9985-4E9C-9E59-905F43FA6AD4}"/>
              </a:ext>
            </a:extLst>
          </p:cNvPr>
          <p:cNvSpPr>
            <a:spLocks xmlns:a="http://schemas.openxmlformats.org/drawingml/2006/main" noGrp="1"/>
          </p:cNvSpPr>
          <p:nvPr/>
        </p:nvSpPr>
        <p:spPr>
          <a:xfrm xmlns:a="http://schemas.openxmlformats.org/drawingml/2006/main">
            <a:off x="876300" y="1924050"/>
            <a:ext cx="876300" cy="876300"/>
          </a:xfrm>
          <a:prstGeom xmlns:a="http://schemas.openxmlformats.org/drawingml/2006/main" prst="ellipse">
            <a:avLst/>
          </a:prstGeom>
          <a:solidFill xmlns:a="http://schemas.openxmlformats.org/drawingml/2006/main">
            <a:srgbClr val="1AA58F"/>
          </a:solidFill>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F3F6F2"/>
                </a:solidFill>
              </a:defRPr>
            </a:defPPr>
          </a:lstStyle>
          <a:p xmlns:a="http://schemas.openxmlformats.org/drawingml/2006/main">
            <a:pPr algn="ctr">
              <a:defRPr sz="2250" b="1">
                <a:solidFill>
                  <a:srgbClr val="F3F6F2"/>
                </a:solidFill>
              </a:defRPr>
            </a:pPr>
            <a:r>
              <a:rPr sz="2250" b="1">
                <a:solidFill>
                  <a:srgbClr val="F3F6F2"/>
                </a:solidFill>
              </a:rPr>
              <a:t>YK</a:t>
            </a:r>
          </a:p>
        </p:txBody>
      </p:sp>
      <p:sp>
        <p:nvSpPr>
          <p:cNvPr id="7" name="">
            <a:extLst xmlns:a="http://schemas.openxmlformats.org/drawingml/2006/main">
              <a:ext uri="{FF2B5EF4-FFF2-40B4-BE49-F238E27FC236}">
                <a16:creationId xmlns:a16="http://schemas.microsoft.com/office/drawing/2014/main" id="{C465A740-B82E-441A-A623-E7D16F471050}"/>
              </a:ext>
            </a:extLst>
          </p:cNvPr>
          <p:cNvSpPr>
            <a:spLocks xmlns:a="http://schemas.openxmlformats.org/drawingml/2006/main" noGrp="1"/>
          </p:cNvSpPr>
          <p:nvPr/>
        </p:nvSpPr>
        <p:spPr>
          <a:xfrm xmlns:a="http://schemas.openxmlformats.org/drawingml/2006/main">
            <a:off x="1981200" y="18859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175" b="1">
                <a:solidFill>
                  <a:srgbClr val="F3F6F2"/>
                </a:solidFill>
                <a:latin typeface="Arial"/>
                <a:ea typeface="Arial"/>
                <a:cs typeface="Arial"/>
              </a:defRPr>
            </a:defPPr>
          </a:lstStyle>
          <a:p xmlns:a="http://schemas.openxmlformats.org/drawingml/2006/main">
            <a:pPr algn="l">
              <a:defRPr sz="2175" b="1">
                <a:solidFill>
                  <a:srgbClr val="F3F6F2"/>
                </a:solidFill>
                <a:latin typeface="Arial"/>
                <a:ea typeface="Arial"/>
                <a:cs typeface="Arial"/>
              </a:defRPr>
            </a:pPr>
            <a:r>
              <a:rPr sz="2175" b="1">
                <a:solidFill>
                  <a:srgbClr val="F3F6F2"/>
                </a:solidFill>
                <a:latin typeface="Arial"/>
                <a:ea typeface="Arial"/>
                <a:cs typeface="Arial"/>
              </a:rPr>
              <a:t>Yusuf Karanib</a:t>
            </a:r>
          </a:p>
        </p:txBody>
      </p:sp>
      <p:sp>
        <p:nvSpPr>
          <p:cNvPr id="8" name="">
            <a:extLst xmlns:a="http://schemas.openxmlformats.org/drawingml/2006/main">
              <a:ext uri="{FF2B5EF4-FFF2-40B4-BE49-F238E27FC236}">
                <a16:creationId xmlns:a16="http://schemas.microsoft.com/office/drawing/2014/main" id="{3EB94EA7-0181-47FD-8344-7E642774213C}"/>
              </a:ext>
            </a:extLst>
          </p:cNvPr>
          <p:cNvSpPr>
            <a:spLocks xmlns:a="http://schemas.openxmlformats.org/drawingml/2006/main" noGrp="1"/>
          </p:cNvSpPr>
          <p:nvPr/>
        </p:nvSpPr>
        <p:spPr>
          <a:xfrm xmlns:a="http://schemas.openxmlformats.org/drawingml/2006/main">
            <a:off x="1981200" y="23241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1AA58F"/>
                </a:solidFill>
                <a:latin typeface="Arial"/>
                <a:ea typeface="Arial"/>
                <a:cs typeface="Arial"/>
              </a:defRPr>
            </a:defPPr>
          </a:lstStyle>
          <a:p xmlns:a="http://schemas.openxmlformats.org/drawingml/2006/main">
            <a:pPr algn="l">
              <a:defRPr sz="1350" b="1">
                <a:solidFill>
                  <a:srgbClr val="1AA58F"/>
                </a:solidFill>
                <a:latin typeface="Arial"/>
                <a:ea typeface="Arial"/>
                <a:cs typeface="Arial"/>
              </a:defRPr>
            </a:pPr>
            <a:r>
              <a:rPr sz="1350" b="1">
                <a:solidFill>
                  <a:srgbClr val="1AA58F"/>
                </a:solidFill>
                <a:latin typeface="Arial"/>
                <a:ea typeface="Arial"/>
                <a:cs typeface="Arial"/>
              </a:rPr>
              <a:t>Project Lead and Technical Presenter</a:t>
            </a:r>
          </a:p>
        </p:txBody>
      </p:sp>
      <p:sp>
        <p:nvSpPr>
          <p:cNvPr id="9" name="">
            <a:extLst xmlns:a="http://schemas.openxmlformats.org/drawingml/2006/main">
              <a:ext uri="{FF2B5EF4-FFF2-40B4-BE49-F238E27FC236}">
                <a16:creationId xmlns:a16="http://schemas.microsoft.com/office/drawing/2014/main" id="{AA328ECD-45CC-4EE6-8EE2-D4F4B0668761}"/>
              </a:ext>
            </a:extLst>
          </p:cNvPr>
          <p:cNvSpPr>
            <a:spLocks xmlns:a="http://schemas.openxmlformats.org/drawingml/2006/main" noGrp="1"/>
          </p:cNvSpPr>
          <p:nvPr/>
        </p:nvSpPr>
        <p:spPr>
          <a:xfrm xmlns:a="http://schemas.openxmlformats.org/drawingml/2006/main">
            <a:off x="876300" y="31051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E2AD2B"/>
                </a:solidFill>
                <a:latin typeface="Arial"/>
                <a:ea typeface="Arial"/>
                <a:cs typeface="Arial"/>
              </a:defRPr>
            </a:defPPr>
          </a:lstStyle>
          <a:p xmlns:a="http://schemas.openxmlformats.org/drawingml/2006/main">
            <a:pPr algn="l">
              <a:defRPr sz="975" b="1">
                <a:solidFill>
                  <a:srgbClr val="E2AD2B"/>
                </a:solidFill>
                <a:latin typeface="Arial"/>
                <a:ea typeface="Arial"/>
                <a:cs typeface="Arial"/>
              </a:defRPr>
            </a:pPr>
            <a:r>
              <a:rPr sz="975" b="1">
                <a:solidFill>
                  <a:srgbClr val="E2AD2B"/>
                </a:solidFill>
                <a:latin typeface="Arial"/>
                <a:ea typeface="Arial"/>
                <a:cs typeface="Arial"/>
              </a:rPr>
              <a:t>Project responsibility</a:t>
            </a:r>
          </a:p>
        </p:txBody>
      </p:sp>
      <p:sp>
        <p:nvSpPr>
          <p:cNvPr id="10" name="">
            <a:extLst xmlns:a="http://schemas.openxmlformats.org/drawingml/2006/main">
              <a:ext uri="{FF2B5EF4-FFF2-40B4-BE49-F238E27FC236}">
                <a16:creationId xmlns:a16="http://schemas.microsoft.com/office/drawing/2014/main" id="{AA8143EE-46E0-45D8-8A67-8772C9522B2E}"/>
              </a:ext>
            </a:extLst>
          </p:cNvPr>
          <p:cNvSpPr>
            <a:spLocks xmlns:a="http://schemas.openxmlformats.org/drawingml/2006/main" noGrp="1"/>
          </p:cNvSpPr>
          <p:nvPr/>
        </p:nvSpPr>
        <p:spPr>
          <a:xfrm xmlns:a="http://schemas.openxmlformats.org/drawingml/2006/main">
            <a:off x="876300" y="3448050"/>
            <a:ext cx="209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650" b="1">
                <a:solidFill>
                  <a:srgbClr val="1AA58F"/>
                </a:solidFill>
                <a:latin typeface="Arial"/>
                <a:ea typeface="Arial"/>
                <a:cs typeface="Arial"/>
              </a:defRPr>
            </a:defPPr>
          </a:lstStyle>
          <a:p xmlns:a="http://schemas.openxmlformats.org/drawingml/2006/main">
            <a:pPr algn="l">
              <a:defRPr sz="1650" b="1">
                <a:solidFill>
                  <a:srgbClr val="1AA58F"/>
                </a:solidFill>
                <a:latin typeface="Arial"/>
                <a:ea typeface="Arial"/>
                <a:cs typeface="Arial"/>
              </a:defRPr>
            </a:pPr>
            <a:r>
              <a:rPr sz="1650" b="1">
                <a:solidFill>
                  <a:srgbClr val="1AA58F"/>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B7626C07-5EDE-4017-A46B-E43DB876D15E}"/>
              </a:ext>
            </a:extLst>
          </p:cNvPr>
          <p:cNvSpPr>
            <a:spLocks xmlns:a="http://schemas.openxmlformats.org/drawingml/2006/main" noGrp="1"/>
          </p:cNvSpPr>
          <p:nvPr/>
        </p:nvSpPr>
        <p:spPr>
          <a:xfrm xmlns:a="http://schemas.openxmlformats.org/drawingml/2006/main">
            <a:off x="1123950" y="3448050"/>
            <a:ext cx="4267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a:solidFill>
                  <a:srgbClr val="F3F6F2"/>
                </a:solidFill>
                <a:latin typeface="Arial"/>
                <a:ea typeface="Arial"/>
                <a:cs typeface="Arial"/>
              </a:defRPr>
            </a:defPPr>
          </a:lstStyle>
          <a:p xmlns:a="http://schemas.openxmlformats.org/drawingml/2006/main">
            <a:pPr algn="l">
              <a:defRPr sz="1350">
                <a:solidFill>
                  <a:srgbClr val="F3F6F2"/>
                </a:solidFill>
                <a:latin typeface="Arial"/>
                <a:ea typeface="Arial"/>
                <a:cs typeface="Arial"/>
              </a:defRPr>
            </a:pPr>
            <a:r>
              <a:rPr sz="1350">
                <a:solidFill>
                  <a:srgbClr val="F3F6F2"/>
                </a:solidFill>
                <a:latin typeface="Arial"/>
                <a:ea typeface="Arial"/>
                <a:cs typeface="Arial"/>
              </a:rPr>
              <a:t>Coordinates the final submission and live demonstration.</a:t>
            </a:r>
          </a:p>
        </p:txBody>
      </p:sp>
      <p:sp>
        <p:nvSpPr>
          <p:cNvPr id="12" name="">
            <a:extLst xmlns:a="http://schemas.openxmlformats.org/drawingml/2006/main">
              <a:ext uri="{FF2B5EF4-FFF2-40B4-BE49-F238E27FC236}">
                <a16:creationId xmlns:a16="http://schemas.microsoft.com/office/drawing/2014/main" id="{5F3FE6ED-8FA5-48E6-8492-1FBF0E83B0E0}"/>
              </a:ext>
            </a:extLst>
          </p:cNvPr>
          <p:cNvSpPr>
            <a:spLocks xmlns:a="http://schemas.openxmlformats.org/drawingml/2006/main" noGrp="1"/>
          </p:cNvSpPr>
          <p:nvPr/>
        </p:nvSpPr>
        <p:spPr>
          <a:xfrm xmlns:a="http://schemas.openxmlformats.org/drawingml/2006/main">
            <a:off x="876300" y="4057650"/>
            <a:ext cx="209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650" b="1">
                <a:solidFill>
                  <a:srgbClr val="1AA58F"/>
                </a:solidFill>
                <a:latin typeface="Arial"/>
                <a:ea typeface="Arial"/>
                <a:cs typeface="Arial"/>
              </a:defRPr>
            </a:defPPr>
          </a:lstStyle>
          <a:p xmlns:a="http://schemas.openxmlformats.org/drawingml/2006/main">
            <a:pPr algn="l">
              <a:defRPr sz="1650" b="1">
                <a:solidFill>
                  <a:srgbClr val="1AA58F"/>
                </a:solidFill>
                <a:latin typeface="Arial"/>
                <a:ea typeface="Arial"/>
                <a:cs typeface="Arial"/>
              </a:defRPr>
            </a:pPr>
            <a:r>
              <a:rPr sz="1650" b="1">
                <a:solidFill>
                  <a:srgbClr val="1AA58F"/>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1F967455-4087-4B1D-9B27-E3FDE94E77DC}"/>
              </a:ext>
            </a:extLst>
          </p:cNvPr>
          <p:cNvSpPr>
            <a:spLocks xmlns:a="http://schemas.openxmlformats.org/drawingml/2006/main" noGrp="1"/>
          </p:cNvSpPr>
          <p:nvPr/>
        </p:nvSpPr>
        <p:spPr>
          <a:xfrm xmlns:a="http://schemas.openxmlformats.org/drawingml/2006/main">
            <a:off x="1123950" y="4057650"/>
            <a:ext cx="4267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a:solidFill>
                  <a:srgbClr val="F3F6F2"/>
                </a:solidFill>
                <a:latin typeface="Arial"/>
                <a:ea typeface="Arial"/>
                <a:cs typeface="Arial"/>
              </a:defRPr>
            </a:defPPr>
          </a:lstStyle>
          <a:p xmlns:a="http://schemas.openxmlformats.org/drawingml/2006/main">
            <a:pPr algn="l">
              <a:defRPr sz="1350">
                <a:solidFill>
                  <a:srgbClr val="F3F6F2"/>
                </a:solidFill>
                <a:latin typeface="Arial"/>
                <a:ea typeface="Arial"/>
                <a:cs typeface="Arial"/>
              </a:defRPr>
            </a:pPr>
            <a:r>
              <a:rPr sz="1350">
                <a:solidFill>
                  <a:srgbClr val="F3F6F2"/>
                </a:solidFill>
                <a:latin typeface="Arial"/>
                <a:ea typeface="Arial"/>
                <a:cs typeface="Arial"/>
              </a:rPr>
              <a:t>Explains the EO pipeline, score, validation and technical limits.</a:t>
            </a:r>
          </a:p>
        </p:txBody>
      </p:sp>
      <p:sp>
        <p:nvSpPr>
          <p:cNvPr id="14" name="">
            <a:extLst xmlns:a="http://schemas.openxmlformats.org/drawingml/2006/main">
              <a:ext uri="{FF2B5EF4-FFF2-40B4-BE49-F238E27FC236}">
                <a16:creationId xmlns:a16="http://schemas.microsoft.com/office/drawing/2014/main" id="{EB25E22A-BD23-4F6D-B4DB-EC5653B4DF56}"/>
              </a:ext>
            </a:extLst>
          </p:cNvPr>
          <p:cNvSpPr>
            <a:spLocks xmlns:a="http://schemas.openxmlformats.org/drawingml/2006/main" noGrp="1"/>
          </p:cNvSpPr>
          <p:nvPr/>
        </p:nvSpPr>
        <p:spPr>
          <a:xfrm xmlns:a="http://schemas.openxmlformats.org/drawingml/2006/main">
            <a:off x="876300" y="4914900"/>
            <a:ext cx="4476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AFC4C6"/>
                </a:solidFill>
                <a:latin typeface="Arial"/>
                <a:ea typeface="Arial"/>
                <a:cs typeface="Arial"/>
              </a:defRPr>
            </a:defPPr>
          </a:lstStyle>
          <a:p xmlns:a="http://schemas.openxmlformats.org/drawingml/2006/main">
            <a:pPr algn="l">
              <a:defRPr sz="1275" b="1">
                <a:solidFill>
                  <a:srgbClr val="AFC4C6"/>
                </a:solidFill>
                <a:latin typeface="Arial"/>
                <a:ea typeface="Arial"/>
                <a:cs typeface="Arial"/>
              </a:defRPr>
            </a:pPr>
            <a:r>
              <a:rPr sz="1275" b="1">
                <a:solidFill>
                  <a:srgbClr val="AFC4C6"/>
                </a:solidFill>
                <a:latin typeface="Arial"/>
                <a:ea typeface="Arial"/>
                <a:cs typeface="Arial"/>
              </a:rPr>
              <a:t>Project expertise: EO workflow, reproducibility and evidence boundaries.</a:t>
            </a:r>
          </a:p>
        </p:txBody>
      </p:sp>
      <p:sp>
        <p:nvSpPr>
          <p:cNvPr id="15" name="">
            <a:extLst xmlns:a="http://schemas.openxmlformats.org/drawingml/2006/main">
              <a:ext uri="{FF2B5EF4-FFF2-40B4-BE49-F238E27FC236}">
                <a16:creationId xmlns:a16="http://schemas.microsoft.com/office/drawing/2014/main" id="{88315221-3930-4C79-94B3-A0A66A8E0547}"/>
              </a:ext>
            </a:extLst>
          </p:cNvPr>
          <p:cNvSpPr>
            <a:spLocks xmlns:a="http://schemas.openxmlformats.org/drawingml/2006/main" noGrp="1"/>
          </p:cNvSpPr>
          <p:nvPr/>
        </p:nvSpPr>
        <p:spPr>
          <a:xfrm xmlns:a="http://schemas.openxmlformats.org/drawingml/2006/main">
            <a:off x="6343650" y="1638300"/>
            <a:ext cx="5257800" cy="4095750"/>
          </a:xfrm>
          <a:prstGeom xmlns:a="http://schemas.openxmlformats.org/drawingml/2006/main" prst="roundRect">
            <a:avLst>
              <a:gd name="adj" fmla="val 4186"/>
            </a:avLst>
          </a:prstGeom>
          <a:solidFill xmlns:a="http://schemas.openxmlformats.org/drawingml/2006/main">
            <a:srgbClr val="113646"/>
          </a:solidFill>
          <a:ln xmlns:a="http://schemas.openxmlformats.org/drawingml/2006/main" w="9525">
            <a:solidFill>
              <a:srgbClr val="31505F"/>
            </a:solidFill>
            <a:prstDash val="solid"/>
          </a:ln>
        </p:spPr>
      </p:sp>
      <p:sp>
        <p:nvSpPr>
          <p:cNvPr id="16" name="">
            <a:extLst xmlns:a="http://schemas.openxmlformats.org/drawingml/2006/main">
              <a:ext uri="{FF2B5EF4-FFF2-40B4-BE49-F238E27FC236}">
                <a16:creationId xmlns:a16="http://schemas.microsoft.com/office/drawing/2014/main" id="{D1322A35-9047-4A23-BB0F-6E3400E8DFD0}"/>
              </a:ext>
            </a:extLst>
          </p:cNvPr>
          <p:cNvSpPr>
            <a:spLocks xmlns:a="http://schemas.openxmlformats.org/drawingml/2006/main" noGrp="1"/>
          </p:cNvSpPr>
          <p:nvPr/>
        </p:nvSpPr>
        <p:spPr>
          <a:xfrm xmlns:a="http://schemas.openxmlformats.org/drawingml/2006/main">
            <a:off x="6629400" y="1924050"/>
            <a:ext cx="876300" cy="876300"/>
          </a:xfrm>
          <a:prstGeom xmlns:a="http://schemas.openxmlformats.org/drawingml/2006/main" prst="ellipse">
            <a:avLst/>
          </a:prstGeom>
          <a:solidFill xmlns:a="http://schemas.openxmlformats.org/drawingml/2006/main">
            <a:srgbClr val="6D5DD3"/>
          </a:solidFill>
          <a:ln xmlns:a="http://schemas.openxmlformats.org/drawingml/2006/main" w="0">
            <a:noFill/>
            <a:prstDash val="solid"/>
          </a:ln>
        </p:spPr>
        <p:txBody>
          <a:bodyPr xmlns:a="http://schemas.openxmlformats.org/drawingml/2006/main" anchor="ctr"/>
          <a:lstStyle xmlns:a="http://schemas.openxmlformats.org/drawingml/2006/main">
            <a:defPPr algn="ctr">
              <a:defRPr sz="2250" b="1">
                <a:solidFill>
                  <a:srgbClr val="F3F6F2"/>
                </a:solidFill>
              </a:defRPr>
            </a:defPPr>
          </a:lstStyle>
          <a:p xmlns:a="http://schemas.openxmlformats.org/drawingml/2006/main">
            <a:pPr algn="ctr">
              <a:defRPr sz="2250" b="1">
                <a:solidFill>
                  <a:srgbClr val="F3F6F2"/>
                </a:solidFill>
              </a:defRPr>
            </a:pPr>
            <a:r>
              <a:rPr sz="2250" b="1">
                <a:solidFill>
                  <a:srgbClr val="F3F6F2"/>
                </a:solidFill>
              </a:rPr>
              <a:t>RM</a:t>
            </a:r>
          </a:p>
        </p:txBody>
      </p:sp>
      <p:sp>
        <p:nvSpPr>
          <p:cNvPr id="17" name="">
            <a:extLst xmlns:a="http://schemas.openxmlformats.org/drawingml/2006/main">
              <a:ext uri="{FF2B5EF4-FFF2-40B4-BE49-F238E27FC236}">
                <a16:creationId xmlns:a16="http://schemas.microsoft.com/office/drawing/2014/main" id="{66D67EB8-8FF9-440A-A772-5626AD891A06}"/>
              </a:ext>
            </a:extLst>
          </p:cNvPr>
          <p:cNvSpPr>
            <a:spLocks xmlns:a="http://schemas.openxmlformats.org/drawingml/2006/main" noGrp="1"/>
          </p:cNvSpPr>
          <p:nvPr/>
        </p:nvSpPr>
        <p:spPr>
          <a:xfrm xmlns:a="http://schemas.openxmlformats.org/drawingml/2006/main">
            <a:off x="7734300" y="18859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175" b="1">
                <a:solidFill>
                  <a:srgbClr val="F3F6F2"/>
                </a:solidFill>
                <a:latin typeface="Arial"/>
                <a:ea typeface="Arial"/>
                <a:cs typeface="Arial"/>
              </a:defRPr>
            </a:defPPr>
          </a:lstStyle>
          <a:p xmlns:a="http://schemas.openxmlformats.org/drawingml/2006/main">
            <a:pPr algn="l">
              <a:defRPr sz="2175" b="1">
                <a:solidFill>
                  <a:srgbClr val="F3F6F2"/>
                </a:solidFill>
                <a:latin typeface="Arial"/>
                <a:ea typeface="Arial"/>
                <a:cs typeface="Arial"/>
              </a:defRPr>
            </a:pPr>
            <a:r>
              <a:rPr sz="2175" b="1">
                <a:solidFill>
                  <a:srgbClr val="F3F6F2"/>
                </a:solidFill>
                <a:latin typeface="Arial"/>
                <a:ea typeface="Arial"/>
                <a:cs typeface="Arial"/>
              </a:rPr>
              <a:t>Raed Mardoum</a:t>
            </a:r>
          </a:p>
        </p:txBody>
      </p:sp>
      <p:sp>
        <p:nvSpPr>
          <p:cNvPr id="18" name="">
            <a:extLst xmlns:a="http://schemas.openxmlformats.org/drawingml/2006/main">
              <a:ext uri="{FF2B5EF4-FFF2-40B4-BE49-F238E27FC236}">
                <a16:creationId xmlns:a16="http://schemas.microsoft.com/office/drawing/2014/main" id="{BC4F2362-D4AD-41F5-8107-8FEA163D3E7D}"/>
              </a:ext>
            </a:extLst>
          </p:cNvPr>
          <p:cNvSpPr>
            <a:spLocks xmlns:a="http://schemas.openxmlformats.org/drawingml/2006/main" noGrp="1"/>
          </p:cNvSpPr>
          <p:nvPr/>
        </p:nvSpPr>
        <p:spPr>
          <a:xfrm xmlns:a="http://schemas.openxmlformats.org/drawingml/2006/main">
            <a:off x="7734300" y="23241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6D5DD3"/>
                </a:solidFill>
                <a:latin typeface="Arial"/>
                <a:ea typeface="Arial"/>
                <a:cs typeface="Arial"/>
              </a:defRPr>
            </a:defPPr>
          </a:lstStyle>
          <a:p xmlns:a="http://schemas.openxmlformats.org/drawingml/2006/main">
            <a:pPr algn="l">
              <a:defRPr sz="1350" b="1">
                <a:solidFill>
                  <a:srgbClr val="6D5DD3"/>
                </a:solidFill>
                <a:latin typeface="Arial"/>
                <a:ea typeface="Arial"/>
                <a:cs typeface="Arial"/>
              </a:defRPr>
            </a:pPr>
            <a:r>
              <a:rPr sz="1350" b="1">
                <a:solidFill>
                  <a:srgbClr val="6D5DD3"/>
                </a:solidFill>
                <a:latin typeface="Arial"/>
                <a:ea typeface="Arial"/>
                <a:cs typeface="Arial"/>
              </a:rPr>
              <a:t>Decision Workflow and Impact Lead</a:t>
            </a:r>
          </a:p>
        </p:txBody>
      </p:sp>
      <p:sp>
        <p:nvSpPr>
          <p:cNvPr id="19" name="">
            <a:extLst xmlns:a="http://schemas.openxmlformats.org/drawingml/2006/main">
              <a:ext uri="{FF2B5EF4-FFF2-40B4-BE49-F238E27FC236}">
                <a16:creationId xmlns:a16="http://schemas.microsoft.com/office/drawing/2014/main" id="{E0DAD3B0-B8E9-41F1-9265-BEA339C6CE2C}"/>
              </a:ext>
            </a:extLst>
          </p:cNvPr>
          <p:cNvSpPr>
            <a:spLocks xmlns:a="http://schemas.openxmlformats.org/drawingml/2006/main" noGrp="1"/>
          </p:cNvSpPr>
          <p:nvPr/>
        </p:nvSpPr>
        <p:spPr>
          <a:xfrm xmlns:a="http://schemas.openxmlformats.org/drawingml/2006/main">
            <a:off x="6629400" y="31051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E2AD2B"/>
                </a:solidFill>
                <a:latin typeface="Arial"/>
                <a:ea typeface="Arial"/>
                <a:cs typeface="Arial"/>
              </a:defRPr>
            </a:defPPr>
          </a:lstStyle>
          <a:p xmlns:a="http://schemas.openxmlformats.org/drawingml/2006/main">
            <a:pPr algn="l">
              <a:defRPr sz="975" b="1">
                <a:solidFill>
                  <a:srgbClr val="E2AD2B"/>
                </a:solidFill>
                <a:latin typeface="Arial"/>
                <a:ea typeface="Arial"/>
                <a:cs typeface="Arial"/>
              </a:defRPr>
            </a:pPr>
            <a:r>
              <a:rPr sz="975" b="1">
                <a:solidFill>
                  <a:srgbClr val="E2AD2B"/>
                </a:solidFill>
                <a:latin typeface="Arial"/>
                <a:ea typeface="Arial"/>
                <a:cs typeface="Arial"/>
              </a:rPr>
              <a:t>Project contribution</a:t>
            </a:r>
          </a:p>
        </p:txBody>
      </p:sp>
      <p:sp>
        <p:nvSpPr>
          <p:cNvPr id="20" name="">
            <a:extLst xmlns:a="http://schemas.openxmlformats.org/drawingml/2006/main">
              <a:ext uri="{FF2B5EF4-FFF2-40B4-BE49-F238E27FC236}">
                <a16:creationId xmlns:a16="http://schemas.microsoft.com/office/drawing/2014/main" id="{75FE1677-8891-427A-99F1-4A32BECEE1E4}"/>
              </a:ext>
            </a:extLst>
          </p:cNvPr>
          <p:cNvSpPr>
            <a:spLocks xmlns:a="http://schemas.openxmlformats.org/drawingml/2006/main" noGrp="1"/>
          </p:cNvSpPr>
          <p:nvPr/>
        </p:nvSpPr>
        <p:spPr>
          <a:xfrm xmlns:a="http://schemas.openxmlformats.org/drawingml/2006/main">
            <a:off x="6629400" y="3448050"/>
            <a:ext cx="209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650" b="1">
                <a:solidFill>
                  <a:srgbClr val="1AA58F"/>
                </a:solidFill>
                <a:latin typeface="Arial"/>
                <a:ea typeface="Arial"/>
                <a:cs typeface="Arial"/>
              </a:defRPr>
            </a:defPPr>
          </a:lstStyle>
          <a:p xmlns:a="http://schemas.openxmlformats.org/drawingml/2006/main">
            <a:pPr algn="l">
              <a:defRPr sz="1650" b="1">
                <a:solidFill>
                  <a:srgbClr val="1AA58F"/>
                </a:solidFill>
                <a:latin typeface="Arial"/>
                <a:ea typeface="Arial"/>
                <a:cs typeface="Arial"/>
              </a:defRPr>
            </a:pPr>
            <a:r>
              <a:rPr sz="1650" b="1">
                <a:solidFill>
                  <a:srgbClr val="1AA58F"/>
                </a:solidFill>
                <a:latin typeface="Arial"/>
                <a:ea typeface="Arial"/>
                <a:cs typeface="Arial"/>
              </a:rPr>
              <a:t>•</a:t>
            </a:r>
          </a:p>
        </p:txBody>
      </p:sp>
      <p:sp>
        <p:nvSpPr>
          <p:cNvPr id="21" name="">
            <a:extLst xmlns:a="http://schemas.openxmlformats.org/drawingml/2006/main">
              <a:ext uri="{FF2B5EF4-FFF2-40B4-BE49-F238E27FC236}">
                <a16:creationId xmlns:a16="http://schemas.microsoft.com/office/drawing/2014/main" id="{1CE1E7D9-7B96-411D-BE9D-5A99D79381D0}"/>
              </a:ext>
            </a:extLst>
          </p:cNvPr>
          <p:cNvSpPr>
            <a:spLocks xmlns:a="http://schemas.openxmlformats.org/drawingml/2006/main" noGrp="1"/>
          </p:cNvSpPr>
          <p:nvPr/>
        </p:nvSpPr>
        <p:spPr>
          <a:xfrm xmlns:a="http://schemas.openxmlformats.org/drawingml/2006/main">
            <a:off x="6877050" y="3448050"/>
            <a:ext cx="4267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a:solidFill>
                  <a:srgbClr val="F3F6F2"/>
                </a:solidFill>
                <a:latin typeface="Arial"/>
                <a:ea typeface="Arial"/>
                <a:cs typeface="Arial"/>
              </a:defRPr>
            </a:defPPr>
          </a:lstStyle>
          <a:p xmlns:a="http://schemas.openxmlformats.org/drawingml/2006/main">
            <a:pPr algn="l">
              <a:defRPr sz="1350">
                <a:solidFill>
                  <a:srgbClr val="F3F6F2"/>
                </a:solidFill>
                <a:latin typeface="Arial"/>
                <a:ea typeface="Arial"/>
                <a:cs typeface="Arial"/>
              </a:defRPr>
            </a:pPr>
            <a:r>
              <a:rPr sz="1350">
                <a:solidFill>
                  <a:srgbClr val="F3F6F2"/>
                </a:solidFill>
                <a:latin typeface="Arial"/>
                <a:ea typeface="Arial"/>
                <a:cs typeface="Arial"/>
              </a:rPr>
              <a:t>Focused on how planners interpret the ranked zones and score limits.</a:t>
            </a:r>
          </a:p>
        </p:txBody>
      </p:sp>
      <p:sp>
        <p:nvSpPr>
          <p:cNvPr id="22" name="">
            <a:extLst xmlns:a="http://schemas.openxmlformats.org/drawingml/2006/main">
              <a:ext uri="{FF2B5EF4-FFF2-40B4-BE49-F238E27FC236}">
                <a16:creationId xmlns:a16="http://schemas.microsoft.com/office/drawing/2014/main" id="{17C4D1AF-88F4-464B-82ED-CF84656A99A8}"/>
              </a:ext>
            </a:extLst>
          </p:cNvPr>
          <p:cNvSpPr>
            <a:spLocks xmlns:a="http://schemas.openxmlformats.org/drawingml/2006/main" noGrp="1"/>
          </p:cNvSpPr>
          <p:nvPr/>
        </p:nvSpPr>
        <p:spPr>
          <a:xfrm xmlns:a="http://schemas.openxmlformats.org/drawingml/2006/main">
            <a:off x="6629400" y="4133850"/>
            <a:ext cx="209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650" b="1">
                <a:solidFill>
                  <a:srgbClr val="1AA58F"/>
                </a:solidFill>
                <a:latin typeface="Arial"/>
                <a:ea typeface="Arial"/>
                <a:cs typeface="Arial"/>
              </a:defRPr>
            </a:defPPr>
          </a:lstStyle>
          <a:p xmlns:a="http://schemas.openxmlformats.org/drawingml/2006/main">
            <a:pPr algn="l">
              <a:defRPr sz="1650" b="1">
                <a:solidFill>
                  <a:srgbClr val="1AA58F"/>
                </a:solidFill>
                <a:latin typeface="Arial"/>
                <a:ea typeface="Arial"/>
                <a:cs typeface="Arial"/>
              </a:defRPr>
            </a:pPr>
            <a:r>
              <a:rPr sz="1650" b="1">
                <a:solidFill>
                  <a:srgbClr val="1AA58F"/>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1EBE8EE2-A24F-412E-9220-34983146578C}"/>
              </a:ext>
            </a:extLst>
          </p:cNvPr>
          <p:cNvSpPr>
            <a:spLocks xmlns:a="http://schemas.openxmlformats.org/drawingml/2006/main" noGrp="1"/>
          </p:cNvSpPr>
          <p:nvPr/>
        </p:nvSpPr>
        <p:spPr>
          <a:xfrm xmlns:a="http://schemas.openxmlformats.org/drawingml/2006/main">
            <a:off x="6877050" y="4133850"/>
            <a:ext cx="4267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a:solidFill>
                  <a:srgbClr val="F3F6F2"/>
                </a:solidFill>
                <a:latin typeface="Arial"/>
                <a:ea typeface="Arial"/>
                <a:cs typeface="Arial"/>
              </a:defRPr>
            </a:defPPr>
          </a:lstStyle>
          <a:p xmlns:a="http://schemas.openxmlformats.org/drawingml/2006/main">
            <a:pPr algn="l">
              <a:defRPr sz="1350">
                <a:solidFill>
                  <a:srgbClr val="F3F6F2"/>
                </a:solidFill>
                <a:latin typeface="Arial"/>
                <a:ea typeface="Arial"/>
                <a:cs typeface="Arial"/>
              </a:defRPr>
            </a:pPr>
            <a:r>
              <a:rPr sz="1350">
                <a:solidFill>
                  <a:srgbClr val="F3F6F2"/>
                </a:solidFill>
                <a:latin typeface="Arial"/>
                <a:ea typeface="Arial"/>
                <a:cs typeface="Arial"/>
              </a:rPr>
              <a:t>Helped shape field validation, impact and incubation planning.</a:t>
            </a:r>
          </a:p>
        </p:txBody>
      </p:sp>
      <p:sp>
        <p:nvSpPr>
          <p:cNvPr id="24" name="">
            <a:extLst xmlns:a="http://schemas.openxmlformats.org/drawingml/2006/main">
              <a:ext uri="{FF2B5EF4-FFF2-40B4-BE49-F238E27FC236}">
                <a16:creationId xmlns:a16="http://schemas.microsoft.com/office/drawing/2014/main" id="{B382AB9D-F0E4-4019-A9D8-03C59E100E60}"/>
              </a:ext>
            </a:extLst>
          </p:cNvPr>
          <p:cNvSpPr>
            <a:spLocks xmlns:a="http://schemas.openxmlformats.org/drawingml/2006/main" noGrp="1"/>
          </p:cNvSpPr>
          <p:nvPr/>
        </p:nvSpPr>
        <p:spPr>
          <a:xfrm xmlns:a="http://schemas.openxmlformats.org/drawingml/2006/main">
            <a:off x="6629400" y="4914900"/>
            <a:ext cx="4476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AFC4C6"/>
                </a:solidFill>
                <a:latin typeface="Arial"/>
                <a:ea typeface="Arial"/>
                <a:cs typeface="Arial"/>
              </a:defRPr>
            </a:defPPr>
          </a:lstStyle>
          <a:p xmlns:a="http://schemas.openxmlformats.org/drawingml/2006/main">
            <a:pPr algn="l">
              <a:defRPr sz="1275" b="1">
                <a:solidFill>
                  <a:srgbClr val="AFC4C6"/>
                </a:solidFill>
                <a:latin typeface="Arial"/>
                <a:ea typeface="Arial"/>
                <a:cs typeface="Arial"/>
              </a:defRPr>
            </a:pPr>
            <a:r>
              <a:rPr sz="1275" b="1">
                <a:solidFill>
                  <a:srgbClr val="AFC4C6"/>
                </a:solidFill>
                <a:latin typeface="Arial"/>
                <a:ea typeface="Arial"/>
                <a:cs typeface="Arial"/>
              </a:rPr>
              <a:t>Project expertise: decision workflow, impact framing and pilot design.</a:t>
            </a:r>
          </a:p>
        </p:txBody>
      </p:sp>
      <p:sp>
        <p:nvSpPr>
          <p:cNvPr id="25" name="">
            <a:extLst xmlns:a="http://schemas.openxmlformats.org/drawingml/2006/main">
              <a:ext uri="{FF2B5EF4-FFF2-40B4-BE49-F238E27FC236}">
                <a16:creationId xmlns:a16="http://schemas.microsoft.com/office/drawing/2014/main" id="{9CEBE919-46C6-4929-A425-FBBA51ADDAC7}"/>
              </a:ext>
            </a:extLst>
          </p:cNvPr>
          <p:cNvSpPr>
            <a:spLocks xmlns:a="http://schemas.openxmlformats.org/drawingml/2006/main" noGrp="1"/>
          </p:cNvSpPr>
          <p:nvPr/>
        </p:nvSpPr>
        <p:spPr>
          <a:xfrm xmlns:a="http://schemas.openxmlformats.org/drawingml/2006/main">
            <a:off x="590550" y="6543675"/>
            <a:ext cx="7810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675" b="1">
                <a:solidFill>
                  <a:srgbClr val="AFC4C6"/>
                </a:solidFill>
                <a:latin typeface="Arial"/>
                <a:ea typeface="Arial"/>
                <a:cs typeface="Arial"/>
              </a:defRPr>
            </a:defPPr>
          </a:lstStyle>
          <a:p xmlns:a="http://schemas.openxmlformats.org/drawingml/2006/main">
            <a:pPr algn="l">
              <a:defRPr sz="675" b="1">
                <a:solidFill>
                  <a:srgbClr val="AFC4C6"/>
                </a:solidFill>
                <a:latin typeface="Arial"/>
                <a:ea typeface="Arial"/>
                <a:cs typeface="Arial"/>
              </a:defRPr>
            </a:pPr>
            <a:r>
              <a:rPr sz="675" b="1">
                <a:solidFill>
                  <a:srgbClr val="AFC4C6"/>
                </a:solidFill>
                <a:latin typeface="Arial"/>
                <a:ea typeface="Arial"/>
                <a:cs typeface="Arial"/>
              </a:rPr>
              <a:t>MILKAHOLICS  •  ARAB YOUTH SPACE HACKATHON: 813 CHALLENGE</a:t>
            </a:r>
          </a:p>
        </p:txBody>
      </p:sp>
    </p:spTree>
    <p:extLst>
      <p:ext uri="{BB962C8B-B14F-4D97-AF65-F5344CB8AC3E}">
        <p14:creationId xmlns:p14="http://schemas.microsoft.com/office/powerpoint/2010/main" val="860091567"/>
      </p:ext>
    </p:extLst>
  </p:cSld>
</p:sld>
</file>

<file path=ppt/slides/slide3.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2879503-A78D-43DD-89B9-3B0C29DEF581}"/>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PROBLEM, USER AND NEED</a:t>
            </a:r>
          </a:p>
        </p:txBody>
      </p:sp>
      <p:sp>
        <p:nvSpPr>
          <p:cNvPr id="2" name="">
            <a:extLst xmlns:a="http://schemas.openxmlformats.org/drawingml/2006/main">
              <a:ext uri="{FF2B5EF4-FFF2-40B4-BE49-F238E27FC236}">
                <a16:creationId xmlns:a16="http://schemas.microsoft.com/office/drawing/2014/main" id="{A74045D1-8D4C-4D1A-8F48-900BD8FA3BD0}"/>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The problem is not missing maps — it is a fragmented decision</a:t>
            </a:r>
          </a:p>
        </p:txBody>
      </p:sp>
      <p:sp>
        <p:nvSpPr>
          <p:cNvPr id="3" name="">
            <a:extLst xmlns:a="http://schemas.openxmlformats.org/drawingml/2006/main">
              <a:ext uri="{FF2B5EF4-FFF2-40B4-BE49-F238E27FC236}">
                <a16:creationId xmlns:a16="http://schemas.microsoft.com/office/drawing/2014/main" id="{0D441766-BC49-43A3-8A7E-3928329B32E0}"/>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9E7C7CE2-13F2-40B8-A6A4-E3D95C39250D}"/>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5" name="">
            <a:extLst xmlns:a="http://schemas.openxmlformats.org/drawingml/2006/main">
              <a:ext uri="{FF2B5EF4-FFF2-40B4-BE49-F238E27FC236}">
                <a16:creationId xmlns:a16="http://schemas.microsoft.com/office/drawing/2014/main" id="{7EEE1ABD-02A1-4510-B64B-0E4BA328175B}"/>
              </a:ext>
            </a:extLst>
          </p:cNvPr>
          <p:cNvSpPr>
            <a:spLocks xmlns:a="http://schemas.openxmlformats.org/drawingml/2006/main" noGrp="1"/>
          </p:cNvSpPr>
          <p:nvPr/>
        </p:nvSpPr>
        <p:spPr>
          <a:xfrm xmlns:a="http://schemas.openxmlformats.org/drawingml/2006/main">
            <a:off x="590550" y="1619250"/>
            <a:ext cx="24765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6" name="">
            <a:extLst xmlns:a="http://schemas.openxmlformats.org/drawingml/2006/main">
              <a:ext uri="{FF2B5EF4-FFF2-40B4-BE49-F238E27FC236}">
                <a16:creationId xmlns:a16="http://schemas.microsoft.com/office/drawing/2014/main" id="{B1A29884-0138-4A05-ADE7-6BB21EB6F4C2}"/>
              </a:ext>
            </a:extLst>
          </p:cNvPr>
          <p:cNvSpPr>
            <a:spLocks xmlns:a="http://schemas.openxmlformats.org/drawingml/2006/main" noGrp="1"/>
          </p:cNvSpPr>
          <p:nvPr/>
        </p:nvSpPr>
        <p:spPr>
          <a:xfrm xmlns:a="http://schemas.openxmlformats.org/drawingml/2006/main">
            <a:off x="762000" y="1733550"/>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F06449"/>
                </a:solidFill>
                <a:latin typeface="Arial"/>
                <a:ea typeface="Arial"/>
                <a:cs typeface="Arial"/>
              </a:defRPr>
            </a:defPPr>
          </a:lstStyle>
          <a:p xmlns:a="http://schemas.openxmlformats.org/drawingml/2006/main">
            <a:pPr algn="l">
              <a:defRPr sz="2550" b="1">
                <a:solidFill>
                  <a:srgbClr val="F06449"/>
                </a:solidFill>
                <a:latin typeface="Arial"/>
                <a:ea typeface="Arial"/>
                <a:cs typeface="Arial"/>
              </a:defRPr>
            </a:pPr>
            <a:r>
              <a:rPr sz="2550" b="1">
                <a:solidFill>
                  <a:srgbClr val="F06449"/>
                </a:solidFill>
                <a:latin typeface="Arial"/>
                <a:ea typeface="Arial"/>
                <a:cs typeface="Arial"/>
              </a:rPr>
              <a:t>168.30 km²</a:t>
            </a:r>
          </a:p>
        </p:txBody>
      </p:sp>
      <p:sp>
        <p:nvSpPr>
          <p:cNvPr id="7" name="">
            <a:extLst xmlns:a="http://schemas.openxmlformats.org/drawingml/2006/main">
              <a:ext uri="{FF2B5EF4-FFF2-40B4-BE49-F238E27FC236}">
                <a16:creationId xmlns:a16="http://schemas.microsoft.com/office/drawing/2014/main" id="{75A92DB4-1C6B-46D1-B29D-5ECA9A0BA098}"/>
              </a:ext>
            </a:extLst>
          </p:cNvPr>
          <p:cNvSpPr>
            <a:spLocks xmlns:a="http://schemas.openxmlformats.org/drawingml/2006/main" noGrp="1"/>
          </p:cNvSpPr>
          <p:nvPr/>
        </p:nvSpPr>
        <p:spPr>
          <a:xfrm xmlns:a="http://schemas.openxmlformats.org/drawingml/2006/main">
            <a:off x="762000" y="2247900"/>
            <a:ext cx="2133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SOUTHEASTERN RIYADH STUDY AREA</a:t>
            </a:r>
          </a:p>
        </p:txBody>
      </p:sp>
      <p:sp>
        <p:nvSpPr>
          <p:cNvPr id="8" name="">
            <a:extLst xmlns:a="http://schemas.openxmlformats.org/drawingml/2006/main">
              <a:ext uri="{FF2B5EF4-FFF2-40B4-BE49-F238E27FC236}">
                <a16:creationId xmlns:a16="http://schemas.microsoft.com/office/drawing/2014/main" id="{A858E388-B0AE-4A96-9487-D36B33647F2F}"/>
              </a:ext>
            </a:extLst>
          </p:cNvPr>
          <p:cNvSpPr>
            <a:spLocks xmlns:a="http://schemas.openxmlformats.org/drawingml/2006/main" noGrp="1"/>
          </p:cNvSpPr>
          <p:nvPr/>
        </p:nvSpPr>
        <p:spPr>
          <a:xfrm xmlns:a="http://schemas.openxmlformats.org/drawingml/2006/main">
            <a:off x="3219450" y="1619250"/>
            <a:ext cx="24765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9" name="">
            <a:extLst xmlns:a="http://schemas.openxmlformats.org/drawingml/2006/main">
              <a:ext uri="{FF2B5EF4-FFF2-40B4-BE49-F238E27FC236}">
                <a16:creationId xmlns:a16="http://schemas.microsoft.com/office/drawing/2014/main" id="{16CE7704-F9EF-40B6-8F3D-473036DB6C06}"/>
              </a:ext>
            </a:extLst>
          </p:cNvPr>
          <p:cNvSpPr>
            <a:spLocks xmlns:a="http://schemas.openxmlformats.org/drawingml/2006/main" noGrp="1"/>
          </p:cNvSpPr>
          <p:nvPr/>
        </p:nvSpPr>
        <p:spPr>
          <a:xfrm xmlns:a="http://schemas.openxmlformats.org/drawingml/2006/main">
            <a:off x="3390900" y="1733550"/>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E2AD2B"/>
                </a:solidFill>
                <a:latin typeface="Arial"/>
                <a:ea typeface="Arial"/>
                <a:cs typeface="Arial"/>
              </a:defRPr>
            </a:defPPr>
          </a:lstStyle>
          <a:p xmlns:a="http://schemas.openxmlformats.org/drawingml/2006/main">
            <a:pPr algn="l">
              <a:defRPr sz="2550" b="1">
                <a:solidFill>
                  <a:srgbClr val="E2AD2B"/>
                </a:solidFill>
                <a:latin typeface="Arial"/>
                <a:ea typeface="Arial"/>
                <a:cs typeface="Arial"/>
              </a:defRPr>
            </a:pPr>
            <a:r>
              <a:rPr sz="2550" b="1">
                <a:solidFill>
                  <a:srgbClr val="E2AD2B"/>
                </a:solidFill>
                <a:latin typeface="Arial"/>
                <a:ea typeface="Arial"/>
                <a:cs typeface="Arial"/>
              </a:rPr>
              <a:t>1 km</a:t>
            </a:r>
          </a:p>
        </p:txBody>
      </p:sp>
      <p:sp>
        <p:nvSpPr>
          <p:cNvPr id="10" name="">
            <a:extLst xmlns:a="http://schemas.openxmlformats.org/drawingml/2006/main">
              <a:ext uri="{FF2B5EF4-FFF2-40B4-BE49-F238E27FC236}">
                <a16:creationId xmlns:a16="http://schemas.microsoft.com/office/drawing/2014/main" id="{6F1CC88E-EDBB-4F68-B29D-FB26D8D0CAF4}"/>
              </a:ext>
            </a:extLst>
          </p:cNvPr>
          <p:cNvSpPr>
            <a:spLocks xmlns:a="http://schemas.openxmlformats.org/drawingml/2006/main" noGrp="1"/>
          </p:cNvSpPr>
          <p:nvPr/>
        </p:nvSpPr>
        <p:spPr>
          <a:xfrm xmlns:a="http://schemas.openxmlformats.org/drawingml/2006/main">
            <a:off x="3390900" y="2247900"/>
            <a:ext cx="2133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TRANSPARENT SCREENING CELLS</a:t>
            </a:r>
          </a:p>
        </p:txBody>
      </p:sp>
      <p:sp>
        <p:nvSpPr>
          <p:cNvPr id="11" name="">
            <a:extLst xmlns:a="http://schemas.openxmlformats.org/drawingml/2006/main">
              <a:ext uri="{FF2B5EF4-FFF2-40B4-BE49-F238E27FC236}">
                <a16:creationId xmlns:a16="http://schemas.microsoft.com/office/drawing/2014/main" id="{52B32301-05B0-4E93-8F1A-DB4E7017BDDD}"/>
              </a:ext>
            </a:extLst>
          </p:cNvPr>
          <p:cNvSpPr>
            <a:spLocks xmlns:a="http://schemas.openxmlformats.org/drawingml/2006/main" noGrp="1"/>
          </p:cNvSpPr>
          <p:nvPr/>
        </p:nvSpPr>
        <p:spPr>
          <a:xfrm xmlns:a="http://schemas.openxmlformats.org/drawingml/2006/main">
            <a:off x="5848350" y="1619250"/>
            <a:ext cx="24765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12" name="">
            <a:extLst xmlns:a="http://schemas.openxmlformats.org/drawingml/2006/main">
              <a:ext uri="{FF2B5EF4-FFF2-40B4-BE49-F238E27FC236}">
                <a16:creationId xmlns:a16="http://schemas.microsoft.com/office/drawing/2014/main" id="{8A1EE185-018F-4B26-8CA4-7C219FBE8B80}"/>
              </a:ext>
            </a:extLst>
          </p:cNvPr>
          <p:cNvSpPr>
            <a:spLocks xmlns:a="http://schemas.openxmlformats.org/drawingml/2006/main" noGrp="1"/>
          </p:cNvSpPr>
          <p:nvPr/>
        </p:nvSpPr>
        <p:spPr>
          <a:xfrm xmlns:a="http://schemas.openxmlformats.org/drawingml/2006/main">
            <a:off x="6019800" y="1733550"/>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1AA58F"/>
                </a:solidFill>
                <a:latin typeface="Arial"/>
                <a:ea typeface="Arial"/>
                <a:cs typeface="Arial"/>
              </a:defRPr>
            </a:defPPr>
          </a:lstStyle>
          <a:p xmlns:a="http://schemas.openxmlformats.org/drawingml/2006/main">
            <a:pPr algn="l">
              <a:defRPr sz="2550" b="1">
                <a:solidFill>
                  <a:srgbClr val="1AA58F"/>
                </a:solidFill>
                <a:latin typeface="Arial"/>
                <a:ea typeface="Arial"/>
                <a:cs typeface="Arial"/>
              </a:defRPr>
            </a:pPr>
            <a:r>
              <a:rPr sz="2550" b="1">
                <a:solidFill>
                  <a:srgbClr val="1AA58F"/>
                </a:solidFill>
                <a:latin typeface="Arial"/>
                <a:ea typeface="Arial"/>
                <a:cs typeface="Arial"/>
              </a:rPr>
              <a:t>1 user</a:t>
            </a:r>
          </a:p>
        </p:txBody>
      </p:sp>
      <p:sp>
        <p:nvSpPr>
          <p:cNvPr id="13" name="">
            <a:extLst xmlns:a="http://schemas.openxmlformats.org/drawingml/2006/main">
              <a:ext uri="{FF2B5EF4-FFF2-40B4-BE49-F238E27FC236}">
                <a16:creationId xmlns:a16="http://schemas.microsoft.com/office/drawing/2014/main" id="{E311B4AB-2B71-4A9D-A7D9-7EC73D1BA070}"/>
              </a:ext>
            </a:extLst>
          </p:cNvPr>
          <p:cNvSpPr>
            <a:spLocks xmlns:a="http://schemas.openxmlformats.org/drawingml/2006/main" noGrp="1"/>
          </p:cNvSpPr>
          <p:nvPr/>
        </p:nvSpPr>
        <p:spPr>
          <a:xfrm xmlns:a="http://schemas.openxmlformats.org/drawingml/2006/main">
            <a:off x="6019800" y="2247900"/>
            <a:ext cx="2133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MUNICIPAL PLANNING + HEAT TEAM</a:t>
            </a:r>
          </a:p>
        </p:txBody>
      </p:sp>
      <p:sp>
        <p:nvSpPr>
          <p:cNvPr id="14" name="">
            <a:extLst xmlns:a="http://schemas.openxmlformats.org/drawingml/2006/main">
              <a:ext uri="{FF2B5EF4-FFF2-40B4-BE49-F238E27FC236}">
                <a16:creationId xmlns:a16="http://schemas.microsoft.com/office/drawing/2014/main" id="{57687E43-88DC-45EB-BF97-C6E5C1588849}"/>
              </a:ext>
            </a:extLst>
          </p:cNvPr>
          <p:cNvSpPr>
            <a:spLocks xmlns:a="http://schemas.openxmlformats.org/drawingml/2006/main" noGrp="1"/>
          </p:cNvSpPr>
          <p:nvPr/>
        </p:nvSpPr>
        <p:spPr>
          <a:xfrm xmlns:a="http://schemas.openxmlformats.org/drawingml/2006/main">
            <a:off x="8477250" y="1619250"/>
            <a:ext cx="31242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15" name="">
            <a:extLst xmlns:a="http://schemas.openxmlformats.org/drawingml/2006/main">
              <a:ext uri="{FF2B5EF4-FFF2-40B4-BE49-F238E27FC236}">
                <a16:creationId xmlns:a16="http://schemas.microsoft.com/office/drawing/2014/main" id="{C554F50E-8854-40BD-913A-153D075D6137}"/>
              </a:ext>
            </a:extLst>
          </p:cNvPr>
          <p:cNvSpPr>
            <a:spLocks xmlns:a="http://schemas.openxmlformats.org/drawingml/2006/main" noGrp="1"/>
          </p:cNvSpPr>
          <p:nvPr/>
        </p:nvSpPr>
        <p:spPr>
          <a:xfrm xmlns:a="http://schemas.openxmlformats.org/drawingml/2006/main">
            <a:off x="8648700" y="1733550"/>
            <a:ext cx="2781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6D5DD3"/>
                </a:solidFill>
                <a:latin typeface="Arial"/>
                <a:ea typeface="Arial"/>
                <a:cs typeface="Arial"/>
              </a:defRPr>
            </a:defPPr>
          </a:lstStyle>
          <a:p xmlns:a="http://schemas.openxmlformats.org/drawingml/2006/main">
            <a:pPr algn="l">
              <a:defRPr sz="2550" b="1">
                <a:solidFill>
                  <a:srgbClr val="6D5DD3"/>
                </a:solidFill>
                <a:latin typeface="Arial"/>
                <a:ea typeface="Arial"/>
                <a:cs typeface="Arial"/>
              </a:defRPr>
            </a:pPr>
            <a:r>
              <a:rPr sz="2550" b="1">
                <a:solidFill>
                  <a:srgbClr val="6D5DD3"/>
                </a:solidFill>
                <a:latin typeface="Arial"/>
                <a:ea typeface="Arial"/>
                <a:cs typeface="Arial"/>
              </a:rPr>
              <a:t>1 action</a:t>
            </a:r>
          </a:p>
        </p:txBody>
      </p:sp>
      <p:sp>
        <p:nvSpPr>
          <p:cNvPr id="16" name="">
            <a:extLst xmlns:a="http://schemas.openxmlformats.org/drawingml/2006/main">
              <a:ext uri="{FF2B5EF4-FFF2-40B4-BE49-F238E27FC236}">
                <a16:creationId xmlns:a16="http://schemas.microsoft.com/office/drawing/2014/main" id="{5CC7F7B8-8644-4AEB-8D6F-615A6A3EAA80}"/>
              </a:ext>
            </a:extLst>
          </p:cNvPr>
          <p:cNvSpPr>
            <a:spLocks xmlns:a="http://schemas.openxmlformats.org/drawingml/2006/main" noGrp="1"/>
          </p:cNvSpPr>
          <p:nvPr/>
        </p:nvSpPr>
        <p:spPr>
          <a:xfrm xmlns:a="http://schemas.openxmlformats.org/drawingml/2006/main">
            <a:off x="8648700" y="2247900"/>
            <a:ext cx="2781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INSPECT LOCALLY BEFORE INTERVENTION</a:t>
            </a:r>
          </a:p>
        </p:txBody>
      </p:sp>
      <p:sp>
        <p:nvSpPr>
          <p:cNvPr id="17" name="">
            <a:extLst xmlns:a="http://schemas.openxmlformats.org/drawingml/2006/main">
              <a:ext uri="{FF2B5EF4-FFF2-40B4-BE49-F238E27FC236}">
                <a16:creationId xmlns:a16="http://schemas.microsoft.com/office/drawing/2014/main" id="{F2044F2D-0D6C-4CB6-9DBB-7EC98679D8F2}"/>
              </a:ext>
            </a:extLst>
          </p:cNvPr>
          <p:cNvSpPr>
            <a:spLocks xmlns:a="http://schemas.openxmlformats.org/drawingml/2006/main" noGrp="1"/>
          </p:cNvSpPr>
          <p:nvPr/>
        </p:nvSpPr>
        <p:spPr>
          <a:xfrm xmlns:a="http://schemas.openxmlformats.org/drawingml/2006/main">
            <a:off x="590550" y="3048000"/>
            <a:ext cx="11010900" cy="2647950"/>
          </a:xfrm>
          <a:prstGeom xmlns:a="http://schemas.openxmlformats.org/drawingml/2006/main" prst="roundRect">
            <a:avLst>
              <a:gd name="adj" fmla="val 5755"/>
            </a:avLst>
          </a:prstGeom>
          <a:solidFill xmlns:a="http://schemas.openxmlformats.org/drawingml/2006/main">
            <a:srgbClr val="113646"/>
          </a:solidFill>
          <a:ln xmlns:a="http://schemas.openxmlformats.org/drawingml/2006/main" w="9525">
            <a:solidFill>
              <a:srgbClr val="31505F"/>
            </a:solidFill>
            <a:prstDash val="solid"/>
          </a:ln>
        </p:spPr>
      </p:sp>
      <p:sp>
        <p:nvSpPr>
          <p:cNvPr id="18" name="">
            <a:extLst xmlns:a="http://schemas.openxmlformats.org/drawingml/2006/main">
              <a:ext uri="{FF2B5EF4-FFF2-40B4-BE49-F238E27FC236}">
                <a16:creationId xmlns:a16="http://schemas.microsoft.com/office/drawing/2014/main" id="{61BA3AF2-116A-494D-94B0-2659227A0107}"/>
              </a:ext>
            </a:extLst>
          </p:cNvPr>
          <p:cNvSpPr>
            <a:spLocks xmlns:a="http://schemas.openxmlformats.org/drawingml/2006/main" noGrp="1"/>
          </p:cNvSpPr>
          <p:nvPr/>
        </p:nvSpPr>
        <p:spPr>
          <a:xfrm xmlns:a="http://schemas.openxmlformats.org/drawingml/2006/main">
            <a:off x="876300" y="33337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F06449"/>
                </a:solidFill>
                <a:latin typeface="Arial"/>
                <a:ea typeface="Arial"/>
                <a:cs typeface="Arial"/>
              </a:defRPr>
            </a:defPPr>
          </a:lstStyle>
          <a:p xmlns:a="http://schemas.openxmlformats.org/drawingml/2006/main">
            <a:pPr algn="l">
              <a:defRPr sz="975" b="1">
                <a:solidFill>
                  <a:srgbClr val="F06449"/>
                </a:solidFill>
                <a:latin typeface="Arial"/>
                <a:ea typeface="Arial"/>
                <a:cs typeface="Arial"/>
              </a:defRPr>
            </a:pPr>
            <a:r>
              <a:rPr sz="975" b="1">
                <a:solidFill>
                  <a:srgbClr val="F06449"/>
                </a:solidFill>
                <a:latin typeface="Arial"/>
                <a:ea typeface="Arial"/>
                <a:cs typeface="Arial"/>
              </a:rPr>
              <a:t>CURRENT PAIN</a:t>
            </a:r>
          </a:p>
        </p:txBody>
      </p:sp>
      <p:sp>
        <p:nvSpPr>
          <p:cNvPr id="19" name="">
            <a:extLst xmlns:a="http://schemas.openxmlformats.org/drawingml/2006/main">
              <a:ext uri="{FF2B5EF4-FFF2-40B4-BE49-F238E27FC236}">
                <a16:creationId xmlns:a16="http://schemas.microsoft.com/office/drawing/2014/main" id="{021FA338-FAD8-43F7-9131-127D5A3DA241}"/>
              </a:ext>
            </a:extLst>
          </p:cNvPr>
          <p:cNvSpPr>
            <a:spLocks xmlns:a="http://schemas.openxmlformats.org/drawingml/2006/main" noGrp="1"/>
          </p:cNvSpPr>
          <p:nvPr/>
        </p:nvSpPr>
        <p:spPr>
          <a:xfrm xmlns:a="http://schemas.openxmlformats.org/drawingml/2006/main">
            <a:off x="876300" y="3657600"/>
            <a:ext cx="4762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F3F6F2"/>
                </a:solidFill>
                <a:latin typeface="Arial"/>
                <a:ea typeface="Arial"/>
                <a:cs typeface="Arial"/>
              </a:defRPr>
            </a:defPPr>
          </a:lstStyle>
          <a:p xmlns:a="http://schemas.openxmlformats.org/drawingml/2006/main">
            <a:pPr algn="l">
              <a:defRPr sz="1800" b="1">
                <a:solidFill>
                  <a:srgbClr val="F3F6F2"/>
                </a:solidFill>
                <a:latin typeface="Arial"/>
                <a:ea typeface="Arial"/>
                <a:cs typeface="Arial"/>
              </a:defRPr>
            </a:pPr>
            <a:r>
              <a:rPr sz="1800" b="1">
                <a:solidFill>
                  <a:srgbClr val="F3F6F2"/>
                </a:solidFill>
                <a:latin typeface="Arial"/>
                <a:ea typeface="Arial"/>
                <a:cs typeface="Arial"/>
              </a:rPr>
              <a:t>Growth, heat, population and vegetation sit in separate layers. A planner still needs a short, explainable list of places to inspect.</a:t>
            </a:r>
          </a:p>
        </p:txBody>
      </p:sp>
      <p:sp>
        <p:nvSpPr>
          <p:cNvPr id="20" name="">
            <a:extLst xmlns:a="http://schemas.openxmlformats.org/drawingml/2006/main">
              <a:ext uri="{FF2B5EF4-FFF2-40B4-BE49-F238E27FC236}">
                <a16:creationId xmlns:a16="http://schemas.microsoft.com/office/drawing/2014/main" id="{26B32D0A-E778-4CF5-89DF-FED7229A1CBE}"/>
              </a:ext>
            </a:extLst>
          </p:cNvPr>
          <p:cNvSpPr>
            <a:spLocks xmlns:a="http://schemas.openxmlformats.org/drawingml/2006/main" noGrp="1"/>
          </p:cNvSpPr>
          <p:nvPr/>
        </p:nvSpPr>
        <p:spPr>
          <a:xfrm xmlns:a="http://schemas.openxmlformats.org/drawingml/2006/main">
            <a:off x="5981700" y="3333750"/>
            <a:ext cx="9525" cy="1981200"/>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21" name="">
            <a:extLst xmlns:a="http://schemas.openxmlformats.org/drawingml/2006/main">
              <a:ext uri="{FF2B5EF4-FFF2-40B4-BE49-F238E27FC236}">
                <a16:creationId xmlns:a16="http://schemas.microsoft.com/office/drawing/2014/main" id="{A0E99A1B-EF96-4255-AA1F-5954FABEA736}"/>
              </a:ext>
            </a:extLst>
          </p:cNvPr>
          <p:cNvSpPr>
            <a:spLocks xmlns:a="http://schemas.openxmlformats.org/drawingml/2006/main" noGrp="1"/>
          </p:cNvSpPr>
          <p:nvPr/>
        </p:nvSpPr>
        <p:spPr>
          <a:xfrm xmlns:a="http://schemas.openxmlformats.org/drawingml/2006/main">
            <a:off x="6324600" y="33337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1AA58F"/>
                </a:solidFill>
                <a:latin typeface="Arial"/>
                <a:ea typeface="Arial"/>
                <a:cs typeface="Arial"/>
              </a:defRPr>
            </a:defPPr>
          </a:lstStyle>
          <a:p xmlns:a="http://schemas.openxmlformats.org/drawingml/2006/main">
            <a:pPr algn="l">
              <a:defRPr sz="975" b="1">
                <a:solidFill>
                  <a:srgbClr val="1AA58F"/>
                </a:solidFill>
                <a:latin typeface="Arial"/>
                <a:ea typeface="Arial"/>
                <a:cs typeface="Arial"/>
              </a:defRPr>
            </a:pPr>
            <a:r>
              <a:rPr sz="975" b="1">
                <a:solidFill>
                  <a:srgbClr val="1AA58F"/>
                </a:solidFill>
                <a:latin typeface="Arial"/>
                <a:ea typeface="Arial"/>
                <a:cs typeface="Arial"/>
              </a:rPr>
              <a:t>TESTABLE MVP</a:t>
            </a:r>
          </a:p>
        </p:txBody>
      </p:sp>
      <p:sp>
        <p:nvSpPr>
          <p:cNvPr id="22" name="">
            <a:extLst xmlns:a="http://schemas.openxmlformats.org/drawingml/2006/main">
              <a:ext uri="{FF2B5EF4-FFF2-40B4-BE49-F238E27FC236}">
                <a16:creationId xmlns:a16="http://schemas.microsoft.com/office/drawing/2014/main" id="{15E45864-D507-4E57-A3B7-37D14926A337}"/>
              </a:ext>
            </a:extLst>
          </p:cNvPr>
          <p:cNvSpPr>
            <a:spLocks xmlns:a="http://schemas.openxmlformats.org/drawingml/2006/main" noGrp="1"/>
          </p:cNvSpPr>
          <p:nvPr/>
        </p:nvSpPr>
        <p:spPr>
          <a:xfrm xmlns:a="http://schemas.openxmlformats.org/drawingml/2006/main">
            <a:off x="6324600" y="3657600"/>
            <a:ext cx="4762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F3F6F2"/>
                </a:solidFill>
                <a:latin typeface="Arial"/>
                <a:ea typeface="Arial"/>
                <a:cs typeface="Arial"/>
              </a:defRPr>
            </a:defPPr>
          </a:lstStyle>
          <a:p xmlns:a="http://schemas.openxmlformats.org/drawingml/2006/main">
            <a:pPr algn="l">
              <a:defRPr sz="1800" b="1">
                <a:solidFill>
                  <a:srgbClr val="F3F6F2"/>
                </a:solidFill>
                <a:latin typeface="Arial"/>
                <a:ea typeface="Arial"/>
                <a:cs typeface="Arial"/>
              </a:defRPr>
            </a:pPr>
            <a:r>
              <a:rPr sz="1800" b="1">
                <a:solidFill>
                  <a:srgbClr val="F3F6F2"/>
                </a:solidFill>
                <a:latin typeface="Arial"/>
                <a:ea typeface="Arial"/>
                <a:cs typeface="Arial"/>
              </a:rPr>
              <a:t>A ranked layer, dashboard and GIS files that show the score and its evidence — without automatically selecting a cooling intervention.</a:t>
            </a:r>
          </a:p>
        </p:txBody>
      </p:sp>
      <p:sp>
        <p:nvSpPr>
          <p:cNvPr id="23" name="">
            <a:extLst xmlns:a="http://schemas.openxmlformats.org/drawingml/2006/main">
              <a:ext uri="{FF2B5EF4-FFF2-40B4-BE49-F238E27FC236}">
                <a16:creationId xmlns:a16="http://schemas.microsoft.com/office/drawing/2014/main" id="{8AB9A5FB-28C0-4C63-A8F0-807D2E4BE23C}"/>
              </a:ext>
            </a:extLst>
          </p:cNvPr>
          <p:cNvSpPr>
            <a:spLocks xmlns:a="http://schemas.openxmlformats.org/drawingml/2006/main" noGrp="1"/>
          </p:cNvSpPr>
          <p:nvPr/>
        </p:nvSpPr>
        <p:spPr>
          <a:xfrm xmlns:a="http://schemas.openxmlformats.org/drawingml/2006/main">
            <a:off x="876300" y="5191125"/>
            <a:ext cx="1019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200" b="1">
                <a:solidFill>
                  <a:srgbClr val="E2AD2B"/>
                </a:solidFill>
                <a:latin typeface="Arial"/>
                <a:ea typeface="Arial"/>
                <a:cs typeface="Arial"/>
              </a:defRPr>
            </a:defPPr>
          </a:lstStyle>
          <a:p xmlns:a="http://schemas.openxmlformats.org/drawingml/2006/main">
            <a:pPr algn="l">
              <a:defRPr sz="1200" b="1">
                <a:solidFill>
                  <a:srgbClr val="E2AD2B"/>
                </a:solidFill>
                <a:latin typeface="Arial"/>
                <a:ea typeface="Arial"/>
                <a:cs typeface="Arial"/>
              </a:defRPr>
            </a:pPr>
            <a:r>
              <a:rPr sz="1200" b="1">
                <a:solidFill>
                  <a:srgbClr val="E2AD2B"/>
                </a:solidFill>
                <a:latin typeface="Arial"/>
                <a:ea typeface="Arial"/>
                <a:cs typeface="Arial"/>
              </a:rPr>
              <a:t>Honest gap: no municipal user interview has happened yet. The workflow and value must be tested during incubation.</a:t>
            </a:r>
          </a:p>
        </p:txBody>
      </p:sp>
      <p:sp>
        <p:nvSpPr>
          <p:cNvPr id="24" name="">
            <a:extLst xmlns:a="http://schemas.openxmlformats.org/drawingml/2006/main">
              <a:ext uri="{FF2B5EF4-FFF2-40B4-BE49-F238E27FC236}">
                <a16:creationId xmlns:a16="http://schemas.microsoft.com/office/drawing/2014/main" id="{B26989A6-11CD-4B52-9C1D-047758F531D2}"/>
              </a:ext>
            </a:extLst>
          </p:cNvPr>
          <p:cNvSpPr>
            <a:spLocks xmlns:a="http://schemas.openxmlformats.org/drawingml/2006/main" noGrp="1"/>
          </p:cNvSpPr>
          <p:nvPr/>
        </p:nvSpPr>
        <p:spPr>
          <a:xfrm xmlns:a="http://schemas.openxmlformats.org/drawingml/2006/main">
            <a:off x="590550" y="6543675"/>
            <a:ext cx="7810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675" b="1">
                <a:solidFill>
                  <a:srgbClr val="AFC4C6"/>
                </a:solidFill>
                <a:latin typeface="Arial"/>
                <a:ea typeface="Arial"/>
                <a:cs typeface="Arial"/>
              </a:defRPr>
            </a:defPPr>
          </a:lstStyle>
          <a:p xmlns:a="http://schemas.openxmlformats.org/drawingml/2006/main">
            <a:pPr algn="l">
              <a:defRPr sz="675" b="1">
                <a:solidFill>
                  <a:srgbClr val="AFC4C6"/>
                </a:solidFill>
                <a:latin typeface="Arial"/>
                <a:ea typeface="Arial"/>
                <a:cs typeface="Arial"/>
              </a:defRPr>
            </a:pPr>
            <a:r>
              <a:rPr sz="675" b="1">
                <a:solidFill>
                  <a:srgbClr val="AFC4C6"/>
                </a:solidFill>
                <a:latin typeface="Arial"/>
                <a:ea typeface="Arial"/>
                <a:cs typeface="Arial"/>
              </a:rPr>
              <a:t>MILKAHOLICS  •  ARAB YOUTH SPACE HACKATHON: 813 CHALLENGE</a:t>
            </a:r>
          </a:p>
        </p:txBody>
      </p:sp>
    </p:spTree>
    <p:extLst>
      <p:ext uri="{BB962C8B-B14F-4D97-AF65-F5344CB8AC3E}">
        <p14:creationId xmlns:p14="http://schemas.microsoft.com/office/powerpoint/2010/main" val="1641904015"/>
      </p:ext>
    </p:extLst>
  </p:cSld>
</p:sld>
</file>

<file path=ppt/slides/slide4.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CEBB33F-047C-42C0-B10B-FB16A0C4240F}"/>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SPACE DATA AND ANALYTICS</a:t>
            </a:r>
          </a:p>
        </p:txBody>
      </p:sp>
      <p:sp>
        <p:nvSpPr>
          <p:cNvPr id="2" name="">
            <a:extLst xmlns:a="http://schemas.openxmlformats.org/drawingml/2006/main">
              <a:ext uri="{FF2B5EF4-FFF2-40B4-BE49-F238E27FC236}">
                <a16:creationId xmlns:a16="http://schemas.microsoft.com/office/drawing/2014/main" id="{FA5DA456-8428-4809-8F74-2B8A0524D3E2}"/>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Six open sources, one conservative chain</a:t>
            </a:r>
          </a:p>
        </p:txBody>
      </p:sp>
      <p:sp>
        <p:nvSpPr>
          <p:cNvPr id="3" name="">
            <a:extLst xmlns:a="http://schemas.openxmlformats.org/drawingml/2006/main">
              <a:ext uri="{FF2B5EF4-FFF2-40B4-BE49-F238E27FC236}">
                <a16:creationId xmlns:a16="http://schemas.microsoft.com/office/drawing/2014/main" id="{9D7935B4-2BCB-4ED0-8AFA-466C9D397E29}"/>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6097D1C8-9219-4296-A77A-67E97A0F52A1}"/>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5" name="">
            <a:extLst xmlns:a="http://schemas.openxmlformats.org/drawingml/2006/main">
              <a:ext uri="{FF2B5EF4-FFF2-40B4-BE49-F238E27FC236}">
                <a16:creationId xmlns:a16="http://schemas.microsoft.com/office/drawing/2014/main" id="{FAE9B8C7-3D6D-47F7-8454-4DDEAAB8AAA8}"/>
              </a:ext>
            </a:extLst>
          </p:cNvPr>
          <p:cNvSpPr>
            <a:spLocks xmlns:a="http://schemas.openxmlformats.org/drawingml/2006/main" noGrp="1"/>
          </p:cNvSpPr>
          <p:nvPr/>
        </p:nvSpPr>
        <p:spPr>
          <a:xfrm xmlns:a="http://schemas.openxmlformats.org/drawingml/2006/main">
            <a:off x="590550" y="156210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6" name="">
            <a:extLst xmlns:a="http://schemas.openxmlformats.org/drawingml/2006/main">
              <a:ext uri="{FF2B5EF4-FFF2-40B4-BE49-F238E27FC236}">
                <a16:creationId xmlns:a16="http://schemas.microsoft.com/office/drawing/2014/main" id="{8A39C17B-02D9-4E80-824D-4B041F138F77}"/>
              </a:ext>
            </a:extLst>
          </p:cNvPr>
          <p:cNvSpPr>
            <a:spLocks xmlns:a="http://schemas.openxmlformats.org/drawingml/2006/main" noGrp="1"/>
          </p:cNvSpPr>
          <p:nvPr/>
        </p:nvSpPr>
        <p:spPr>
          <a:xfrm xmlns:a="http://schemas.openxmlformats.org/drawingml/2006/main">
            <a:off x="590550" y="1562100"/>
            <a:ext cx="76200" cy="514350"/>
          </a:xfrm>
          <a:prstGeom xmlns:a="http://schemas.openxmlformats.org/drawingml/2006/main" prst="rect">
            <a:avLst/>
          </a:prstGeom>
          <a:solidFill xmlns:a="http://schemas.openxmlformats.org/drawingml/2006/main">
            <a:srgbClr val="1AA58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EBCD7F0-A840-4FE5-827A-6A057F51D749}"/>
              </a:ext>
            </a:extLst>
          </p:cNvPr>
          <p:cNvSpPr>
            <a:spLocks xmlns:a="http://schemas.openxmlformats.org/drawingml/2006/main" noGrp="1"/>
          </p:cNvSpPr>
          <p:nvPr/>
        </p:nvSpPr>
        <p:spPr>
          <a:xfrm xmlns:a="http://schemas.openxmlformats.org/drawingml/2006/main">
            <a:off x="800100" y="163830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1AA58F"/>
                </a:solidFill>
                <a:latin typeface="Arial"/>
                <a:ea typeface="Arial"/>
                <a:cs typeface="Arial"/>
              </a:defRPr>
            </a:defPPr>
          </a:lstStyle>
          <a:p xmlns:a="http://schemas.openxmlformats.org/drawingml/2006/main">
            <a:pPr algn="l">
              <a:defRPr sz="1350" b="1">
                <a:solidFill>
                  <a:srgbClr val="1AA58F"/>
                </a:solidFill>
                <a:latin typeface="Arial"/>
                <a:ea typeface="Arial"/>
                <a:cs typeface="Arial"/>
              </a:defRPr>
            </a:pPr>
            <a:r>
              <a:rPr sz="1350" b="1">
                <a:solidFill>
                  <a:srgbClr val="1AA58F"/>
                </a:solidFill>
                <a:latin typeface="Arial"/>
                <a:ea typeface="Arial"/>
                <a:cs typeface="Arial"/>
              </a:rPr>
              <a:t>Sentinel-2</a:t>
            </a:r>
          </a:p>
        </p:txBody>
      </p:sp>
      <p:sp>
        <p:nvSpPr>
          <p:cNvPr id="8" name="">
            <a:extLst xmlns:a="http://schemas.openxmlformats.org/drawingml/2006/main">
              <a:ext uri="{FF2B5EF4-FFF2-40B4-BE49-F238E27FC236}">
                <a16:creationId xmlns:a16="http://schemas.microsoft.com/office/drawing/2014/main" id="{B2442808-5910-4BFF-990F-F6E5A9C82FDF}"/>
              </a:ext>
            </a:extLst>
          </p:cNvPr>
          <p:cNvSpPr>
            <a:spLocks xmlns:a="http://schemas.openxmlformats.org/drawingml/2006/main" noGrp="1"/>
          </p:cNvSpPr>
          <p:nvPr/>
        </p:nvSpPr>
        <p:spPr>
          <a:xfrm xmlns:a="http://schemas.openxmlformats.org/drawingml/2006/main">
            <a:off x="2266950" y="163830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Optical reflectance, vegetation and built features</a:t>
            </a:r>
          </a:p>
        </p:txBody>
      </p:sp>
      <p:sp>
        <p:nvSpPr>
          <p:cNvPr id="9" name="">
            <a:extLst xmlns:a="http://schemas.openxmlformats.org/drawingml/2006/main">
              <a:ext uri="{FF2B5EF4-FFF2-40B4-BE49-F238E27FC236}">
                <a16:creationId xmlns:a16="http://schemas.microsoft.com/office/drawing/2014/main" id="{622D0672-AFC5-4A3B-A212-EE4D3E0659C3}"/>
              </a:ext>
            </a:extLst>
          </p:cNvPr>
          <p:cNvSpPr>
            <a:spLocks xmlns:a="http://schemas.openxmlformats.org/drawingml/2006/main" noGrp="1"/>
          </p:cNvSpPr>
          <p:nvPr/>
        </p:nvSpPr>
        <p:spPr>
          <a:xfrm xmlns:a="http://schemas.openxmlformats.org/drawingml/2006/main">
            <a:off x="590550" y="222885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10" name="">
            <a:extLst xmlns:a="http://schemas.openxmlformats.org/drawingml/2006/main">
              <a:ext uri="{FF2B5EF4-FFF2-40B4-BE49-F238E27FC236}">
                <a16:creationId xmlns:a16="http://schemas.microsoft.com/office/drawing/2014/main" id="{1432C316-3868-4931-98E6-1336F04A6301}"/>
              </a:ext>
            </a:extLst>
          </p:cNvPr>
          <p:cNvSpPr>
            <a:spLocks xmlns:a="http://schemas.openxmlformats.org/drawingml/2006/main" noGrp="1"/>
          </p:cNvSpPr>
          <p:nvPr/>
        </p:nvSpPr>
        <p:spPr>
          <a:xfrm xmlns:a="http://schemas.openxmlformats.org/drawingml/2006/main">
            <a:off x="590550" y="2228850"/>
            <a:ext cx="76200" cy="514350"/>
          </a:xfrm>
          <a:prstGeom xmlns:a="http://schemas.openxmlformats.org/drawingml/2006/main" prst="rect">
            <a:avLst/>
          </a:prstGeom>
          <a:solidFill xmlns:a="http://schemas.openxmlformats.org/drawingml/2006/main">
            <a:srgbClr val="3183B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606F2A4-4BC6-46C0-A5AF-F7E859B6525B}"/>
              </a:ext>
            </a:extLst>
          </p:cNvPr>
          <p:cNvSpPr>
            <a:spLocks xmlns:a="http://schemas.openxmlformats.org/drawingml/2006/main" noGrp="1"/>
          </p:cNvSpPr>
          <p:nvPr/>
        </p:nvSpPr>
        <p:spPr>
          <a:xfrm xmlns:a="http://schemas.openxmlformats.org/drawingml/2006/main">
            <a:off x="800100" y="23050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3183B8"/>
                </a:solidFill>
                <a:latin typeface="Arial"/>
                <a:ea typeface="Arial"/>
                <a:cs typeface="Arial"/>
              </a:defRPr>
            </a:defPPr>
          </a:lstStyle>
          <a:p xmlns:a="http://schemas.openxmlformats.org/drawingml/2006/main">
            <a:pPr algn="l">
              <a:defRPr sz="1350" b="1">
                <a:solidFill>
                  <a:srgbClr val="3183B8"/>
                </a:solidFill>
                <a:latin typeface="Arial"/>
                <a:ea typeface="Arial"/>
                <a:cs typeface="Arial"/>
              </a:defRPr>
            </a:pPr>
            <a:r>
              <a:rPr sz="1350" b="1">
                <a:solidFill>
                  <a:srgbClr val="3183B8"/>
                </a:solidFill>
                <a:latin typeface="Arial"/>
                <a:ea typeface="Arial"/>
                <a:cs typeface="Arial"/>
              </a:rPr>
              <a:t>Sentinel-1</a:t>
            </a:r>
          </a:p>
        </p:txBody>
      </p:sp>
      <p:sp>
        <p:nvSpPr>
          <p:cNvPr id="12" name="">
            <a:extLst xmlns:a="http://schemas.openxmlformats.org/drawingml/2006/main">
              <a:ext uri="{FF2B5EF4-FFF2-40B4-BE49-F238E27FC236}">
                <a16:creationId xmlns:a16="http://schemas.microsoft.com/office/drawing/2014/main" id="{2B82D0B2-179E-45EC-91FB-017256109B83}"/>
              </a:ext>
            </a:extLst>
          </p:cNvPr>
          <p:cNvSpPr>
            <a:spLocks xmlns:a="http://schemas.openxmlformats.org/drawingml/2006/main" noGrp="1"/>
          </p:cNvSpPr>
          <p:nvPr/>
        </p:nvSpPr>
        <p:spPr>
          <a:xfrm xmlns:a="http://schemas.openxmlformats.org/drawingml/2006/main">
            <a:off x="2266950" y="230505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Radar structure to reduce bright-desert confusion</a:t>
            </a:r>
          </a:p>
        </p:txBody>
      </p:sp>
      <p:sp>
        <p:nvSpPr>
          <p:cNvPr id="13" name="">
            <a:extLst xmlns:a="http://schemas.openxmlformats.org/drawingml/2006/main">
              <a:ext uri="{FF2B5EF4-FFF2-40B4-BE49-F238E27FC236}">
                <a16:creationId xmlns:a16="http://schemas.microsoft.com/office/drawing/2014/main" id="{7FBA4A8D-3F70-4FC8-892C-37CA176A32D3}"/>
              </a:ext>
            </a:extLst>
          </p:cNvPr>
          <p:cNvSpPr>
            <a:spLocks xmlns:a="http://schemas.openxmlformats.org/drawingml/2006/main" noGrp="1"/>
          </p:cNvSpPr>
          <p:nvPr/>
        </p:nvSpPr>
        <p:spPr>
          <a:xfrm xmlns:a="http://schemas.openxmlformats.org/drawingml/2006/main">
            <a:off x="590550" y="289560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14" name="">
            <a:extLst xmlns:a="http://schemas.openxmlformats.org/drawingml/2006/main">
              <a:ext uri="{FF2B5EF4-FFF2-40B4-BE49-F238E27FC236}">
                <a16:creationId xmlns:a16="http://schemas.microsoft.com/office/drawing/2014/main" id="{D7EFB5CF-9CC7-4718-BDEC-C72B4C3926A7}"/>
              </a:ext>
            </a:extLst>
          </p:cNvPr>
          <p:cNvSpPr>
            <a:spLocks xmlns:a="http://schemas.openxmlformats.org/drawingml/2006/main" noGrp="1"/>
          </p:cNvSpPr>
          <p:nvPr/>
        </p:nvSpPr>
        <p:spPr>
          <a:xfrm xmlns:a="http://schemas.openxmlformats.org/drawingml/2006/main">
            <a:off x="590550" y="2895600"/>
            <a:ext cx="76200" cy="514350"/>
          </a:xfrm>
          <a:prstGeom xmlns:a="http://schemas.openxmlformats.org/drawingml/2006/main" prst="rect">
            <a:avLst/>
          </a:prstGeom>
          <a:solidFill xmlns:a="http://schemas.openxmlformats.org/drawingml/2006/main">
            <a:srgbClr val="E2AD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F88FE1C-2926-424C-B03A-A0F009D62A71}"/>
              </a:ext>
            </a:extLst>
          </p:cNvPr>
          <p:cNvSpPr>
            <a:spLocks xmlns:a="http://schemas.openxmlformats.org/drawingml/2006/main" noGrp="1"/>
          </p:cNvSpPr>
          <p:nvPr/>
        </p:nvSpPr>
        <p:spPr>
          <a:xfrm xmlns:a="http://schemas.openxmlformats.org/drawingml/2006/main">
            <a:off x="800100" y="297180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E2AD2B"/>
                </a:solidFill>
                <a:latin typeface="Arial"/>
                <a:ea typeface="Arial"/>
                <a:cs typeface="Arial"/>
              </a:defRPr>
            </a:defPPr>
          </a:lstStyle>
          <a:p xmlns:a="http://schemas.openxmlformats.org/drawingml/2006/main">
            <a:pPr algn="l">
              <a:defRPr sz="1350" b="1">
                <a:solidFill>
                  <a:srgbClr val="E2AD2B"/>
                </a:solidFill>
                <a:latin typeface="Arial"/>
                <a:ea typeface="Arial"/>
                <a:cs typeface="Arial"/>
              </a:defRPr>
            </a:pPr>
            <a:r>
              <a:rPr sz="1350" b="1">
                <a:solidFill>
                  <a:srgbClr val="E2AD2B"/>
                </a:solidFill>
                <a:latin typeface="Arial"/>
                <a:ea typeface="Arial"/>
                <a:cs typeface="Arial"/>
              </a:rPr>
              <a:t>Annual LULC</a:t>
            </a:r>
          </a:p>
        </p:txBody>
      </p:sp>
      <p:sp>
        <p:nvSpPr>
          <p:cNvPr id="16" name="">
            <a:extLst xmlns:a="http://schemas.openxmlformats.org/drawingml/2006/main">
              <a:ext uri="{FF2B5EF4-FFF2-40B4-BE49-F238E27FC236}">
                <a16:creationId xmlns:a16="http://schemas.microsoft.com/office/drawing/2014/main" id="{28205794-4208-4379-99C4-B2E189572530}"/>
              </a:ext>
            </a:extLst>
          </p:cNvPr>
          <p:cNvSpPr>
            <a:spLocks xmlns:a="http://schemas.openxmlformats.org/drawingml/2006/main" noGrp="1"/>
          </p:cNvSpPr>
          <p:nvPr/>
        </p:nvSpPr>
        <p:spPr>
          <a:xfrm xmlns:a="http://schemas.openxmlformats.org/drawingml/2006/main">
            <a:off x="2266950" y="297180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Six maps propose 2018–2023 built-up change</a:t>
            </a:r>
          </a:p>
        </p:txBody>
      </p:sp>
      <p:sp>
        <p:nvSpPr>
          <p:cNvPr id="17" name="">
            <a:extLst xmlns:a="http://schemas.openxmlformats.org/drawingml/2006/main">
              <a:ext uri="{FF2B5EF4-FFF2-40B4-BE49-F238E27FC236}">
                <a16:creationId xmlns:a16="http://schemas.microsoft.com/office/drawing/2014/main" id="{59E95180-6D1B-4869-8AD0-C672573114B5}"/>
              </a:ext>
            </a:extLst>
          </p:cNvPr>
          <p:cNvSpPr>
            <a:spLocks xmlns:a="http://schemas.openxmlformats.org/drawingml/2006/main" noGrp="1"/>
          </p:cNvSpPr>
          <p:nvPr/>
        </p:nvSpPr>
        <p:spPr>
          <a:xfrm xmlns:a="http://schemas.openxmlformats.org/drawingml/2006/main">
            <a:off x="590550" y="356235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18" name="">
            <a:extLst xmlns:a="http://schemas.openxmlformats.org/drawingml/2006/main">
              <a:ext uri="{FF2B5EF4-FFF2-40B4-BE49-F238E27FC236}">
                <a16:creationId xmlns:a16="http://schemas.microsoft.com/office/drawing/2014/main" id="{3B0A4A87-E195-4C50-8333-463601E56C5F}"/>
              </a:ext>
            </a:extLst>
          </p:cNvPr>
          <p:cNvSpPr>
            <a:spLocks xmlns:a="http://schemas.openxmlformats.org/drawingml/2006/main" noGrp="1"/>
          </p:cNvSpPr>
          <p:nvPr/>
        </p:nvSpPr>
        <p:spPr>
          <a:xfrm xmlns:a="http://schemas.openxmlformats.org/drawingml/2006/main">
            <a:off x="590550" y="3562350"/>
            <a:ext cx="76200" cy="514350"/>
          </a:xfrm>
          <a:prstGeom xmlns:a="http://schemas.openxmlformats.org/drawingml/2006/main" prst="rect">
            <a:avLst/>
          </a:prstGeom>
          <a:solidFill xmlns:a="http://schemas.openxmlformats.org/drawingml/2006/main">
            <a:srgbClr val="F0644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E0EDEC1-FCF3-4D33-BB3A-535DDDFE4E0D}"/>
              </a:ext>
            </a:extLst>
          </p:cNvPr>
          <p:cNvSpPr>
            <a:spLocks xmlns:a="http://schemas.openxmlformats.org/drawingml/2006/main" noGrp="1"/>
          </p:cNvSpPr>
          <p:nvPr/>
        </p:nvSpPr>
        <p:spPr>
          <a:xfrm xmlns:a="http://schemas.openxmlformats.org/drawingml/2006/main">
            <a:off x="800100" y="36385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F06449"/>
                </a:solidFill>
                <a:latin typeface="Arial"/>
                <a:ea typeface="Arial"/>
                <a:cs typeface="Arial"/>
              </a:defRPr>
            </a:defPPr>
          </a:lstStyle>
          <a:p xmlns:a="http://schemas.openxmlformats.org/drawingml/2006/main">
            <a:pPr algn="l">
              <a:defRPr sz="1350" b="1">
                <a:solidFill>
                  <a:srgbClr val="F06449"/>
                </a:solidFill>
                <a:latin typeface="Arial"/>
                <a:ea typeface="Arial"/>
                <a:cs typeface="Arial"/>
              </a:defRPr>
            </a:pPr>
            <a:r>
              <a:rPr sz="1350" b="1">
                <a:solidFill>
                  <a:srgbClr val="F06449"/>
                </a:solidFill>
                <a:latin typeface="Arial"/>
                <a:ea typeface="Arial"/>
                <a:cs typeface="Arial"/>
              </a:rPr>
              <a:t>Landsat 8</a:t>
            </a:r>
          </a:p>
        </p:txBody>
      </p:sp>
      <p:sp>
        <p:nvSpPr>
          <p:cNvPr id="20" name="">
            <a:extLst xmlns:a="http://schemas.openxmlformats.org/drawingml/2006/main">
              <a:ext uri="{FF2B5EF4-FFF2-40B4-BE49-F238E27FC236}">
                <a16:creationId xmlns:a16="http://schemas.microsoft.com/office/drawing/2014/main" id="{FADADEFE-B563-4946-86E9-CD873EDD3611}"/>
              </a:ext>
            </a:extLst>
          </p:cNvPr>
          <p:cNvSpPr>
            <a:spLocks xmlns:a="http://schemas.openxmlformats.org/drawingml/2006/main" noGrp="1"/>
          </p:cNvSpPr>
          <p:nvPr/>
        </p:nvSpPr>
        <p:spPr>
          <a:xfrm xmlns:a="http://schemas.openxmlformats.org/drawingml/2006/main">
            <a:off x="2266950" y="363855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Quality-masked 2025 land-surface temperature</a:t>
            </a:r>
          </a:p>
        </p:txBody>
      </p:sp>
      <p:sp>
        <p:nvSpPr>
          <p:cNvPr id="21" name="">
            <a:extLst xmlns:a="http://schemas.openxmlformats.org/drawingml/2006/main">
              <a:ext uri="{FF2B5EF4-FFF2-40B4-BE49-F238E27FC236}">
                <a16:creationId xmlns:a16="http://schemas.microsoft.com/office/drawing/2014/main" id="{A855E4A5-4E06-4709-B388-BC72A4F5B222}"/>
              </a:ext>
            </a:extLst>
          </p:cNvPr>
          <p:cNvSpPr>
            <a:spLocks xmlns:a="http://schemas.openxmlformats.org/drawingml/2006/main" noGrp="1"/>
          </p:cNvSpPr>
          <p:nvPr/>
        </p:nvSpPr>
        <p:spPr>
          <a:xfrm xmlns:a="http://schemas.openxmlformats.org/drawingml/2006/main">
            <a:off x="590550" y="422910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22" name="">
            <a:extLst xmlns:a="http://schemas.openxmlformats.org/drawingml/2006/main">
              <a:ext uri="{FF2B5EF4-FFF2-40B4-BE49-F238E27FC236}">
                <a16:creationId xmlns:a16="http://schemas.microsoft.com/office/drawing/2014/main" id="{B49C30EF-2DA4-4638-8F83-A8C5DFC9BA4A}"/>
              </a:ext>
            </a:extLst>
          </p:cNvPr>
          <p:cNvSpPr>
            <a:spLocks xmlns:a="http://schemas.openxmlformats.org/drawingml/2006/main" noGrp="1"/>
          </p:cNvSpPr>
          <p:nvPr/>
        </p:nvSpPr>
        <p:spPr>
          <a:xfrm xmlns:a="http://schemas.openxmlformats.org/drawingml/2006/main">
            <a:off x="590550" y="4229100"/>
            <a:ext cx="76200" cy="514350"/>
          </a:xfrm>
          <a:prstGeom xmlns:a="http://schemas.openxmlformats.org/drawingml/2006/main" prst="rect">
            <a:avLst/>
          </a:prstGeom>
          <a:solidFill xmlns:a="http://schemas.openxmlformats.org/drawingml/2006/main">
            <a:srgbClr val="6D5DD3"/>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0028C46-1A56-41E7-AB30-7AA64514DB12}"/>
              </a:ext>
            </a:extLst>
          </p:cNvPr>
          <p:cNvSpPr>
            <a:spLocks xmlns:a="http://schemas.openxmlformats.org/drawingml/2006/main" noGrp="1"/>
          </p:cNvSpPr>
          <p:nvPr/>
        </p:nvSpPr>
        <p:spPr>
          <a:xfrm xmlns:a="http://schemas.openxmlformats.org/drawingml/2006/main">
            <a:off x="800100" y="430530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6D5DD3"/>
                </a:solidFill>
                <a:latin typeface="Arial"/>
                <a:ea typeface="Arial"/>
                <a:cs typeface="Arial"/>
              </a:defRPr>
            </a:defPPr>
          </a:lstStyle>
          <a:p xmlns:a="http://schemas.openxmlformats.org/drawingml/2006/main">
            <a:pPr algn="l">
              <a:defRPr sz="1350" b="1">
                <a:solidFill>
                  <a:srgbClr val="6D5DD3"/>
                </a:solidFill>
                <a:latin typeface="Arial"/>
                <a:ea typeface="Arial"/>
                <a:cs typeface="Arial"/>
              </a:defRPr>
            </a:pPr>
            <a:r>
              <a:rPr sz="1350" b="1">
                <a:solidFill>
                  <a:srgbClr val="6D5DD3"/>
                </a:solidFill>
                <a:latin typeface="Arial"/>
                <a:ea typeface="Arial"/>
                <a:cs typeface="Arial"/>
              </a:rPr>
              <a:t>WorldPop</a:t>
            </a:r>
          </a:p>
        </p:txBody>
      </p:sp>
      <p:sp>
        <p:nvSpPr>
          <p:cNvPr id="24" name="">
            <a:extLst xmlns:a="http://schemas.openxmlformats.org/drawingml/2006/main">
              <a:ext uri="{FF2B5EF4-FFF2-40B4-BE49-F238E27FC236}">
                <a16:creationId xmlns:a16="http://schemas.microsoft.com/office/drawing/2014/main" id="{FE8DF6E3-B85E-430C-9899-574BFE1B5419}"/>
              </a:ext>
            </a:extLst>
          </p:cNvPr>
          <p:cNvSpPr>
            <a:spLocks xmlns:a="http://schemas.openxmlformats.org/drawingml/2006/main" noGrp="1"/>
          </p:cNvSpPr>
          <p:nvPr/>
        </p:nvSpPr>
        <p:spPr>
          <a:xfrm xmlns:a="http://schemas.openxmlformats.org/drawingml/2006/main">
            <a:off x="2266950" y="430530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Modelled 2025 population exposure</a:t>
            </a:r>
          </a:p>
        </p:txBody>
      </p:sp>
      <p:sp>
        <p:nvSpPr>
          <p:cNvPr id="25" name="">
            <a:extLst xmlns:a="http://schemas.openxmlformats.org/drawingml/2006/main">
              <a:ext uri="{FF2B5EF4-FFF2-40B4-BE49-F238E27FC236}">
                <a16:creationId xmlns:a16="http://schemas.microsoft.com/office/drawing/2014/main" id="{93A698C7-3094-4855-919D-B48890CDE5AF}"/>
              </a:ext>
            </a:extLst>
          </p:cNvPr>
          <p:cNvSpPr>
            <a:spLocks xmlns:a="http://schemas.openxmlformats.org/drawingml/2006/main" noGrp="1"/>
          </p:cNvSpPr>
          <p:nvPr/>
        </p:nvSpPr>
        <p:spPr>
          <a:xfrm xmlns:a="http://schemas.openxmlformats.org/drawingml/2006/main">
            <a:off x="590550" y="4895850"/>
            <a:ext cx="4953000" cy="514350"/>
          </a:xfrm>
          <a:prstGeom xmlns:a="http://schemas.openxmlformats.org/drawingml/2006/main" prst="roundRect">
            <a:avLst>
              <a:gd name="adj" fmla="val 14815"/>
            </a:avLst>
          </a:prstGeom>
          <a:solidFill xmlns:a="http://schemas.openxmlformats.org/drawingml/2006/main">
            <a:srgbClr val="113646"/>
          </a:solidFill>
          <a:ln xmlns:a="http://schemas.openxmlformats.org/drawingml/2006/main" w="9525">
            <a:solidFill>
              <a:srgbClr val="31505F"/>
            </a:solidFill>
            <a:prstDash val="solid"/>
          </a:ln>
        </p:spPr>
      </p:sp>
      <p:sp>
        <p:nvSpPr>
          <p:cNvPr id="26" name="">
            <a:extLst xmlns:a="http://schemas.openxmlformats.org/drawingml/2006/main">
              <a:ext uri="{FF2B5EF4-FFF2-40B4-BE49-F238E27FC236}">
                <a16:creationId xmlns:a16="http://schemas.microsoft.com/office/drawing/2014/main" id="{3E25317B-A68A-47F7-AF66-62A36166D67A}"/>
              </a:ext>
            </a:extLst>
          </p:cNvPr>
          <p:cNvSpPr>
            <a:spLocks xmlns:a="http://schemas.openxmlformats.org/drawingml/2006/main" noGrp="1"/>
          </p:cNvSpPr>
          <p:nvPr/>
        </p:nvSpPr>
        <p:spPr>
          <a:xfrm xmlns:a="http://schemas.openxmlformats.org/drawingml/2006/main">
            <a:off x="590550" y="4895850"/>
            <a:ext cx="76200" cy="514350"/>
          </a:xfrm>
          <a:prstGeom xmlns:a="http://schemas.openxmlformats.org/drawingml/2006/main" prst="rect">
            <a:avLst/>
          </a:prstGeom>
          <a:solidFill xmlns:a="http://schemas.openxmlformats.org/drawingml/2006/main">
            <a:srgbClr val="D96787"/>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485CFDF-61B6-4386-B915-F81F46445A47}"/>
              </a:ext>
            </a:extLst>
          </p:cNvPr>
          <p:cNvSpPr>
            <a:spLocks xmlns:a="http://schemas.openxmlformats.org/drawingml/2006/main" noGrp="1"/>
          </p:cNvSpPr>
          <p:nvPr/>
        </p:nvSpPr>
        <p:spPr>
          <a:xfrm xmlns:a="http://schemas.openxmlformats.org/drawingml/2006/main">
            <a:off x="800100" y="4972050"/>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350" b="1">
                <a:solidFill>
                  <a:srgbClr val="D96787"/>
                </a:solidFill>
                <a:latin typeface="Arial"/>
                <a:ea typeface="Arial"/>
                <a:cs typeface="Arial"/>
              </a:defRPr>
            </a:defPPr>
          </a:lstStyle>
          <a:p xmlns:a="http://schemas.openxmlformats.org/drawingml/2006/main">
            <a:pPr algn="l">
              <a:defRPr sz="1350" b="1">
                <a:solidFill>
                  <a:srgbClr val="D96787"/>
                </a:solidFill>
                <a:latin typeface="Arial"/>
                <a:ea typeface="Arial"/>
                <a:cs typeface="Arial"/>
              </a:defRPr>
            </a:pPr>
            <a:r>
              <a:rPr sz="1350" b="1">
                <a:solidFill>
                  <a:srgbClr val="D96787"/>
                </a:solidFill>
                <a:latin typeface="Arial"/>
                <a:ea typeface="Arial"/>
                <a:cs typeface="Arial"/>
              </a:rPr>
              <a:t>Planet Tanager</a:t>
            </a:r>
          </a:p>
        </p:txBody>
      </p:sp>
      <p:sp>
        <p:nvSpPr>
          <p:cNvPr id="28" name="">
            <a:extLst xmlns:a="http://schemas.openxmlformats.org/drawingml/2006/main">
              <a:ext uri="{FF2B5EF4-FFF2-40B4-BE49-F238E27FC236}">
                <a16:creationId xmlns:a16="http://schemas.microsoft.com/office/drawing/2014/main" id="{CE736E7E-7776-4FB8-83B6-DD96BAFA7D46}"/>
              </a:ext>
            </a:extLst>
          </p:cNvPr>
          <p:cNvSpPr>
            <a:spLocks xmlns:a="http://schemas.openxmlformats.org/drawingml/2006/main" noGrp="1"/>
          </p:cNvSpPr>
          <p:nvPr/>
        </p:nvSpPr>
        <p:spPr>
          <a:xfrm xmlns:a="http://schemas.openxmlformats.org/drawingml/2006/main">
            <a:off x="2266950" y="4972050"/>
            <a:ext cx="3105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a:solidFill>
                  <a:srgbClr val="F3F6F2"/>
                </a:solidFill>
                <a:latin typeface="Arial"/>
                <a:ea typeface="Arial"/>
                <a:cs typeface="Arial"/>
              </a:defRPr>
            </a:defPPr>
          </a:lstStyle>
          <a:p xmlns:a="http://schemas.openxmlformats.org/drawingml/2006/main">
            <a:pPr algn="l">
              <a:defRPr sz="1050">
                <a:solidFill>
                  <a:srgbClr val="F3F6F2"/>
                </a:solidFill>
                <a:latin typeface="Arial"/>
                <a:ea typeface="Arial"/>
                <a:cs typeface="Arial"/>
              </a:defRPr>
            </a:pPr>
            <a:r>
              <a:rPr sz="1050">
                <a:solidFill>
                  <a:srgbClr val="F3F6F2"/>
                </a:solidFill>
                <a:latin typeface="Arial"/>
                <a:ea typeface="Arial"/>
                <a:cs typeface="Arial"/>
              </a:rPr>
              <a:t>426-band material context and failure-mode test</a:t>
            </a:r>
          </a:p>
        </p:txBody>
      </p:sp>
      <p:pic>
        <p:nvPicPr>
          <p:cNvPr id="29" name="">
            <a:extLst xmlns:a="http://schemas.openxmlformats.org/drawingml/2006/main">
              <a:ext uri="{FF2B5EF4-FFF2-40B4-BE49-F238E27FC236}">
                <a16:creationId xmlns:a16="http://schemas.microsoft.com/office/drawing/2014/main" id="{A6F48CEC-DFE1-4B0F-BAC5-31F7A81A8B91}"/>
              </a:ext>
            </a:extLst>
          </p:cNvPr>
          <p:cNvPicPr>
            <a:picLocks xmlns:a="http://schemas.openxmlformats.org/drawingml/2006/main" noChangeAspect="1"/>
          </p:cNvPicPr>
          <p:nvPr/>
        </p:nvPicPr>
        <p:blipFill>
          <a:blip xmlns:r="http://schemas.openxmlformats.org/officeDocument/2006/relationships" xmlns:a="http://schemas.openxmlformats.org/drawingml/2006/main" r:embed="R67e3a17611d146c8"/>
          <a:stretch xmlns:a="http://schemas.openxmlformats.org/drawingml/2006/main"/>
        </p:blipFill>
        <p:spPr>
          <a:xfrm xmlns:a="http://schemas.openxmlformats.org/drawingml/2006/main">
            <a:off x="6527807" y="1562100"/>
            <a:ext cx="4451336" cy="4038600"/>
          </a:xfrm>
          <a:prstGeom xmlns:a="http://schemas.openxmlformats.org/drawingml/2006/main" prst="roundRect">
            <a:avLst>
              <a:gd name="adj" fmla="val 2358"/>
            </a:avLst>
          </a:prstGeom>
        </p:spPr>
      </p:pic>
      <p:sp>
        <p:nvSpPr>
          <p:cNvPr id="30" name="">
            <a:extLst xmlns:a="http://schemas.openxmlformats.org/drawingml/2006/main">
              <a:ext uri="{FF2B5EF4-FFF2-40B4-BE49-F238E27FC236}">
                <a16:creationId xmlns:a16="http://schemas.microsoft.com/office/drawing/2014/main" id="{EA65C6EE-A52F-47BC-BEC4-57951DA8069B}"/>
              </a:ext>
            </a:extLst>
          </p:cNvPr>
          <p:cNvSpPr>
            <a:spLocks xmlns:a="http://schemas.openxmlformats.org/drawingml/2006/main" noGrp="1"/>
          </p:cNvSpPr>
          <p:nvPr/>
        </p:nvSpPr>
        <p:spPr>
          <a:xfrm xmlns:a="http://schemas.openxmlformats.org/drawingml/2006/main">
            <a:off x="5905500" y="5715000"/>
            <a:ext cx="5695950" cy="514350"/>
          </a:xfrm>
          <a:prstGeom xmlns:a="http://schemas.openxmlformats.org/drawingml/2006/main" prst="roundRect">
            <a:avLst>
              <a:gd name="adj" fmla="val 18519"/>
            </a:avLst>
          </a:prstGeom>
          <a:solidFill xmlns:a="http://schemas.openxmlformats.org/drawingml/2006/main">
            <a:srgbClr val="113646"/>
          </a:solidFill>
          <a:ln xmlns:a="http://schemas.openxmlformats.org/drawingml/2006/main" w="9525">
            <a:solidFill>
              <a:srgbClr val="31505F"/>
            </a:solidFill>
            <a:prstDash val="solid"/>
          </a:ln>
        </p:spPr>
      </p:sp>
      <p:sp>
        <p:nvSpPr>
          <p:cNvPr id="31" name="">
            <a:extLst xmlns:a="http://schemas.openxmlformats.org/drawingml/2006/main">
              <a:ext uri="{FF2B5EF4-FFF2-40B4-BE49-F238E27FC236}">
                <a16:creationId xmlns:a16="http://schemas.microsoft.com/office/drawing/2014/main" id="{2117C5E8-5C49-4AD3-B86F-474073E63DE1}"/>
              </a:ext>
            </a:extLst>
          </p:cNvPr>
          <p:cNvSpPr>
            <a:spLocks xmlns:a="http://schemas.openxmlformats.org/drawingml/2006/main" noGrp="1"/>
          </p:cNvSpPr>
          <p:nvPr/>
        </p:nvSpPr>
        <p:spPr>
          <a:xfrm xmlns:a="http://schemas.openxmlformats.org/drawingml/2006/main">
            <a:off x="6115050" y="5791200"/>
            <a:ext cx="5276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125" b="1">
                <a:solidFill>
                  <a:srgbClr val="F3F6F2"/>
                </a:solidFill>
                <a:latin typeface="Arial"/>
                <a:ea typeface="Arial"/>
                <a:cs typeface="Arial"/>
              </a:defRPr>
            </a:defPPr>
          </a:lstStyle>
          <a:p xmlns:a="http://schemas.openxmlformats.org/drawingml/2006/main">
            <a:pPr algn="l">
              <a:defRPr sz="1125" b="1">
                <a:solidFill>
                  <a:srgbClr val="F3F6F2"/>
                </a:solidFill>
                <a:latin typeface="Arial"/>
                <a:ea typeface="Arial"/>
                <a:cs typeface="Arial"/>
              </a:defRPr>
            </a:pPr>
            <a:r>
              <a:rPr sz="1125" b="1">
                <a:solidFill>
                  <a:srgbClr val="F3F6F2"/>
                </a:solidFill>
                <a:latin typeface="Arial"/>
                <a:ea typeface="Arial"/>
                <a:cs typeface="Arial"/>
              </a:rPr>
              <a:t>Annual change proposes growth → separate 2025 optical + radar evidence confirms it → heat, population and vegetation rank eligible cells.</a:t>
            </a:r>
          </a:p>
        </p:txBody>
      </p:sp>
      <p:sp>
        <p:nvSpPr>
          <p:cNvPr id="32" name="">
            <a:extLst xmlns:a="http://schemas.openxmlformats.org/drawingml/2006/main">
              <a:ext uri="{FF2B5EF4-FFF2-40B4-BE49-F238E27FC236}">
                <a16:creationId xmlns:a16="http://schemas.microsoft.com/office/drawing/2014/main" id="{99FF0115-8BAD-4FE8-8809-D583DD05898F}"/>
              </a:ext>
            </a:extLst>
          </p:cNvPr>
          <p:cNvSpPr>
            <a:spLocks xmlns:a="http://schemas.openxmlformats.org/drawingml/2006/main" noGrp="1"/>
          </p:cNvSpPr>
          <p:nvPr/>
        </p:nvSpPr>
        <p:spPr>
          <a:xfrm xmlns:a="http://schemas.openxmlformats.org/drawingml/2006/main">
            <a:off x="590550" y="6543675"/>
            <a:ext cx="7810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675" b="1">
                <a:solidFill>
                  <a:srgbClr val="AFC4C6"/>
                </a:solidFill>
                <a:latin typeface="Arial"/>
                <a:ea typeface="Arial"/>
                <a:cs typeface="Arial"/>
              </a:defRPr>
            </a:defPPr>
          </a:lstStyle>
          <a:p xmlns:a="http://schemas.openxmlformats.org/drawingml/2006/main">
            <a:pPr algn="l">
              <a:defRPr sz="675" b="1">
                <a:solidFill>
                  <a:srgbClr val="AFC4C6"/>
                </a:solidFill>
                <a:latin typeface="Arial"/>
                <a:ea typeface="Arial"/>
                <a:cs typeface="Arial"/>
              </a:defRPr>
            </a:pPr>
            <a:r>
              <a:rPr sz="675" b="1">
                <a:solidFill>
                  <a:srgbClr val="AFC4C6"/>
                </a:solidFill>
                <a:latin typeface="Arial"/>
                <a:ea typeface="Arial"/>
                <a:cs typeface="Arial"/>
              </a:rPr>
              <a:t>MILKAHOLICS  •  ARAB YOUTH SPACE HACKATHON: 813 CHALLENGE</a:t>
            </a:r>
          </a:p>
        </p:txBody>
      </p:sp>
    </p:spTree>
    <p:extLst>
      <p:ext uri="{BB962C8B-B14F-4D97-AF65-F5344CB8AC3E}">
        <p14:creationId xmlns:p14="http://schemas.microsoft.com/office/powerpoint/2010/main" val="344055180"/>
      </p:ext>
    </p:extLst>
  </p:cSld>
</p:sld>
</file>

<file path=ppt/slides/slide5.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0563C97-E6D8-4DC5-95E5-433C4B22289E}"/>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WORKING OUTPUT</a:t>
            </a:r>
          </a:p>
        </p:txBody>
      </p:sp>
      <p:sp>
        <p:nvSpPr>
          <p:cNvPr id="2" name="">
            <a:extLst xmlns:a="http://schemas.openxmlformats.org/drawingml/2006/main">
              <a:ext uri="{FF2B5EF4-FFF2-40B4-BE49-F238E27FC236}">
                <a16:creationId xmlns:a16="http://schemas.microsoft.com/office/drawing/2014/main" id="{D6DD4634-10D9-47FA-90F7-3C8121166DBD}"/>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A ranked map a planner can inspect and export</a:t>
            </a:r>
          </a:p>
        </p:txBody>
      </p:sp>
      <p:sp>
        <p:nvSpPr>
          <p:cNvPr id="3" name="">
            <a:extLst xmlns:a="http://schemas.openxmlformats.org/drawingml/2006/main">
              <a:ext uri="{FF2B5EF4-FFF2-40B4-BE49-F238E27FC236}">
                <a16:creationId xmlns:a16="http://schemas.microsoft.com/office/drawing/2014/main" id="{F9D08B18-3ADD-49AC-B343-B9E69BD3BA3F}"/>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B70E09C8-EA79-43DB-96A9-1058802684C8}"/>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pic>
        <p:nvPicPr>
          <p:cNvPr id="5" name="">
            <a:extLst xmlns:a="http://schemas.openxmlformats.org/drawingml/2006/main">
              <a:ext uri="{FF2B5EF4-FFF2-40B4-BE49-F238E27FC236}">
                <a16:creationId xmlns:a16="http://schemas.microsoft.com/office/drawing/2014/main" id="{93F0883F-E792-4337-B17D-177B49AFA967}"/>
              </a:ext>
            </a:extLst>
          </p:cNvPr>
          <p:cNvPicPr>
            <a:picLocks xmlns:a="http://schemas.openxmlformats.org/drawingml/2006/main" noChangeAspect="1"/>
          </p:cNvPicPr>
          <p:nvPr/>
        </p:nvPicPr>
        <p:blipFill>
          <a:blip xmlns:r="http://schemas.openxmlformats.org/officeDocument/2006/relationships" xmlns:a="http://schemas.openxmlformats.org/drawingml/2006/main" r:embed="R0b102592495b4321"/>
          <a:stretch xmlns:a="http://schemas.openxmlformats.org/drawingml/2006/main"/>
        </p:blipFill>
        <p:spPr>
          <a:xfrm xmlns:a="http://schemas.openxmlformats.org/drawingml/2006/main">
            <a:off x="1128967" y="1485900"/>
            <a:ext cx="4304790" cy="4762500"/>
          </a:xfrm>
          <a:prstGeom xmlns:a="http://schemas.openxmlformats.org/drawingml/2006/main" prst="roundRect">
            <a:avLst>
              <a:gd name="adj" fmla="val 2000"/>
            </a:avLst>
          </a:prstGeom>
        </p:spPr>
      </p:pic>
      <p:pic>
        <p:nvPicPr>
          <p:cNvPr id="6" name="">
            <a:extLst xmlns:a="http://schemas.openxmlformats.org/drawingml/2006/main">
              <a:ext uri="{FF2B5EF4-FFF2-40B4-BE49-F238E27FC236}">
                <a16:creationId xmlns:a16="http://schemas.microsoft.com/office/drawing/2014/main" id="{7FF5BB9A-B6CC-463C-88D2-B50566EC1744}"/>
              </a:ext>
            </a:extLst>
          </p:cNvPr>
          <p:cNvPicPr>
            <a:picLocks xmlns:a="http://schemas.openxmlformats.org/drawingml/2006/main" noChangeAspect="1"/>
          </p:cNvPicPr>
          <p:nvPr/>
        </p:nvPicPr>
        <p:blipFill>
          <a:blip xmlns:r="http://schemas.openxmlformats.org/officeDocument/2006/relationships" xmlns:a="http://schemas.openxmlformats.org/drawingml/2006/main" r:embed="R814ebeedfd4542bb"/>
          <a:stretch xmlns:a="http://schemas.openxmlformats.org/drawingml/2006/main"/>
        </p:blipFill>
        <p:spPr>
          <a:xfrm xmlns:a="http://schemas.openxmlformats.org/drawingml/2006/main">
            <a:off x="6535680" y="1562100"/>
            <a:ext cx="4759439" cy="2571750"/>
          </a:xfrm>
          <a:prstGeom xmlns:a="http://schemas.openxmlformats.org/drawingml/2006/main" prst="roundRect">
            <a:avLst>
              <a:gd name="adj" fmla="val 3704"/>
            </a:avLst>
          </a:prstGeom>
        </p:spPr>
      </p:pic>
      <p:sp>
        <p:nvSpPr>
          <p:cNvPr id="7" name="">
            <a:extLst xmlns:a="http://schemas.openxmlformats.org/drawingml/2006/main">
              <a:ext uri="{FF2B5EF4-FFF2-40B4-BE49-F238E27FC236}">
                <a16:creationId xmlns:a16="http://schemas.microsoft.com/office/drawing/2014/main" id="{D0AA458C-1BB5-42A6-B5EB-E395A8B69434}"/>
              </a:ext>
            </a:extLst>
          </p:cNvPr>
          <p:cNvSpPr>
            <a:spLocks xmlns:a="http://schemas.openxmlformats.org/drawingml/2006/main" noGrp="1"/>
          </p:cNvSpPr>
          <p:nvPr/>
        </p:nvSpPr>
        <p:spPr>
          <a:xfrm xmlns:a="http://schemas.openxmlformats.org/drawingml/2006/main">
            <a:off x="6229350" y="4324350"/>
            <a:ext cx="165735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8" name="">
            <a:extLst xmlns:a="http://schemas.openxmlformats.org/drawingml/2006/main">
              <a:ext uri="{FF2B5EF4-FFF2-40B4-BE49-F238E27FC236}">
                <a16:creationId xmlns:a16="http://schemas.microsoft.com/office/drawing/2014/main" id="{F60B6190-D762-40EB-9B1F-E28955B15252}"/>
              </a:ext>
            </a:extLst>
          </p:cNvPr>
          <p:cNvSpPr>
            <a:spLocks xmlns:a="http://schemas.openxmlformats.org/drawingml/2006/main" noGrp="1"/>
          </p:cNvSpPr>
          <p:nvPr/>
        </p:nvSpPr>
        <p:spPr>
          <a:xfrm xmlns:a="http://schemas.openxmlformats.org/drawingml/2006/main">
            <a:off x="6400800" y="4438650"/>
            <a:ext cx="13144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F06449"/>
                </a:solidFill>
                <a:latin typeface="Arial"/>
                <a:ea typeface="Arial"/>
                <a:cs typeface="Arial"/>
              </a:defRPr>
            </a:defPPr>
          </a:lstStyle>
          <a:p xmlns:a="http://schemas.openxmlformats.org/drawingml/2006/main">
            <a:pPr algn="l">
              <a:defRPr sz="2550" b="1">
                <a:solidFill>
                  <a:srgbClr val="F06449"/>
                </a:solidFill>
                <a:latin typeface="Arial"/>
                <a:ea typeface="Arial"/>
                <a:cs typeface="Arial"/>
              </a:defRPr>
            </a:pPr>
            <a:r>
              <a:rPr sz="2550" b="1">
                <a:solidFill>
                  <a:srgbClr val="F06449"/>
                </a:solidFill>
                <a:latin typeface="Arial"/>
                <a:ea typeface="Arial"/>
                <a:cs typeface="Arial"/>
              </a:rPr>
              <a:t>3.74 km²</a:t>
            </a:r>
          </a:p>
        </p:txBody>
      </p:sp>
      <p:sp>
        <p:nvSpPr>
          <p:cNvPr id="9" name="">
            <a:extLst xmlns:a="http://schemas.openxmlformats.org/drawingml/2006/main">
              <a:ext uri="{FF2B5EF4-FFF2-40B4-BE49-F238E27FC236}">
                <a16:creationId xmlns:a16="http://schemas.microsoft.com/office/drawing/2014/main" id="{C90E042D-7F6D-4C68-873D-47B1A5E26954}"/>
              </a:ext>
            </a:extLst>
          </p:cNvPr>
          <p:cNvSpPr>
            <a:spLocks xmlns:a="http://schemas.openxmlformats.org/drawingml/2006/main" noGrp="1"/>
          </p:cNvSpPr>
          <p:nvPr/>
        </p:nvSpPr>
        <p:spPr>
          <a:xfrm xmlns:a="http://schemas.openxmlformats.org/drawingml/2006/main">
            <a:off x="6400800" y="4953000"/>
            <a:ext cx="1314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CONFIRMED GROWTH SIGNAL</a:t>
            </a:r>
          </a:p>
        </p:txBody>
      </p:sp>
      <p:sp>
        <p:nvSpPr>
          <p:cNvPr id="10" name="">
            <a:extLst xmlns:a="http://schemas.openxmlformats.org/drawingml/2006/main">
              <a:ext uri="{FF2B5EF4-FFF2-40B4-BE49-F238E27FC236}">
                <a16:creationId xmlns:a16="http://schemas.microsoft.com/office/drawing/2014/main" id="{CD8491C4-D7B4-4C6B-AF05-0B36E664BAB6}"/>
              </a:ext>
            </a:extLst>
          </p:cNvPr>
          <p:cNvSpPr>
            <a:spLocks xmlns:a="http://schemas.openxmlformats.org/drawingml/2006/main" noGrp="1"/>
          </p:cNvSpPr>
          <p:nvPr/>
        </p:nvSpPr>
        <p:spPr>
          <a:xfrm xmlns:a="http://schemas.openxmlformats.org/drawingml/2006/main">
            <a:off x="8020050" y="4324350"/>
            <a:ext cx="165735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11" name="">
            <a:extLst xmlns:a="http://schemas.openxmlformats.org/drawingml/2006/main">
              <a:ext uri="{FF2B5EF4-FFF2-40B4-BE49-F238E27FC236}">
                <a16:creationId xmlns:a16="http://schemas.microsoft.com/office/drawing/2014/main" id="{05551261-E525-478F-84AC-835CDAB59299}"/>
              </a:ext>
            </a:extLst>
          </p:cNvPr>
          <p:cNvSpPr>
            <a:spLocks xmlns:a="http://schemas.openxmlformats.org/drawingml/2006/main" noGrp="1"/>
          </p:cNvSpPr>
          <p:nvPr/>
        </p:nvSpPr>
        <p:spPr>
          <a:xfrm xmlns:a="http://schemas.openxmlformats.org/drawingml/2006/main">
            <a:off x="8191500" y="4438650"/>
            <a:ext cx="13144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1AA58F"/>
                </a:solidFill>
                <a:latin typeface="Arial"/>
                <a:ea typeface="Arial"/>
                <a:cs typeface="Arial"/>
              </a:defRPr>
            </a:defPPr>
          </a:lstStyle>
          <a:p xmlns:a="http://schemas.openxmlformats.org/drawingml/2006/main">
            <a:pPr algn="l">
              <a:defRPr sz="2550" b="1">
                <a:solidFill>
                  <a:srgbClr val="1AA58F"/>
                </a:solidFill>
                <a:latin typeface="Arial"/>
                <a:ea typeface="Arial"/>
                <a:cs typeface="Arial"/>
              </a:defRPr>
            </a:pPr>
            <a:r>
              <a:rPr sz="2550" b="1">
                <a:solidFill>
                  <a:srgbClr val="1AA58F"/>
                </a:solidFill>
                <a:latin typeface="Arial"/>
                <a:ea typeface="Arial"/>
                <a:cs typeface="Arial"/>
              </a:rPr>
              <a:t>14 / 67</a:t>
            </a:r>
          </a:p>
        </p:txBody>
      </p:sp>
      <p:sp>
        <p:nvSpPr>
          <p:cNvPr id="12" name="">
            <a:extLst xmlns:a="http://schemas.openxmlformats.org/drawingml/2006/main">
              <a:ext uri="{FF2B5EF4-FFF2-40B4-BE49-F238E27FC236}">
                <a16:creationId xmlns:a16="http://schemas.microsoft.com/office/drawing/2014/main" id="{ECC6E944-776A-4F2A-98E5-B06420B15A20}"/>
              </a:ext>
            </a:extLst>
          </p:cNvPr>
          <p:cNvSpPr>
            <a:spLocks xmlns:a="http://schemas.openxmlformats.org/drawingml/2006/main" noGrp="1"/>
          </p:cNvSpPr>
          <p:nvPr/>
        </p:nvSpPr>
        <p:spPr>
          <a:xfrm xmlns:a="http://schemas.openxmlformats.org/drawingml/2006/main">
            <a:off x="8191500" y="4953000"/>
            <a:ext cx="1314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HIGH / ELIGIBLE CELLS</a:t>
            </a:r>
          </a:p>
        </p:txBody>
      </p:sp>
      <p:sp>
        <p:nvSpPr>
          <p:cNvPr id="13" name="">
            <a:extLst xmlns:a="http://schemas.openxmlformats.org/drawingml/2006/main">
              <a:ext uri="{FF2B5EF4-FFF2-40B4-BE49-F238E27FC236}">
                <a16:creationId xmlns:a16="http://schemas.microsoft.com/office/drawing/2014/main" id="{C0EE9E2D-3BF8-4018-BB1A-993CBC586209}"/>
              </a:ext>
            </a:extLst>
          </p:cNvPr>
          <p:cNvSpPr>
            <a:spLocks xmlns:a="http://schemas.openxmlformats.org/drawingml/2006/main" noGrp="1"/>
          </p:cNvSpPr>
          <p:nvPr/>
        </p:nvSpPr>
        <p:spPr>
          <a:xfrm xmlns:a="http://schemas.openxmlformats.org/drawingml/2006/main">
            <a:off x="9810750" y="4324350"/>
            <a:ext cx="17907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14" name="">
            <a:extLst xmlns:a="http://schemas.openxmlformats.org/drawingml/2006/main">
              <a:ext uri="{FF2B5EF4-FFF2-40B4-BE49-F238E27FC236}">
                <a16:creationId xmlns:a16="http://schemas.microsoft.com/office/drawing/2014/main" id="{1D0195B3-B4D6-49EE-9738-8B5ED3A2DF1D}"/>
              </a:ext>
            </a:extLst>
          </p:cNvPr>
          <p:cNvSpPr>
            <a:spLocks xmlns:a="http://schemas.openxmlformats.org/drawingml/2006/main" noGrp="1"/>
          </p:cNvSpPr>
          <p:nvPr/>
        </p:nvSpPr>
        <p:spPr>
          <a:xfrm xmlns:a="http://schemas.openxmlformats.org/drawingml/2006/main">
            <a:off x="9982200" y="4438650"/>
            <a:ext cx="1447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E2AD2B"/>
                </a:solidFill>
                <a:latin typeface="Arial"/>
                <a:ea typeface="Arial"/>
                <a:cs typeface="Arial"/>
              </a:defRPr>
            </a:defPPr>
          </a:lstStyle>
          <a:p xmlns:a="http://schemas.openxmlformats.org/drawingml/2006/main">
            <a:pPr algn="l">
              <a:defRPr sz="2550" b="1">
                <a:solidFill>
                  <a:srgbClr val="E2AD2B"/>
                </a:solidFill>
                <a:latin typeface="Arial"/>
                <a:ea typeface="Arial"/>
                <a:cs typeface="Arial"/>
              </a:defRPr>
            </a:pPr>
            <a:r>
              <a:rPr sz="2550" b="1">
                <a:solidFill>
                  <a:srgbClr val="E2AD2B"/>
                </a:solidFill>
                <a:latin typeface="Arial"/>
                <a:ea typeface="Arial"/>
                <a:cs typeface="Arial"/>
              </a:rPr>
              <a:t>78.7</a:t>
            </a:r>
          </a:p>
        </p:txBody>
      </p:sp>
      <p:sp>
        <p:nvSpPr>
          <p:cNvPr id="15" name="">
            <a:extLst xmlns:a="http://schemas.openxmlformats.org/drawingml/2006/main">
              <a:ext uri="{FF2B5EF4-FFF2-40B4-BE49-F238E27FC236}">
                <a16:creationId xmlns:a16="http://schemas.microsoft.com/office/drawing/2014/main" id="{DD2F0A6A-E8F4-4DD0-B4F1-3921270EB2FC}"/>
              </a:ext>
            </a:extLst>
          </p:cNvPr>
          <p:cNvSpPr>
            <a:spLocks xmlns:a="http://schemas.openxmlformats.org/drawingml/2006/main" noGrp="1"/>
          </p:cNvSpPr>
          <p:nvPr/>
        </p:nvSpPr>
        <p:spPr>
          <a:xfrm xmlns:a="http://schemas.openxmlformats.org/drawingml/2006/main">
            <a:off x="9982200" y="4953000"/>
            <a:ext cx="144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TOP SCORE: R05C10</a:t>
            </a:r>
          </a:p>
        </p:txBody>
      </p:sp>
      <p:sp>
        <p:nvSpPr>
          <p:cNvPr id="16" name="">
            <a:extLst xmlns:a="http://schemas.openxmlformats.org/drawingml/2006/main">
              <a:ext uri="{FF2B5EF4-FFF2-40B4-BE49-F238E27FC236}">
                <a16:creationId xmlns:a16="http://schemas.microsoft.com/office/drawing/2014/main" id="{42F38C11-126C-42E8-8F4B-00D4E213DAE6}"/>
              </a:ext>
            </a:extLst>
          </p:cNvPr>
          <p:cNvSpPr>
            <a:spLocks xmlns:a="http://schemas.openxmlformats.org/drawingml/2006/main" noGrp="1"/>
          </p:cNvSpPr>
          <p:nvPr/>
        </p:nvSpPr>
        <p:spPr>
          <a:xfrm xmlns:a="http://schemas.openxmlformats.org/drawingml/2006/main">
            <a:off x="6229350" y="5543550"/>
            <a:ext cx="5372100" cy="704850"/>
          </a:xfrm>
          <a:prstGeom xmlns:a="http://schemas.openxmlformats.org/drawingml/2006/main" prst="roundRect">
            <a:avLst>
              <a:gd name="adj" fmla="val 13514"/>
            </a:avLst>
          </a:prstGeom>
          <a:solidFill xmlns:a="http://schemas.openxmlformats.org/drawingml/2006/main">
            <a:srgbClr val="113646"/>
          </a:solidFill>
          <a:ln xmlns:a="http://schemas.openxmlformats.org/drawingml/2006/main" w="9525">
            <a:solidFill>
              <a:srgbClr val="31505F"/>
            </a:solidFill>
            <a:prstDash val="solid"/>
          </a:ln>
        </p:spPr>
      </p:sp>
      <p:sp>
        <p:nvSpPr>
          <p:cNvPr id="17" name="">
            <a:extLst xmlns:a="http://schemas.openxmlformats.org/drawingml/2006/main">
              <a:ext uri="{FF2B5EF4-FFF2-40B4-BE49-F238E27FC236}">
                <a16:creationId xmlns:a16="http://schemas.microsoft.com/office/drawing/2014/main" id="{F7D175F8-2092-4769-9A87-131023E81926}"/>
              </a:ext>
            </a:extLst>
          </p:cNvPr>
          <p:cNvSpPr>
            <a:spLocks xmlns:a="http://schemas.openxmlformats.org/drawingml/2006/main" noGrp="1"/>
          </p:cNvSpPr>
          <p:nvPr/>
        </p:nvSpPr>
        <p:spPr>
          <a:xfrm xmlns:a="http://schemas.openxmlformats.org/drawingml/2006/main">
            <a:off x="6438900" y="5648325"/>
            <a:ext cx="4953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200" b="1">
                <a:solidFill>
                  <a:srgbClr val="F3F6F2"/>
                </a:solidFill>
                <a:latin typeface="Arial"/>
                <a:ea typeface="Arial"/>
                <a:cs typeface="Arial"/>
              </a:defRPr>
            </a:defPPr>
          </a:lstStyle>
          <a:p xmlns:a="http://schemas.openxmlformats.org/drawingml/2006/main">
            <a:pPr algn="l">
              <a:defRPr sz="1200" b="1">
                <a:solidFill>
                  <a:srgbClr val="F3F6F2"/>
                </a:solidFill>
                <a:latin typeface="Arial"/>
                <a:ea typeface="Arial"/>
                <a:cs typeface="Arial"/>
              </a:defRPr>
            </a:pPr>
            <a:r>
              <a:rPr sz="1200" b="1">
                <a:solidFill>
                  <a:srgbClr val="F3F6F2"/>
                </a:solidFill>
                <a:latin typeface="Arial"/>
                <a:ea typeface="Arial"/>
                <a:cs typeface="Arial"/>
              </a:rPr>
              <a:t>Demo path: open dashboard → select top zone → inspect heat, population, growth and green components → export CSV/GeoJSON/GeoTIFF.</a:t>
            </a:r>
          </a:p>
        </p:txBody>
      </p:sp>
      <p:sp>
        <p:nvSpPr>
          <p:cNvPr id="18" name="">
            <a:extLst xmlns:a="http://schemas.openxmlformats.org/drawingml/2006/main">
              <a:ext uri="{FF2B5EF4-FFF2-40B4-BE49-F238E27FC236}">
                <a16:creationId xmlns:a16="http://schemas.microsoft.com/office/drawing/2014/main" id="{8402F0B7-4C4D-4304-B43C-FCBB6E08F962}"/>
              </a:ext>
            </a:extLst>
          </p:cNvPr>
          <p:cNvSpPr>
            <a:spLocks xmlns:a="http://schemas.openxmlformats.org/drawingml/2006/main" noGrp="1"/>
          </p:cNvSpPr>
          <p:nvPr/>
        </p:nvSpPr>
        <p:spPr>
          <a:xfrm xmlns:a="http://schemas.openxmlformats.org/drawingml/2006/main">
            <a:off x="590550" y="6543675"/>
            <a:ext cx="7810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675" b="1">
                <a:solidFill>
                  <a:srgbClr val="AFC4C6"/>
                </a:solidFill>
                <a:latin typeface="Arial"/>
                <a:ea typeface="Arial"/>
                <a:cs typeface="Arial"/>
              </a:defRPr>
            </a:defPPr>
          </a:lstStyle>
          <a:p xmlns:a="http://schemas.openxmlformats.org/drawingml/2006/main">
            <a:pPr algn="l">
              <a:defRPr sz="675" b="1">
                <a:solidFill>
                  <a:srgbClr val="AFC4C6"/>
                </a:solidFill>
                <a:latin typeface="Arial"/>
                <a:ea typeface="Arial"/>
                <a:cs typeface="Arial"/>
              </a:defRPr>
            </a:pPr>
            <a:r>
              <a:rPr sz="675" b="1">
                <a:solidFill>
                  <a:srgbClr val="AFC4C6"/>
                </a:solidFill>
                <a:latin typeface="Arial"/>
                <a:ea typeface="Arial"/>
                <a:cs typeface="Arial"/>
              </a:rPr>
              <a:t>MILKAHOLICS  •  ARAB YOUTH SPACE HACKATHON: 813 CHALLENGE</a:t>
            </a:r>
          </a:p>
        </p:txBody>
      </p:sp>
    </p:spTree>
    <p:extLst>
      <p:ext uri="{BB962C8B-B14F-4D97-AF65-F5344CB8AC3E}">
        <p14:creationId xmlns:p14="http://schemas.microsoft.com/office/powerpoint/2010/main" val="537330090"/>
      </p:ext>
    </p:extLst>
  </p:cSld>
</p:sld>
</file>

<file path=ppt/slides/slide6.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73158E9-799A-4A1D-8AB6-DBCD4EF71336}"/>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SCIENTIFIC VALIDITY</a:t>
            </a:r>
          </a:p>
        </p:txBody>
      </p:sp>
      <p:sp>
        <p:nvSpPr>
          <p:cNvPr id="2" name="">
            <a:extLst xmlns:a="http://schemas.openxmlformats.org/drawingml/2006/main">
              <a:ext uri="{FF2B5EF4-FFF2-40B4-BE49-F238E27FC236}">
                <a16:creationId xmlns:a16="http://schemas.microsoft.com/office/drawing/2014/main" id="{13460E43-3DF3-45AE-90CA-4F3517CB15BA}"/>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Measured agreement, explicit assumptions, bounded claims</a:t>
            </a:r>
          </a:p>
        </p:txBody>
      </p:sp>
      <p:sp>
        <p:nvSpPr>
          <p:cNvPr id="3" name="">
            <a:extLst xmlns:a="http://schemas.openxmlformats.org/drawingml/2006/main">
              <a:ext uri="{FF2B5EF4-FFF2-40B4-BE49-F238E27FC236}">
                <a16:creationId xmlns:a16="http://schemas.microsoft.com/office/drawing/2014/main" id="{8E6B9E22-6662-4424-9F4E-ECFEF6D92FB4}"/>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963AA5EF-EC9C-4CA0-8865-11E6904CCAEA}"/>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5" name="">
            <a:extLst xmlns:a="http://schemas.openxmlformats.org/drawingml/2006/main">
              <a:ext uri="{FF2B5EF4-FFF2-40B4-BE49-F238E27FC236}">
                <a16:creationId xmlns:a16="http://schemas.microsoft.com/office/drawing/2014/main" id="{59337DBC-1F0C-4B09-BA10-7E9C37C30B18}"/>
              </a:ext>
            </a:extLst>
          </p:cNvPr>
          <p:cNvSpPr>
            <a:spLocks xmlns:a="http://schemas.openxmlformats.org/drawingml/2006/main" noGrp="1"/>
          </p:cNvSpPr>
          <p:nvPr/>
        </p:nvSpPr>
        <p:spPr>
          <a:xfrm xmlns:a="http://schemas.openxmlformats.org/drawingml/2006/main">
            <a:off x="590550" y="1504950"/>
            <a:ext cx="17907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6" name="">
            <a:extLst xmlns:a="http://schemas.openxmlformats.org/drawingml/2006/main">
              <a:ext uri="{FF2B5EF4-FFF2-40B4-BE49-F238E27FC236}">
                <a16:creationId xmlns:a16="http://schemas.microsoft.com/office/drawing/2014/main" id="{9B4E59B8-E9BA-453C-827B-E5A0FB08C948}"/>
              </a:ext>
            </a:extLst>
          </p:cNvPr>
          <p:cNvSpPr>
            <a:spLocks xmlns:a="http://schemas.openxmlformats.org/drawingml/2006/main" noGrp="1"/>
          </p:cNvSpPr>
          <p:nvPr/>
        </p:nvSpPr>
        <p:spPr>
          <a:xfrm xmlns:a="http://schemas.openxmlformats.org/drawingml/2006/main">
            <a:off x="762000" y="1619250"/>
            <a:ext cx="1447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1AA58F"/>
                </a:solidFill>
                <a:latin typeface="Arial"/>
                <a:ea typeface="Arial"/>
                <a:cs typeface="Arial"/>
              </a:defRPr>
            </a:defPPr>
          </a:lstStyle>
          <a:p xmlns:a="http://schemas.openxmlformats.org/drawingml/2006/main">
            <a:pPr algn="l">
              <a:defRPr sz="2550" b="1">
                <a:solidFill>
                  <a:srgbClr val="1AA58F"/>
                </a:solidFill>
                <a:latin typeface="Arial"/>
                <a:ea typeface="Arial"/>
                <a:cs typeface="Arial"/>
              </a:defRPr>
            </a:pPr>
            <a:r>
              <a:rPr sz="2550" b="1">
                <a:solidFill>
                  <a:srgbClr val="1AA58F"/>
                </a:solidFill>
                <a:latin typeface="Arial"/>
                <a:ea typeface="Arial"/>
                <a:cs typeface="Arial"/>
              </a:rPr>
              <a:t>0.88</a:t>
            </a:r>
          </a:p>
        </p:txBody>
      </p:sp>
      <p:sp>
        <p:nvSpPr>
          <p:cNvPr id="7" name="">
            <a:extLst xmlns:a="http://schemas.openxmlformats.org/drawingml/2006/main">
              <a:ext uri="{FF2B5EF4-FFF2-40B4-BE49-F238E27FC236}">
                <a16:creationId xmlns:a16="http://schemas.microsoft.com/office/drawing/2014/main" id="{1D99B916-4047-4A34-8860-F9FF20362176}"/>
              </a:ext>
            </a:extLst>
          </p:cNvPr>
          <p:cNvSpPr>
            <a:spLocks xmlns:a="http://schemas.openxmlformats.org/drawingml/2006/main" noGrp="1"/>
          </p:cNvSpPr>
          <p:nvPr/>
        </p:nvSpPr>
        <p:spPr>
          <a:xfrm xmlns:a="http://schemas.openxmlformats.org/drawingml/2006/main">
            <a:off x="762000" y="2133600"/>
            <a:ext cx="144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F1 AGREEMENT</a:t>
            </a:r>
          </a:p>
        </p:txBody>
      </p:sp>
      <p:sp>
        <p:nvSpPr>
          <p:cNvPr id="8" name="">
            <a:extLst xmlns:a="http://schemas.openxmlformats.org/drawingml/2006/main">
              <a:ext uri="{FF2B5EF4-FFF2-40B4-BE49-F238E27FC236}">
                <a16:creationId xmlns:a16="http://schemas.microsoft.com/office/drawing/2014/main" id="{24A7ED47-E01D-4398-8C35-A5D32C91C5C7}"/>
              </a:ext>
            </a:extLst>
          </p:cNvPr>
          <p:cNvSpPr>
            <a:spLocks xmlns:a="http://schemas.openxmlformats.org/drawingml/2006/main" noGrp="1"/>
          </p:cNvSpPr>
          <p:nvPr/>
        </p:nvSpPr>
        <p:spPr>
          <a:xfrm xmlns:a="http://schemas.openxmlformats.org/drawingml/2006/main">
            <a:off x="2514600" y="1504950"/>
            <a:ext cx="20955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9" name="">
            <a:extLst xmlns:a="http://schemas.openxmlformats.org/drawingml/2006/main">
              <a:ext uri="{FF2B5EF4-FFF2-40B4-BE49-F238E27FC236}">
                <a16:creationId xmlns:a16="http://schemas.microsoft.com/office/drawing/2014/main" id="{3513FA50-531C-4BBC-9F43-080FF65BB3DC}"/>
              </a:ext>
            </a:extLst>
          </p:cNvPr>
          <p:cNvSpPr>
            <a:spLocks xmlns:a="http://schemas.openxmlformats.org/drawingml/2006/main" noGrp="1"/>
          </p:cNvSpPr>
          <p:nvPr/>
        </p:nvSpPr>
        <p:spPr>
          <a:xfrm xmlns:a="http://schemas.openxmlformats.org/drawingml/2006/main">
            <a:off x="2686050" y="1619250"/>
            <a:ext cx="1752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6D5DD3"/>
                </a:solidFill>
                <a:latin typeface="Arial"/>
                <a:ea typeface="Arial"/>
                <a:cs typeface="Arial"/>
              </a:defRPr>
            </a:defPPr>
          </a:lstStyle>
          <a:p xmlns:a="http://schemas.openxmlformats.org/drawingml/2006/main">
            <a:pPr algn="l">
              <a:defRPr sz="2550" b="1">
                <a:solidFill>
                  <a:srgbClr val="6D5DD3"/>
                </a:solidFill>
                <a:latin typeface="Arial"/>
                <a:ea typeface="Arial"/>
                <a:cs typeface="Arial"/>
              </a:defRPr>
            </a:pPr>
            <a:r>
              <a:rPr sz="2550" b="1">
                <a:solidFill>
                  <a:srgbClr val="6D5DD3"/>
                </a:solidFill>
                <a:latin typeface="Arial"/>
                <a:ea typeface="Arial"/>
                <a:cs typeface="Arial"/>
              </a:rPr>
              <a:t>0.78</a:t>
            </a:r>
          </a:p>
        </p:txBody>
      </p:sp>
      <p:sp>
        <p:nvSpPr>
          <p:cNvPr id="10" name="">
            <a:extLst xmlns:a="http://schemas.openxmlformats.org/drawingml/2006/main">
              <a:ext uri="{FF2B5EF4-FFF2-40B4-BE49-F238E27FC236}">
                <a16:creationId xmlns:a16="http://schemas.microsoft.com/office/drawing/2014/main" id="{96FD0BF4-12E9-439E-8DFA-054A3C9EDDB7}"/>
              </a:ext>
            </a:extLst>
          </p:cNvPr>
          <p:cNvSpPr>
            <a:spLocks xmlns:a="http://schemas.openxmlformats.org/drawingml/2006/main" noGrp="1"/>
          </p:cNvSpPr>
          <p:nvPr/>
        </p:nvSpPr>
        <p:spPr>
          <a:xfrm xmlns:a="http://schemas.openxmlformats.org/drawingml/2006/main">
            <a:off x="2686050" y="2133600"/>
            <a:ext cx="1752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INTERSECTION OVER UNION</a:t>
            </a:r>
          </a:p>
        </p:txBody>
      </p:sp>
      <p:sp>
        <p:nvSpPr>
          <p:cNvPr id="11" name="">
            <a:extLst xmlns:a="http://schemas.openxmlformats.org/drawingml/2006/main">
              <a:ext uri="{FF2B5EF4-FFF2-40B4-BE49-F238E27FC236}">
                <a16:creationId xmlns:a16="http://schemas.microsoft.com/office/drawing/2014/main" id="{40C2FAB1-72FB-42FB-9631-FD59BE6FE6CC}"/>
              </a:ext>
            </a:extLst>
          </p:cNvPr>
          <p:cNvSpPr>
            <a:spLocks xmlns:a="http://schemas.openxmlformats.org/drawingml/2006/main" noGrp="1"/>
          </p:cNvSpPr>
          <p:nvPr/>
        </p:nvSpPr>
        <p:spPr>
          <a:xfrm xmlns:a="http://schemas.openxmlformats.org/drawingml/2006/main">
            <a:off x="4743450" y="1504950"/>
            <a:ext cx="20955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31505F"/>
            </a:solidFill>
            <a:prstDash val="solid"/>
          </a:ln>
        </p:spPr>
      </p:sp>
      <p:sp>
        <p:nvSpPr>
          <p:cNvPr id="12" name="">
            <a:extLst xmlns:a="http://schemas.openxmlformats.org/drawingml/2006/main">
              <a:ext uri="{FF2B5EF4-FFF2-40B4-BE49-F238E27FC236}">
                <a16:creationId xmlns:a16="http://schemas.microsoft.com/office/drawing/2014/main" id="{8EA9F532-56D9-418E-8D2E-56F785DD14BE}"/>
              </a:ext>
            </a:extLst>
          </p:cNvPr>
          <p:cNvSpPr>
            <a:spLocks xmlns:a="http://schemas.openxmlformats.org/drawingml/2006/main" noGrp="1"/>
          </p:cNvSpPr>
          <p:nvPr/>
        </p:nvSpPr>
        <p:spPr>
          <a:xfrm xmlns:a="http://schemas.openxmlformats.org/drawingml/2006/main">
            <a:off x="4914900" y="1619250"/>
            <a:ext cx="1752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550" b="1">
                <a:solidFill>
                  <a:srgbClr val="E2AD2B"/>
                </a:solidFill>
                <a:latin typeface="Arial"/>
                <a:ea typeface="Arial"/>
                <a:cs typeface="Arial"/>
              </a:defRPr>
            </a:defPPr>
          </a:lstStyle>
          <a:p xmlns:a="http://schemas.openxmlformats.org/drawingml/2006/main">
            <a:pPr algn="l">
              <a:defRPr sz="2550" b="1">
                <a:solidFill>
                  <a:srgbClr val="E2AD2B"/>
                </a:solidFill>
                <a:latin typeface="Arial"/>
                <a:ea typeface="Arial"/>
                <a:cs typeface="Arial"/>
              </a:defRPr>
            </a:pPr>
            <a:r>
              <a:rPr sz="2550" b="1">
                <a:solidFill>
                  <a:srgbClr val="E2AD2B"/>
                </a:solidFill>
                <a:latin typeface="Arial"/>
                <a:ea typeface="Arial"/>
                <a:cs typeface="Arial"/>
              </a:rPr>
              <a:t>0.89</a:t>
            </a:r>
          </a:p>
        </p:txBody>
      </p:sp>
      <p:sp>
        <p:nvSpPr>
          <p:cNvPr id="13" name="">
            <a:extLst xmlns:a="http://schemas.openxmlformats.org/drawingml/2006/main">
              <a:ext uri="{FF2B5EF4-FFF2-40B4-BE49-F238E27FC236}">
                <a16:creationId xmlns:a16="http://schemas.microsoft.com/office/drawing/2014/main" id="{F11C300A-64BF-4E7C-B749-6B98EA64F7D4}"/>
              </a:ext>
            </a:extLst>
          </p:cNvPr>
          <p:cNvSpPr>
            <a:spLocks xmlns:a="http://schemas.openxmlformats.org/drawingml/2006/main" noGrp="1"/>
          </p:cNvSpPr>
          <p:nvPr/>
        </p:nvSpPr>
        <p:spPr>
          <a:xfrm xmlns:a="http://schemas.openxmlformats.org/drawingml/2006/main">
            <a:off x="4914900" y="2133600"/>
            <a:ext cx="1752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AFC4C6"/>
                </a:solidFill>
                <a:latin typeface="Arial"/>
                <a:ea typeface="Arial"/>
                <a:cs typeface="Arial"/>
              </a:defRPr>
            </a:defPPr>
          </a:lstStyle>
          <a:p xmlns:a="http://schemas.openxmlformats.org/drawingml/2006/main">
            <a:pPr algn="l">
              <a:defRPr sz="1050" b="1">
                <a:solidFill>
                  <a:srgbClr val="AFC4C6"/>
                </a:solidFill>
                <a:latin typeface="Arial"/>
                <a:ea typeface="Arial"/>
                <a:cs typeface="Arial"/>
              </a:defRPr>
            </a:pPr>
            <a:r>
              <a:rPr sz="1050" b="1">
                <a:solidFill>
                  <a:srgbClr val="AFC4C6"/>
                </a:solidFill>
                <a:latin typeface="Arial"/>
                <a:ea typeface="Arial"/>
                <a:cs typeface="Arial"/>
              </a:rPr>
              <a:t>BALANCED ACCURACY</a:t>
            </a:r>
          </a:p>
        </p:txBody>
      </p:sp>
      <p:sp>
        <p:nvSpPr>
          <p:cNvPr id="14" name="">
            <a:extLst xmlns:a="http://schemas.openxmlformats.org/drawingml/2006/main">
              <a:ext uri="{FF2B5EF4-FFF2-40B4-BE49-F238E27FC236}">
                <a16:creationId xmlns:a16="http://schemas.microsoft.com/office/drawing/2014/main" id="{4D8A2D73-527E-4B15-9BC6-553347D0E1DF}"/>
              </a:ext>
            </a:extLst>
          </p:cNvPr>
          <p:cNvSpPr>
            <a:spLocks xmlns:a="http://schemas.openxmlformats.org/drawingml/2006/main" noGrp="1"/>
          </p:cNvSpPr>
          <p:nvPr/>
        </p:nvSpPr>
        <p:spPr>
          <a:xfrm xmlns:a="http://schemas.openxmlformats.org/drawingml/2006/main">
            <a:off x="7029450" y="1504950"/>
            <a:ext cx="4572000" cy="1066800"/>
          </a:xfrm>
          <a:prstGeom xmlns:a="http://schemas.openxmlformats.org/drawingml/2006/main" prst="roundRect">
            <a:avLst>
              <a:gd name="adj" fmla="val 10714"/>
            </a:avLst>
          </a:prstGeom>
          <a:solidFill xmlns:a="http://schemas.openxmlformats.org/drawingml/2006/main">
            <a:srgbClr val="113646"/>
          </a:solidFill>
          <a:ln xmlns:a="http://schemas.openxmlformats.org/drawingml/2006/main" w="9525">
            <a:solidFill>
              <a:srgbClr val="F06449"/>
            </a:solidFill>
            <a:prstDash val="solid"/>
          </a:ln>
        </p:spPr>
      </p:sp>
      <p:sp>
        <p:nvSpPr>
          <p:cNvPr id="15" name="">
            <a:extLst xmlns:a="http://schemas.openxmlformats.org/drawingml/2006/main">
              <a:ext uri="{FF2B5EF4-FFF2-40B4-BE49-F238E27FC236}">
                <a16:creationId xmlns:a16="http://schemas.microsoft.com/office/drawing/2014/main" id="{80AA3C0D-D6DC-4F37-B766-15AC6574DE5E}"/>
              </a:ext>
            </a:extLst>
          </p:cNvPr>
          <p:cNvSpPr>
            <a:spLocks xmlns:a="http://schemas.openxmlformats.org/drawingml/2006/main" noGrp="1"/>
          </p:cNvSpPr>
          <p:nvPr/>
        </p:nvSpPr>
        <p:spPr>
          <a:xfrm xmlns:a="http://schemas.openxmlformats.org/drawingml/2006/main">
            <a:off x="7239000" y="1685925"/>
            <a:ext cx="4152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425" b="1">
                <a:solidFill>
                  <a:srgbClr val="F3F6F2"/>
                </a:solidFill>
                <a:latin typeface="Arial"/>
                <a:ea typeface="Arial"/>
                <a:cs typeface="Arial"/>
              </a:defRPr>
            </a:defPPr>
          </a:lstStyle>
          <a:p xmlns:a="http://schemas.openxmlformats.org/drawingml/2006/main">
            <a:pPr algn="l">
              <a:defRPr sz="1425" b="1">
                <a:solidFill>
                  <a:srgbClr val="F3F6F2"/>
                </a:solidFill>
                <a:latin typeface="Arial"/>
                <a:ea typeface="Arial"/>
                <a:cs typeface="Arial"/>
              </a:defRPr>
            </a:pPr>
            <a:r>
              <a:rPr sz="1425" b="1">
                <a:solidFill>
                  <a:srgbClr val="F3F6F2"/>
                </a:solidFill>
                <a:latin typeface="Arial"/>
                <a:ea typeface="Arial"/>
                <a:cs typeface="Arial"/>
              </a:rPr>
              <a:t>These compare the model with a spatially separate WorldCover reference. They are not field accuracy.</a:t>
            </a:r>
          </a:p>
        </p:txBody>
      </p:sp>
      <p:pic>
        <p:nvPicPr>
          <p:cNvPr id="16" name="">
            <a:extLst xmlns:a="http://schemas.openxmlformats.org/drawingml/2006/main">
              <a:ext uri="{FF2B5EF4-FFF2-40B4-BE49-F238E27FC236}">
                <a16:creationId xmlns:a16="http://schemas.microsoft.com/office/drawing/2014/main" id="{61F7FE23-E71C-4BE9-89E4-7C81DB9B9FE5}"/>
              </a:ext>
            </a:extLst>
          </p:cNvPr>
          <p:cNvPicPr>
            <a:picLocks xmlns:a="http://schemas.openxmlformats.org/drawingml/2006/main" noChangeAspect="1"/>
          </p:cNvPicPr>
          <p:nvPr/>
        </p:nvPicPr>
        <p:blipFill>
          <a:blip xmlns:r="http://schemas.openxmlformats.org/officeDocument/2006/relationships" xmlns:a="http://schemas.openxmlformats.org/drawingml/2006/main" r:embed="R1a5d79b954b846f2"/>
          <a:stretch xmlns:a="http://schemas.openxmlformats.org/drawingml/2006/main"/>
        </p:blipFill>
        <p:spPr>
          <a:xfrm xmlns:a="http://schemas.openxmlformats.org/drawingml/2006/main">
            <a:off x="590550" y="2913104"/>
            <a:ext cx="7010400" cy="2974893"/>
          </a:xfrm>
          <a:prstGeom xmlns:a="http://schemas.openxmlformats.org/drawingml/2006/main" prst="roundRect">
            <a:avLst>
              <a:gd name="adj" fmla="val 2941"/>
            </a:avLst>
          </a:prstGeom>
        </p:spPr>
      </p:pic>
      <p:sp>
        <p:nvSpPr>
          <p:cNvPr id="17" name="">
            <a:extLst xmlns:a="http://schemas.openxmlformats.org/drawingml/2006/main">
              <a:ext uri="{FF2B5EF4-FFF2-40B4-BE49-F238E27FC236}">
                <a16:creationId xmlns:a16="http://schemas.microsoft.com/office/drawing/2014/main" id="{14FE6435-9882-45F5-AA7E-B62467D7E745}"/>
              </a:ext>
            </a:extLst>
          </p:cNvPr>
          <p:cNvSpPr>
            <a:spLocks xmlns:a="http://schemas.openxmlformats.org/drawingml/2006/main" noGrp="1"/>
          </p:cNvSpPr>
          <p:nvPr/>
        </p:nvSpPr>
        <p:spPr>
          <a:xfrm xmlns:a="http://schemas.openxmlformats.org/drawingml/2006/main">
            <a:off x="7886700" y="2781300"/>
            <a:ext cx="3714750" cy="3238500"/>
          </a:xfrm>
          <a:prstGeom xmlns:a="http://schemas.openxmlformats.org/drawingml/2006/main" prst="roundRect">
            <a:avLst>
              <a:gd name="adj" fmla="val 4118"/>
            </a:avLst>
          </a:prstGeom>
          <a:solidFill xmlns:a="http://schemas.openxmlformats.org/drawingml/2006/main">
            <a:srgbClr val="113646"/>
          </a:solidFill>
          <a:ln xmlns:a="http://schemas.openxmlformats.org/drawingml/2006/main" w="9525">
            <a:solidFill>
              <a:srgbClr val="31505F"/>
            </a:solidFill>
            <a:prstDash val="solid"/>
          </a:ln>
        </p:spPr>
      </p:sp>
      <p:sp>
        <p:nvSpPr>
          <p:cNvPr id="18" name="">
            <a:extLst xmlns:a="http://schemas.openxmlformats.org/drawingml/2006/main">
              <a:ext uri="{FF2B5EF4-FFF2-40B4-BE49-F238E27FC236}">
                <a16:creationId xmlns:a16="http://schemas.microsoft.com/office/drawing/2014/main" id="{5EED648A-C4F4-4D6E-8C0C-4D83558BB088}"/>
              </a:ext>
            </a:extLst>
          </p:cNvPr>
          <p:cNvSpPr>
            <a:spLocks xmlns:a="http://schemas.openxmlformats.org/drawingml/2006/main" noGrp="1"/>
          </p:cNvSpPr>
          <p:nvPr/>
        </p:nvSpPr>
        <p:spPr>
          <a:xfrm xmlns:a="http://schemas.openxmlformats.org/drawingml/2006/main">
            <a:off x="8115300" y="30099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F06449"/>
                </a:solidFill>
                <a:latin typeface="Arial"/>
                <a:ea typeface="Arial"/>
                <a:cs typeface="Arial"/>
              </a:defRPr>
            </a:defPPr>
          </a:lstStyle>
          <a:p xmlns:a="http://schemas.openxmlformats.org/drawingml/2006/main">
            <a:pPr algn="l">
              <a:defRPr sz="975" b="1">
                <a:solidFill>
                  <a:srgbClr val="F06449"/>
                </a:solidFill>
                <a:latin typeface="Arial"/>
                <a:ea typeface="Arial"/>
                <a:cs typeface="Arial"/>
              </a:defRPr>
            </a:pPr>
            <a:r>
              <a:rPr sz="975" b="1">
                <a:solidFill>
                  <a:srgbClr val="F06449"/>
                </a:solidFill>
                <a:latin typeface="Arial"/>
                <a:ea typeface="Arial"/>
                <a:cs typeface="Arial"/>
              </a:rPr>
              <a:t>LIMITS JUDGES SHOULD HEAR</a:t>
            </a:r>
          </a:p>
        </p:txBody>
      </p:sp>
      <p:sp>
        <p:nvSpPr>
          <p:cNvPr id="19" name="">
            <a:extLst xmlns:a="http://schemas.openxmlformats.org/drawingml/2006/main">
              <a:ext uri="{FF2B5EF4-FFF2-40B4-BE49-F238E27FC236}">
                <a16:creationId xmlns:a16="http://schemas.microsoft.com/office/drawing/2014/main" id="{88E7E3FB-192E-4E25-9429-9AA9CAC078F8}"/>
              </a:ext>
            </a:extLst>
          </p:cNvPr>
          <p:cNvSpPr>
            <a:spLocks xmlns:a="http://schemas.openxmlformats.org/drawingml/2006/main" noGrp="1"/>
          </p:cNvSpPr>
          <p:nvPr/>
        </p:nvSpPr>
        <p:spPr>
          <a:xfrm xmlns:a="http://schemas.openxmlformats.org/drawingml/2006/main">
            <a:off x="8115300" y="3390900"/>
            <a:ext cx="2095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00" b="1">
                <a:solidFill>
                  <a:srgbClr val="1AA58F"/>
                </a:solidFill>
                <a:latin typeface="Arial"/>
                <a:ea typeface="Arial"/>
                <a:cs typeface="Arial"/>
              </a:defRPr>
            </a:defPPr>
          </a:lstStyle>
          <a:p xmlns:a="http://schemas.openxmlformats.org/drawingml/2006/main">
            <a:pPr algn="l">
              <a:defRPr sz="1500" b="1">
                <a:solidFill>
                  <a:srgbClr val="1AA58F"/>
                </a:solidFill>
                <a:latin typeface="Arial"/>
                <a:ea typeface="Arial"/>
                <a:cs typeface="Arial"/>
              </a:defRPr>
            </a:pPr>
            <a:r>
              <a:rPr sz="1500" b="1">
                <a:solidFill>
                  <a:srgbClr val="1AA58F"/>
                </a:solidFill>
                <a:latin typeface="Arial"/>
                <a:ea typeface="Arial"/>
                <a:cs typeface="Arial"/>
              </a:rPr>
              <a:t>•</a:t>
            </a:r>
          </a:p>
        </p:txBody>
      </p:sp>
      <p:sp>
        <p:nvSpPr>
          <p:cNvPr id="20" name="">
            <a:extLst xmlns:a="http://schemas.openxmlformats.org/drawingml/2006/main">
              <a:ext uri="{FF2B5EF4-FFF2-40B4-BE49-F238E27FC236}">
                <a16:creationId xmlns:a16="http://schemas.microsoft.com/office/drawing/2014/main" id="{BDF3320F-AC32-4DC9-9DAC-3E262E014AB6}"/>
              </a:ext>
            </a:extLst>
          </p:cNvPr>
          <p:cNvSpPr>
            <a:spLocks xmlns:a="http://schemas.openxmlformats.org/drawingml/2006/main" noGrp="1"/>
          </p:cNvSpPr>
          <p:nvPr/>
        </p:nvSpPr>
        <p:spPr>
          <a:xfrm xmlns:a="http://schemas.openxmlformats.org/drawingml/2006/main">
            <a:off x="8362950" y="3390900"/>
            <a:ext cx="2895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stStyle>
          <a:p xmlns:a="http://schemas.openxmlformats.org/drawingml/2006/main">
            <a:pPr algn="l">
              <a:defRPr sz="1200">
                <a:solidFill>
                  <a:srgbClr val="F3F6F2"/>
                </a:solidFill>
                <a:latin typeface="Arial"/>
                <a:ea typeface="Arial"/>
                <a:cs typeface="Arial"/>
              </a:defRPr>
            </a:pPr>
            <a:r>
              <a:rPr sz="1200">
                <a:solidFill>
                  <a:srgbClr val="F3F6F2"/>
                </a:solidFill>
                <a:latin typeface="Arial"/>
                <a:ea typeface="Arial"/>
                <a:cs typeface="Arial"/>
              </a:rPr>
              <a:t>Land-surface temperature is not air temperature or personal heat exposure.</a:t>
            </a:r>
          </a:p>
        </p:txBody>
      </p:sp>
      <p:sp>
        <p:nvSpPr>
          <p:cNvPr id="21" name="">
            <a:extLst xmlns:a="http://schemas.openxmlformats.org/drawingml/2006/main">
              <a:ext uri="{FF2B5EF4-FFF2-40B4-BE49-F238E27FC236}">
                <a16:creationId xmlns:a16="http://schemas.microsoft.com/office/drawing/2014/main" id="{5AE15FA6-38C3-4A4D-8755-B9EC886FFB10}"/>
              </a:ext>
            </a:extLst>
          </p:cNvPr>
          <p:cNvSpPr>
            <a:spLocks xmlns:a="http://schemas.openxmlformats.org/drawingml/2006/main" noGrp="1"/>
          </p:cNvSpPr>
          <p:nvPr/>
        </p:nvSpPr>
        <p:spPr>
          <a:xfrm xmlns:a="http://schemas.openxmlformats.org/drawingml/2006/main">
            <a:off x="8115300" y="4095750"/>
            <a:ext cx="20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00" b="1">
                <a:solidFill>
                  <a:srgbClr val="1AA58F"/>
                </a:solidFill>
                <a:latin typeface="Arial"/>
                <a:ea typeface="Arial"/>
                <a:cs typeface="Arial"/>
              </a:defRPr>
            </a:defPPr>
          </a:lstStyle>
          <a:p xmlns:a="http://schemas.openxmlformats.org/drawingml/2006/main">
            <a:pPr algn="l">
              <a:defRPr sz="1500" b="1">
                <a:solidFill>
                  <a:srgbClr val="1AA58F"/>
                </a:solidFill>
                <a:latin typeface="Arial"/>
                <a:ea typeface="Arial"/>
                <a:cs typeface="Arial"/>
              </a:defRPr>
            </a:pPr>
            <a:r>
              <a:rPr sz="1500" b="1">
                <a:solidFill>
                  <a:srgbClr val="1AA58F"/>
                </a:solidFill>
                <a:latin typeface="Arial"/>
                <a:ea typeface="Arial"/>
                <a:cs typeface="Arial"/>
              </a:rPr>
              <a:t>•</a:t>
            </a:r>
          </a:p>
        </p:txBody>
      </p:sp>
      <p:sp>
        <p:nvSpPr>
          <p:cNvPr id="22" name="">
            <a:extLst xmlns:a="http://schemas.openxmlformats.org/drawingml/2006/main">
              <a:ext uri="{FF2B5EF4-FFF2-40B4-BE49-F238E27FC236}">
                <a16:creationId xmlns:a16="http://schemas.microsoft.com/office/drawing/2014/main" id="{A68A5654-DD7D-4299-B76F-BAE99C7F1DF7}"/>
              </a:ext>
            </a:extLst>
          </p:cNvPr>
          <p:cNvSpPr>
            <a:spLocks xmlns:a="http://schemas.openxmlformats.org/drawingml/2006/main" noGrp="1"/>
          </p:cNvSpPr>
          <p:nvPr/>
        </p:nvSpPr>
        <p:spPr>
          <a:xfrm xmlns:a="http://schemas.openxmlformats.org/drawingml/2006/main">
            <a:off x="8362950" y="4095750"/>
            <a:ext cx="2895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stStyle>
          <a:p xmlns:a="http://schemas.openxmlformats.org/drawingml/2006/main">
            <a:pPr algn="l">
              <a:defRPr sz="1200">
                <a:solidFill>
                  <a:srgbClr val="F3F6F2"/>
                </a:solidFill>
                <a:latin typeface="Arial"/>
                <a:ea typeface="Arial"/>
                <a:cs typeface="Arial"/>
              </a:defRPr>
            </a:pPr>
            <a:r>
              <a:rPr sz="1200">
                <a:solidFill>
                  <a:srgbClr val="F3F6F2"/>
                </a:solidFill>
                <a:latin typeface="Arial"/>
                <a:ea typeface="Arial"/>
                <a:cs typeface="Arial"/>
              </a:rPr>
              <a:t>WorldPop is modelled; it is not a live census or worker count.</a:t>
            </a:r>
          </a:p>
        </p:txBody>
      </p:sp>
      <p:sp>
        <p:nvSpPr>
          <p:cNvPr id="23" name="">
            <a:extLst xmlns:a="http://schemas.openxmlformats.org/drawingml/2006/main">
              <a:ext uri="{FF2B5EF4-FFF2-40B4-BE49-F238E27FC236}">
                <a16:creationId xmlns:a16="http://schemas.microsoft.com/office/drawing/2014/main" id="{C499AE4B-C991-4967-AE66-D663EE647736}"/>
              </a:ext>
            </a:extLst>
          </p:cNvPr>
          <p:cNvSpPr>
            <a:spLocks xmlns:a="http://schemas.openxmlformats.org/drawingml/2006/main" noGrp="1"/>
          </p:cNvSpPr>
          <p:nvPr/>
        </p:nvSpPr>
        <p:spPr>
          <a:xfrm xmlns:a="http://schemas.openxmlformats.org/drawingml/2006/main">
            <a:off x="8115300" y="4705350"/>
            <a:ext cx="209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00" b="1">
                <a:solidFill>
                  <a:srgbClr val="1AA58F"/>
                </a:solidFill>
                <a:latin typeface="Arial"/>
                <a:ea typeface="Arial"/>
                <a:cs typeface="Arial"/>
              </a:defRPr>
            </a:defPPr>
          </a:lstStyle>
          <a:p xmlns:a="http://schemas.openxmlformats.org/drawingml/2006/main">
            <a:pPr algn="l">
              <a:defRPr sz="1500" b="1">
                <a:solidFill>
                  <a:srgbClr val="1AA58F"/>
                </a:solidFill>
                <a:latin typeface="Arial"/>
                <a:ea typeface="Arial"/>
                <a:cs typeface="Arial"/>
              </a:defRPr>
            </a:pPr>
            <a:r>
              <a:rPr sz="1500" b="1">
                <a:solidFill>
                  <a:srgbClr val="1AA58F"/>
                </a:solidFill>
                <a:latin typeface="Arial"/>
                <a:ea typeface="Arial"/>
                <a:cs typeface="Arial"/>
              </a:rPr>
              <a:t>•</a:t>
            </a:r>
          </a:p>
        </p:txBody>
      </p:sp>
      <p:sp>
        <p:nvSpPr>
          <p:cNvPr id="24" name="">
            <a:extLst xmlns:a="http://schemas.openxmlformats.org/drawingml/2006/main">
              <a:ext uri="{FF2B5EF4-FFF2-40B4-BE49-F238E27FC236}">
                <a16:creationId xmlns:a16="http://schemas.microsoft.com/office/drawing/2014/main" id="{EE1DA17E-1F06-41B2-BF35-9940B6ABB0D8}"/>
              </a:ext>
            </a:extLst>
          </p:cNvPr>
          <p:cNvSpPr>
            <a:spLocks xmlns:a="http://schemas.openxmlformats.org/drawingml/2006/main" noGrp="1"/>
          </p:cNvSpPr>
          <p:nvPr/>
        </p:nvSpPr>
        <p:spPr>
          <a:xfrm xmlns:a="http://schemas.openxmlformats.org/drawingml/2006/main">
            <a:off x="8362950" y="4705350"/>
            <a:ext cx="2895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stStyle>
          <a:p xmlns:a="http://schemas.openxmlformats.org/drawingml/2006/main">
            <a:pPr algn="l">
              <a:defRPr sz="1200">
                <a:solidFill>
                  <a:srgbClr val="F3F6F2"/>
                </a:solidFill>
                <a:latin typeface="Arial"/>
                <a:ea typeface="Arial"/>
                <a:cs typeface="Arial"/>
              </a:defRPr>
            </a:pPr>
            <a:r>
              <a:rPr sz="1200">
                <a:solidFill>
                  <a:srgbClr val="F3F6F2"/>
                </a:solidFill>
                <a:latin typeface="Arial"/>
                <a:ea typeface="Arial"/>
                <a:cs typeface="Arial"/>
              </a:rPr>
              <a:t>Bright desert and roofs can still confuse classification.</a:t>
            </a:r>
          </a:p>
        </p:txBody>
      </p:sp>
      <p:sp>
        <p:nvSpPr>
          <p:cNvPr id="25" name="">
            <a:extLst xmlns:a="http://schemas.openxmlformats.org/drawingml/2006/main">
              <a:ext uri="{FF2B5EF4-FFF2-40B4-BE49-F238E27FC236}">
                <a16:creationId xmlns:a16="http://schemas.microsoft.com/office/drawing/2014/main" id="{E2940E7D-7D47-4180-8B6A-C038B05A6826}"/>
              </a:ext>
            </a:extLst>
          </p:cNvPr>
          <p:cNvSpPr>
            <a:spLocks xmlns:a="http://schemas.openxmlformats.org/drawingml/2006/main" noGrp="1"/>
          </p:cNvSpPr>
          <p:nvPr/>
        </p:nvSpPr>
        <p:spPr>
          <a:xfrm xmlns:a="http://schemas.openxmlformats.org/drawingml/2006/main">
            <a:off x="8115300" y="5276850"/>
            <a:ext cx="209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00" b="1">
                <a:solidFill>
                  <a:srgbClr val="1AA58F"/>
                </a:solidFill>
                <a:latin typeface="Arial"/>
                <a:ea typeface="Arial"/>
                <a:cs typeface="Arial"/>
              </a:defRPr>
            </a:defPPr>
          </a:lstStyle>
          <a:p xmlns:a="http://schemas.openxmlformats.org/drawingml/2006/main">
            <a:pPr algn="l">
              <a:defRPr sz="1500" b="1">
                <a:solidFill>
                  <a:srgbClr val="1AA58F"/>
                </a:solidFill>
                <a:latin typeface="Arial"/>
                <a:ea typeface="Arial"/>
                <a:cs typeface="Arial"/>
              </a:defRPr>
            </a:pPr>
            <a:r>
              <a:rPr sz="1500" b="1">
                <a:solidFill>
                  <a:srgbClr val="1AA58F"/>
                </a:solidFill>
                <a:latin typeface="Arial"/>
                <a:ea typeface="Arial"/>
                <a:cs typeface="Arial"/>
              </a:rPr>
              <a:t>•</a:t>
            </a:r>
          </a:p>
        </p:txBody>
      </p:sp>
      <p:sp>
        <p:nvSpPr>
          <p:cNvPr id="26" name="">
            <a:extLst xmlns:a="http://schemas.openxmlformats.org/drawingml/2006/main">
              <a:ext uri="{FF2B5EF4-FFF2-40B4-BE49-F238E27FC236}">
                <a16:creationId xmlns:a16="http://schemas.microsoft.com/office/drawing/2014/main" id="{62FF084E-E18F-42F8-B024-9309DB95B415}"/>
              </a:ext>
            </a:extLst>
          </p:cNvPr>
          <p:cNvSpPr>
            <a:spLocks xmlns:a="http://schemas.openxmlformats.org/drawingml/2006/main" noGrp="1"/>
          </p:cNvSpPr>
          <p:nvPr/>
        </p:nvSpPr>
        <p:spPr>
          <a:xfrm xmlns:a="http://schemas.openxmlformats.org/drawingml/2006/main">
            <a:off x="8362950" y="5276850"/>
            <a:ext cx="2895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F3F6F2"/>
                </a:solidFill>
                <a:latin typeface="Arial"/>
                <a:ea typeface="Arial"/>
                <a:cs typeface="Arial"/>
              </a:defRPr>
            </a:defPPr>
          </a:lstStyle>
          <a:p xmlns:a="http://schemas.openxmlformats.org/drawingml/2006/main">
            <a:pPr algn="l">
              <a:defRPr sz="1200">
                <a:solidFill>
                  <a:srgbClr val="F3F6F2"/>
                </a:solidFill>
                <a:latin typeface="Arial"/>
                <a:ea typeface="Arial"/>
                <a:cs typeface="Arial"/>
              </a:defRPr>
            </a:pPr>
            <a:r>
              <a:rPr sz="1200">
                <a:solidFill>
                  <a:srgbClr val="F3F6F2"/>
                </a:solidFill>
                <a:latin typeface="Arial"/>
                <a:ea typeface="Arial"/>
                <a:cs typeface="Arial"/>
              </a:rPr>
              <a:t>Score weights are PoC assumptions that a real user must review.</a:t>
            </a:r>
          </a:p>
        </p:txBody>
      </p:sp>
      <p:sp>
        <p:nvSpPr>
          <p:cNvPr id="27" name="">
            <a:extLst xmlns:a="http://schemas.openxmlformats.org/drawingml/2006/main">
              <a:ext uri="{FF2B5EF4-FFF2-40B4-BE49-F238E27FC236}">
                <a16:creationId xmlns:a16="http://schemas.microsoft.com/office/drawing/2014/main" id="{319FD5C6-A8A2-4AA8-B379-17D5731035EE}"/>
              </a:ext>
            </a:extLst>
          </p:cNvPr>
          <p:cNvSpPr>
            <a:spLocks xmlns:a="http://schemas.openxmlformats.org/drawingml/2006/main" noGrp="1"/>
          </p:cNvSpPr>
          <p:nvPr/>
        </p:nvSpPr>
        <p:spPr>
          <a:xfrm xmlns:a="http://schemas.openxmlformats.org/drawingml/2006/main">
            <a:off x="590550" y="6543675"/>
            <a:ext cx="7810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675" b="1">
                <a:solidFill>
                  <a:srgbClr val="AFC4C6"/>
                </a:solidFill>
                <a:latin typeface="Arial"/>
                <a:ea typeface="Arial"/>
                <a:cs typeface="Arial"/>
              </a:defRPr>
            </a:defPPr>
          </a:lstStyle>
          <a:p xmlns:a="http://schemas.openxmlformats.org/drawingml/2006/main">
            <a:pPr algn="l">
              <a:defRPr sz="675" b="1">
                <a:solidFill>
                  <a:srgbClr val="AFC4C6"/>
                </a:solidFill>
                <a:latin typeface="Arial"/>
                <a:ea typeface="Arial"/>
                <a:cs typeface="Arial"/>
              </a:defRPr>
            </a:pPr>
            <a:r>
              <a:rPr sz="675" b="1">
                <a:solidFill>
                  <a:srgbClr val="AFC4C6"/>
                </a:solidFill>
                <a:latin typeface="Arial"/>
                <a:ea typeface="Arial"/>
                <a:cs typeface="Arial"/>
              </a:rPr>
              <a:t>MILKAHOLICS  •  ARAB YOUTH SPACE HACKATHON: 813 CHALLENGE</a:t>
            </a:r>
          </a:p>
        </p:txBody>
      </p:sp>
    </p:spTree>
    <p:extLst>
      <p:ext uri="{BB962C8B-B14F-4D97-AF65-F5344CB8AC3E}">
        <p14:creationId xmlns:p14="http://schemas.microsoft.com/office/powerpoint/2010/main" val="1496005594"/>
      </p:ext>
    </p:extLst>
  </p:cSld>
</p:sld>
</file>

<file path=ppt/slides/slide7.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6A1659-8144-41C4-8BC6-9047E8783AD2}"/>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INNOVATION AND DIFFERENTIATION</a:t>
            </a:r>
          </a:p>
        </p:txBody>
      </p:sp>
      <p:sp>
        <p:nvSpPr>
          <p:cNvPr id="2" name="">
            <a:extLst xmlns:a="http://schemas.openxmlformats.org/drawingml/2006/main">
              <a:ext uri="{FF2B5EF4-FFF2-40B4-BE49-F238E27FC236}">
                <a16:creationId xmlns:a16="http://schemas.microsoft.com/office/drawing/2014/main" id="{22F6EC03-FBFF-4029-95A8-A51D8787BFA7}"/>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The value is the evidence chain — not a black-box score</a:t>
            </a:r>
          </a:p>
        </p:txBody>
      </p:sp>
      <p:sp>
        <p:nvSpPr>
          <p:cNvPr id="3" name="">
            <a:extLst xmlns:a="http://schemas.openxmlformats.org/drawingml/2006/main">
              <a:ext uri="{FF2B5EF4-FFF2-40B4-BE49-F238E27FC236}">
                <a16:creationId xmlns:a16="http://schemas.microsoft.com/office/drawing/2014/main" id="{24828D45-2B94-4CCB-8B32-C7A5B7DD7065}"/>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BAB9CD45-61E1-405A-A787-5440C62859D8}"/>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pic>
        <p:nvPicPr>
          <p:cNvPr id="5" name="">
            <a:extLst xmlns:a="http://schemas.openxmlformats.org/drawingml/2006/main">
              <a:ext uri="{FF2B5EF4-FFF2-40B4-BE49-F238E27FC236}">
                <a16:creationId xmlns:a16="http://schemas.microsoft.com/office/drawing/2014/main" id="{682D6CB5-37DB-47AF-9926-928C632AB5CB}"/>
              </a:ext>
            </a:extLst>
          </p:cNvPr>
          <p:cNvPicPr>
            <a:picLocks xmlns:a="http://schemas.openxmlformats.org/drawingml/2006/main" noChangeAspect="1"/>
          </p:cNvPicPr>
          <p:nvPr/>
        </p:nvPicPr>
        <p:blipFill>
          <a:blip xmlns:r="http://schemas.openxmlformats.org/officeDocument/2006/relationships" xmlns:a="http://schemas.openxmlformats.org/drawingml/2006/main" r:embed="R44a1e3d910324f9e"/>
          <a:stretch xmlns:a="http://schemas.openxmlformats.org/drawingml/2006/main"/>
        </p:blipFill>
        <p:spPr>
          <a:xfrm xmlns:a="http://schemas.openxmlformats.org/drawingml/2006/main">
            <a:off x="590550" y="1964391"/>
            <a:ext cx="6477000" cy="2576793"/>
          </a:xfrm>
          <a:prstGeom xmlns:a="http://schemas.openxmlformats.org/drawingml/2006/main" prst="roundRect">
            <a:avLst>
              <a:gd name="adj" fmla="val 2817"/>
            </a:avLst>
          </a:prstGeom>
        </p:spPr>
      </p:pic>
      <p:sp>
        <p:nvSpPr>
          <p:cNvPr id="6" name="">
            <a:extLst xmlns:a="http://schemas.openxmlformats.org/drawingml/2006/main">
              <a:ext uri="{FF2B5EF4-FFF2-40B4-BE49-F238E27FC236}">
                <a16:creationId xmlns:a16="http://schemas.microsoft.com/office/drawing/2014/main" id="{F8B15C0D-9854-4B00-BEA2-0270B6FF2A06}"/>
              </a:ext>
            </a:extLst>
          </p:cNvPr>
          <p:cNvSpPr>
            <a:spLocks xmlns:a="http://schemas.openxmlformats.org/drawingml/2006/main" noGrp="1"/>
          </p:cNvSpPr>
          <p:nvPr/>
        </p:nvSpPr>
        <p:spPr>
          <a:xfrm xmlns:a="http://schemas.openxmlformats.org/drawingml/2006/main">
            <a:off x="7334250" y="1562100"/>
            <a:ext cx="4267200" cy="3381375"/>
          </a:xfrm>
          <a:prstGeom xmlns:a="http://schemas.openxmlformats.org/drawingml/2006/main" prst="roundRect">
            <a:avLst>
              <a:gd name="adj" fmla="val 3944"/>
            </a:avLst>
          </a:prstGeom>
          <a:solidFill xmlns:a="http://schemas.openxmlformats.org/drawingml/2006/main">
            <a:srgbClr val="113646"/>
          </a:solidFill>
          <a:ln xmlns:a="http://schemas.openxmlformats.org/drawingml/2006/main" w="9525">
            <a:solidFill>
              <a:srgbClr val="31505F"/>
            </a:solidFill>
            <a:prstDash val="solid"/>
          </a:ln>
        </p:spPr>
      </p:sp>
      <p:sp>
        <p:nvSpPr>
          <p:cNvPr id="7" name="">
            <a:extLst xmlns:a="http://schemas.openxmlformats.org/drawingml/2006/main">
              <a:ext uri="{FF2B5EF4-FFF2-40B4-BE49-F238E27FC236}">
                <a16:creationId xmlns:a16="http://schemas.microsoft.com/office/drawing/2014/main" id="{C1C5FE02-6E41-4FD1-B2A9-238C760BDA69}"/>
              </a:ext>
            </a:extLst>
          </p:cNvPr>
          <p:cNvSpPr>
            <a:spLocks xmlns:a="http://schemas.openxmlformats.org/drawingml/2006/main" noGrp="1"/>
          </p:cNvSpPr>
          <p:nvPr/>
        </p:nvSpPr>
        <p:spPr>
          <a:xfrm xmlns:a="http://schemas.openxmlformats.org/drawingml/2006/main">
            <a:off x="7581900" y="18097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1AA58F"/>
                </a:solidFill>
                <a:latin typeface="Arial"/>
                <a:ea typeface="Arial"/>
                <a:cs typeface="Arial"/>
              </a:defRPr>
            </a:defPPr>
          </a:lstStyle>
          <a:p xmlns:a="http://schemas.openxmlformats.org/drawingml/2006/main">
            <a:pPr algn="l">
              <a:defRPr sz="975" b="1">
                <a:solidFill>
                  <a:srgbClr val="1AA58F"/>
                </a:solidFill>
                <a:latin typeface="Arial"/>
                <a:ea typeface="Arial"/>
                <a:cs typeface="Arial"/>
              </a:defRPr>
            </a:pPr>
            <a:r>
              <a:rPr sz="975" b="1">
                <a:solidFill>
                  <a:srgbClr val="1AA58F"/>
                </a:solidFill>
                <a:latin typeface="Arial"/>
                <a:ea typeface="Arial"/>
                <a:cs typeface="Arial"/>
              </a:rPr>
              <a:t>WHAT IS DIFFERENT</a:t>
            </a:r>
          </a:p>
        </p:txBody>
      </p:sp>
      <p:sp>
        <p:nvSpPr>
          <p:cNvPr id="8" name="">
            <a:extLst xmlns:a="http://schemas.openxmlformats.org/drawingml/2006/main">
              <a:ext uri="{FF2B5EF4-FFF2-40B4-BE49-F238E27FC236}">
                <a16:creationId xmlns:a16="http://schemas.microsoft.com/office/drawing/2014/main" id="{9C81DA04-5547-4732-859D-9853653A8654}"/>
              </a:ext>
            </a:extLst>
          </p:cNvPr>
          <p:cNvSpPr>
            <a:spLocks xmlns:a="http://schemas.openxmlformats.org/drawingml/2006/main" noGrp="1"/>
          </p:cNvSpPr>
          <p:nvPr/>
        </p:nvSpPr>
        <p:spPr>
          <a:xfrm xmlns:a="http://schemas.openxmlformats.org/drawingml/2006/main">
            <a:off x="7581900" y="2209800"/>
            <a:ext cx="209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650" b="1">
                <a:solidFill>
                  <a:srgbClr val="1AA58F"/>
                </a:solidFill>
                <a:latin typeface="Arial"/>
                <a:ea typeface="Arial"/>
                <a:cs typeface="Arial"/>
              </a:defRPr>
            </a:defPPr>
          </a:lstStyle>
          <a:p xmlns:a="http://schemas.openxmlformats.org/drawingml/2006/main">
            <a:pPr algn="l">
              <a:defRPr sz="1650" b="1">
                <a:solidFill>
                  <a:srgbClr val="1AA58F"/>
                </a:solidFill>
                <a:latin typeface="Arial"/>
                <a:ea typeface="Arial"/>
                <a:cs typeface="Arial"/>
              </a:defRPr>
            </a:pPr>
            <a:r>
              <a:rPr sz="1650" b="1">
                <a:solidFill>
                  <a:srgbClr val="1AA58F"/>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A931E3C2-8B98-405C-A62F-A2938BD16757}"/>
              </a:ext>
            </a:extLst>
          </p:cNvPr>
          <p:cNvSpPr>
            <a:spLocks xmlns:a="http://schemas.openxmlformats.org/drawingml/2006/main" noGrp="1"/>
          </p:cNvSpPr>
          <p:nvPr/>
        </p:nvSpPr>
        <p:spPr>
          <a:xfrm xmlns:a="http://schemas.openxmlformats.org/drawingml/2006/main">
            <a:off x="7829550" y="2209800"/>
            <a:ext cx="3371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a:solidFill>
                  <a:srgbClr val="F3F6F2"/>
                </a:solidFill>
                <a:latin typeface="Arial"/>
                <a:ea typeface="Arial"/>
                <a:cs typeface="Arial"/>
              </a:defRPr>
            </a:defPPr>
          </a:lstStyle>
          <a:p xmlns:a="http://schemas.openxmlformats.org/drawingml/2006/main">
            <a:pPr algn="l">
              <a:defRPr sz="1350">
                <a:solidFill>
                  <a:srgbClr val="F3F6F2"/>
                </a:solidFill>
                <a:latin typeface="Arial"/>
                <a:ea typeface="Arial"/>
                <a:cs typeface="Arial"/>
              </a:defRPr>
            </a:pPr>
            <a:r>
              <a:rPr sz="1350">
                <a:solidFill>
                  <a:srgbClr val="F3F6F2"/>
                </a:solidFill>
                <a:latin typeface="Arial"/>
                <a:ea typeface="Arial"/>
                <a:cs typeface="Arial"/>
              </a:rPr>
              <a:t>Annual maps propose change; independent optical and radar evidence confirms it.</a:t>
            </a:r>
          </a:p>
        </p:txBody>
      </p:sp>
      <p:sp>
        <p:nvSpPr>
          <p:cNvPr id="10" name="">
            <a:extLst xmlns:a="http://schemas.openxmlformats.org/drawingml/2006/main">
              <a:ext uri="{FF2B5EF4-FFF2-40B4-BE49-F238E27FC236}">
                <a16:creationId xmlns:a16="http://schemas.microsoft.com/office/drawing/2014/main" id="{F9A2A541-8E09-4C90-97AB-B764ACC221F6}"/>
              </a:ext>
            </a:extLst>
          </p:cNvPr>
          <p:cNvSpPr>
            <a:spLocks xmlns:a="http://schemas.openxmlformats.org/drawingml/2006/main" noGrp="1"/>
          </p:cNvSpPr>
          <p:nvPr/>
        </p:nvSpPr>
        <p:spPr>
          <a:xfrm xmlns:a="http://schemas.openxmlformats.org/drawingml/2006/main">
            <a:off x="7581900" y="2990850"/>
            <a:ext cx="209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650" b="1">
                <a:solidFill>
                  <a:srgbClr val="1AA58F"/>
                </a:solidFill>
                <a:latin typeface="Arial"/>
                <a:ea typeface="Arial"/>
                <a:cs typeface="Arial"/>
              </a:defRPr>
            </a:defPPr>
          </a:lstStyle>
          <a:p xmlns:a="http://schemas.openxmlformats.org/drawingml/2006/main">
            <a:pPr algn="l">
              <a:defRPr sz="1650" b="1">
                <a:solidFill>
                  <a:srgbClr val="1AA58F"/>
                </a:solidFill>
                <a:latin typeface="Arial"/>
                <a:ea typeface="Arial"/>
                <a:cs typeface="Arial"/>
              </a:defRPr>
            </a:pPr>
            <a:r>
              <a:rPr sz="1650" b="1">
                <a:solidFill>
                  <a:srgbClr val="1AA58F"/>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F030F695-5517-4DB3-B3F8-25132BA1253A}"/>
              </a:ext>
            </a:extLst>
          </p:cNvPr>
          <p:cNvSpPr>
            <a:spLocks xmlns:a="http://schemas.openxmlformats.org/drawingml/2006/main" noGrp="1"/>
          </p:cNvSpPr>
          <p:nvPr/>
        </p:nvSpPr>
        <p:spPr>
          <a:xfrm xmlns:a="http://schemas.openxmlformats.org/drawingml/2006/main">
            <a:off x="7829550" y="2990850"/>
            <a:ext cx="33718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a:solidFill>
                  <a:srgbClr val="F3F6F2"/>
                </a:solidFill>
                <a:latin typeface="Arial"/>
                <a:ea typeface="Arial"/>
                <a:cs typeface="Arial"/>
              </a:defRPr>
            </a:defPPr>
          </a:lstStyle>
          <a:p xmlns:a="http://schemas.openxmlformats.org/drawingml/2006/main">
            <a:pPr algn="l">
              <a:defRPr sz="1350">
                <a:solidFill>
                  <a:srgbClr val="F3F6F2"/>
                </a:solidFill>
                <a:latin typeface="Arial"/>
                <a:ea typeface="Arial"/>
                <a:cs typeface="Arial"/>
              </a:defRPr>
            </a:pPr>
            <a:r>
              <a:rPr sz="1350">
                <a:solidFill>
                  <a:srgbClr val="F3F6F2"/>
                </a:solidFill>
                <a:latin typeface="Arial"/>
                <a:ea typeface="Arial"/>
                <a:cs typeface="Arial"/>
              </a:rPr>
              <a:t>Tanager tests why a simple high-NDBI-means-built rule can fail in bright desert.</a:t>
            </a:r>
          </a:p>
        </p:txBody>
      </p:sp>
      <p:sp>
        <p:nvSpPr>
          <p:cNvPr id="12" name="">
            <a:extLst xmlns:a="http://schemas.openxmlformats.org/drawingml/2006/main">
              <a:ext uri="{FF2B5EF4-FFF2-40B4-BE49-F238E27FC236}">
                <a16:creationId xmlns:a16="http://schemas.microsoft.com/office/drawing/2014/main" id="{1B8A17A0-0233-4AEC-9B19-2491CBAC035A}"/>
              </a:ext>
            </a:extLst>
          </p:cNvPr>
          <p:cNvSpPr>
            <a:spLocks xmlns:a="http://schemas.openxmlformats.org/drawingml/2006/main" noGrp="1"/>
          </p:cNvSpPr>
          <p:nvPr/>
        </p:nvSpPr>
        <p:spPr>
          <a:xfrm xmlns:a="http://schemas.openxmlformats.org/drawingml/2006/main">
            <a:off x="7581900" y="3771900"/>
            <a:ext cx="209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650" b="1">
                <a:solidFill>
                  <a:srgbClr val="1AA58F"/>
                </a:solidFill>
                <a:latin typeface="Arial"/>
                <a:ea typeface="Arial"/>
                <a:cs typeface="Arial"/>
              </a:defRPr>
            </a:defPPr>
          </a:lstStyle>
          <a:p xmlns:a="http://schemas.openxmlformats.org/drawingml/2006/main">
            <a:pPr algn="l">
              <a:defRPr sz="1650" b="1">
                <a:solidFill>
                  <a:srgbClr val="1AA58F"/>
                </a:solidFill>
                <a:latin typeface="Arial"/>
                <a:ea typeface="Arial"/>
                <a:cs typeface="Arial"/>
              </a:defRPr>
            </a:pPr>
            <a:r>
              <a:rPr sz="1650" b="1">
                <a:solidFill>
                  <a:srgbClr val="1AA58F"/>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0585DC6C-76AD-4BC8-8B76-5A9DD160F59D}"/>
              </a:ext>
            </a:extLst>
          </p:cNvPr>
          <p:cNvSpPr>
            <a:spLocks xmlns:a="http://schemas.openxmlformats.org/drawingml/2006/main" noGrp="1"/>
          </p:cNvSpPr>
          <p:nvPr/>
        </p:nvSpPr>
        <p:spPr>
          <a:xfrm xmlns:a="http://schemas.openxmlformats.org/drawingml/2006/main">
            <a:off x="7829550" y="3771900"/>
            <a:ext cx="3371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a:solidFill>
                  <a:srgbClr val="F3F6F2"/>
                </a:solidFill>
                <a:latin typeface="Arial"/>
                <a:ea typeface="Arial"/>
                <a:cs typeface="Arial"/>
              </a:defRPr>
            </a:defPPr>
          </a:lstStyle>
          <a:p xmlns:a="http://schemas.openxmlformats.org/drawingml/2006/main">
            <a:pPr algn="l">
              <a:defRPr sz="1350">
                <a:solidFill>
                  <a:srgbClr val="F3F6F2"/>
                </a:solidFill>
                <a:latin typeface="Arial"/>
                <a:ea typeface="Arial"/>
                <a:cs typeface="Arial"/>
              </a:defRPr>
            </a:pPr>
            <a:r>
              <a:rPr sz="1350">
                <a:solidFill>
                  <a:srgbClr val="F3F6F2"/>
                </a:solidFill>
                <a:latin typeface="Arial"/>
                <a:ea typeface="Arial"/>
                <a:cs typeface="Arial"/>
              </a:rPr>
              <a:t>Every ranked cell keeps visible score components and GIS-ready evidence.</a:t>
            </a:r>
          </a:p>
        </p:txBody>
      </p:sp>
      <p:sp>
        <p:nvSpPr>
          <p:cNvPr id="14" name="">
            <a:extLst xmlns:a="http://schemas.openxmlformats.org/drawingml/2006/main">
              <a:ext uri="{FF2B5EF4-FFF2-40B4-BE49-F238E27FC236}">
                <a16:creationId xmlns:a16="http://schemas.microsoft.com/office/drawing/2014/main" id="{3E01AF27-FC51-479A-B859-1DD1569F1C3B}"/>
              </a:ext>
            </a:extLst>
          </p:cNvPr>
          <p:cNvSpPr>
            <a:spLocks xmlns:a="http://schemas.openxmlformats.org/drawingml/2006/main" noGrp="1"/>
          </p:cNvSpPr>
          <p:nvPr/>
        </p:nvSpPr>
        <p:spPr>
          <a:xfrm xmlns:a="http://schemas.openxmlformats.org/drawingml/2006/main">
            <a:off x="7581900" y="449580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E2AD2B"/>
                </a:solidFill>
                <a:latin typeface="Arial"/>
                <a:ea typeface="Arial"/>
                <a:cs typeface="Arial"/>
              </a:defRPr>
            </a:defPPr>
          </a:lstStyle>
          <a:p xmlns:a="http://schemas.openxmlformats.org/drawingml/2006/main">
            <a:pPr algn="l">
              <a:defRPr sz="1050" b="1">
                <a:solidFill>
                  <a:srgbClr val="E2AD2B"/>
                </a:solidFill>
                <a:latin typeface="Arial"/>
                <a:ea typeface="Arial"/>
                <a:cs typeface="Arial"/>
              </a:defRPr>
            </a:pPr>
            <a:r>
              <a:rPr sz="1050" b="1">
                <a:solidFill>
                  <a:srgbClr val="E2AD2B"/>
                </a:solidFill>
                <a:latin typeface="Arial"/>
                <a:ea typeface="Arial"/>
                <a:cs typeface="Arial"/>
              </a:rPr>
              <a:t>Careful claim: one Tanager date adds material context. It does not prove change or identify specific materials.</a:t>
            </a:r>
          </a:p>
        </p:txBody>
      </p:sp>
      <p:sp>
        <p:nvSpPr>
          <p:cNvPr id="15" name="">
            <a:extLst xmlns:a="http://schemas.openxmlformats.org/drawingml/2006/main">
              <a:ext uri="{FF2B5EF4-FFF2-40B4-BE49-F238E27FC236}">
                <a16:creationId xmlns:a16="http://schemas.microsoft.com/office/drawing/2014/main" id="{2FC92B2A-F78F-4C06-98AC-2D74DCF8482E}"/>
              </a:ext>
            </a:extLst>
          </p:cNvPr>
          <p:cNvSpPr>
            <a:spLocks xmlns:a="http://schemas.openxmlformats.org/drawingml/2006/main" noGrp="1"/>
          </p:cNvSpPr>
          <p:nvPr/>
        </p:nvSpPr>
        <p:spPr>
          <a:xfrm xmlns:a="http://schemas.openxmlformats.org/drawingml/2006/main">
            <a:off x="590550" y="5219700"/>
            <a:ext cx="11010900" cy="990600"/>
          </a:xfrm>
          <a:prstGeom xmlns:a="http://schemas.openxmlformats.org/drawingml/2006/main" prst="roundRect">
            <a:avLst>
              <a:gd name="adj" fmla="val 13462"/>
            </a:avLst>
          </a:prstGeom>
          <a:solidFill xmlns:a="http://schemas.openxmlformats.org/drawingml/2006/main">
            <a:srgbClr val="113646"/>
          </a:solidFill>
          <a:ln xmlns:a="http://schemas.openxmlformats.org/drawingml/2006/main" w="9525">
            <a:solidFill>
              <a:srgbClr val="31505F"/>
            </a:solidFill>
            <a:prstDash val="solid"/>
          </a:ln>
        </p:spPr>
      </p:sp>
      <p:sp>
        <p:nvSpPr>
          <p:cNvPr id="16" name="">
            <a:extLst xmlns:a="http://schemas.openxmlformats.org/drawingml/2006/main">
              <a:ext uri="{FF2B5EF4-FFF2-40B4-BE49-F238E27FC236}">
                <a16:creationId xmlns:a16="http://schemas.microsoft.com/office/drawing/2014/main" id="{BE0CF760-CDC1-4C7E-A3CB-B8DFFD569C5F}"/>
              </a:ext>
            </a:extLst>
          </p:cNvPr>
          <p:cNvSpPr>
            <a:spLocks xmlns:a="http://schemas.openxmlformats.org/drawingml/2006/main" noGrp="1"/>
          </p:cNvSpPr>
          <p:nvPr/>
        </p:nvSpPr>
        <p:spPr>
          <a:xfrm xmlns:a="http://schemas.openxmlformats.org/drawingml/2006/main">
            <a:off x="838200" y="54292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F06449"/>
                </a:solidFill>
                <a:latin typeface="Arial"/>
                <a:ea typeface="Arial"/>
                <a:cs typeface="Arial"/>
              </a:defRPr>
            </a:defPPr>
          </a:lstStyle>
          <a:p xmlns:a="http://schemas.openxmlformats.org/drawingml/2006/main">
            <a:pPr algn="l">
              <a:defRPr sz="975" b="1">
                <a:solidFill>
                  <a:srgbClr val="F06449"/>
                </a:solidFill>
                <a:latin typeface="Arial"/>
                <a:ea typeface="Arial"/>
                <a:cs typeface="Arial"/>
              </a:defRPr>
            </a:pPr>
            <a:r>
              <a:rPr sz="975" b="1">
                <a:solidFill>
                  <a:srgbClr val="F06449"/>
                </a:solidFill>
                <a:latin typeface="Arial"/>
                <a:ea typeface="Arial"/>
                <a:cs typeface="Arial"/>
              </a:rPr>
              <a:t>POTENTIAL IMPACT</a:t>
            </a:r>
          </a:p>
        </p:txBody>
      </p:sp>
      <p:sp>
        <p:nvSpPr>
          <p:cNvPr id="17" name="">
            <a:extLst xmlns:a="http://schemas.openxmlformats.org/drawingml/2006/main">
              <a:ext uri="{FF2B5EF4-FFF2-40B4-BE49-F238E27FC236}">
                <a16:creationId xmlns:a16="http://schemas.microsoft.com/office/drawing/2014/main" id="{22DE8244-0986-4B1D-9FB1-66F932697532}"/>
              </a:ext>
            </a:extLst>
          </p:cNvPr>
          <p:cNvSpPr>
            <a:spLocks xmlns:a="http://schemas.openxmlformats.org/drawingml/2006/main" noGrp="1"/>
          </p:cNvSpPr>
          <p:nvPr/>
        </p:nvSpPr>
        <p:spPr>
          <a:xfrm xmlns:a="http://schemas.openxmlformats.org/drawingml/2006/main">
            <a:off x="2571750" y="5372100"/>
            <a:ext cx="8667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75" b="1">
                <a:solidFill>
                  <a:srgbClr val="F3F6F2"/>
                </a:solidFill>
                <a:latin typeface="Arial"/>
                <a:ea typeface="Arial"/>
                <a:cs typeface="Arial"/>
              </a:defRPr>
            </a:defPPr>
          </a:lstStyle>
          <a:p xmlns:a="http://schemas.openxmlformats.org/drawingml/2006/main">
            <a:pPr algn="l">
              <a:defRPr sz="1575" b="1">
                <a:solidFill>
                  <a:srgbClr val="F3F6F2"/>
                </a:solidFill>
                <a:latin typeface="Arial"/>
                <a:ea typeface="Arial"/>
                <a:cs typeface="Arial"/>
              </a:defRPr>
            </a:pPr>
            <a:r>
              <a:rPr sz="1575" b="1">
                <a:solidFill>
                  <a:srgbClr val="F3F6F2"/>
                </a:solidFill>
                <a:latin typeface="Arial"/>
                <a:ea typeface="Arial"/>
                <a:cs typeface="Arial"/>
              </a:rPr>
              <a:t>Reduce time spent comparing separate datasets and create a repeatable way to select field-inspection priorities. This is a hypothesis until real users test it.</a:t>
            </a:r>
          </a:p>
        </p:txBody>
      </p:sp>
      <p:sp>
        <p:nvSpPr>
          <p:cNvPr id="18" name="">
            <a:extLst xmlns:a="http://schemas.openxmlformats.org/drawingml/2006/main">
              <a:ext uri="{FF2B5EF4-FFF2-40B4-BE49-F238E27FC236}">
                <a16:creationId xmlns:a16="http://schemas.microsoft.com/office/drawing/2014/main" id="{09F59952-63C6-4ABC-8504-30BBE162F5D1}"/>
              </a:ext>
            </a:extLst>
          </p:cNvPr>
          <p:cNvSpPr>
            <a:spLocks xmlns:a="http://schemas.openxmlformats.org/drawingml/2006/main" noGrp="1"/>
          </p:cNvSpPr>
          <p:nvPr/>
        </p:nvSpPr>
        <p:spPr>
          <a:xfrm xmlns:a="http://schemas.openxmlformats.org/drawingml/2006/main">
            <a:off x="590550" y="6543675"/>
            <a:ext cx="7810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675" b="1">
                <a:solidFill>
                  <a:srgbClr val="AFC4C6"/>
                </a:solidFill>
                <a:latin typeface="Arial"/>
                <a:ea typeface="Arial"/>
                <a:cs typeface="Arial"/>
              </a:defRPr>
            </a:defPPr>
          </a:lstStyle>
          <a:p xmlns:a="http://schemas.openxmlformats.org/drawingml/2006/main">
            <a:pPr algn="l">
              <a:defRPr sz="675" b="1">
                <a:solidFill>
                  <a:srgbClr val="AFC4C6"/>
                </a:solidFill>
                <a:latin typeface="Arial"/>
                <a:ea typeface="Arial"/>
                <a:cs typeface="Arial"/>
              </a:defRPr>
            </a:pPr>
            <a:r>
              <a:rPr sz="675" b="1">
                <a:solidFill>
                  <a:srgbClr val="AFC4C6"/>
                </a:solidFill>
                <a:latin typeface="Arial"/>
                <a:ea typeface="Arial"/>
                <a:cs typeface="Arial"/>
              </a:rPr>
              <a:t>MILKAHOLICS  •  ARAB YOUTH SPACE HACKATHON: 813 CHALLENGE</a:t>
            </a:r>
          </a:p>
        </p:txBody>
      </p:sp>
    </p:spTree>
    <p:extLst>
      <p:ext uri="{BB962C8B-B14F-4D97-AF65-F5344CB8AC3E}">
        <p14:creationId xmlns:p14="http://schemas.microsoft.com/office/powerpoint/2010/main" val="1388310870"/>
      </p:ext>
    </p:extLst>
  </p:cSld>
</p:sld>
</file>

<file path=ppt/slides/slide8.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F2567DD-1DFD-4B32-825C-75A5BC803C66}"/>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DEVELOPMENT POTENTIAL</a:t>
            </a:r>
          </a:p>
        </p:txBody>
      </p:sp>
      <p:sp>
        <p:nvSpPr>
          <p:cNvPr id="2" name="">
            <a:extLst xmlns:a="http://schemas.openxmlformats.org/drawingml/2006/main">
              <a:ext uri="{FF2B5EF4-FFF2-40B4-BE49-F238E27FC236}">
                <a16:creationId xmlns:a16="http://schemas.microsoft.com/office/drawing/2014/main" id="{67034BA4-5322-45C9-8F2C-769D219F915E}"/>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Turn the PoC into a measured municipal pilot</a:t>
            </a:r>
          </a:p>
        </p:txBody>
      </p:sp>
      <p:sp>
        <p:nvSpPr>
          <p:cNvPr id="3" name="">
            <a:extLst xmlns:a="http://schemas.openxmlformats.org/drawingml/2006/main">
              <a:ext uri="{FF2B5EF4-FFF2-40B4-BE49-F238E27FC236}">
                <a16:creationId xmlns:a16="http://schemas.microsoft.com/office/drawing/2014/main" id="{0039EFAE-E019-42F1-ACB5-0FE1427CB5F8}"/>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A0BE8D17-A93C-4430-BBF5-6F2657B5AF28}"/>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5" name="">
            <a:extLst xmlns:a="http://schemas.openxmlformats.org/drawingml/2006/main">
              <a:ext uri="{FF2B5EF4-FFF2-40B4-BE49-F238E27FC236}">
                <a16:creationId xmlns:a16="http://schemas.microsoft.com/office/drawing/2014/main" id="{C33B88EF-645F-4737-B945-C5D758778C1E}"/>
              </a:ext>
            </a:extLst>
          </p:cNvPr>
          <p:cNvSpPr>
            <a:spLocks xmlns:a="http://schemas.openxmlformats.org/drawingml/2006/main" noGrp="1"/>
          </p:cNvSpPr>
          <p:nvPr/>
        </p:nvSpPr>
        <p:spPr>
          <a:xfrm xmlns:a="http://schemas.openxmlformats.org/drawingml/2006/main">
            <a:off x="590550" y="1676400"/>
            <a:ext cx="2533650" cy="2762250"/>
          </a:xfrm>
          <a:prstGeom xmlns:a="http://schemas.openxmlformats.org/drawingml/2006/main" prst="roundRect">
            <a:avLst>
              <a:gd name="adj" fmla="val 5263"/>
            </a:avLst>
          </a:prstGeom>
          <a:solidFill xmlns:a="http://schemas.openxmlformats.org/drawingml/2006/main">
            <a:srgbClr val="113646"/>
          </a:solidFill>
          <a:ln xmlns:a="http://schemas.openxmlformats.org/drawingml/2006/main" w="9525">
            <a:solidFill>
              <a:srgbClr val="31505F"/>
            </a:solidFill>
            <a:prstDash val="solid"/>
          </a:ln>
        </p:spPr>
      </p:sp>
      <p:sp>
        <p:nvSpPr>
          <p:cNvPr id="6" name="">
            <a:extLst xmlns:a="http://schemas.openxmlformats.org/drawingml/2006/main">
              <a:ext uri="{FF2B5EF4-FFF2-40B4-BE49-F238E27FC236}">
                <a16:creationId xmlns:a16="http://schemas.microsoft.com/office/drawing/2014/main" id="{2982448D-2A49-419D-A999-56D2EAE14436}"/>
              </a:ext>
            </a:extLst>
          </p:cNvPr>
          <p:cNvSpPr>
            <a:spLocks xmlns:a="http://schemas.openxmlformats.org/drawingml/2006/main" noGrp="1"/>
          </p:cNvSpPr>
          <p:nvPr/>
        </p:nvSpPr>
        <p:spPr>
          <a:xfrm xmlns:a="http://schemas.openxmlformats.org/drawingml/2006/main">
            <a:off x="800100" y="1885950"/>
            <a:ext cx="495300" cy="495300"/>
          </a:xfrm>
          <a:prstGeom xmlns:a="http://schemas.openxmlformats.org/drawingml/2006/main" prst="ellipse">
            <a:avLst/>
          </a:prstGeom>
          <a:solidFill xmlns:a="http://schemas.openxmlformats.org/drawingml/2006/main">
            <a:srgbClr val="1AA58F"/>
          </a:solidFill>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F3F6F2"/>
                </a:solidFill>
              </a:defRPr>
            </a:defPPr>
          </a:lstStyle>
          <a:p xmlns:a="http://schemas.openxmlformats.org/drawingml/2006/main">
            <a:pPr algn="ctr">
              <a:defRPr sz="1650" b="1">
                <a:solidFill>
                  <a:srgbClr val="F3F6F2"/>
                </a:solidFill>
              </a:defRPr>
            </a:pPr>
            <a:r>
              <a:rPr sz="1650" b="1">
                <a:solidFill>
                  <a:srgbClr val="F3F6F2"/>
                </a:solidFill>
              </a:rPr>
              <a:t>1</a:t>
            </a:r>
          </a:p>
        </p:txBody>
      </p:sp>
      <p:sp>
        <p:nvSpPr>
          <p:cNvPr id="7" name="">
            <a:extLst xmlns:a="http://schemas.openxmlformats.org/drawingml/2006/main">
              <a:ext uri="{FF2B5EF4-FFF2-40B4-BE49-F238E27FC236}">
                <a16:creationId xmlns:a16="http://schemas.microsoft.com/office/drawing/2014/main" id="{836C9242-164A-4767-A038-15E2603E6062}"/>
              </a:ext>
            </a:extLst>
          </p:cNvPr>
          <p:cNvSpPr>
            <a:spLocks xmlns:a="http://schemas.openxmlformats.org/drawingml/2006/main" noGrp="1"/>
          </p:cNvSpPr>
          <p:nvPr/>
        </p:nvSpPr>
        <p:spPr>
          <a:xfrm xmlns:a="http://schemas.openxmlformats.org/drawingml/2006/main">
            <a:off x="800100" y="2609850"/>
            <a:ext cx="211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950" b="1">
                <a:solidFill>
                  <a:srgbClr val="F3F6F2"/>
                </a:solidFill>
                <a:latin typeface="Arial"/>
                <a:ea typeface="Arial"/>
                <a:cs typeface="Arial"/>
              </a:defRPr>
            </a:defPPr>
          </a:lstStyle>
          <a:p xmlns:a="http://schemas.openxmlformats.org/drawingml/2006/main">
            <a:pPr algn="l">
              <a:defRPr sz="1950" b="1">
                <a:solidFill>
                  <a:srgbClr val="F3F6F2"/>
                </a:solidFill>
                <a:latin typeface="Arial"/>
                <a:ea typeface="Arial"/>
                <a:cs typeface="Arial"/>
              </a:defRPr>
            </a:pPr>
            <a:r>
              <a:rPr sz="1950" b="1">
                <a:solidFill>
                  <a:srgbClr val="F3F6F2"/>
                </a:solidFill>
                <a:latin typeface="Arial"/>
                <a:ea typeface="Arial"/>
                <a:cs typeface="Arial"/>
              </a:rPr>
              <a:t>Interview</a:t>
            </a:r>
          </a:p>
        </p:txBody>
      </p:sp>
      <p:sp>
        <p:nvSpPr>
          <p:cNvPr id="8" name="">
            <a:extLst xmlns:a="http://schemas.openxmlformats.org/drawingml/2006/main">
              <a:ext uri="{FF2B5EF4-FFF2-40B4-BE49-F238E27FC236}">
                <a16:creationId xmlns:a16="http://schemas.microsoft.com/office/drawing/2014/main" id="{9D376F6F-8556-412C-BF0E-8E4C45DA4001}"/>
              </a:ext>
            </a:extLst>
          </p:cNvPr>
          <p:cNvSpPr>
            <a:spLocks xmlns:a="http://schemas.openxmlformats.org/drawingml/2006/main" noGrp="1"/>
          </p:cNvSpPr>
          <p:nvPr/>
        </p:nvSpPr>
        <p:spPr>
          <a:xfrm xmlns:a="http://schemas.openxmlformats.org/drawingml/2006/main">
            <a:off x="800100" y="3143250"/>
            <a:ext cx="2114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AFC4C6"/>
                </a:solidFill>
                <a:latin typeface="Arial"/>
                <a:ea typeface="Arial"/>
                <a:cs typeface="Arial"/>
              </a:defRPr>
            </a:defPPr>
          </a:lstStyle>
          <a:p xmlns:a="http://schemas.openxmlformats.org/drawingml/2006/main">
            <a:pPr algn="l">
              <a:defRPr sz="1200">
                <a:solidFill>
                  <a:srgbClr val="AFC4C6"/>
                </a:solidFill>
                <a:latin typeface="Arial"/>
                <a:ea typeface="Arial"/>
                <a:cs typeface="Arial"/>
              </a:defRPr>
            </a:pPr>
            <a:r>
              <a:rPr sz="1200">
                <a:solidFill>
                  <a:srgbClr val="AFC4C6"/>
                </a:solidFill>
                <a:latin typeface="Arial"/>
                <a:ea typeface="Arial"/>
                <a:cs typeface="Arial"/>
              </a:rPr>
              <a:t>Confirm the decision, current workflow and acceptable false alarms with at least three real users.</a:t>
            </a:r>
          </a:p>
        </p:txBody>
      </p:sp>
      <p:sp>
        <p:nvSpPr>
          <p:cNvPr id="9" name="">
            <a:extLst xmlns:a="http://schemas.openxmlformats.org/drawingml/2006/main">
              <a:ext uri="{FF2B5EF4-FFF2-40B4-BE49-F238E27FC236}">
                <a16:creationId xmlns:a16="http://schemas.microsoft.com/office/drawing/2014/main" id="{55E2D08B-1E00-4493-9723-80BECD920533}"/>
              </a:ext>
            </a:extLst>
          </p:cNvPr>
          <p:cNvSpPr>
            <a:spLocks xmlns:a="http://schemas.openxmlformats.org/drawingml/2006/main" noGrp="1"/>
          </p:cNvSpPr>
          <p:nvPr/>
        </p:nvSpPr>
        <p:spPr>
          <a:xfrm xmlns:a="http://schemas.openxmlformats.org/drawingml/2006/main">
            <a:off x="3343275" y="1676400"/>
            <a:ext cx="2533650" cy="2762250"/>
          </a:xfrm>
          <a:prstGeom xmlns:a="http://schemas.openxmlformats.org/drawingml/2006/main" prst="roundRect">
            <a:avLst>
              <a:gd name="adj" fmla="val 5263"/>
            </a:avLst>
          </a:prstGeom>
          <a:solidFill xmlns:a="http://schemas.openxmlformats.org/drawingml/2006/main">
            <a:srgbClr val="113646"/>
          </a:solidFill>
          <a:ln xmlns:a="http://schemas.openxmlformats.org/drawingml/2006/main" w="9525">
            <a:solidFill>
              <a:srgbClr val="31505F"/>
            </a:solidFill>
            <a:prstDash val="solid"/>
          </a:ln>
        </p:spPr>
      </p:sp>
      <p:sp>
        <p:nvSpPr>
          <p:cNvPr id="10" name="">
            <a:extLst xmlns:a="http://schemas.openxmlformats.org/drawingml/2006/main">
              <a:ext uri="{FF2B5EF4-FFF2-40B4-BE49-F238E27FC236}">
                <a16:creationId xmlns:a16="http://schemas.microsoft.com/office/drawing/2014/main" id="{39A2C151-3100-404F-B6D5-30D078FA3464}"/>
              </a:ext>
            </a:extLst>
          </p:cNvPr>
          <p:cNvSpPr>
            <a:spLocks xmlns:a="http://schemas.openxmlformats.org/drawingml/2006/main" noGrp="1"/>
          </p:cNvSpPr>
          <p:nvPr/>
        </p:nvSpPr>
        <p:spPr>
          <a:xfrm xmlns:a="http://schemas.openxmlformats.org/drawingml/2006/main">
            <a:off x="3552825" y="1885950"/>
            <a:ext cx="495300" cy="495300"/>
          </a:xfrm>
          <a:prstGeom xmlns:a="http://schemas.openxmlformats.org/drawingml/2006/main" prst="ellipse">
            <a:avLst/>
          </a:prstGeom>
          <a:solidFill xmlns:a="http://schemas.openxmlformats.org/drawingml/2006/main">
            <a:srgbClr val="E2AD2B"/>
          </a:solidFill>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F3F6F2"/>
                </a:solidFill>
              </a:defRPr>
            </a:defPPr>
          </a:lstStyle>
          <a:p xmlns:a="http://schemas.openxmlformats.org/drawingml/2006/main">
            <a:pPr algn="ctr">
              <a:defRPr sz="1650" b="1">
                <a:solidFill>
                  <a:srgbClr val="F3F6F2"/>
                </a:solidFill>
              </a:defRPr>
            </a:pPr>
            <a:r>
              <a:rPr sz="1650" b="1">
                <a:solidFill>
                  <a:srgbClr val="F3F6F2"/>
                </a:solidFill>
              </a:rPr>
              <a:t>2</a:t>
            </a:r>
          </a:p>
        </p:txBody>
      </p:sp>
      <p:sp>
        <p:nvSpPr>
          <p:cNvPr id="11" name="">
            <a:extLst xmlns:a="http://schemas.openxmlformats.org/drawingml/2006/main">
              <a:ext uri="{FF2B5EF4-FFF2-40B4-BE49-F238E27FC236}">
                <a16:creationId xmlns:a16="http://schemas.microsoft.com/office/drawing/2014/main" id="{1F59AB8B-E4F1-452A-9DF2-CE060DBFF541}"/>
              </a:ext>
            </a:extLst>
          </p:cNvPr>
          <p:cNvSpPr>
            <a:spLocks xmlns:a="http://schemas.openxmlformats.org/drawingml/2006/main" noGrp="1"/>
          </p:cNvSpPr>
          <p:nvPr/>
        </p:nvSpPr>
        <p:spPr>
          <a:xfrm xmlns:a="http://schemas.openxmlformats.org/drawingml/2006/main">
            <a:off x="3552825" y="2609850"/>
            <a:ext cx="211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950" b="1">
                <a:solidFill>
                  <a:srgbClr val="F3F6F2"/>
                </a:solidFill>
                <a:latin typeface="Arial"/>
                <a:ea typeface="Arial"/>
                <a:cs typeface="Arial"/>
              </a:defRPr>
            </a:defPPr>
          </a:lstStyle>
          <a:p xmlns:a="http://schemas.openxmlformats.org/drawingml/2006/main">
            <a:pPr algn="l">
              <a:defRPr sz="1950" b="1">
                <a:solidFill>
                  <a:srgbClr val="F3F6F2"/>
                </a:solidFill>
                <a:latin typeface="Arial"/>
                <a:ea typeface="Arial"/>
                <a:cs typeface="Arial"/>
              </a:defRPr>
            </a:pPr>
            <a:r>
              <a:rPr sz="1950" b="1">
                <a:solidFill>
                  <a:srgbClr val="F3F6F2"/>
                </a:solidFill>
                <a:latin typeface="Arial"/>
                <a:ea typeface="Arial"/>
                <a:cs typeface="Arial"/>
              </a:rPr>
              <a:t>Validate</a:t>
            </a:r>
          </a:p>
        </p:txBody>
      </p:sp>
      <p:sp>
        <p:nvSpPr>
          <p:cNvPr id="12" name="">
            <a:extLst xmlns:a="http://schemas.openxmlformats.org/drawingml/2006/main">
              <a:ext uri="{FF2B5EF4-FFF2-40B4-BE49-F238E27FC236}">
                <a16:creationId xmlns:a16="http://schemas.microsoft.com/office/drawing/2014/main" id="{92C2AE66-5479-47D0-BB42-B8EE9A75C416}"/>
              </a:ext>
            </a:extLst>
          </p:cNvPr>
          <p:cNvSpPr>
            <a:spLocks xmlns:a="http://schemas.openxmlformats.org/drawingml/2006/main" noGrp="1"/>
          </p:cNvSpPr>
          <p:nvPr/>
        </p:nvSpPr>
        <p:spPr>
          <a:xfrm xmlns:a="http://schemas.openxmlformats.org/drawingml/2006/main">
            <a:off x="3552825" y="3143250"/>
            <a:ext cx="2114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AFC4C6"/>
                </a:solidFill>
                <a:latin typeface="Arial"/>
                <a:ea typeface="Arial"/>
                <a:cs typeface="Arial"/>
              </a:defRPr>
            </a:defPPr>
          </a:lstStyle>
          <a:p xmlns:a="http://schemas.openxmlformats.org/drawingml/2006/main">
            <a:pPr algn="l">
              <a:defRPr sz="1200">
                <a:solidFill>
                  <a:srgbClr val="AFC4C6"/>
                </a:solidFill>
                <a:latin typeface="Arial"/>
                <a:ea typeface="Arial"/>
                <a:cs typeface="Arial"/>
              </a:defRPr>
            </a:pPr>
            <a:r>
              <a:rPr sz="1200">
                <a:solidFill>
                  <a:srgbClr val="AFC4C6"/>
                </a:solidFill>
                <a:latin typeface="Arial"/>
                <a:ea typeface="Arial"/>
                <a:cs typeface="Arial"/>
              </a:rPr>
              <a:t>Inspect the top five zones, record useful results and false alarms, and compare with local plans.</a:t>
            </a:r>
          </a:p>
        </p:txBody>
      </p:sp>
      <p:sp>
        <p:nvSpPr>
          <p:cNvPr id="13" name="">
            <a:extLst xmlns:a="http://schemas.openxmlformats.org/drawingml/2006/main">
              <a:ext uri="{FF2B5EF4-FFF2-40B4-BE49-F238E27FC236}">
                <a16:creationId xmlns:a16="http://schemas.microsoft.com/office/drawing/2014/main" id="{A63CF1BE-5184-4AB5-A52D-C70131A0E96A}"/>
              </a:ext>
            </a:extLst>
          </p:cNvPr>
          <p:cNvSpPr>
            <a:spLocks xmlns:a="http://schemas.openxmlformats.org/drawingml/2006/main" noGrp="1"/>
          </p:cNvSpPr>
          <p:nvPr/>
        </p:nvSpPr>
        <p:spPr>
          <a:xfrm xmlns:a="http://schemas.openxmlformats.org/drawingml/2006/main">
            <a:off x="6096000" y="1676400"/>
            <a:ext cx="2533650" cy="2762250"/>
          </a:xfrm>
          <a:prstGeom xmlns:a="http://schemas.openxmlformats.org/drawingml/2006/main" prst="roundRect">
            <a:avLst>
              <a:gd name="adj" fmla="val 5263"/>
            </a:avLst>
          </a:prstGeom>
          <a:solidFill xmlns:a="http://schemas.openxmlformats.org/drawingml/2006/main">
            <a:srgbClr val="113646"/>
          </a:solidFill>
          <a:ln xmlns:a="http://schemas.openxmlformats.org/drawingml/2006/main" w="9525">
            <a:solidFill>
              <a:srgbClr val="31505F"/>
            </a:solidFill>
            <a:prstDash val="solid"/>
          </a:ln>
        </p:spPr>
      </p:sp>
      <p:sp>
        <p:nvSpPr>
          <p:cNvPr id="14" name="">
            <a:extLst xmlns:a="http://schemas.openxmlformats.org/drawingml/2006/main">
              <a:ext uri="{FF2B5EF4-FFF2-40B4-BE49-F238E27FC236}">
                <a16:creationId xmlns:a16="http://schemas.microsoft.com/office/drawing/2014/main" id="{1A204A52-5838-4110-A27F-DADA27F64682}"/>
              </a:ext>
            </a:extLst>
          </p:cNvPr>
          <p:cNvSpPr>
            <a:spLocks xmlns:a="http://schemas.openxmlformats.org/drawingml/2006/main" noGrp="1"/>
          </p:cNvSpPr>
          <p:nvPr/>
        </p:nvSpPr>
        <p:spPr>
          <a:xfrm xmlns:a="http://schemas.openxmlformats.org/drawingml/2006/main">
            <a:off x="6305550" y="1885950"/>
            <a:ext cx="495300" cy="495300"/>
          </a:xfrm>
          <a:prstGeom xmlns:a="http://schemas.openxmlformats.org/drawingml/2006/main" prst="ellipse">
            <a:avLst/>
          </a:prstGeom>
          <a:solidFill xmlns:a="http://schemas.openxmlformats.org/drawingml/2006/main">
            <a:srgbClr val="F06449"/>
          </a:solidFill>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F3F6F2"/>
                </a:solidFill>
              </a:defRPr>
            </a:defPPr>
          </a:lstStyle>
          <a:p xmlns:a="http://schemas.openxmlformats.org/drawingml/2006/main">
            <a:pPr algn="ctr">
              <a:defRPr sz="1650" b="1">
                <a:solidFill>
                  <a:srgbClr val="F3F6F2"/>
                </a:solidFill>
              </a:defRPr>
            </a:pPr>
            <a:r>
              <a:rPr sz="1650" b="1">
                <a:solidFill>
                  <a:srgbClr val="F3F6F2"/>
                </a:solidFill>
              </a:rPr>
              <a:t>3</a:t>
            </a:r>
          </a:p>
        </p:txBody>
      </p:sp>
      <p:sp>
        <p:nvSpPr>
          <p:cNvPr id="15" name="">
            <a:extLst xmlns:a="http://schemas.openxmlformats.org/drawingml/2006/main">
              <a:ext uri="{FF2B5EF4-FFF2-40B4-BE49-F238E27FC236}">
                <a16:creationId xmlns:a16="http://schemas.microsoft.com/office/drawing/2014/main" id="{8B9691F2-D69D-4D53-B578-3C75194634FE}"/>
              </a:ext>
            </a:extLst>
          </p:cNvPr>
          <p:cNvSpPr>
            <a:spLocks xmlns:a="http://schemas.openxmlformats.org/drawingml/2006/main" noGrp="1"/>
          </p:cNvSpPr>
          <p:nvPr/>
        </p:nvSpPr>
        <p:spPr>
          <a:xfrm xmlns:a="http://schemas.openxmlformats.org/drawingml/2006/main">
            <a:off x="6305550" y="2609850"/>
            <a:ext cx="211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950" b="1">
                <a:solidFill>
                  <a:srgbClr val="F3F6F2"/>
                </a:solidFill>
                <a:latin typeface="Arial"/>
                <a:ea typeface="Arial"/>
                <a:cs typeface="Arial"/>
              </a:defRPr>
            </a:defPPr>
          </a:lstStyle>
          <a:p xmlns:a="http://schemas.openxmlformats.org/drawingml/2006/main">
            <a:pPr algn="l">
              <a:defRPr sz="1950" b="1">
                <a:solidFill>
                  <a:srgbClr val="F3F6F2"/>
                </a:solidFill>
                <a:latin typeface="Arial"/>
                <a:ea typeface="Arial"/>
                <a:cs typeface="Arial"/>
              </a:defRPr>
            </a:pPr>
            <a:r>
              <a:rPr sz="1950" b="1">
                <a:solidFill>
                  <a:srgbClr val="F3F6F2"/>
                </a:solidFill>
                <a:latin typeface="Arial"/>
                <a:ea typeface="Arial"/>
                <a:cs typeface="Arial"/>
              </a:rPr>
              <a:t>Adapt</a:t>
            </a:r>
          </a:p>
        </p:txBody>
      </p:sp>
      <p:sp>
        <p:nvSpPr>
          <p:cNvPr id="16" name="">
            <a:extLst xmlns:a="http://schemas.openxmlformats.org/drawingml/2006/main">
              <a:ext uri="{FF2B5EF4-FFF2-40B4-BE49-F238E27FC236}">
                <a16:creationId xmlns:a16="http://schemas.microsoft.com/office/drawing/2014/main" id="{EFA748B1-2EAD-4A9E-80E1-D55C02021258}"/>
              </a:ext>
            </a:extLst>
          </p:cNvPr>
          <p:cNvSpPr>
            <a:spLocks xmlns:a="http://schemas.openxmlformats.org/drawingml/2006/main" noGrp="1"/>
          </p:cNvSpPr>
          <p:nvPr/>
        </p:nvSpPr>
        <p:spPr>
          <a:xfrm xmlns:a="http://schemas.openxmlformats.org/drawingml/2006/main">
            <a:off x="6305550" y="3143250"/>
            <a:ext cx="2114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AFC4C6"/>
                </a:solidFill>
                <a:latin typeface="Arial"/>
                <a:ea typeface="Arial"/>
                <a:cs typeface="Arial"/>
              </a:defRPr>
            </a:defPPr>
          </a:lstStyle>
          <a:p xmlns:a="http://schemas.openxmlformats.org/drawingml/2006/main">
            <a:pPr algn="l">
              <a:defRPr sz="1200">
                <a:solidFill>
                  <a:srgbClr val="AFC4C6"/>
                </a:solidFill>
                <a:latin typeface="Arial"/>
                <a:ea typeface="Arial"/>
                <a:cs typeface="Arial"/>
              </a:defRPr>
            </a:pPr>
            <a:r>
              <a:rPr sz="1200">
                <a:solidFill>
                  <a:srgbClr val="AFC4C6"/>
                </a:solidFill>
                <a:latin typeface="Arial"/>
                <a:ea typeface="Arial"/>
                <a:cs typeface="Arial"/>
              </a:rPr>
              <a:t>Agree on weights, add worker exposure and city-plan constraints, then rerun the ranking.</a:t>
            </a:r>
          </a:p>
        </p:txBody>
      </p:sp>
      <p:sp>
        <p:nvSpPr>
          <p:cNvPr id="17" name="">
            <a:extLst xmlns:a="http://schemas.openxmlformats.org/drawingml/2006/main">
              <a:ext uri="{FF2B5EF4-FFF2-40B4-BE49-F238E27FC236}">
                <a16:creationId xmlns:a16="http://schemas.microsoft.com/office/drawing/2014/main" id="{D7FD9B22-0955-407F-843E-719B2B16F0D2}"/>
              </a:ext>
            </a:extLst>
          </p:cNvPr>
          <p:cNvSpPr>
            <a:spLocks xmlns:a="http://schemas.openxmlformats.org/drawingml/2006/main" noGrp="1"/>
          </p:cNvSpPr>
          <p:nvPr/>
        </p:nvSpPr>
        <p:spPr>
          <a:xfrm xmlns:a="http://schemas.openxmlformats.org/drawingml/2006/main">
            <a:off x="8848725" y="1676400"/>
            <a:ext cx="2533650" cy="2762250"/>
          </a:xfrm>
          <a:prstGeom xmlns:a="http://schemas.openxmlformats.org/drawingml/2006/main" prst="roundRect">
            <a:avLst>
              <a:gd name="adj" fmla="val 5263"/>
            </a:avLst>
          </a:prstGeom>
          <a:solidFill xmlns:a="http://schemas.openxmlformats.org/drawingml/2006/main">
            <a:srgbClr val="113646"/>
          </a:solidFill>
          <a:ln xmlns:a="http://schemas.openxmlformats.org/drawingml/2006/main" w="9525">
            <a:solidFill>
              <a:srgbClr val="31505F"/>
            </a:solidFill>
            <a:prstDash val="solid"/>
          </a:ln>
        </p:spPr>
      </p:sp>
      <p:sp>
        <p:nvSpPr>
          <p:cNvPr id="18" name="">
            <a:extLst xmlns:a="http://schemas.openxmlformats.org/drawingml/2006/main">
              <a:ext uri="{FF2B5EF4-FFF2-40B4-BE49-F238E27FC236}">
                <a16:creationId xmlns:a16="http://schemas.microsoft.com/office/drawing/2014/main" id="{C2BC238B-5DF3-4C49-9382-9FEC94E385C4}"/>
              </a:ext>
            </a:extLst>
          </p:cNvPr>
          <p:cNvSpPr>
            <a:spLocks xmlns:a="http://schemas.openxmlformats.org/drawingml/2006/main" noGrp="1"/>
          </p:cNvSpPr>
          <p:nvPr/>
        </p:nvSpPr>
        <p:spPr>
          <a:xfrm xmlns:a="http://schemas.openxmlformats.org/drawingml/2006/main">
            <a:off x="9058275" y="1885950"/>
            <a:ext cx="495300" cy="495300"/>
          </a:xfrm>
          <a:prstGeom xmlns:a="http://schemas.openxmlformats.org/drawingml/2006/main" prst="ellipse">
            <a:avLst/>
          </a:prstGeom>
          <a:solidFill xmlns:a="http://schemas.openxmlformats.org/drawingml/2006/main">
            <a:srgbClr val="6D5DD3"/>
          </a:solidFill>
          <a:ln xmlns:a="http://schemas.openxmlformats.org/drawingml/2006/main" w="0">
            <a:noFill/>
            <a:prstDash val="solid"/>
          </a:ln>
        </p:spPr>
        <p:txBody>
          <a:bodyPr xmlns:a="http://schemas.openxmlformats.org/drawingml/2006/main" anchor="ctr"/>
          <a:lstStyle xmlns:a="http://schemas.openxmlformats.org/drawingml/2006/main">
            <a:defPPr algn="ctr">
              <a:defRPr sz="1650" b="1">
                <a:solidFill>
                  <a:srgbClr val="F3F6F2"/>
                </a:solidFill>
              </a:defRPr>
            </a:defPPr>
          </a:lstStyle>
          <a:p xmlns:a="http://schemas.openxmlformats.org/drawingml/2006/main">
            <a:pPr algn="ctr">
              <a:defRPr sz="1650" b="1">
                <a:solidFill>
                  <a:srgbClr val="F3F6F2"/>
                </a:solidFill>
              </a:defRPr>
            </a:pPr>
            <a:r>
              <a:rPr sz="1650" b="1">
                <a:solidFill>
                  <a:srgbClr val="F3F6F2"/>
                </a:solidFill>
              </a:rPr>
              <a:t>4</a:t>
            </a:r>
          </a:p>
        </p:txBody>
      </p:sp>
      <p:sp>
        <p:nvSpPr>
          <p:cNvPr id="19" name="">
            <a:extLst xmlns:a="http://schemas.openxmlformats.org/drawingml/2006/main">
              <a:ext uri="{FF2B5EF4-FFF2-40B4-BE49-F238E27FC236}">
                <a16:creationId xmlns:a16="http://schemas.microsoft.com/office/drawing/2014/main" id="{65CD2AB5-5271-487D-B8B6-92616973FD33}"/>
              </a:ext>
            </a:extLst>
          </p:cNvPr>
          <p:cNvSpPr>
            <a:spLocks xmlns:a="http://schemas.openxmlformats.org/drawingml/2006/main" noGrp="1"/>
          </p:cNvSpPr>
          <p:nvPr/>
        </p:nvSpPr>
        <p:spPr>
          <a:xfrm xmlns:a="http://schemas.openxmlformats.org/drawingml/2006/main">
            <a:off x="9058275" y="2609850"/>
            <a:ext cx="2114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950" b="1">
                <a:solidFill>
                  <a:srgbClr val="F3F6F2"/>
                </a:solidFill>
                <a:latin typeface="Arial"/>
                <a:ea typeface="Arial"/>
                <a:cs typeface="Arial"/>
              </a:defRPr>
            </a:defPPr>
          </a:lstStyle>
          <a:p xmlns:a="http://schemas.openxmlformats.org/drawingml/2006/main">
            <a:pPr algn="l">
              <a:defRPr sz="1950" b="1">
                <a:solidFill>
                  <a:srgbClr val="F3F6F2"/>
                </a:solidFill>
                <a:latin typeface="Arial"/>
                <a:ea typeface="Arial"/>
                <a:cs typeface="Arial"/>
              </a:defRPr>
            </a:pPr>
            <a:r>
              <a:rPr sz="1950" b="1">
                <a:solidFill>
                  <a:srgbClr val="F3F6F2"/>
                </a:solidFill>
                <a:latin typeface="Arial"/>
                <a:ea typeface="Arial"/>
                <a:cs typeface="Arial"/>
              </a:rPr>
              <a:t>Scale</a:t>
            </a:r>
          </a:p>
        </p:txBody>
      </p:sp>
      <p:sp>
        <p:nvSpPr>
          <p:cNvPr id="20" name="">
            <a:extLst xmlns:a="http://schemas.openxmlformats.org/drawingml/2006/main">
              <a:ext uri="{FF2B5EF4-FFF2-40B4-BE49-F238E27FC236}">
                <a16:creationId xmlns:a16="http://schemas.microsoft.com/office/drawing/2014/main" id="{76E3101F-AA0A-422D-8B1E-D386C4E6047E}"/>
              </a:ext>
            </a:extLst>
          </p:cNvPr>
          <p:cNvSpPr>
            <a:spLocks xmlns:a="http://schemas.openxmlformats.org/drawingml/2006/main" noGrp="1"/>
          </p:cNvSpPr>
          <p:nvPr/>
        </p:nvSpPr>
        <p:spPr>
          <a:xfrm xmlns:a="http://schemas.openxmlformats.org/drawingml/2006/main">
            <a:off x="9058275" y="3143250"/>
            <a:ext cx="21145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a:solidFill>
                  <a:srgbClr val="AFC4C6"/>
                </a:solidFill>
                <a:latin typeface="Arial"/>
                <a:ea typeface="Arial"/>
                <a:cs typeface="Arial"/>
              </a:defRPr>
            </a:defPPr>
          </a:lstStyle>
          <a:p xmlns:a="http://schemas.openxmlformats.org/drawingml/2006/main">
            <a:pPr algn="l">
              <a:defRPr sz="1200">
                <a:solidFill>
                  <a:srgbClr val="AFC4C6"/>
                </a:solidFill>
                <a:latin typeface="Arial"/>
                <a:ea typeface="Arial"/>
                <a:cs typeface="Arial"/>
              </a:defRPr>
            </a:pPr>
            <a:r>
              <a:rPr sz="1200">
                <a:solidFill>
                  <a:srgbClr val="AFC4C6"/>
                </a:solidFill>
                <a:latin typeface="Arial"/>
                <a:ea typeface="Arial"/>
                <a:cs typeface="Arial"/>
              </a:rPr>
              <a:t>Test a repeatable update in another Riyadh area before any operational deployment claim.</a:t>
            </a:r>
          </a:p>
        </p:txBody>
      </p:sp>
      <p:sp>
        <p:nvSpPr>
          <p:cNvPr id="21" name="">
            <a:extLst xmlns:a="http://schemas.openxmlformats.org/drawingml/2006/main">
              <a:ext uri="{FF2B5EF4-FFF2-40B4-BE49-F238E27FC236}">
                <a16:creationId xmlns:a16="http://schemas.microsoft.com/office/drawing/2014/main" id="{EB37E183-5EF3-4143-9D8E-917CBB24C706}"/>
              </a:ext>
            </a:extLst>
          </p:cNvPr>
          <p:cNvSpPr>
            <a:spLocks xmlns:a="http://schemas.openxmlformats.org/drawingml/2006/main" noGrp="1"/>
          </p:cNvSpPr>
          <p:nvPr/>
        </p:nvSpPr>
        <p:spPr>
          <a:xfrm xmlns:a="http://schemas.openxmlformats.org/drawingml/2006/main">
            <a:off x="590550" y="4762500"/>
            <a:ext cx="11010900" cy="1352550"/>
          </a:xfrm>
          <a:prstGeom xmlns:a="http://schemas.openxmlformats.org/drawingml/2006/main" prst="roundRect">
            <a:avLst>
              <a:gd name="adj" fmla="val 11268"/>
            </a:avLst>
          </a:prstGeom>
          <a:solidFill xmlns:a="http://schemas.openxmlformats.org/drawingml/2006/main">
            <a:srgbClr val="0D2A3A"/>
          </a:solidFill>
          <a:ln xmlns:a="http://schemas.openxmlformats.org/drawingml/2006/main" w="9525">
            <a:solidFill>
              <a:srgbClr val="1AA58F"/>
            </a:solidFill>
            <a:prstDash val="solid"/>
          </a:ln>
        </p:spPr>
      </p:sp>
      <p:sp>
        <p:nvSpPr>
          <p:cNvPr id="22" name="">
            <a:extLst xmlns:a="http://schemas.openxmlformats.org/drawingml/2006/main">
              <a:ext uri="{FF2B5EF4-FFF2-40B4-BE49-F238E27FC236}">
                <a16:creationId xmlns:a16="http://schemas.microsoft.com/office/drawing/2014/main" id="{827365B5-D48A-4709-931A-BC2E5CA0C9DE}"/>
              </a:ext>
            </a:extLst>
          </p:cNvPr>
          <p:cNvSpPr>
            <a:spLocks xmlns:a="http://schemas.openxmlformats.org/drawingml/2006/main" noGrp="1"/>
          </p:cNvSpPr>
          <p:nvPr/>
        </p:nvSpPr>
        <p:spPr>
          <a:xfrm xmlns:a="http://schemas.openxmlformats.org/drawingml/2006/main">
            <a:off x="838200" y="5010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1AA58F"/>
                </a:solidFill>
                <a:latin typeface="Arial"/>
                <a:ea typeface="Arial"/>
                <a:cs typeface="Arial"/>
              </a:defRPr>
            </a:defPPr>
          </a:lstStyle>
          <a:p xmlns:a="http://schemas.openxmlformats.org/drawingml/2006/main">
            <a:pPr algn="l">
              <a:defRPr sz="975" b="1">
                <a:solidFill>
                  <a:srgbClr val="1AA58F"/>
                </a:solidFill>
                <a:latin typeface="Arial"/>
                <a:ea typeface="Arial"/>
                <a:cs typeface="Arial"/>
              </a:defRPr>
            </a:pPr>
            <a:r>
              <a:rPr sz="975" b="1">
                <a:solidFill>
                  <a:srgbClr val="1AA58F"/>
                </a:solidFill>
                <a:latin typeface="Arial"/>
                <a:ea typeface="Arial"/>
                <a:cs typeface="Arial"/>
              </a:rPr>
              <a:t>THE FINAL ASK</a:t>
            </a:r>
          </a:p>
        </p:txBody>
      </p:sp>
      <p:sp>
        <p:nvSpPr>
          <p:cNvPr id="23" name="">
            <a:extLst xmlns:a="http://schemas.openxmlformats.org/drawingml/2006/main">
              <a:ext uri="{FF2B5EF4-FFF2-40B4-BE49-F238E27FC236}">
                <a16:creationId xmlns:a16="http://schemas.microsoft.com/office/drawing/2014/main" id="{EE3B28AA-1225-4CAE-8425-7A78B04DB871}"/>
              </a:ext>
            </a:extLst>
          </p:cNvPr>
          <p:cNvSpPr>
            <a:spLocks xmlns:a="http://schemas.openxmlformats.org/drawingml/2006/main" noGrp="1"/>
          </p:cNvSpPr>
          <p:nvPr/>
        </p:nvSpPr>
        <p:spPr>
          <a:xfrm xmlns:a="http://schemas.openxmlformats.org/drawingml/2006/main">
            <a:off x="838200" y="5334000"/>
            <a:ext cx="10382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950" b="1">
                <a:solidFill>
                  <a:srgbClr val="F3F6F2"/>
                </a:solidFill>
                <a:latin typeface="Arial"/>
                <a:ea typeface="Arial"/>
                <a:cs typeface="Arial"/>
              </a:defRPr>
            </a:defPPr>
          </a:lstStyle>
          <a:p xmlns:a="http://schemas.openxmlformats.org/drawingml/2006/main">
            <a:pPr algn="l">
              <a:defRPr sz="1950" b="1">
                <a:solidFill>
                  <a:srgbClr val="F3F6F2"/>
                </a:solidFill>
                <a:latin typeface="Arial"/>
                <a:ea typeface="Arial"/>
                <a:cs typeface="Arial"/>
              </a:defRPr>
            </a:pPr>
            <a:r>
              <a:rPr sz="1950" b="1">
                <a:solidFill>
                  <a:srgbClr val="F3F6F2"/>
                </a:solidFill>
                <a:latin typeface="Arial"/>
                <a:ea typeface="Arial"/>
                <a:cs typeface="Arial"/>
              </a:rPr>
              <a:t>Support one municipal pilot that tests whether HeatReady helps a real team choose where to inspect first — with measurable false alarms, user feedback and updated weights.</a:t>
            </a:r>
          </a:p>
        </p:txBody>
      </p:sp>
      <p:sp>
        <p:nvSpPr>
          <p:cNvPr id="24" name="">
            <a:extLst xmlns:a="http://schemas.openxmlformats.org/drawingml/2006/main">
              <a:ext uri="{FF2B5EF4-FFF2-40B4-BE49-F238E27FC236}">
                <a16:creationId xmlns:a16="http://schemas.microsoft.com/office/drawing/2014/main" id="{0B5D8943-36F1-4C71-8637-D3405B83F7F6}"/>
              </a:ext>
            </a:extLst>
          </p:cNvPr>
          <p:cNvSpPr>
            <a:spLocks xmlns:a="http://schemas.openxmlformats.org/drawingml/2006/main" noGrp="1"/>
          </p:cNvSpPr>
          <p:nvPr/>
        </p:nvSpPr>
        <p:spPr>
          <a:xfrm xmlns:a="http://schemas.openxmlformats.org/drawingml/2006/main">
            <a:off x="590550" y="6543675"/>
            <a:ext cx="7810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675" b="1">
                <a:solidFill>
                  <a:srgbClr val="AFC4C6"/>
                </a:solidFill>
                <a:latin typeface="Arial"/>
                <a:ea typeface="Arial"/>
                <a:cs typeface="Arial"/>
              </a:defRPr>
            </a:defPPr>
          </a:lstStyle>
          <a:p xmlns:a="http://schemas.openxmlformats.org/drawingml/2006/main">
            <a:pPr algn="l">
              <a:defRPr sz="675" b="1">
                <a:solidFill>
                  <a:srgbClr val="AFC4C6"/>
                </a:solidFill>
                <a:latin typeface="Arial"/>
                <a:ea typeface="Arial"/>
                <a:cs typeface="Arial"/>
              </a:defRPr>
            </a:pPr>
            <a:r>
              <a:rPr sz="675" b="1">
                <a:solidFill>
                  <a:srgbClr val="AFC4C6"/>
                </a:solidFill>
                <a:latin typeface="Arial"/>
                <a:ea typeface="Arial"/>
                <a:cs typeface="Arial"/>
              </a:rPr>
              <a:t>MILKAHOLICS  •  ARAB YOUTH SPACE HACKATHON: 813 CHALLENGE</a:t>
            </a:r>
          </a:p>
        </p:txBody>
      </p:sp>
    </p:spTree>
    <p:extLst>
      <p:ext uri="{BB962C8B-B14F-4D97-AF65-F5344CB8AC3E}">
        <p14:creationId xmlns:p14="http://schemas.microsoft.com/office/powerpoint/2010/main" val="1764593604"/>
      </p:ext>
    </p:extLst>
  </p:cSld>
</p:sld>
</file>

<file path=ppt/slides/slide9.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C7B8523-7DE1-4284-9780-575AB157D11E}"/>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APPENDIX</a:t>
            </a:r>
          </a:p>
        </p:txBody>
      </p:sp>
      <p:sp>
        <p:nvSpPr>
          <p:cNvPr id="2" name="">
            <a:extLst xmlns:a="http://schemas.openxmlformats.org/drawingml/2006/main">
              <a:ext uri="{FF2B5EF4-FFF2-40B4-BE49-F238E27FC236}">
                <a16:creationId xmlns:a16="http://schemas.microsoft.com/office/drawing/2014/main" id="{E4E97C02-E95E-4EAE-A3EE-04B0DAE115AD}"/>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Exact data roles and dates</a:t>
            </a:r>
          </a:p>
        </p:txBody>
      </p:sp>
      <p:sp>
        <p:nvSpPr>
          <p:cNvPr id="3" name="">
            <a:extLst xmlns:a="http://schemas.openxmlformats.org/drawingml/2006/main">
              <a:ext uri="{FF2B5EF4-FFF2-40B4-BE49-F238E27FC236}">
                <a16:creationId xmlns:a16="http://schemas.microsoft.com/office/drawing/2014/main" id="{293F1B49-3986-4335-8A30-0C301DC63F82}"/>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92A7EBA7-1495-4457-80A4-71C03308CD2F}"/>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graphicFrame>
        <p:nvGraphicFramePr>
          <p:cNvPr id="5" name="">
            <a:extLst xmlns:a="http://schemas.openxmlformats.org/drawingml/2006/main">
              <a:ext uri="{FF2B5EF4-FFF2-40B4-BE49-F238E27FC236}">
                <a16:creationId xmlns:a16="http://schemas.microsoft.com/office/drawing/2014/main" id="{D489D743-85C3-4A08-BBE5-AE898C22CDC4}"/>
              </a:ext>
            </a:extLst>
          </p:cNvPr>
          <p:cNvGraphicFramePr/>
          <p:nvPr/>
        </p:nvGraphicFramePr>
        <p:xfrm>
          <a:off xmlns:a="http://schemas.openxmlformats.org/drawingml/2006/main" x="590550" y="1562100"/>
          <a:ext xmlns:a="http://schemas.openxmlformats.org/drawingml/2006/main" cx="11010900" cy="4191000"/>
        </p:xfrm>
        <a:graphic xmlns:a="http://schemas.openxmlformats.org/drawingml/2006/main">
          <a:graphicData uri="http://schemas.openxmlformats.org/drawingml/2006/table">
            <a:tbl>
              <a:tblPr/>
              <a:tblGrid>
                <a:gridCol w="2095500"/>
                <a:gridCol w="2476500"/>
                <a:gridCol w="3905250"/>
                <a:gridCol w="2533650"/>
              </a:tblGrid>
              <a:tr h="523875">
                <a:tc>
                  <a:txBody>
                    <a:bodyPr/>
                    <a:lstStyle/>
                    <a:p>
                      <a:r>
                        <a:rPr sz="1050" b="1">
                          <a:solidFill>
                            <a:srgbClr val="F3F6F2"/>
                          </a:solidFill>
                        </a:rPr>
                        <a:t>Source</a:t>
                      </a:r>
                    </a:p>
                  </a:txBody>
                  <a:tcPr marL="95250" marR="95250" marT="76200" marB="76200">
                    <a:lnL w="9525">
                      <a:solidFill>
                        <a:srgbClr val="31505F"/>
                      </a:solidFill>
                      <a:prstDash val="solid"/>
                    </a:lnL>
                    <a:lnR w="9525">
                      <a:solidFill>
                        <a:srgbClr val="31505F"/>
                      </a:solidFill>
                      <a:prstDash val="solid"/>
                    </a:lnR>
                    <a:lnT w="9525">
                      <a:solidFill>
                        <a:srgbClr val="31505F"/>
                      </a:solidFill>
                      <a:prstDash val="solid"/>
                    </a:lnT>
                    <a:lnB w="9525">
                      <a:solidFill>
                        <a:srgbClr val="31505F"/>
                      </a:solidFill>
                      <a:prstDash val="solid"/>
                    </a:lnB>
                    <a:solidFill>
                      <a:srgbClr val="1AA58F"/>
                    </a:solidFill>
                  </a:tcPr>
                </a:tc>
                <a:tc>
                  <a:txBody>
                    <a:bodyPr/>
                    <a:lstStyle/>
                    <a:p>
                      <a:r>
                        <a:rPr sz="1050" b="1">
                          <a:solidFill>
                            <a:srgbClr val="F3F6F2"/>
                          </a:solidFill>
                        </a:rPr>
                        <a:t>Dates used</a:t>
                      </a:r>
                    </a:p>
                  </a:txBody>
                  <a:tcPr marL="95250" marR="95250" marT="76200" marB="76200">
                    <a:lnR w="9525">
                      <a:solidFill>
                        <a:srgbClr val="31505F"/>
                      </a:solidFill>
                      <a:prstDash val="solid"/>
                    </a:lnR>
                    <a:lnT w="9525">
                      <a:solidFill>
                        <a:srgbClr val="31505F"/>
                      </a:solidFill>
                      <a:prstDash val="solid"/>
                    </a:lnT>
                    <a:lnB w="9525">
                      <a:solidFill>
                        <a:srgbClr val="31505F"/>
                      </a:solidFill>
                      <a:prstDash val="solid"/>
                    </a:lnB>
                    <a:solidFill>
                      <a:srgbClr val="1AA58F"/>
                    </a:solidFill>
                  </a:tcPr>
                </a:tc>
                <a:tc>
                  <a:txBody>
                    <a:bodyPr/>
                    <a:lstStyle/>
                    <a:p>
                      <a:r>
                        <a:rPr sz="1050" b="1">
                          <a:solidFill>
                            <a:srgbClr val="F3F6F2"/>
                          </a:solidFill>
                        </a:rPr>
                        <a:t>Role</a:t>
                      </a:r>
                    </a:p>
                  </a:txBody>
                  <a:tcPr marL="95250" marR="95250" marT="76200" marB="76200">
                    <a:lnR w="9525">
                      <a:solidFill>
                        <a:srgbClr val="31505F"/>
                      </a:solidFill>
                      <a:prstDash val="solid"/>
                    </a:lnR>
                    <a:lnT w="9525">
                      <a:solidFill>
                        <a:srgbClr val="31505F"/>
                      </a:solidFill>
                      <a:prstDash val="solid"/>
                    </a:lnT>
                    <a:lnB w="9525">
                      <a:solidFill>
                        <a:srgbClr val="31505F"/>
                      </a:solidFill>
                      <a:prstDash val="solid"/>
                    </a:lnB>
                    <a:solidFill>
                      <a:srgbClr val="1AA58F"/>
                    </a:solidFill>
                  </a:tcPr>
                </a:tc>
                <a:tc>
                  <a:txBody>
                    <a:bodyPr/>
                    <a:lstStyle/>
                    <a:p>
                      <a:r>
                        <a:rPr sz="1050" b="1">
                          <a:solidFill>
                            <a:srgbClr val="F3F6F2"/>
                          </a:solidFill>
                        </a:rPr>
                        <a:t>Access / licence</a:t>
                      </a:r>
                    </a:p>
                  </a:txBody>
                  <a:tcPr marL="95250" marR="95250" marT="76200" marB="76200">
                    <a:lnR w="9525">
                      <a:solidFill>
                        <a:srgbClr val="31505F"/>
                      </a:solidFill>
                      <a:prstDash val="solid"/>
                    </a:lnR>
                    <a:lnT w="9525">
                      <a:solidFill>
                        <a:srgbClr val="31505F"/>
                      </a:solidFill>
                      <a:prstDash val="solid"/>
                    </a:lnT>
                    <a:lnB w="9525">
                      <a:solidFill>
                        <a:srgbClr val="31505F"/>
                      </a:solidFill>
                      <a:prstDash val="solid"/>
                    </a:lnB>
                    <a:solidFill>
                      <a:srgbClr val="1AA58F"/>
                    </a:solidFill>
                  </a:tcPr>
                </a:tc>
              </a:tr>
              <a:tr h="523875">
                <a:tc>
                  <a:txBody>
                    <a:bodyPr/>
                    <a:lstStyle/>
                    <a:p>
                      <a:r>
                        <a:rPr sz="900">
                          <a:solidFill>
                            <a:srgbClr val="F3F6F2"/>
                          </a:solidFill>
                        </a:rPr>
                        <a:t>Sentinel-2 L2A</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11 May 2018; 10 May 2021; 9 May 2025</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Optical features, masks, vegetation</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Copernicus open access</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Sentinel-1 RTC</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10 May 2018; 6 May 2021; 9 May 2025</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Radar structure</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Microsoft PC; CC BY 4.0</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IO/Esri annual LULC</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2018–2023</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Trend + candidate endpoint change</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CC BY 4.0</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Landsat 8 C2 L2</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10 May 2025</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Land-surface temperature</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US public domain</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ESA WorldCover</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2021</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Spatial holdout reference</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CC BY 4.0</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WorldPop Global2</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2025</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Modelled population</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CC BY 4.0</a:t>
                      </a:r>
                    </a:p>
                  </a:txBody>
                  <a:tcPr marL="95250" marR="95250" marT="57150" marB="57150">
                    <a:lnR w="9525">
                      <a:solidFill>
                        <a:srgbClr val="31505F"/>
                      </a:solidFill>
                      <a:prstDash val="solid"/>
                    </a:lnR>
                    <a:lnB w="9525">
                      <a:solidFill>
                        <a:srgbClr val="31505F"/>
                      </a:solidFill>
                      <a:prstDash val="solid"/>
                    </a:lnB>
                    <a:solidFill>
                      <a:srgbClr val="113646"/>
                    </a:solidFill>
                  </a:tcPr>
                </a:tc>
              </a:tr>
              <a:tr h="523875">
                <a:tc>
                  <a:txBody>
                    <a:bodyPr/>
                    <a:lstStyle/>
                    <a:p>
                      <a:r>
                        <a:rPr sz="900">
                          <a:solidFill>
                            <a:srgbClr val="F3F6F2"/>
                          </a:solidFill>
                        </a:rPr>
                        <a:t>Planet Tanager</a:t>
                      </a:r>
                    </a:p>
                  </a:txBody>
                  <a:tcPr marL="95250" marR="95250" marT="57150" marB="57150">
                    <a:lnL w="9525">
                      <a:solidFill>
                        <a:srgbClr val="31505F"/>
                      </a:solidFill>
                      <a:prstDash val="solid"/>
                    </a:lnL>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15 May 2025</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Spectral context + sensitivity test</a:t>
                      </a:r>
                    </a:p>
                  </a:txBody>
                  <a:tcPr marL="95250" marR="95250" marT="57150" marB="57150">
                    <a:lnR w="9525">
                      <a:solidFill>
                        <a:srgbClr val="31505F"/>
                      </a:solidFill>
                      <a:prstDash val="solid"/>
                    </a:lnR>
                    <a:lnB w="9525">
                      <a:solidFill>
                        <a:srgbClr val="31505F"/>
                      </a:solidFill>
                      <a:prstDash val="solid"/>
                    </a:lnB>
                    <a:solidFill>
                      <a:srgbClr val="113646"/>
                    </a:solidFill>
                  </a:tcPr>
                </a:tc>
                <a:tc>
                  <a:txBody>
                    <a:bodyPr/>
                    <a:lstStyle/>
                    <a:p>
                      <a:r>
                        <a:rPr sz="900">
                          <a:solidFill>
                            <a:srgbClr val="F3F6F2"/>
                          </a:solidFill>
                        </a:rPr>
                        <a:t>Open urban archive; CC BY 4.0</a:t>
                      </a:r>
                    </a:p>
                  </a:txBody>
                  <a:tcPr marL="95250" marR="95250" marT="57150" marB="57150">
                    <a:lnR w="9525">
                      <a:solidFill>
                        <a:srgbClr val="31505F"/>
                      </a:solidFill>
                      <a:prstDash val="solid"/>
                    </a:lnR>
                    <a:lnB w="9525">
                      <a:solidFill>
                        <a:srgbClr val="31505F"/>
                      </a:solidFill>
                      <a:prstDash val="solid"/>
                    </a:lnB>
                    <a:solidFill>
                      <a:srgbClr val="113646"/>
                    </a:solidFill>
                  </a:tcPr>
                </a:tc>
              </a:tr>
            </a:tbl>
          </a:graphicData>
        </a:graphic>
      </p:graphicFrame>
      <p:sp>
        <p:nvSpPr>
          <p:cNvPr id="6" name="">
            <a:extLst xmlns:a="http://schemas.openxmlformats.org/drawingml/2006/main">
              <a:ext uri="{FF2B5EF4-FFF2-40B4-BE49-F238E27FC236}">
                <a16:creationId xmlns:a16="http://schemas.microsoft.com/office/drawing/2014/main" id="{BBB12A98-E2C5-4CCE-A0CE-C872A1CDE661}"/>
              </a:ext>
            </a:extLst>
          </p:cNvPr>
          <p:cNvSpPr>
            <a:spLocks xmlns:a="http://schemas.openxmlformats.org/drawingml/2006/main" noGrp="1"/>
          </p:cNvSpPr>
          <p:nvPr/>
        </p:nvSpPr>
        <p:spPr>
          <a:xfrm xmlns:a="http://schemas.openxmlformats.org/drawingml/2006/main">
            <a:off x="590550" y="5924550"/>
            <a:ext cx="11010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125" b="1">
                <a:solidFill>
                  <a:srgbClr val="E2AD2B"/>
                </a:solidFill>
                <a:latin typeface="Arial"/>
                <a:ea typeface="Arial"/>
                <a:cs typeface="Arial"/>
              </a:defRPr>
            </a:defPPr>
          </a:lstStyle>
          <a:p xmlns:a="http://schemas.openxmlformats.org/drawingml/2006/main">
            <a:pPr algn="l">
              <a:defRPr sz="1125" b="1">
                <a:solidFill>
                  <a:srgbClr val="E2AD2B"/>
                </a:solidFill>
                <a:latin typeface="Arial"/>
                <a:ea typeface="Arial"/>
                <a:cs typeface="Arial"/>
              </a:defRPr>
            </a:pPr>
            <a:r>
              <a:rPr sz="1125" b="1">
                <a:solidFill>
                  <a:srgbClr val="E2AD2B"/>
                </a:solidFill>
                <a:latin typeface="Arial"/>
                <a:ea typeface="Arial"/>
                <a:cs typeface="Arial"/>
              </a:rPr>
              <a:t>Exact item IDs, URLs, processing and attribution are in config.json and docs/DATA_AND_LICENSES.md. The PoC does not use Satellite 813 or restricted imagery.</a:t>
            </a:r>
          </a:p>
        </p:txBody>
      </p:sp>
      <p:sp>
        <p:nvSpPr>
          <p:cNvPr id="7" name="">
            <a:extLst xmlns:a="http://schemas.openxmlformats.org/drawingml/2006/main">
              <a:ext uri="{FF2B5EF4-FFF2-40B4-BE49-F238E27FC236}">
                <a16:creationId xmlns:a16="http://schemas.microsoft.com/office/drawing/2014/main" id="{BB6704DB-7138-4F35-95D1-D2B6F9AD23B5}"/>
              </a:ext>
            </a:extLst>
          </p:cNvPr>
          <p:cNvSpPr>
            <a:spLocks xmlns:a="http://schemas.openxmlformats.org/drawingml/2006/main" noGrp="1"/>
          </p:cNvSpPr>
          <p:nvPr/>
        </p:nvSpPr>
        <p:spPr>
          <a:xfrm xmlns:a="http://schemas.openxmlformats.org/drawingml/2006/main">
            <a:off x="590550" y="6543675"/>
            <a:ext cx="7810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675" b="1">
                <a:solidFill>
                  <a:srgbClr val="AFC4C6"/>
                </a:solidFill>
                <a:latin typeface="Arial"/>
                <a:ea typeface="Arial"/>
                <a:cs typeface="Arial"/>
              </a:defRPr>
            </a:defPPr>
          </a:lstStyle>
          <a:p xmlns:a="http://schemas.openxmlformats.org/drawingml/2006/main">
            <a:pPr algn="l">
              <a:defRPr sz="675" b="1">
                <a:solidFill>
                  <a:srgbClr val="AFC4C6"/>
                </a:solidFill>
                <a:latin typeface="Arial"/>
                <a:ea typeface="Arial"/>
                <a:cs typeface="Arial"/>
              </a:defRPr>
            </a:pPr>
            <a:r>
              <a:rPr sz="675" b="1">
                <a:solidFill>
                  <a:srgbClr val="AFC4C6"/>
                </a:solidFill>
                <a:latin typeface="Arial"/>
                <a:ea typeface="Arial"/>
                <a:cs typeface="Arial"/>
              </a:rPr>
              <a:t>APPENDIX  •  MILKAHOLICS  •  ARAB YOUTH SPACE HACKATHON: 813 CHALLENGE</a:t>
            </a:r>
          </a:p>
        </p:txBody>
      </p:sp>
    </p:spTree>
    <p:extLst>
      <p:ext uri="{BB962C8B-B14F-4D97-AF65-F5344CB8AC3E}">
        <p14:creationId xmlns:p14="http://schemas.microsoft.com/office/powerpoint/2010/main" val="1510282690"/>
      </p:ext>
    </p:extLst>
  </p:cSld>
</p:sld>
</file>

<file path=ppt/slides/slide10.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284E579-03DD-4319-B236-0829C6D5ED43}"/>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What the validation can — and cannot — prove</a:t>
            </a:r>
          </a:p>
        </p:txBody>
      </p:sp>
      <p:sp>
        <p:nvSpPr>
          <p:cNvPr id="2" name="">
            <a:extLst xmlns:a="http://schemas.openxmlformats.org/drawingml/2006/main">
              <a:ext uri="{FF2B5EF4-FFF2-40B4-BE49-F238E27FC236}">
                <a16:creationId xmlns:a16="http://schemas.microsoft.com/office/drawing/2014/main" id="{55CEC787-9C6C-4CFD-BC6F-335BFC7C5D2F}"/>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pic>
        <p:nvPicPr>
          <p:cNvPr id="3" name="">
            <a:extLst xmlns:a="http://schemas.openxmlformats.org/drawingml/2006/main">
              <a:ext uri="{FF2B5EF4-FFF2-40B4-BE49-F238E27FC236}">
                <a16:creationId xmlns:a16="http://schemas.microsoft.com/office/drawing/2014/main" id="{7194E8D7-9E86-41FB-809B-68E9A2280ECC}"/>
              </a:ext>
            </a:extLst>
          </p:cNvPr>
          <p:cNvPicPr>
            <a:picLocks xmlns:a="http://schemas.openxmlformats.org/drawingml/2006/main" noChangeAspect="1"/>
          </p:cNvPicPr>
          <p:nvPr/>
        </p:nvPicPr>
        <p:blipFill>
          <a:blip xmlns:r="http://schemas.openxmlformats.org/officeDocument/2006/relationships" xmlns:a="http://schemas.openxmlformats.org/drawingml/2006/main" r:embed="Rf1e5cce8ea754226"/>
          <a:stretch xmlns:a="http://schemas.openxmlformats.org/drawingml/2006/main"/>
        </p:blipFill>
        <p:spPr>
          <a:xfrm xmlns:a="http://schemas.openxmlformats.org/drawingml/2006/main">
            <a:off x="590550" y="1962958"/>
            <a:ext cx="6191250" cy="2627283"/>
          </a:xfrm>
          <a:prstGeom xmlns:a="http://schemas.openxmlformats.org/drawingml/2006/main" prst="roundRect">
            <a:avLst>
              <a:gd name="adj" fmla="val 2778"/>
            </a:avLst>
          </a:prstGeom>
        </p:spPr>
      </p:pic>
      <p:pic>
        <p:nvPicPr>
          <p:cNvPr id="4" name="">
            <a:extLst xmlns:a="http://schemas.openxmlformats.org/drawingml/2006/main">
              <a:ext uri="{FF2B5EF4-FFF2-40B4-BE49-F238E27FC236}">
                <a16:creationId xmlns:a16="http://schemas.microsoft.com/office/drawing/2014/main" id="{63327873-D347-447D-8CAE-9576879D3E92}"/>
              </a:ext>
            </a:extLst>
          </p:cNvPr>
          <p:cNvPicPr>
            <a:picLocks xmlns:a="http://schemas.openxmlformats.org/drawingml/2006/main" noChangeAspect="1"/>
          </p:cNvPicPr>
          <p:nvPr/>
        </p:nvPicPr>
        <p:blipFill>
          <a:blip xmlns:r="http://schemas.openxmlformats.org/officeDocument/2006/relationships" xmlns:a="http://schemas.openxmlformats.org/drawingml/2006/main" r:embed="Rc52bfa21919b4fef"/>
          <a:stretch xmlns:a="http://schemas.openxmlformats.org/drawingml/2006/main"/>
        </p:blipFill>
        <p:spPr>
          <a:xfrm xmlns:a="http://schemas.openxmlformats.org/drawingml/2006/main">
            <a:off x="2699253" y="5143500"/>
            <a:ext cx="1973844" cy="1095375"/>
          </a:xfrm>
          <a:prstGeom xmlns:a="http://schemas.openxmlformats.org/drawingml/2006/main" prst="roundRect">
            <a:avLst>
              <a:gd name="adj" fmla="val 8696"/>
            </a:avLst>
          </a:prstGeom>
        </p:spPr>
      </p:pic>
      <p:sp>
        <p:nvSpPr>
          <p:cNvPr id="5" name="">
            <a:extLst xmlns:a="http://schemas.openxmlformats.org/drawingml/2006/main">
              <a:ext uri="{FF2B5EF4-FFF2-40B4-BE49-F238E27FC236}">
                <a16:creationId xmlns:a16="http://schemas.microsoft.com/office/drawing/2014/main" id="{3481005A-781E-49B9-A1B0-A4E677D495C2}"/>
              </a:ext>
            </a:extLst>
          </p:cNvPr>
          <p:cNvSpPr>
            <a:spLocks xmlns:a="http://schemas.openxmlformats.org/drawingml/2006/main" noGrp="1"/>
          </p:cNvSpPr>
          <p:nvPr/>
        </p:nvSpPr>
        <p:spPr>
          <a:xfrm xmlns:a="http://schemas.openxmlformats.org/drawingml/2006/main">
            <a:off x="7067550" y="1562100"/>
            <a:ext cx="4533900" cy="4676775"/>
          </a:xfrm>
          <a:prstGeom xmlns:a="http://schemas.openxmlformats.org/drawingml/2006/main" prst="roundRect">
            <a:avLst>
              <a:gd name="adj" fmla="val 2941"/>
            </a:avLst>
          </a:prstGeom>
          <a:solidFill xmlns:a="http://schemas.openxmlformats.org/drawingml/2006/main">
            <a:srgbClr val="113646"/>
          </a:solidFill>
          <a:ln xmlns:a="http://schemas.openxmlformats.org/drawingml/2006/main" w="9525">
            <a:solidFill>
              <a:srgbClr val="31505F"/>
            </a:solidFill>
            <a:prstDash val="solid"/>
          </a:ln>
        </p:spPr>
      </p:sp>
      <p:sp>
        <p:nvSpPr>
          <p:cNvPr id="6" name="">
            <a:extLst xmlns:a="http://schemas.openxmlformats.org/drawingml/2006/main">
              <a:ext uri="{FF2B5EF4-FFF2-40B4-BE49-F238E27FC236}">
                <a16:creationId xmlns:a16="http://schemas.microsoft.com/office/drawing/2014/main" id="{F41CA0F5-1AF1-4F7A-A9D3-411598959EA0}"/>
              </a:ext>
            </a:extLst>
          </p:cNvPr>
          <p:cNvSpPr>
            <a:spLocks xmlns:a="http://schemas.openxmlformats.org/drawingml/2006/main" noGrp="1"/>
          </p:cNvSpPr>
          <p:nvPr/>
        </p:nvSpPr>
        <p:spPr>
          <a:xfrm xmlns:a="http://schemas.openxmlformats.org/drawingml/2006/main">
            <a:off x="7334250" y="18097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975" b="1">
                <a:solidFill>
                  <a:srgbClr val="1AA58F"/>
                </a:solidFill>
                <a:latin typeface="Arial"/>
                <a:ea typeface="Arial"/>
                <a:cs typeface="Arial"/>
              </a:defRPr>
            </a:defPPr>
          </a:lstStyle>
          <a:p xmlns:a="http://schemas.openxmlformats.org/drawingml/2006/main">
            <a:pPr algn="l">
              <a:defRPr sz="975" b="1">
                <a:solidFill>
                  <a:srgbClr val="1AA58F"/>
                </a:solidFill>
                <a:latin typeface="Arial"/>
                <a:ea typeface="Arial"/>
                <a:cs typeface="Arial"/>
              </a:defRPr>
            </a:pPr>
            <a:r>
              <a:rPr sz="975" b="1">
                <a:solidFill>
                  <a:srgbClr val="1AA58F"/>
                </a:solidFill>
                <a:latin typeface="Arial"/>
                <a:ea typeface="Arial"/>
                <a:cs typeface="Arial"/>
              </a:rPr>
              <a:t>VALIDATION LOGIC</a:t>
            </a:r>
          </a:p>
        </p:txBody>
      </p:sp>
      <p:sp>
        <p:nvSpPr>
          <p:cNvPr id="7" name="">
            <a:extLst xmlns:a="http://schemas.openxmlformats.org/drawingml/2006/main">
              <a:ext uri="{FF2B5EF4-FFF2-40B4-BE49-F238E27FC236}">
                <a16:creationId xmlns:a16="http://schemas.microsoft.com/office/drawing/2014/main" id="{89B456C2-423E-406C-B3C4-B25D5D3C2F8D}"/>
              </a:ext>
            </a:extLst>
          </p:cNvPr>
          <p:cNvSpPr>
            <a:spLocks xmlns:a="http://schemas.openxmlformats.org/drawingml/2006/main" noGrp="1"/>
          </p:cNvSpPr>
          <p:nvPr/>
        </p:nvSpPr>
        <p:spPr>
          <a:xfrm xmlns:a="http://schemas.openxmlformats.org/drawingml/2006/main">
            <a:off x="7334250" y="2171700"/>
            <a:ext cx="209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75" b="1">
                <a:solidFill>
                  <a:srgbClr val="1AA58F"/>
                </a:solidFill>
                <a:latin typeface="Arial"/>
                <a:ea typeface="Arial"/>
                <a:cs typeface="Arial"/>
              </a:defRPr>
            </a:defPPr>
          </a:lstStyle>
          <a:p xmlns:a="http://schemas.openxmlformats.org/drawingml/2006/main">
            <a:pPr algn="l">
              <a:defRPr sz="1575" b="1">
                <a:solidFill>
                  <a:srgbClr val="1AA58F"/>
                </a:solidFill>
                <a:latin typeface="Arial"/>
                <a:ea typeface="Arial"/>
                <a:cs typeface="Arial"/>
              </a:defRPr>
            </a:pPr>
            <a:r>
              <a:rPr sz="1575" b="1">
                <a:solidFill>
                  <a:srgbClr val="1AA58F"/>
                </a:solidFill>
                <a:latin typeface="Arial"/>
                <a:ea typeface="Arial"/>
                <a:cs typeface="Arial"/>
              </a:rPr>
              <a:t>•</a:t>
            </a:r>
          </a:p>
        </p:txBody>
      </p:sp>
      <p:sp>
        <p:nvSpPr>
          <p:cNvPr id="8" name="">
            <a:extLst xmlns:a="http://schemas.openxmlformats.org/drawingml/2006/main">
              <a:ext uri="{FF2B5EF4-FFF2-40B4-BE49-F238E27FC236}">
                <a16:creationId xmlns:a16="http://schemas.microsoft.com/office/drawing/2014/main" id="{DA314A9D-BE3B-4C12-9A12-FD7E83F81DA7}"/>
              </a:ext>
            </a:extLst>
          </p:cNvPr>
          <p:cNvSpPr>
            <a:spLocks xmlns:a="http://schemas.openxmlformats.org/drawingml/2006/main" noGrp="1"/>
          </p:cNvSpPr>
          <p:nvPr/>
        </p:nvSpPr>
        <p:spPr>
          <a:xfrm xmlns:a="http://schemas.openxmlformats.org/drawingml/2006/main">
            <a:off x="7581900" y="2171700"/>
            <a:ext cx="3638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a:solidFill>
                  <a:srgbClr val="F3F6F2"/>
                </a:solidFill>
                <a:latin typeface="Arial"/>
                <a:ea typeface="Arial"/>
                <a:cs typeface="Arial"/>
              </a:defRPr>
            </a:defPPr>
          </a:lstStyle>
          <a:p xmlns:a="http://schemas.openxmlformats.org/drawingml/2006/main">
            <a:pPr algn="l">
              <a:defRPr sz="1275">
                <a:solidFill>
                  <a:srgbClr val="F3F6F2"/>
                </a:solidFill>
                <a:latin typeface="Arial"/>
                <a:ea typeface="Arial"/>
                <a:cs typeface="Arial"/>
              </a:defRPr>
            </a:pPr>
            <a:r>
              <a:rPr sz="1275">
                <a:solidFill>
                  <a:srgbClr val="F3F6F2"/>
                </a:solidFill>
                <a:latin typeface="Arial"/>
                <a:ea typeface="Arial"/>
                <a:cs typeface="Arial"/>
              </a:rPr>
              <a:t>West strip trains; middle strip tunes; east strip tests against WorldCover.</a:t>
            </a:r>
          </a:p>
        </p:txBody>
      </p:sp>
      <p:sp>
        <p:nvSpPr>
          <p:cNvPr id="9" name="">
            <a:extLst xmlns:a="http://schemas.openxmlformats.org/drawingml/2006/main">
              <a:ext uri="{FF2B5EF4-FFF2-40B4-BE49-F238E27FC236}">
                <a16:creationId xmlns:a16="http://schemas.microsoft.com/office/drawing/2014/main" id="{64B1BF93-404E-4DDA-BA4E-639A173139B8}"/>
              </a:ext>
            </a:extLst>
          </p:cNvPr>
          <p:cNvSpPr>
            <a:spLocks xmlns:a="http://schemas.openxmlformats.org/drawingml/2006/main" noGrp="1"/>
          </p:cNvSpPr>
          <p:nvPr/>
        </p:nvSpPr>
        <p:spPr>
          <a:xfrm xmlns:a="http://schemas.openxmlformats.org/drawingml/2006/main">
            <a:off x="7334250" y="2857500"/>
            <a:ext cx="209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75" b="1">
                <a:solidFill>
                  <a:srgbClr val="1AA58F"/>
                </a:solidFill>
                <a:latin typeface="Arial"/>
                <a:ea typeface="Arial"/>
                <a:cs typeface="Arial"/>
              </a:defRPr>
            </a:defPPr>
          </a:lstStyle>
          <a:p xmlns:a="http://schemas.openxmlformats.org/drawingml/2006/main">
            <a:pPr algn="l">
              <a:defRPr sz="1575" b="1">
                <a:solidFill>
                  <a:srgbClr val="1AA58F"/>
                </a:solidFill>
                <a:latin typeface="Arial"/>
                <a:ea typeface="Arial"/>
                <a:cs typeface="Arial"/>
              </a:defRPr>
            </a:pPr>
            <a:r>
              <a:rPr sz="1575" b="1">
                <a:solidFill>
                  <a:srgbClr val="1AA58F"/>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D37CF6A6-F9E1-4CAF-9068-7A362B2D9955}"/>
              </a:ext>
            </a:extLst>
          </p:cNvPr>
          <p:cNvSpPr>
            <a:spLocks xmlns:a="http://schemas.openxmlformats.org/drawingml/2006/main" noGrp="1"/>
          </p:cNvSpPr>
          <p:nvPr/>
        </p:nvSpPr>
        <p:spPr>
          <a:xfrm xmlns:a="http://schemas.openxmlformats.org/drawingml/2006/main">
            <a:off x="7581900" y="2857500"/>
            <a:ext cx="3638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a:solidFill>
                  <a:srgbClr val="F3F6F2"/>
                </a:solidFill>
                <a:latin typeface="Arial"/>
                <a:ea typeface="Arial"/>
                <a:cs typeface="Arial"/>
              </a:defRPr>
            </a:defPPr>
          </a:lstStyle>
          <a:p xmlns:a="http://schemas.openxmlformats.org/drawingml/2006/main">
            <a:pPr algn="l">
              <a:defRPr sz="1275">
                <a:solidFill>
                  <a:srgbClr val="F3F6F2"/>
                </a:solidFill>
                <a:latin typeface="Arial"/>
                <a:ea typeface="Arial"/>
                <a:cs typeface="Arial"/>
              </a:defRPr>
            </a:pPr>
            <a:r>
              <a:rPr sz="1275">
                <a:solidFill>
                  <a:srgbClr val="F3F6F2"/>
                </a:solidFill>
                <a:latin typeface="Arial"/>
                <a:ea typeface="Arial"/>
                <a:cs typeface="Arial"/>
              </a:rPr>
              <a:t>The test set is spatially separate and contains more than 10,000 reference pixels.</a:t>
            </a:r>
          </a:p>
        </p:txBody>
      </p:sp>
      <p:sp>
        <p:nvSpPr>
          <p:cNvPr id="11" name="">
            <a:extLst xmlns:a="http://schemas.openxmlformats.org/drawingml/2006/main">
              <a:ext uri="{FF2B5EF4-FFF2-40B4-BE49-F238E27FC236}">
                <a16:creationId xmlns:a16="http://schemas.microsoft.com/office/drawing/2014/main" id="{6C20789F-0AB8-4BFD-9D45-39F37B80C139}"/>
              </a:ext>
            </a:extLst>
          </p:cNvPr>
          <p:cNvSpPr>
            <a:spLocks xmlns:a="http://schemas.openxmlformats.org/drawingml/2006/main" noGrp="1"/>
          </p:cNvSpPr>
          <p:nvPr/>
        </p:nvSpPr>
        <p:spPr>
          <a:xfrm xmlns:a="http://schemas.openxmlformats.org/drawingml/2006/main">
            <a:off x="7334250" y="3543300"/>
            <a:ext cx="2095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75" b="1">
                <a:solidFill>
                  <a:srgbClr val="1AA58F"/>
                </a:solidFill>
                <a:latin typeface="Arial"/>
                <a:ea typeface="Arial"/>
                <a:cs typeface="Arial"/>
              </a:defRPr>
            </a:defPPr>
          </a:lstStyle>
          <a:p xmlns:a="http://schemas.openxmlformats.org/drawingml/2006/main">
            <a:pPr algn="l">
              <a:defRPr sz="1575" b="1">
                <a:solidFill>
                  <a:srgbClr val="1AA58F"/>
                </a:solidFill>
                <a:latin typeface="Arial"/>
                <a:ea typeface="Arial"/>
                <a:cs typeface="Arial"/>
              </a:defRPr>
            </a:pPr>
            <a:r>
              <a:rPr sz="1575" b="1">
                <a:solidFill>
                  <a:srgbClr val="1AA58F"/>
                </a:solidFill>
                <a:latin typeface="Arial"/>
                <a:ea typeface="Arial"/>
                <a:cs typeface="Arial"/>
              </a:rPr>
              <a:t>•</a:t>
            </a:r>
          </a:p>
        </p:txBody>
      </p:sp>
      <p:sp>
        <p:nvSpPr>
          <p:cNvPr id="12" name="">
            <a:extLst xmlns:a="http://schemas.openxmlformats.org/drawingml/2006/main">
              <a:ext uri="{FF2B5EF4-FFF2-40B4-BE49-F238E27FC236}">
                <a16:creationId xmlns:a16="http://schemas.microsoft.com/office/drawing/2014/main" id="{9DB8F3FE-69BD-4A0D-9473-0E80D09C62FA}"/>
              </a:ext>
            </a:extLst>
          </p:cNvPr>
          <p:cNvSpPr>
            <a:spLocks xmlns:a="http://schemas.openxmlformats.org/drawingml/2006/main" noGrp="1"/>
          </p:cNvSpPr>
          <p:nvPr/>
        </p:nvSpPr>
        <p:spPr>
          <a:xfrm xmlns:a="http://schemas.openxmlformats.org/drawingml/2006/main">
            <a:off x="7581900" y="3543300"/>
            <a:ext cx="36385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a:solidFill>
                  <a:srgbClr val="F3F6F2"/>
                </a:solidFill>
                <a:latin typeface="Arial"/>
                <a:ea typeface="Arial"/>
                <a:cs typeface="Arial"/>
              </a:defRPr>
            </a:defPPr>
          </a:lstStyle>
          <a:p xmlns:a="http://schemas.openxmlformats.org/drawingml/2006/main">
            <a:pPr algn="l">
              <a:defRPr sz="1275">
                <a:solidFill>
                  <a:srgbClr val="F3F6F2"/>
                </a:solidFill>
                <a:latin typeface="Arial"/>
                <a:ea typeface="Arial"/>
                <a:cs typeface="Arial"/>
              </a:defRPr>
            </a:pPr>
            <a:r>
              <a:rPr sz="1275">
                <a:solidFill>
                  <a:srgbClr val="F3F6F2"/>
                </a:solidFill>
                <a:latin typeface="Arial"/>
                <a:ea typeface="Arial"/>
                <a:cs typeface="Arial"/>
              </a:rPr>
              <a:t>The annual time series supports trend interpretation; the 2022 dip shows why it is not construction truth.</a:t>
            </a:r>
          </a:p>
        </p:txBody>
      </p:sp>
      <p:sp>
        <p:nvSpPr>
          <p:cNvPr id="13" name="">
            <a:extLst xmlns:a="http://schemas.openxmlformats.org/drawingml/2006/main">
              <a:ext uri="{FF2B5EF4-FFF2-40B4-BE49-F238E27FC236}">
                <a16:creationId xmlns:a16="http://schemas.microsoft.com/office/drawing/2014/main" id="{99F1667C-21B3-4DE7-96FB-CA47A04E17E9}"/>
              </a:ext>
            </a:extLst>
          </p:cNvPr>
          <p:cNvSpPr>
            <a:spLocks xmlns:a="http://schemas.openxmlformats.org/drawingml/2006/main" noGrp="1"/>
          </p:cNvSpPr>
          <p:nvPr/>
        </p:nvSpPr>
        <p:spPr>
          <a:xfrm xmlns:a="http://schemas.openxmlformats.org/drawingml/2006/main">
            <a:off x="7334250" y="4400550"/>
            <a:ext cx="2095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75" b="1">
                <a:solidFill>
                  <a:srgbClr val="1AA58F"/>
                </a:solidFill>
                <a:latin typeface="Arial"/>
                <a:ea typeface="Arial"/>
                <a:cs typeface="Arial"/>
              </a:defRPr>
            </a:defPPr>
          </a:lstStyle>
          <a:p xmlns:a="http://schemas.openxmlformats.org/drawingml/2006/main">
            <a:pPr algn="l">
              <a:defRPr sz="1575" b="1">
                <a:solidFill>
                  <a:srgbClr val="1AA58F"/>
                </a:solidFill>
                <a:latin typeface="Arial"/>
                <a:ea typeface="Arial"/>
                <a:cs typeface="Arial"/>
              </a:defRPr>
            </a:pPr>
            <a:r>
              <a:rPr sz="1575" b="1">
                <a:solidFill>
                  <a:srgbClr val="1AA58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D39BC0A6-8798-41DA-AB58-517C761A67BC}"/>
              </a:ext>
            </a:extLst>
          </p:cNvPr>
          <p:cNvSpPr>
            <a:spLocks xmlns:a="http://schemas.openxmlformats.org/drawingml/2006/main" noGrp="1"/>
          </p:cNvSpPr>
          <p:nvPr/>
        </p:nvSpPr>
        <p:spPr>
          <a:xfrm xmlns:a="http://schemas.openxmlformats.org/drawingml/2006/main">
            <a:off x="7581900" y="4400550"/>
            <a:ext cx="36385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a:solidFill>
                  <a:srgbClr val="F3F6F2"/>
                </a:solidFill>
                <a:latin typeface="Arial"/>
                <a:ea typeface="Arial"/>
                <a:cs typeface="Arial"/>
              </a:defRPr>
            </a:defPPr>
          </a:lstStyle>
          <a:p xmlns:a="http://schemas.openxmlformats.org/drawingml/2006/main">
            <a:pPr algn="l">
              <a:defRPr sz="1275">
                <a:solidFill>
                  <a:srgbClr val="F3F6F2"/>
                </a:solidFill>
                <a:latin typeface="Arial"/>
                <a:ea typeface="Arial"/>
                <a:cs typeface="Arial"/>
              </a:defRPr>
            </a:pPr>
            <a:r>
              <a:rPr sz="1275">
                <a:solidFill>
                  <a:srgbClr val="F3F6F2"/>
                </a:solidFill>
                <a:latin typeface="Arial"/>
                <a:ea typeface="Arial"/>
                <a:cs typeface="Arial"/>
              </a:rPr>
              <a:t>No field survey, air-temperature model, health outcome or municipal acceptance test is claimed.</a:t>
            </a:r>
          </a:p>
        </p:txBody>
      </p:sp>
      <p:sp>
        <p:nvSpPr>
          <p:cNvPr id="15" name="">
            <a:extLst xmlns:a="http://schemas.openxmlformats.org/drawingml/2006/main">
              <a:ext uri="{FF2B5EF4-FFF2-40B4-BE49-F238E27FC236}">
                <a16:creationId xmlns:a16="http://schemas.microsoft.com/office/drawing/2014/main" id="{98C0C0F9-2973-4E14-A58D-C094AD0F0C04}"/>
              </a:ext>
            </a:extLst>
          </p:cNvPr>
          <p:cNvSpPr>
            <a:spLocks xmlns:a="http://schemas.openxmlformats.org/drawingml/2006/main" noGrp="1"/>
          </p:cNvSpPr>
          <p:nvPr/>
        </p:nvSpPr>
        <p:spPr>
          <a:xfrm xmlns:a="http://schemas.openxmlformats.org/drawingml/2006/main">
            <a:off x="7334250" y="5334000"/>
            <a:ext cx="3886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00" b="1">
                <a:solidFill>
                  <a:srgbClr val="E2AD2B"/>
                </a:solidFill>
                <a:latin typeface="Arial"/>
                <a:ea typeface="Arial"/>
                <a:cs typeface="Arial"/>
              </a:defRPr>
            </a:defPPr>
          </a:lstStyle>
          <a:p xmlns:a="http://schemas.openxmlformats.org/drawingml/2006/main">
            <a:pPr algn="l">
              <a:defRPr sz="1500" b="1">
                <a:solidFill>
                  <a:srgbClr val="E2AD2B"/>
                </a:solidFill>
                <a:latin typeface="Arial"/>
                <a:ea typeface="Arial"/>
                <a:cs typeface="Arial"/>
              </a:defRPr>
            </a:pPr>
            <a:r>
              <a:rPr sz="1500" b="1">
                <a:solidFill>
                  <a:srgbClr val="E2AD2B"/>
                </a:solidFill>
                <a:latin typeface="Arial"/>
                <a:ea typeface="Arial"/>
                <a:cs typeface="Arial"/>
              </a:rPr>
              <a:t>Operational validation must measure useful inspections and false alarms with a real user.</a:t>
            </a:r>
          </a:p>
        </p:txBody>
      </p:sp>
      <p:sp>
        <p:nvSpPr>
          <p:cNvPr id="16" name="">
            <a:extLst xmlns:a="http://schemas.openxmlformats.org/drawingml/2006/main">
              <a:ext uri="{FF2B5EF4-FFF2-40B4-BE49-F238E27FC236}">
                <a16:creationId xmlns:a16="http://schemas.microsoft.com/office/drawing/2014/main" id="{0AAEA78E-85D6-4419-93D3-D420C4FE46A0}"/>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APPENDIX</a:t>
            </a:r>
          </a:p>
        </p:txBody>
      </p:sp>
      <p:sp>
        <p:nvSpPr>
          <p:cNvPr id="17" name="">
            <a:extLst xmlns:a="http://schemas.openxmlformats.org/drawingml/2006/main">
              <a:ext uri="{FF2B5EF4-FFF2-40B4-BE49-F238E27FC236}">
                <a16:creationId xmlns:a16="http://schemas.microsoft.com/office/drawing/2014/main" id="{58B98527-BC25-4A98-B41F-F4E068E773C6}"/>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10</a:t>
            </a:r>
          </a:p>
        </p:txBody>
      </p:sp>
      <p:sp>
        <p:nvSpPr>
          <p:cNvPr id="18" name="">
            <a:extLst xmlns:a="http://schemas.openxmlformats.org/drawingml/2006/main">
              <a:ext uri="{FF2B5EF4-FFF2-40B4-BE49-F238E27FC236}">
                <a16:creationId xmlns:a16="http://schemas.microsoft.com/office/drawing/2014/main" id="{58074599-89C1-482B-9842-2F4E88BB7233}"/>
              </a:ext>
            </a:extLst>
          </p:cNvPr>
          <p:cNvSpPr>
            <a:spLocks xmlns:a="http://schemas.openxmlformats.org/drawingml/2006/main" noGrp="1"/>
          </p:cNvSpPr>
          <p:nvPr/>
        </p:nvSpPr>
        <p:spPr>
          <a:xfrm xmlns:a="http://schemas.openxmlformats.org/drawingml/2006/main">
            <a:off x="590550" y="6419850"/>
            <a:ext cx="7810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675" b="1">
                <a:solidFill>
                  <a:srgbClr val="AFC4C6"/>
                </a:solidFill>
                <a:latin typeface="Arial"/>
                <a:ea typeface="Arial"/>
                <a:cs typeface="Arial"/>
              </a:defRPr>
            </a:defPPr>
          </a:lstStyle>
          <a:p xmlns:a="http://schemas.openxmlformats.org/drawingml/2006/main">
            <a:pPr algn="l">
              <a:defRPr sz="675" b="1">
                <a:solidFill>
                  <a:srgbClr val="AFC4C6"/>
                </a:solidFill>
                <a:latin typeface="Arial"/>
                <a:ea typeface="Arial"/>
                <a:cs typeface="Arial"/>
              </a:defRPr>
            </a:pPr>
            <a:r>
              <a:rPr sz="675" b="1">
                <a:solidFill>
                  <a:srgbClr val="AFC4C6"/>
                </a:solidFill>
                <a:latin typeface="Arial"/>
                <a:ea typeface="Arial"/>
                <a:cs typeface="Arial"/>
              </a:rPr>
              <a:t>APPENDIX  •  MILKAHOLICS  •  ARAB YOUTH SPACE HACKATHON: 813 CHALLENGE</a:t>
            </a:r>
          </a:p>
        </p:txBody>
      </p:sp>
    </p:spTree>
    <p:extLst>
      <p:ext uri="{BB962C8B-B14F-4D97-AF65-F5344CB8AC3E}">
        <p14:creationId xmlns:p14="http://schemas.microsoft.com/office/powerpoint/2010/main" val="875214349"/>
      </p:ext>
    </p:extLst>
  </p:cSld>
</p:sld>
</file>

<file path=ppt/slides/slide11.xml><?xml version="1.0" encoding="utf-8"?>
<p:sld xmlns:p="http://schemas.openxmlformats.org/presentationml/2006/main">
  <p:cSld>
    <p:bg>
      <p:bgPr>
        <a:solidFill xmlns:a="http://schemas.openxmlformats.org/drawingml/2006/main">
          <a:srgbClr val="071C2B"/>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4FD6035-CAB1-4C36-9F5F-9F44CF236847}"/>
              </a:ext>
            </a:extLst>
          </p:cNvPr>
          <p:cNvSpPr>
            <a:spLocks xmlns:a="http://schemas.openxmlformats.org/drawingml/2006/main" noGrp="1"/>
          </p:cNvSpPr>
          <p:nvPr/>
        </p:nvSpPr>
        <p:spPr>
          <a:xfrm xmlns:a="http://schemas.openxmlformats.org/drawingml/2006/main">
            <a:off x="590550" y="2857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050" b="1">
                <a:solidFill>
                  <a:srgbClr val="1AA58F"/>
                </a:solidFill>
                <a:latin typeface="Arial"/>
                <a:ea typeface="Arial"/>
                <a:cs typeface="Arial"/>
              </a:defRPr>
            </a:defPPr>
          </a:lstStyle>
          <a:p xmlns:a="http://schemas.openxmlformats.org/drawingml/2006/main">
            <a:pPr algn="l">
              <a:defRPr sz="1050" b="1">
                <a:solidFill>
                  <a:srgbClr val="1AA58F"/>
                </a:solidFill>
                <a:latin typeface="Arial"/>
                <a:ea typeface="Arial"/>
                <a:cs typeface="Arial"/>
              </a:defRPr>
            </a:pPr>
            <a:r>
              <a:rPr sz="1050" b="1">
                <a:solidFill>
                  <a:srgbClr val="1AA58F"/>
                </a:solidFill>
                <a:latin typeface="Arial"/>
                <a:ea typeface="Arial"/>
                <a:cs typeface="Arial"/>
              </a:rPr>
              <a:t>APPENDIX</a:t>
            </a:r>
          </a:p>
        </p:txBody>
      </p:sp>
      <p:sp>
        <p:nvSpPr>
          <p:cNvPr id="2" name="">
            <a:extLst xmlns:a="http://schemas.openxmlformats.org/drawingml/2006/main">
              <a:ext uri="{FF2B5EF4-FFF2-40B4-BE49-F238E27FC236}">
                <a16:creationId xmlns:a16="http://schemas.microsoft.com/office/drawing/2014/main" id="{5139DA9E-0580-41CA-8EE5-1B82288214D3}"/>
              </a:ext>
            </a:extLst>
          </p:cNvPr>
          <p:cNvSpPr>
            <a:spLocks xmlns:a="http://schemas.openxmlformats.org/drawingml/2006/main" noGrp="1"/>
          </p:cNvSpPr>
          <p:nvPr/>
        </p:nvSpPr>
        <p:spPr>
          <a:xfrm xmlns:a="http://schemas.openxmlformats.org/drawingml/2006/main">
            <a:off x="590550" y="58102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2700" b="1">
                <a:solidFill>
                  <a:srgbClr val="F3F6F2"/>
                </a:solidFill>
                <a:latin typeface="Arial"/>
                <a:ea typeface="Arial"/>
                <a:cs typeface="Arial"/>
              </a:defRPr>
            </a:defPPr>
          </a:lstStyle>
          <a:p xmlns:a="http://schemas.openxmlformats.org/drawingml/2006/main">
            <a:pPr algn="l">
              <a:defRPr sz="2700" b="1">
                <a:solidFill>
                  <a:srgbClr val="F3F6F2"/>
                </a:solidFill>
                <a:latin typeface="Arial"/>
                <a:ea typeface="Arial"/>
                <a:cs typeface="Arial"/>
              </a:defRPr>
            </a:pPr>
            <a:r>
              <a:rPr sz="2700" b="1">
                <a:solidFill>
                  <a:srgbClr val="F3F6F2"/>
                </a:solidFill>
                <a:latin typeface="Arial"/>
                <a:ea typeface="Arial"/>
                <a:cs typeface="Arial"/>
              </a:rPr>
              <a:t>Fast answers judges may ask for</a:t>
            </a:r>
          </a:p>
        </p:txBody>
      </p:sp>
      <p:sp>
        <p:nvSpPr>
          <p:cNvPr id="3" name="">
            <a:extLst xmlns:a="http://schemas.openxmlformats.org/drawingml/2006/main">
              <a:ext uri="{FF2B5EF4-FFF2-40B4-BE49-F238E27FC236}">
                <a16:creationId xmlns:a16="http://schemas.microsoft.com/office/drawing/2014/main" id="{8BD48177-48AE-491B-BFFD-EC82727DE944}"/>
              </a:ext>
            </a:extLst>
          </p:cNvPr>
          <p:cNvSpPr>
            <a:spLocks xmlns:a="http://schemas.openxmlformats.org/drawingml/2006/main" noGrp="1"/>
          </p:cNvSpPr>
          <p:nvPr/>
        </p:nvSpPr>
        <p:spPr>
          <a:xfrm xmlns:a="http://schemas.openxmlformats.org/drawingml/2006/main">
            <a:off x="11191875" y="295275"/>
            <a:ext cx="428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r">
              <a:defRPr sz="1050" b="1">
                <a:solidFill>
                  <a:srgbClr val="AFC4C6"/>
                </a:solidFill>
                <a:latin typeface="Arial"/>
                <a:ea typeface="Arial"/>
                <a:cs typeface="Arial"/>
              </a:defRPr>
            </a:defPPr>
          </a:lstStyle>
          <a:p xmlns:a="http://schemas.openxmlformats.org/drawingml/2006/main">
            <a:pPr algn="r">
              <a:defRPr sz="1050" b="1">
                <a:solidFill>
                  <a:srgbClr val="AFC4C6"/>
                </a:solidFill>
                <a:latin typeface="Arial"/>
                <a:ea typeface="Arial"/>
                <a:cs typeface="Arial"/>
              </a:defRPr>
            </a:pPr>
            <a:r>
              <a:rPr sz="1050" b="1">
                <a:solidFill>
                  <a:srgbClr val="AFC4C6"/>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04D08D8D-0D9E-47E6-9AE2-E5B33B9E82D2}"/>
              </a:ext>
            </a:extLst>
          </p:cNvPr>
          <p:cNvSpPr>
            <a:spLocks xmlns:a="http://schemas.openxmlformats.org/drawingml/2006/main" noGrp="1"/>
          </p:cNvSpPr>
          <p:nvPr/>
        </p:nvSpPr>
        <p:spPr>
          <a:xfrm xmlns:a="http://schemas.openxmlformats.org/drawingml/2006/main">
            <a:off x="590550" y="1257300"/>
            <a:ext cx="11010900" cy="9525"/>
          </a:xfrm>
          <a:prstGeom xmlns:a="http://schemas.openxmlformats.org/drawingml/2006/main" prst="line">
            <a:avLst/>
          </a:prstGeom>
          <a:noFill xmlns:a="http://schemas.openxmlformats.org/drawingml/2006/main"/>
          <a:ln xmlns:a="http://schemas.openxmlformats.org/drawingml/2006/main" w="19050">
            <a:solidFill>
              <a:srgbClr val="31505F"/>
            </a:solidFill>
            <a:prstDash val="solid"/>
          </a:ln>
        </p:spPr>
      </p:sp>
      <p:sp>
        <p:nvSpPr>
          <p:cNvPr id="5" name="">
            <a:extLst xmlns:a="http://schemas.openxmlformats.org/drawingml/2006/main">
              <a:ext uri="{FF2B5EF4-FFF2-40B4-BE49-F238E27FC236}">
                <a16:creationId xmlns:a16="http://schemas.microsoft.com/office/drawing/2014/main" id="{E4650D06-C06D-4508-AF10-FB5E43F609C8}"/>
              </a:ext>
            </a:extLst>
          </p:cNvPr>
          <p:cNvSpPr>
            <a:spLocks xmlns:a="http://schemas.openxmlformats.org/drawingml/2006/main" noGrp="1"/>
          </p:cNvSpPr>
          <p:nvPr/>
        </p:nvSpPr>
        <p:spPr>
          <a:xfrm xmlns:a="http://schemas.openxmlformats.org/drawingml/2006/main">
            <a:off x="590550" y="1581150"/>
            <a:ext cx="5238750" cy="1352550"/>
          </a:xfrm>
          <a:prstGeom xmlns:a="http://schemas.openxmlformats.org/drawingml/2006/main" prst="roundRect">
            <a:avLst>
              <a:gd name="adj" fmla="val 8451"/>
            </a:avLst>
          </a:prstGeom>
          <a:solidFill xmlns:a="http://schemas.openxmlformats.org/drawingml/2006/main">
            <a:srgbClr val="113646"/>
          </a:solidFill>
          <a:ln xmlns:a="http://schemas.openxmlformats.org/drawingml/2006/main" w="9525">
            <a:solidFill>
              <a:srgbClr val="31505F"/>
            </a:solidFill>
            <a:prstDash val="solid"/>
          </a:ln>
        </p:spPr>
      </p:sp>
      <p:sp>
        <p:nvSpPr>
          <p:cNvPr id="6" name="">
            <a:extLst xmlns:a="http://schemas.openxmlformats.org/drawingml/2006/main">
              <a:ext uri="{FF2B5EF4-FFF2-40B4-BE49-F238E27FC236}">
                <a16:creationId xmlns:a16="http://schemas.microsoft.com/office/drawing/2014/main" id="{985BE2A3-1954-4783-9005-24A126E3EAC7}"/>
              </a:ext>
            </a:extLst>
          </p:cNvPr>
          <p:cNvSpPr>
            <a:spLocks xmlns:a="http://schemas.openxmlformats.org/drawingml/2006/main" noGrp="1"/>
          </p:cNvSpPr>
          <p:nvPr/>
        </p:nvSpPr>
        <p:spPr>
          <a:xfrm xmlns:a="http://schemas.openxmlformats.org/drawingml/2006/main">
            <a:off x="800100" y="1752600"/>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00" b="1">
                <a:solidFill>
                  <a:srgbClr val="1AA58F"/>
                </a:solidFill>
                <a:latin typeface="Arial"/>
                <a:ea typeface="Arial"/>
                <a:cs typeface="Arial"/>
              </a:defRPr>
            </a:defPPr>
          </a:lstStyle>
          <a:p xmlns:a="http://schemas.openxmlformats.org/drawingml/2006/main">
            <a:pPr algn="l">
              <a:defRPr sz="1500" b="1">
                <a:solidFill>
                  <a:srgbClr val="1AA58F"/>
                </a:solidFill>
                <a:latin typeface="Arial"/>
                <a:ea typeface="Arial"/>
                <a:cs typeface="Arial"/>
              </a:defRPr>
            </a:pPr>
            <a:r>
              <a:rPr sz="1500" b="1">
                <a:solidFill>
                  <a:srgbClr val="1AA58F"/>
                </a:solidFill>
                <a:latin typeface="Arial"/>
                <a:ea typeface="Arial"/>
                <a:cs typeface="Arial"/>
              </a:rPr>
              <a:t>Why 1 km cells?</a:t>
            </a:r>
          </a:p>
        </p:txBody>
      </p:sp>
      <p:sp>
        <p:nvSpPr>
          <p:cNvPr id="7" name="">
            <a:extLst xmlns:a="http://schemas.openxmlformats.org/drawingml/2006/main">
              <a:ext uri="{FF2B5EF4-FFF2-40B4-BE49-F238E27FC236}">
                <a16:creationId xmlns:a16="http://schemas.microsoft.com/office/drawing/2014/main" id="{2E27D2E0-A058-491C-A929-4856864DF29E}"/>
              </a:ext>
            </a:extLst>
          </p:cNvPr>
          <p:cNvSpPr>
            <a:spLocks xmlns:a="http://schemas.openxmlformats.org/drawingml/2006/main" noGrp="1"/>
          </p:cNvSpPr>
          <p:nvPr/>
        </p:nvSpPr>
        <p:spPr>
          <a:xfrm xmlns:a="http://schemas.openxmlformats.org/drawingml/2006/main">
            <a:off x="800100" y="2114550"/>
            <a:ext cx="4819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a:solidFill>
                  <a:srgbClr val="F3F6F2"/>
                </a:solidFill>
                <a:latin typeface="Arial"/>
                <a:ea typeface="Arial"/>
                <a:cs typeface="Arial"/>
              </a:defRPr>
            </a:defPPr>
          </a:lstStyle>
          <a:p xmlns:a="http://schemas.openxmlformats.org/drawingml/2006/main">
            <a:pPr algn="l">
              <a:defRPr sz="1125">
                <a:solidFill>
                  <a:srgbClr val="F3F6F2"/>
                </a:solidFill>
                <a:latin typeface="Arial"/>
                <a:ea typeface="Arial"/>
                <a:cs typeface="Arial"/>
              </a:defRPr>
            </a:pPr>
            <a:r>
              <a:rPr sz="1125">
                <a:solidFill>
                  <a:srgbClr val="F3F6F2"/>
                </a:solidFill>
                <a:latin typeface="Arial"/>
                <a:ea typeface="Arial"/>
                <a:cs typeface="Arial"/>
              </a:rPr>
              <a:t>They match the population layer and support early area screening; they do not select an individual building.</a:t>
            </a:r>
          </a:p>
        </p:txBody>
      </p:sp>
      <p:sp>
        <p:nvSpPr>
          <p:cNvPr id="8" name="">
            <a:extLst xmlns:a="http://schemas.openxmlformats.org/drawingml/2006/main">
              <a:ext uri="{FF2B5EF4-FFF2-40B4-BE49-F238E27FC236}">
                <a16:creationId xmlns:a16="http://schemas.microsoft.com/office/drawing/2014/main" id="{4009880E-DC37-449F-AFE9-136A5A0DC0C5}"/>
              </a:ext>
            </a:extLst>
          </p:cNvPr>
          <p:cNvSpPr>
            <a:spLocks xmlns:a="http://schemas.openxmlformats.org/drawingml/2006/main" noGrp="1"/>
          </p:cNvSpPr>
          <p:nvPr/>
        </p:nvSpPr>
        <p:spPr>
          <a:xfrm xmlns:a="http://schemas.openxmlformats.org/drawingml/2006/main">
            <a:off x="6096000" y="1581150"/>
            <a:ext cx="5238750" cy="1352550"/>
          </a:xfrm>
          <a:prstGeom xmlns:a="http://schemas.openxmlformats.org/drawingml/2006/main" prst="roundRect">
            <a:avLst>
              <a:gd name="adj" fmla="val 8451"/>
            </a:avLst>
          </a:prstGeom>
          <a:solidFill xmlns:a="http://schemas.openxmlformats.org/drawingml/2006/main">
            <a:srgbClr val="113646"/>
          </a:solidFill>
          <a:ln xmlns:a="http://schemas.openxmlformats.org/drawingml/2006/main" w="9525">
            <a:solidFill>
              <a:srgbClr val="31505F"/>
            </a:solidFill>
            <a:prstDash val="solid"/>
          </a:ln>
        </p:spPr>
      </p:sp>
      <p:sp>
        <p:nvSpPr>
          <p:cNvPr id="9" name="">
            <a:extLst xmlns:a="http://schemas.openxmlformats.org/drawingml/2006/main">
              <a:ext uri="{FF2B5EF4-FFF2-40B4-BE49-F238E27FC236}">
                <a16:creationId xmlns:a16="http://schemas.microsoft.com/office/drawing/2014/main" id="{98F46CD0-4FD6-4775-BA48-CFB463CB4705}"/>
              </a:ext>
            </a:extLst>
          </p:cNvPr>
          <p:cNvSpPr>
            <a:spLocks xmlns:a="http://schemas.openxmlformats.org/drawingml/2006/main" noGrp="1"/>
          </p:cNvSpPr>
          <p:nvPr/>
        </p:nvSpPr>
        <p:spPr>
          <a:xfrm xmlns:a="http://schemas.openxmlformats.org/drawingml/2006/main">
            <a:off x="6305550" y="1752600"/>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00" b="1">
                <a:solidFill>
                  <a:srgbClr val="E2AD2B"/>
                </a:solidFill>
                <a:latin typeface="Arial"/>
                <a:ea typeface="Arial"/>
                <a:cs typeface="Arial"/>
              </a:defRPr>
            </a:defPPr>
          </a:lstStyle>
          <a:p xmlns:a="http://schemas.openxmlformats.org/drawingml/2006/main">
            <a:pPr algn="l">
              <a:defRPr sz="1500" b="1">
                <a:solidFill>
                  <a:srgbClr val="E2AD2B"/>
                </a:solidFill>
                <a:latin typeface="Arial"/>
                <a:ea typeface="Arial"/>
                <a:cs typeface="Arial"/>
              </a:defRPr>
            </a:pPr>
            <a:r>
              <a:rPr sz="1500" b="1">
                <a:solidFill>
                  <a:srgbClr val="E2AD2B"/>
                </a:solidFill>
                <a:latin typeface="Arial"/>
                <a:ea typeface="Arial"/>
                <a:cs typeface="Arial"/>
              </a:rPr>
              <a:t>Why these weights?</a:t>
            </a:r>
          </a:p>
        </p:txBody>
      </p:sp>
      <p:sp>
        <p:nvSpPr>
          <p:cNvPr id="10" name="">
            <a:extLst xmlns:a="http://schemas.openxmlformats.org/drawingml/2006/main">
              <a:ext uri="{FF2B5EF4-FFF2-40B4-BE49-F238E27FC236}">
                <a16:creationId xmlns:a16="http://schemas.microsoft.com/office/drawing/2014/main" id="{3EA832F5-734F-4896-9BB4-B6AB60799843}"/>
              </a:ext>
            </a:extLst>
          </p:cNvPr>
          <p:cNvSpPr>
            <a:spLocks xmlns:a="http://schemas.openxmlformats.org/drawingml/2006/main" noGrp="1"/>
          </p:cNvSpPr>
          <p:nvPr/>
        </p:nvSpPr>
        <p:spPr>
          <a:xfrm xmlns:a="http://schemas.openxmlformats.org/drawingml/2006/main">
            <a:off x="6305550" y="2114550"/>
            <a:ext cx="4819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a:solidFill>
                  <a:srgbClr val="F3F6F2"/>
                </a:solidFill>
                <a:latin typeface="Arial"/>
                <a:ea typeface="Arial"/>
                <a:cs typeface="Arial"/>
              </a:defRPr>
            </a:defPPr>
          </a:lstStyle>
          <a:p xmlns:a="http://schemas.openxmlformats.org/drawingml/2006/main">
            <a:pPr algn="l">
              <a:defRPr sz="1125">
                <a:solidFill>
                  <a:srgbClr val="F3F6F2"/>
                </a:solidFill>
                <a:latin typeface="Arial"/>
                <a:ea typeface="Arial"/>
                <a:cs typeface="Arial"/>
              </a:defRPr>
            </a:pPr>
            <a:r>
              <a:rPr sz="1125">
                <a:solidFill>
                  <a:srgbClr val="F3F6F2"/>
                </a:solidFill>
                <a:latin typeface="Arial"/>
                <a:ea typeface="Arial"/>
                <a:cs typeface="Arial"/>
              </a:rPr>
              <a:t>They are transparent PoC assumptions: 40% heat, 30% population, 20% growth, 10% lack of vegetation. A real user must review them.</a:t>
            </a:r>
          </a:p>
        </p:txBody>
      </p:sp>
      <p:sp>
        <p:nvSpPr>
          <p:cNvPr id="11" name="">
            <a:extLst xmlns:a="http://schemas.openxmlformats.org/drawingml/2006/main">
              <a:ext uri="{FF2B5EF4-FFF2-40B4-BE49-F238E27FC236}">
                <a16:creationId xmlns:a16="http://schemas.microsoft.com/office/drawing/2014/main" id="{F553E07E-7ABE-48A6-8244-F78856875572}"/>
              </a:ext>
            </a:extLst>
          </p:cNvPr>
          <p:cNvSpPr>
            <a:spLocks xmlns:a="http://schemas.openxmlformats.org/drawingml/2006/main" noGrp="1"/>
          </p:cNvSpPr>
          <p:nvPr/>
        </p:nvSpPr>
        <p:spPr>
          <a:xfrm xmlns:a="http://schemas.openxmlformats.org/drawingml/2006/main">
            <a:off x="590550" y="3143250"/>
            <a:ext cx="5238750" cy="1352550"/>
          </a:xfrm>
          <a:prstGeom xmlns:a="http://schemas.openxmlformats.org/drawingml/2006/main" prst="roundRect">
            <a:avLst>
              <a:gd name="adj" fmla="val 8451"/>
            </a:avLst>
          </a:prstGeom>
          <a:solidFill xmlns:a="http://schemas.openxmlformats.org/drawingml/2006/main">
            <a:srgbClr val="113646"/>
          </a:solidFill>
          <a:ln xmlns:a="http://schemas.openxmlformats.org/drawingml/2006/main" w="9525">
            <a:solidFill>
              <a:srgbClr val="31505F"/>
            </a:solidFill>
            <a:prstDash val="solid"/>
          </a:ln>
        </p:spPr>
      </p:sp>
      <p:sp>
        <p:nvSpPr>
          <p:cNvPr id="12" name="">
            <a:extLst xmlns:a="http://schemas.openxmlformats.org/drawingml/2006/main">
              <a:ext uri="{FF2B5EF4-FFF2-40B4-BE49-F238E27FC236}">
                <a16:creationId xmlns:a16="http://schemas.microsoft.com/office/drawing/2014/main" id="{FB1A5B74-7560-49C1-9696-5D8EC9703828}"/>
              </a:ext>
            </a:extLst>
          </p:cNvPr>
          <p:cNvSpPr>
            <a:spLocks xmlns:a="http://schemas.openxmlformats.org/drawingml/2006/main" noGrp="1"/>
          </p:cNvSpPr>
          <p:nvPr/>
        </p:nvSpPr>
        <p:spPr>
          <a:xfrm xmlns:a="http://schemas.openxmlformats.org/drawingml/2006/main">
            <a:off x="800100" y="3314700"/>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00" b="1">
                <a:solidFill>
                  <a:srgbClr val="1AA58F"/>
                </a:solidFill>
                <a:latin typeface="Arial"/>
                <a:ea typeface="Arial"/>
                <a:cs typeface="Arial"/>
              </a:defRPr>
            </a:defPPr>
          </a:lstStyle>
          <a:p xmlns:a="http://schemas.openxmlformats.org/drawingml/2006/main">
            <a:pPr algn="l">
              <a:defRPr sz="1500" b="1">
                <a:solidFill>
                  <a:srgbClr val="1AA58F"/>
                </a:solidFill>
                <a:latin typeface="Arial"/>
                <a:ea typeface="Arial"/>
                <a:cs typeface="Arial"/>
              </a:defRPr>
            </a:pPr>
            <a:r>
              <a:rPr sz="1500" b="1">
                <a:solidFill>
                  <a:srgbClr val="1AA58F"/>
                </a:solidFill>
                <a:latin typeface="Arial"/>
                <a:ea typeface="Arial"/>
                <a:cs typeface="Arial"/>
              </a:rPr>
              <a:t>Why not use NDBI alone?</a:t>
            </a:r>
          </a:p>
        </p:txBody>
      </p:sp>
      <p:sp>
        <p:nvSpPr>
          <p:cNvPr id="13" name="">
            <a:extLst xmlns:a="http://schemas.openxmlformats.org/drawingml/2006/main">
              <a:ext uri="{FF2B5EF4-FFF2-40B4-BE49-F238E27FC236}">
                <a16:creationId xmlns:a16="http://schemas.microsoft.com/office/drawing/2014/main" id="{7612F2E5-5FE9-4332-8F52-C86C8505F248}"/>
              </a:ext>
            </a:extLst>
          </p:cNvPr>
          <p:cNvSpPr>
            <a:spLocks xmlns:a="http://schemas.openxmlformats.org/drawingml/2006/main" noGrp="1"/>
          </p:cNvSpPr>
          <p:nvPr/>
        </p:nvSpPr>
        <p:spPr>
          <a:xfrm xmlns:a="http://schemas.openxmlformats.org/drawingml/2006/main">
            <a:off x="800100" y="3676650"/>
            <a:ext cx="4819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a:solidFill>
                  <a:srgbClr val="F3F6F2"/>
                </a:solidFill>
                <a:latin typeface="Arial"/>
                <a:ea typeface="Arial"/>
                <a:cs typeface="Arial"/>
              </a:defRPr>
            </a:defPPr>
          </a:lstStyle>
          <a:p xmlns:a="http://schemas.openxmlformats.org/drawingml/2006/main">
            <a:pPr algn="l">
              <a:defRPr sz="1125">
                <a:solidFill>
                  <a:srgbClr val="F3F6F2"/>
                </a:solidFill>
                <a:latin typeface="Arial"/>
                <a:ea typeface="Arial"/>
                <a:cs typeface="Arial"/>
              </a:defRPr>
            </a:pPr>
            <a:r>
              <a:rPr sz="1125">
                <a:solidFill>
                  <a:srgbClr val="F3F6F2"/>
                </a:solidFill>
                <a:latin typeface="Arial"/>
                <a:ea typeface="Arial"/>
                <a:cs typeface="Arial"/>
              </a:rPr>
              <a:t>Bright desert can look built-like. Tanager and the optical-radar model show why multiple evidence sources are safer.</a:t>
            </a:r>
          </a:p>
        </p:txBody>
      </p:sp>
      <p:sp>
        <p:nvSpPr>
          <p:cNvPr id="14" name="">
            <a:extLst xmlns:a="http://schemas.openxmlformats.org/drawingml/2006/main">
              <a:ext uri="{FF2B5EF4-FFF2-40B4-BE49-F238E27FC236}">
                <a16:creationId xmlns:a16="http://schemas.microsoft.com/office/drawing/2014/main" id="{88EECDF7-E133-4CF6-A579-36428B4FF57D}"/>
              </a:ext>
            </a:extLst>
          </p:cNvPr>
          <p:cNvSpPr>
            <a:spLocks xmlns:a="http://schemas.openxmlformats.org/drawingml/2006/main" noGrp="1"/>
          </p:cNvSpPr>
          <p:nvPr/>
        </p:nvSpPr>
        <p:spPr>
          <a:xfrm xmlns:a="http://schemas.openxmlformats.org/drawingml/2006/main">
            <a:off x="6096000" y="3143250"/>
            <a:ext cx="5238750" cy="1352550"/>
          </a:xfrm>
          <a:prstGeom xmlns:a="http://schemas.openxmlformats.org/drawingml/2006/main" prst="roundRect">
            <a:avLst>
              <a:gd name="adj" fmla="val 8451"/>
            </a:avLst>
          </a:prstGeom>
          <a:solidFill xmlns:a="http://schemas.openxmlformats.org/drawingml/2006/main">
            <a:srgbClr val="113646"/>
          </a:solidFill>
          <a:ln xmlns:a="http://schemas.openxmlformats.org/drawingml/2006/main" w="9525">
            <a:solidFill>
              <a:srgbClr val="31505F"/>
            </a:solidFill>
            <a:prstDash val="solid"/>
          </a:ln>
        </p:spPr>
      </p:sp>
      <p:sp>
        <p:nvSpPr>
          <p:cNvPr id="15" name="">
            <a:extLst xmlns:a="http://schemas.openxmlformats.org/drawingml/2006/main">
              <a:ext uri="{FF2B5EF4-FFF2-40B4-BE49-F238E27FC236}">
                <a16:creationId xmlns:a16="http://schemas.microsoft.com/office/drawing/2014/main" id="{9DD98B10-B1A5-4ECA-BE50-101858B07E15}"/>
              </a:ext>
            </a:extLst>
          </p:cNvPr>
          <p:cNvSpPr>
            <a:spLocks xmlns:a="http://schemas.openxmlformats.org/drawingml/2006/main" noGrp="1"/>
          </p:cNvSpPr>
          <p:nvPr/>
        </p:nvSpPr>
        <p:spPr>
          <a:xfrm xmlns:a="http://schemas.openxmlformats.org/drawingml/2006/main">
            <a:off x="6305550" y="3314700"/>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00" b="1">
                <a:solidFill>
                  <a:srgbClr val="E2AD2B"/>
                </a:solidFill>
                <a:latin typeface="Arial"/>
                <a:ea typeface="Arial"/>
                <a:cs typeface="Arial"/>
              </a:defRPr>
            </a:defPPr>
          </a:lstStyle>
          <a:p xmlns:a="http://schemas.openxmlformats.org/drawingml/2006/main">
            <a:pPr algn="l">
              <a:defRPr sz="1500" b="1">
                <a:solidFill>
                  <a:srgbClr val="E2AD2B"/>
                </a:solidFill>
                <a:latin typeface="Arial"/>
                <a:ea typeface="Arial"/>
                <a:cs typeface="Arial"/>
              </a:defRPr>
            </a:pPr>
            <a:r>
              <a:rPr sz="1500" b="1">
                <a:solidFill>
                  <a:srgbClr val="E2AD2B"/>
                </a:solidFill>
                <a:latin typeface="Arial"/>
                <a:ea typeface="Arial"/>
                <a:cs typeface="Arial"/>
              </a:rPr>
              <a:t>Can judges reproduce it?</a:t>
            </a:r>
          </a:p>
        </p:txBody>
      </p:sp>
      <p:sp>
        <p:nvSpPr>
          <p:cNvPr id="16" name="">
            <a:extLst xmlns:a="http://schemas.openxmlformats.org/drawingml/2006/main">
              <a:ext uri="{FF2B5EF4-FFF2-40B4-BE49-F238E27FC236}">
                <a16:creationId xmlns:a16="http://schemas.microsoft.com/office/drawing/2014/main" id="{64411A21-4C78-4E5A-8E31-D3DD8BDFB600}"/>
              </a:ext>
            </a:extLst>
          </p:cNvPr>
          <p:cNvSpPr>
            <a:spLocks xmlns:a="http://schemas.openxmlformats.org/drawingml/2006/main" noGrp="1"/>
          </p:cNvSpPr>
          <p:nvPr/>
        </p:nvSpPr>
        <p:spPr>
          <a:xfrm xmlns:a="http://schemas.openxmlformats.org/drawingml/2006/main">
            <a:off x="6305550" y="3676650"/>
            <a:ext cx="4819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a:solidFill>
                  <a:srgbClr val="F3F6F2"/>
                </a:solidFill>
                <a:latin typeface="Arial"/>
                <a:ea typeface="Arial"/>
                <a:cs typeface="Arial"/>
              </a:defRPr>
            </a:defPPr>
          </a:lstStyle>
          <a:p xmlns:a="http://schemas.openxmlformats.org/drawingml/2006/main">
            <a:pPr algn="l">
              <a:defRPr sz="1125">
                <a:solidFill>
                  <a:srgbClr val="F3F6F2"/>
                </a:solidFill>
                <a:latin typeface="Arial"/>
                <a:ea typeface="Arial"/>
                <a:cs typeface="Arial"/>
              </a:defRPr>
            </a:pPr>
            <a:r>
              <a:rPr sz="1125">
                <a:solidFill>
                  <a:srgbClr val="F3F6F2"/>
                </a:solidFill>
                <a:latin typeface="Arial"/>
                <a:ea typeface="Arial"/>
                <a:cs typeface="Arial"/>
              </a:rPr>
              <a:t>Yes. The public repository has pinned requirements, a run-all sample notebook, example input/output and the full source pipeline.</a:t>
            </a:r>
          </a:p>
        </p:txBody>
      </p:sp>
      <p:sp>
        <p:nvSpPr>
          <p:cNvPr id="17" name="">
            <a:extLst xmlns:a="http://schemas.openxmlformats.org/drawingml/2006/main">
              <a:ext uri="{FF2B5EF4-FFF2-40B4-BE49-F238E27FC236}">
                <a16:creationId xmlns:a16="http://schemas.microsoft.com/office/drawing/2014/main" id="{79E04D1D-B45F-4156-B8C1-6C8A74B231D4}"/>
              </a:ext>
            </a:extLst>
          </p:cNvPr>
          <p:cNvSpPr>
            <a:spLocks xmlns:a="http://schemas.openxmlformats.org/drawingml/2006/main" noGrp="1"/>
          </p:cNvSpPr>
          <p:nvPr/>
        </p:nvSpPr>
        <p:spPr>
          <a:xfrm xmlns:a="http://schemas.openxmlformats.org/drawingml/2006/main">
            <a:off x="590550" y="4705350"/>
            <a:ext cx="5238750" cy="1352550"/>
          </a:xfrm>
          <a:prstGeom xmlns:a="http://schemas.openxmlformats.org/drawingml/2006/main" prst="roundRect">
            <a:avLst>
              <a:gd name="adj" fmla="val 8451"/>
            </a:avLst>
          </a:prstGeom>
          <a:solidFill xmlns:a="http://schemas.openxmlformats.org/drawingml/2006/main">
            <a:srgbClr val="113646"/>
          </a:solidFill>
          <a:ln xmlns:a="http://schemas.openxmlformats.org/drawingml/2006/main" w="9525">
            <a:solidFill>
              <a:srgbClr val="31505F"/>
            </a:solidFill>
            <a:prstDash val="solid"/>
          </a:ln>
        </p:spPr>
      </p:sp>
      <p:sp>
        <p:nvSpPr>
          <p:cNvPr id="18" name="">
            <a:extLst xmlns:a="http://schemas.openxmlformats.org/drawingml/2006/main">
              <a:ext uri="{FF2B5EF4-FFF2-40B4-BE49-F238E27FC236}">
                <a16:creationId xmlns:a16="http://schemas.microsoft.com/office/drawing/2014/main" id="{69958785-31BB-4519-8408-B6BD8392525B}"/>
              </a:ext>
            </a:extLst>
          </p:cNvPr>
          <p:cNvSpPr>
            <a:spLocks xmlns:a="http://schemas.openxmlformats.org/drawingml/2006/main" noGrp="1"/>
          </p:cNvSpPr>
          <p:nvPr/>
        </p:nvSpPr>
        <p:spPr>
          <a:xfrm xmlns:a="http://schemas.openxmlformats.org/drawingml/2006/main">
            <a:off x="800100" y="4876800"/>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00" b="1">
                <a:solidFill>
                  <a:srgbClr val="1AA58F"/>
                </a:solidFill>
                <a:latin typeface="Arial"/>
                <a:ea typeface="Arial"/>
                <a:cs typeface="Arial"/>
              </a:defRPr>
            </a:defPPr>
          </a:lstStyle>
          <a:p xmlns:a="http://schemas.openxmlformats.org/drawingml/2006/main">
            <a:pPr algn="l">
              <a:defRPr sz="1500" b="1">
                <a:solidFill>
                  <a:srgbClr val="1AA58F"/>
                </a:solidFill>
                <a:latin typeface="Arial"/>
                <a:ea typeface="Arial"/>
                <a:cs typeface="Arial"/>
              </a:defRPr>
            </a:pPr>
            <a:r>
              <a:rPr sz="1500" b="1">
                <a:solidFill>
                  <a:srgbClr val="1AA58F"/>
                </a:solidFill>
                <a:latin typeface="Arial"/>
                <a:ea typeface="Arial"/>
                <a:cs typeface="Arial"/>
              </a:rPr>
              <a:t>What happens if the score is wrong?</a:t>
            </a:r>
          </a:p>
        </p:txBody>
      </p:sp>
      <p:sp>
        <p:nvSpPr>
          <p:cNvPr id="19" name="">
            <a:extLst xmlns:a="http://schemas.openxmlformats.org/drawingml/2006/main">
              <a:ext uri="{FF2B5EF4-FFF2-40B4-BE49-F238E27FC236}">
                <a16:creationId xmlns:a16="http://schemas.microsoft.com/office/drawing/2014/main" id="{B2EE2AAD-6266-464B-818C-F846EB6BFABE}"/>
              </a:ext>
            </a:extLst>
          </p:cNvPr>
          <p:cNvSpPr>
            <a:spLocks xmlns:a="http://schemas.openxmlformats.org/drawingml/2006/main" noGrp="1"/>
          </p:cNvSpPr>
          <p:nvPr/>
        </p:nvSpPr>
        <p:spPr>
          <a:xfrm xmlns:a="http://schemas.openxmlformats.org/drawingml/2006/main">
            <a:off x="800100" y="5238750"/>
            <a:ext cx="4819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a:solidFill>
                  <a:srgbClr val="F3F6F2"/>
                </a:solidFill>
                <a:latin typeface="Arial"/>
                <a:ea typeface="Arial"/>
                <a:cs typeface="Arial"/>
              </a:defRPr>
            </a:defPPr>
          </a:lstStyle>
          <a:p xmlns:a="http://schemas.openxmlformats.org/drawingml/2006/main">
            <a:pPr algn="l">
              <a:defRPr sz="1125">
                <a:solidFill>
                  <a:srgbClr val="F3F6F2"/>
                </a:solidFill>
                <a:latin typeface="Arial"/>
                <a:ea typeface="Arial"/>
                <a:cs typeface="Arial"/>
              </a:defRPr>
            </a:pPr>
            <a:r>
              <a:rPr sz="1125">
                <a:solidFill>
                  <a:srgbClr val="F3F6F2"/>
                </a:solidFill>
                <a:latin typeface="Arial"/>
                <a:ea typeface="Arial"/>
                <a:cs typeface="Arial"/>
              </a:rPr>
              <a:t>No automatic action follows. The cost is wasted inspection time, so the pilot measures false alarms before operational use.</a:t>
            </a:r>
          </a:p>
        </p:txBody>
      </p:sp>
      <p:sp>
        <p:nvSpPr>
          <p:cNvPr id="20" name="">
            <a:extLst xmlns:a="http://schemas.openxmlformats.org/drawingml/2006/main">
              <a:ext uri="{FF2B5EF4-FFF2-40B4-BE49-F238E27FC236}">
                <a16:creationId xmlns:a16="http://schemas.microsoft.com/office/drawing/2014/main" id="{372E324B-3E5D-43AF-B8C8-875A1A37149F}"/>
              </a:ext>
            </a:extLst>
          </p:cNvPr>
          <p:cNvSpPr>
            <a:spLocks xmlns:a="http://schemas.openxmlformats.org/drawingml/2006/main" noGrp="1"/>
          </p:cNvSpPr>
          <p:nvPr/>
        </p:nvSpPr>
        <p:spPr>
          <a:xfrm xmlns:a="http://schemas.openxmlformats.org/drawingml/2006/main">
            <a:off x="6096000" y="4705350"/>
            <a:ext cx="5238750" cy="1352550"/>
          </a:xfrm>
          <a:prstGeom xmlns:a="http://schemas.openxmlformats.org/drawingml/2006/main" prst="roundRect">
            <a:avLst>
              <a:gd name="adj" fmla="val 8451"/>
            </a:avLst>
          </a:prstGeom>
          <a:solidFill xmlns:a="http://schemas.openxmlformats.org/drawingml/2006/main">
            <a:srgbClr val="113646"/>
          </a:solidFill>
          <a:ln xmlns:a="http://schemas.openxmlformats.org/drawingml/2006/main" w="9525">
            <a:solidFill>
              <a:srgbClr val="31505F"/>
            </a:solidFill>
            <a:prstDash val="solid"/>
          </a:ln>
        </p:spPr>
      </p:sp>
      <p:sp>
        <p:nvSpPr>
          <p:cNvPr id="21" name="">
            <a:extLst xmlns:a="http://schemas.openxmlformats.org/drawingml/2006/main">
              <a:ext uri="{FF2B5EF4-FFF2-40B4-BE49-F238E27FC236}">
                <a16:creationId xmlns:a16="http://schemas.microsoft.com/office/drawing/2014/main" id="{A7D1B6E2-C6D8-4B1F-9D58-5144E0AEA043}"/>
              </a:ext>
            </a:extLst>
          </p:cNvPr>
          <p:cNvSpPr>
            <a:spLocks xmlns:a="http://schemas.openxmlformats.org/drawingml/2006/main" noGrp="1"/>
          </p:cNvSpPr>
          <p:nvPr/>
        </p:nvSpPr>
        <p:spPr>
          <a:xfrm xmlns:a="http://schemas.openxmlformats.org/drawingml/2006/main">
            <a:off x="6305550" y="4876800"/>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1500" b="1">
                <a:solidFill>
                  <a:srgbClr val="E2AD2B"/>
                </a:solidFill>
                <a:latin typeface="Arial"/>
                <a:ea typeface="Arial"/>
                <a:cs typeface="Arial"/>
              </a:defRPr>
            </a:defPPr>
          </a:lstStyle>
          <a:p xmlns:a="http://schemas.openxmlformats.org/drawingml/2006/main">
            <a:pPr algn="l">
              <a:defRPr sz="1500" b="1">
                <a:solidFill>
                  <a:srgbClr val="E2AD2B"/>
                </a:solidFill>
                <a:latin typeface="Arial"/>
                <a:ea typeface="Arial"/>
                <a:cs typeface="Arial"/>
              </a:defRPr>
            </a:pPr>
            <a:r>
              <a:rPr sz="1500" b="1">
                <a:solidFill>
                  <a:srgbClr val="E2AD2B"/>
                </a:solidFill>
                <a:latin typeface="Arial"/>
                <a:ea typeface="Arial"/>
                <a:cs typeface="Arial"/>
              </a:rPr>
              <a:t>What is next?</a:t>
            </a:r>
          </a:p>
        </p:txBody>
      </p:sp>
      <p:sp>
        <p:nvSpPr>
          <p:cNvPr id="22" name="">
            <a:extLst xmlns:a="http://schemas.openxmlformats.org/drawingml/2006/main">
              <a:ext uri="{FF2B5EF4-FFF2-40B4-BE49-F238E27FC236}">
                <a16:creationId xmlns:a16="http://schemas.microsoft.com/office/drawing/2014/main" id="{427666A2-9B14-4AFC-9BE9-2E53DE2F47A9}"/>
              </a:ext>
            </a:extLst>
          </p:cNvPr>
          <p:cNvSpPr>
            <a:spLocks xmlns:a="http://schemas.openxmlformats.org/drawingml/2006/main" noGrp="1"/>
          </p:cNvSpPr>
          <p:nvPr/>
        </p:nvSpPr>
        <p:spPr>
          <a:xfrm xmlns:a="http://schemas.openxmlformats.org/drawingml/2006/main">
            <a:off x="6305550" y="5238750"/>
            <a:ext cx="4819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125">
                <a:solidFill>
                  <a:srgbClr val="F3F6F2"/>
                </a:solidFill>
                <a:latin typeface="Arial"/>
                <a:ea typeface="Arial"/>
                <a:cs typeface="Arial"/>
              </a:defRPr>
            </a:defPPr>
          </a:lstStyle>
          <a:p xmlns:a="http://schemas.openxmlformats.org/drawingml/2006/main">
            <a:pPr algn="l">
              <a:defRPr sz="1125">
                <a:solidFill>
                  <a:srgbClr val="F3F6F2"/>
                </a:solidFill>
                <a:latin typeface="Arial"/>
                <a:ea typeface="Arial"/>
                <a:cs typeface="Arial"/>
              </a:defRPr>
            </a:pPr>
            <a:r>
              <a:rPr sz="1125">
                <a:solidFill>
                  <a:srgbClr val="F3F6F2"/>
                </a:solidFill>
                <a:latin typeface="Arial"/>
                <a:ea typeface="Arial"/>
                <a:cs typeface="Arial"/>
              </a:rPr>
              <a:t>User interviews, top-five field checks, local constraints, updated weights and a repeatable test in another Riyadh area.</a:t>
            </a:r>
          </a:p>
        </p:txBody>
      </p:sp>
      <p:sp>
        <p:nvSpPr>
          <p:cNvPr id="23" name="">
            <a:extLst xmlns:a="http://schemas.openxmlformats.org/drawingml/2006/main">
              <a:ext uri="{FF2B5EF4-FFF2-40B4-BE49-F238E27FC236}">
                <a16:creationId xmlns:a16="http://schemas.microsoft.com/office/drawing/2014/main" id="{E1B90AA5-7780-47BF-916C-73230247793B}"/>
              </a:ext>
            </a:extLst>
          </p:cNvPr>
          <p:cNvSpPr>
            <a:spLocks xmlns:a="http://schemas.openxmlformats.org/drawingml/2006/main" noGrp="1"/>
          </p:cNvSpPr>
          <p:nvPr/>
        </p:nvSpPr>
        <p:spPr>
          <a:xfrm xmlns:a="http://schemas.openxmlformats.org/drawingml/2006/main">
            <a:off x="590550" y="6543675"/>
            <a:ext cx="78105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lgn="l">
              <a:defRPr sz="675" b="1">
                <a:solidFill>
                  <a:srgbClr val="AFC4C6"/>
                </a:solidFill>
                <a:latin typeface="Arial"/>
                <a:ea typeface="Arial"/>
                <a:cs typeface="Arial"/>
              </a:defRPr>
            </a:defPPr>
          </a:lstStyle>
          <a:p xmlns:a="http://schemas.openxmlformats.org/drawingml/2006/main">
            <a:pPr algn="l">
              <a:defRPr sz="675" b="1">
                <a:solidFill>
                  <a:srgbClr val="AFC4C6"/>
                </a:solidFill>
                <a:latin typeface="Arial"/>
                <a:ea typeface="Arial"/>
                <a:cs typeface="Arial"/>
              </a:defRPr>
            </a:pPr>
            <a:r>
              <a:rPr sz="675" b="1">
                <a:solidFill>
                  <a:srgbClr val="AFC4C6"/>
                </a:solidFill>
                <a:latin typeface="Arial"/>
                <a:ea typeface="Arial"/>
                <a:cs typeface="Arial"/>
              </a:rPr>
              <a:t>APPENDIX  •  MILKAHOLICS  •  ARAB YOUTH SPACE HACKATHON: 813 CHALLENGE</a:t>
            </a:r>
          </a:p>
        </p:txBody>
      </p:sp>
    </p:spTree>
    <p:extLst>
      <p:ext uri="{BB962C8B-B14F-4D97-AF65-F5344CB8AC3E}">
        <p14:creationId xmlns:p14="http://schemas.microsoft.com/office/powerpoint/2010/main" val="473830627"/>
      </p:ext>
    </p:extLst>
  </p:cSld>
</p:sld>
</file>

<file path=ppt/theme/theme1.xml><?xml version="1.0" encoding="utf-8"?>
<a:theme xmlns:a="http://schemas.openxmlformats.org/drawingml/2006/main" name="ChatGPT">
  <a:themeElements>
    <a:clrScheme name="HeatReady">
      <a:dk1>
        <a:srgbClr val="000000"/>
      </a:dk1>
      <a:lt1>
        <a:srgbClr val="FFFFFF"/>
      </a:lt1>
      <a:dk2>
        <a:srgbClr val="0D2A3A"/>
      </a:dk2>
      <a:lt2>
        <a:srgbClr val="DCE7E7"/>
      </a:lt2>
      <a:accent1>
        <a:srgbClr val="1AA58F"/>
      </a:accent1>
      <a:accent2>
        <a:srgbClr val="F06449"/>
      </a:accent2>
      <a:accent3>
        <a:srgbClr val="E2AD2B"/>
      </a:accent3>
      <a:accent4>
        <a:srgbClr val="6D5DD3"/>
      </a:accent4>
      <a:accent5>
        <a:srgbClr val="3183B8"/>
      </a:accent5>
      <a:accent6>
        <a:srgbClr val="D96787"/>
      </a:accent6>
      <a:hlink>
        <a:srgbClr val="1AA58F"/>
      </a:hlink>
      <a:folHlink>
        <a:srgbClr val="6D5DD3"/>
      </a:folHlink>
    </a:clrScheme>
    <a:fontScheme name="">
      <a:majorFont>
        <a:latin typeface="Aptos"/>
        <a:ea typeface=""/>
        <a:cs typeface=""/>
      </a:majorFont>
      <a:minorFont>
        <a:latin typeface="Aptos"/>
        <a:ea typeface=""/>
        <a:cs typeface=""/>
      </a:minorFont>
    </a:fontScheme>
    <a:fmtScheme name="HeatRead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2026-10-15T11:20:39.3940000Z</dcterms:created>
  <dcterms:modified xsi:type="dcterms:W3CDTF">2026-10-15T11:20:39.3940000Z</dcterms:modified>
</coreProperties>
</file>