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7a24ae1c764f42" /><Relationship Type="http://schemas.openxmlformats.org/officeDocument/2006/relationships/extended-properties" Target="/docProps/app.xml" Id="R4f87ca44524e45f8" /><Relationship Type="http://schemas.openxmlformats.org/officeDocument/2006/relationships/officeDocument" Target="/ppt/presentation.xml" Id="R5ac6bb84aa21476d" /></Relationships>
</file>

<file path=ppt/presentation.xml><?xml version="1.0" encoding="utf-8"?>
<p:presentation xmlns:p="http://schemas.openxmlformats.org/presentationml/2006/main">
  <p:sldMasterIdLst>
    <p:sldMasterId xmlns:r="http://schemas.openxmlformats.org/officeDocument/2006/relationships" id="2147483648" r:id="R863780775bdc48a5"/>
  </p:sldMasterIdLst>
  <p:notesMasterIdLst>
    <p:notesMasterId xmlns:r="http://schemas.openxmlformats.org/officeDocument/2006/relationships" r:id="R0cf64c3d974b428a"/>
  </p:notesMasterIdLst>
  <p:sldIdLst>
    <p:sldId xmlns:r="http://schemas.openxmlformats.org/officeDocument/2006/relationships" id="256" r:id="R33805fae30e04829"/>
    <p:sldId xmlns:r="http://schemas.openxmlformats.org/officeDocument/2006/relationships" id="257" r:id="R441912b525d14d9f"/>
    <p:sldId xmlns:r="http://schemas.openxmlformats.org/officeDocument/2006/relationships" id="258" r:id="Rf7c5c78f2c724ce0"/>
    <p:sldId xmlns:r="http://schemas.openxmlformats.org/officeDocument/2006/relationships" id="259" r:id="R659b9c29121e41be"/>
    <p:sldId xmlns:r="http://schemas.openxmlformats.org/officeDocument/2006/relationships" id="260" r:id="Rc26adff68c3947d5"/>
    <p:sldId xmlns:r="http://schemas.openxmlformats.org/officeDocument/2006/relationships" id="261" r:id="Rcbb316c868194324"/>
    <p:sldId xmlns:r="http://schemas.openxmlformats.org/officeDocument/2006/relationships" id="262" r:id="R44a18ae326fa4c32"/>
    <p:sldId xmlns:r="http://schemas.openxmlformats.org/officeDocument/2006/relationships" id="263" r:id="R4c9c66dd69ed4144"/>
    <p:sldId xmlns:r="http://schemas.openxmlformats.org/officeDocument/2006/relationships" id="264" r:id="R14a7d02377bd4e34"/>
    <p:sldId xmlns:r="http://schemas.openxmlformats.org/officeDocument/2006/relationships" id="265" r:id="R05af44ba4a6e4237"/>
    <p:sldId xmlns:r="http://schemas.openxmlformats.org/officeDocument/2006/relationships" id="266" r:id="R11656f85a18d48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495987c7bc47dd" /><Relationship Type="http://schemas.openxmlformats.org/officeDocument/2006/relationships/slideMaster" Target="/ppt/slideMasters/slideMaster1.xml" Id="R863780775bdc48a5" /><Relationship Type="http://schemas.openxmlformats.org/officeDocument/2006/relationships/notesMaster" Target="/ppt/notesMasters/notesMaster1.xml" Id="R0cf64c3d974b428a" /><Relationship Type="http://schemas.openxmlformats.org/officeDocument/2006/relationships/presProps" Target="/ppt/presProps.xml" Id="R01fbab50fbfd4b7f" /><Relationship Type="http://schemas.openxmlformats.org/officeDocument/2006/relationships/tableStyles" Target="/ppt/tableStyles.xml" Id="R19df7fa477684959" /><Relationship Type="http://schemas.openxmlformats.org/officeDocument/2006/relationships/slide" Target="/ppt/slides/slide1.xml" Id="R33805fae30e04829" /><Relationship Type="http://schemas.openxmlformats.org/officeDocument/2006/relationships/slide" Target="/ppt/slides/slide2.xml" Id="R441912b525d14d9f" /><Relationship Type="http://schemas.openxmlformats.org/officeDocument/2006/relationships/slide" Target="/ppt/slides/slide3.xml" Id="Rf7c5c78f2c724ce0" /><Relationship Type="http://schemas.openxmlformats.org/officeDocument/2006/relationships/slide" Target="/ppt/slides/slide4.xml" Id="R659b9c29121e41be" /><Relationship Type="http://schemas.openxmlformats.org/officeDocument/2006/relationships/slide" Target="/ppt/slides/slide5.xml" Id="Rc26adff68c3947d5" /><Relationship Type="http://schemas.openxmlformats.org/officeDocument/2006/relationships/slide" Target="/ppt/slides/slide6.xml" Id="Rcbb316c868194324" /><Relationship Type="http://schemas.openxmlformats.org/officeDocument/2006/relationships/slide" Target="/ppt/slides/slide7.xml" Id="R44a18ae326fa4c32" /><Relationship Type="http://schemas.openxmlformats.org/officeDocument/2006/relationships/slide" Target="/ppt/slides/slide8.xml" Id="R4c9c66dd69ed4144" /><Relationship Type="http://schemas.openxmlformats.org/officeDocument/2006/relationships/slide" Target="/ppt/slides/slide9.xml" Id="R14a7d02377bd4e34" /><Relationship Type="http://schemas.openxmlformats.org/officeDocument/2006/relationships/slide" Target="/ppt/slides/slide10.xml" Id="R05af44ba4a6e4237" /><Relationship Type="http://schemas.openxmlformats.org/officeDocument/2006/relationships/slide" Target="/ppt/slides/slide11.xml" Id="R11656f85a18d48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6f51c5f15f4f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0c09d3c9894a86" /><Relationship Type="http://schemas.openxmlformats.org/officeDocument/2006/relationships/notesMaster" Target="/ppt/notesMasters/notesMaster1.xml" Id="R5193cd980d104a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48ae89dccb476f" /><Relationship Type="http://schemas.openxmlformats.org/officeDocument/2006/relationships/notesMaster" Target="/ppt/notesMasters/notesMaster1.xml" Id="R423a7cae919b45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6963762f004c1f" /><Relationship Type="http://schemas.openxmlformats.org/officeDocument/2006/relationships/notesMaster" Target="/ppt/notesMasters/notesMaster1.xml" Id="Rfd19c59d84cb42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502fc49630466b" /><Relationship Type="http://schemas.openxmlformats.org/officeDocument/2006/relationships/notesMaster" Target="/ppt/notesMasters/notesMaster1.xml" Id="Rf0c217353f324a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bab351bb6d410b" /><Relationship Type="http://schemas.openxmlformats.org/officeDocument/2006/relationships/notesMaster" Target="/ppt/notesMasters/notesMaster1.xml" Id="Rc6b84208fe5e4d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7ef2fa8fc74264" /><Relationship Type="http://schemas.openxmlformats.org/officeDocument/2006/relationships/notesMaster" Target="/ppt/notesMasters/notesMaster1.xml" Id="Rab1b10d4197a40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10856248fc4b7e" /><Relationship Type="http://schemas.openxmlformats.org/officeDocument/2006/relationships/notesMaster" Target="/ppt/notesMasters/notesMaster1.xml" Id="R619ae78f4b334f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5743f684c14943" /><Relationship Type="http://schemas.openxmlformats.org/officeDocument/2006/relationships/notesMaster" Target="/ppt/notesMasters/notesMaster1.xml" Id="Rb220392276f441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b8098ddef84547" /><Relationship Type="http://schemas.openxmlformats.org/officeDocument/2006/relationships/notesMaster" Target="/ppt/notesMasters/notesMaster1.xml" Id="Ree625d1b71ac43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f3b2b91d8d4188" /><Relationship Type="http://schemas.openxmlformats.org/officeDocument/2006/relationships/notesMaster" Target="/ppt/notesMasters/notesMaster1.xml" Id="Rc1ac39aa222f45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c951e19c9f4b50" /><Relationship Type="http://schemas.openxmlformats.org/officeDocument/2006/relationships/notesMaster" Target="/ppt/notesMasters/notesMaster1.xml" Id="R18cb4b6afda048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 Yusuf. Riyadh HeatReady uses satellite data to rank 1 km zones in southeastern Riyadh where recent growth, hotter land surfaces and modelled population overlap. The decision is simple: where should a municipal team inspect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0:20–0:55 | Yusuf. Introduce both team members by finals responsibility, without adding unverified education or employment. Yusuf presents slides 1–5: problem, data, method and demo. Raed presents slides 6–8: validation and limitations, innovation and impact, and the pilot plan. Planned speaking time is 4 minutes 45 seconds for Yusuf and 3 minutes 10 seconds for Raed.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0:55–1:50 | Yusuf. The study covers 168.30 square kilometres in southeastern Riyadh, not the whole city. The intended user is a municipal planning and heat-resilience team. The MVP ranks 1 km zones for inspection. It does not prescribe trees, roofs or pavements automatically. No user interview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1:50–3:10 | Yusuf. Each source has one job. Annual land cover proposes endpoint growth. A separate Sentinel-2 and Sentinel-1 model confirms pixels that still look built-up in 2025. Landsat adds land-surface temperature, WorldPop adds modelled exposure, and Sentinel-2 adds vegetation. Tanager tests a desert failure mode. The score is 40 percent heat, 30 percent population, 20 percent confirmed growth and 10 percent lack of vegetation.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3:10–4:45 | Yusuf. Demonstrate the dashboard. The stricter rule retained 3.74 square kilometres of confirmed growth. Fourteen of 67 eligible cells are High priority. R05C10 is first at about 78.7. Show that each bar exposes the score components. The map is a screening result, so a local check must happen before action. Handoff: Raed will now explain what the validation proves, what makes the approach different and how we would test it with a municipality.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4:45–5:55 | Raed. The spatial east-side holdout reached F1 0.88, IoU 0.78 and balanced accuracy 0.89 against WorldCover. These numbers measure agreement with another satellite product, not field accuracy. Land-surface temperature is not air temperature. WorldPop is modelled. Bright desert remains difficult, and a municipal user must review the score weights. These limits are why the output supports inspection rather than automatic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5:55–6:55 | Raed. The innovation is the conservative, explainable chain. Annual change proposes growth, while separate optical and radar evidence confirms it. Tanager showed why one simple NDBI threshold can fail in bright desert. Every zone keeps visible score components and GIS evidence. The possible impact is faster, repeatable screening, but we cannot claim that benefit until real users test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6:55–7:55 | Raed. The next stage is a measured pilot, not a deployment claim. First interview users and confirm the workflow. Then inspect the top five zones and record useful results and false alarms. Adjust weights and add local constraints. Finally test a repeatable update in another Riyadh area. Our ask is support for one municipal pilot that measures whether the ranking improves screening.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Open if a judge asks for exact source dates, roles or licences.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Use for questions about leakage, train-test geography, annual trend uncertainty or the difference between satellite agreement and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Yusuf handles the problem, data, method, scoring calculation, demo and reproducibility. Raed handles validation meaning, limitations, innovation, user impact, false alarms and the pilot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7083cdd93c43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5e79bfbdeb4c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4f44753b1345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e92683f4424a6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2e1015d46347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de58c0d73042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83F9D3-F062-4D5A-9564-8C2336DDDC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87B1DD-9746-4ACC-BD4B-71371A70317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45FE6D-17BB-473E-8E36-C4141A07F63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03153B-2D22-42BA-A199-4E33FDED71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AAE5920-2D85-49D1-8843-BA83B6C3E07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53F2D0-5500-4562-B06D-4CDD28D8ED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47F91A-66E9-49C7-B22D-3F29F09B34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0D6616-378D-4992-A2EA-633E2738FFD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94E05B-1467-40DC-8FA0-AE50F25A8F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A03A4A-A4F4-47DE-B963-5014524B07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5c7f8545c34cfa" /><Relationship Type="http://schemas.openxmlformats.org/officeDocument/2006/relationships/slideLayout" Target="/ppt/slideLayouts/slideLayout1.xml" Id="R120b366719b1497f" /><Relationship Type="http://schemas.openxmlformats.org/officeDocument/2006/relationships/slideLayout" Target="/ppt/slideLayouts/slideLayout2.xml" Id="R94155e4cd45a4583" /><Relationship Type="http://schemas.openxmlformats.org/officeDocument/2006/relationships/slideLayout" Target="/ppt/slideLayouts/slideLayout3.xml" Id="Rd6167e2c78b847e4" /><Relationship Type="http://schemas.openxmlformats.org/officeDocument/2006/relationships/slideLayout" Target="/ppt/slideLayouts/slideLayout4.xml" Id="R4df22eb1faf3488e" /><Relationship Type="http://schemas.openxmlformats.org/officeDocument/2006/relationships/slideLayout" Target="/ppt/slideLayouts/slideLayout5.xml" Id="Rf07128bc860a49a3" /><Relationship Type="http://schemas.openxmlformats.org/officeDocument/2006/relationships/slideLayout" Target="/ppt/slideLayouts/slideLayout6.xml" Id="R9f8c8b79cd1342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0b366719b1497f"/>
    <p:sldLayoutId xmlns:r="http://schemas.openxmlformats.org/officeDocument/2006/relationships" id="2147483650" r:id="R94155e4cd45a4583"/>
    <p:sldLayoutId xmlns:r="http://schemas.openxmlformats.org/officeDocument/2006/relationships" id="2147483651" r:id="Rd6167e2c78b847e4"/>
    <p:sldLayoutId xmlns:r="http://schemas.openxmlformats.org/officeDocument/2006/relationships" id="2147483652" r:id="R4df22eb1faf3488e"/>
    <p:sldLayoutId xmlns:r="http://schemas.openxmlformats.org/officeDocument/2006/relationships" id="2147483653" r:id="Rf07128bc860a49a3"/>
    <p:sldLayoutId xmlns:r="http://schemas.openxmlformats.org/officeDocument/2006/relationships" id="2147483654" r:id="R9f8c8b79cd1342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a244bf61fbb425b" /><Relationship Type="http://schemas.openxmlformats.org/officeDocument/2006/relationships/image" Target="/ppt/media/image.png" Id="R9bab1ff76f254742" /><Relationship Type="http://schemas.openxmlformats.org/officeDocument/2006/relationships/notesSlide" Target="/ppt/notesSlides/notesSlide1.xml" Id="Re56b5ade50184d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9ea04144474203" /><Relationship Type="http://schemas.openxmlformats.org/officeDocument/2006/relationships/notesSlide" Target="/ppt/notesSlides/notesSlide2.xml" Id="R80ccd7a84e7b41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4279a3e2da34fd4" /><Relationship Type="http://schemas.openxmlformats.org/officeDocument/2006/relationships/notesSlide" Target="/ppt/notesSlides/notesSlide3.xml" Id="Rcfa87c46bfa245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ec2ebdb521431f" /><Relationship Type="http://schemas.openxmlformats.org/officeDocument/2006/relationships/image" Target="/ppt/media/image2.png" Id="Rf0b387a42c8b42f1" /><Relationship Type="http://schemas.openxmlformats.org/officeDocument/2006/relationships/notesSlide" Target="/ppt/notesSlides/notesSlide4.xml" Id="Ra013c2a301e44b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352b3b79534bbd" /><Relationship Type="http://schemas.openxmlformats.org/officeDocument/2006/relationships/image" Target="/ppt/media/image3.png" Id="Rdb4cf7ffa7874c38" /><Relationship Type="http://schemas.openxmlformats.org/officeDocument/2006/relationships/image" Target="/ppt/media/image4.png" Id="Rafb22ed4563e454f" /><Relationship Type="http://schemas.openxmlformats.org/officeDocument/2006/relationships/notesSlide" Target="/ppt/notesSlides/notesSlide5.xml" Id="R98e367b8d95745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caf8473f224c4d" /><Relationship Type="http://schemas.openxmlformats.org/officeDocument/2006/relationships/image" Target="/ppt/media/image5.png" Id="R4ce2179c8dc649d8" /><Relationship Type="http://schemas.openxmlformats.org/officeDocument/2006/relationships/notesSlide" Target="/ppt/notesSlides/notesSlide6.xml" Id="R957923dfd6654d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837a421b4764d62" /><Relationship Type="http://schemas.openxmlformats.org/officeDocument/2006/relationships/image" Target="/ppt/media/image6.png" Id="Ra5797c5f1d3f4ae0" /><Relationship Type="http://schemas.openxmlformats.org/officeDocument/2006/relationships/notesSlide" Target="/ppt/notesSlides/notesSlide7.xml" Id="R96380605f64244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3dc69d361234efb" /><Relationship Type="http://schemas.openxmlformats.org/officeDocument/2006/relationships/notesSlide" Target="/ppt/notesSlides/notesSlide8.xml" Id="R0d85c72485ce4d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77768d63b2e4c83" /><Relationship Type="http://schemas.openxmlformats.org/officeDocument/2006/relationships/notesSlide" Target="/ppt/notesSlides/notesSlide9.xml" Id="Rd4864870059d47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a489202679d4c89" /><Relationship Type="http://schemas.openxmlformats.org/officeDocument/2006/relationships/image" Target="/ppt/media/image7.png" Id="R05663c2dbb9d44d2" /><Relationship Type="http://schemas.openxmlformats.org/officeDocument/2006/relationships/image" Target="/ppt/media/image8.png" Id="R34c9fb564e9642d6" /><Relationship Type="http://schemas.openxmlformats.org/officeDocument/2006/relationships/notesSlide" Target="/ppt/notesSlides/notesSlide10.xml" Id="R6fe8499ad91442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6aaeec947744ca3" /><Relationship Type="http://schemas.openxmlformats.org/officeDocument/2006/relationships/notesSlide" Target="/ppt/notesSlides/notesSlide11.xml" Id="Rf11a72cc18374fcb" /></Relationships>
</file>

<file path=ppt/slides/slide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DDE8AFC-F124-400F-8D54-53CECB5DFC66}"/>
              </a:ext>
            </a:extLst>
          </p:cNvPr>
          <p:cNvPicPr>
            <a:picLocks xmlns:a="http://schemas.openxmlformats.org/drawingml/2006/main" noChangeAspect="1"/>
          </p:cNvPicPr>
          <p:nvPr/>
        </p:nvPicPr>
        <p:blipFill>
          <a:blip xmlns:r="http://schemas.openxmlformats.org/officeDocument/2006/relationships" xmlns:a="http://schemas.openxmlformats.org/drawingml/2006/main" r:embed="R9bab1ff76f254742"/>
          <a:srcRect xmlns:a="http://schemas.openxmlformats.org/drawingml/2006/main" l="4671" t="0" r="46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0F482D-D4E9-4F3F-BBF4-FA3371ED5E97}"/>
              </a:ext>
            </a:extLst>
          </p:cNvPr>
          <p:cNvSpPr>
            <a:spLocks xmlns:a="http://schemas.openxmlformats.org/drawingml/2006/main" noGrp="1"/>
          </p:cNvSpPr>
          <p:nvPr/>
        </p:nvSpPr>
        <p:spPr>
          <a:xfrm xmlns:a="http://schemas.openxmlformats.org/drawingml/2006/main">
            <a:off x="6191250" y="0"/>
            <a:ext cx="762000" cy="68580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E37713D-6B69-4BD6-9689-6B3B82887DD5}"/>
              </a:ext>
            </a:extLst>
          </p:cNvPr>
          <p:cNvSpPr>
            <a:spLocks xmlns:a="http://schemas.openxmlformats.org/drawingml/2006/main" noGrp="1"/>
          </p:cNvSpPr>
          <p:nvPr/>
        </p:nvSpPr>
        <p:spPr>
          <a:xfrm xmlns:a="http://schemas.openxmlformats.org/drawingml/2006/main">
            <a:off x="6572250" y="0"/>
            <a:ext cx="5619750" cy="6096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C41634-B357-44AC-AB9F-2AB819E8279F}"/>
              </a:ext>
            </a:extLst>
          </p:cNvPr>
          <p:cNvSpPr>
            <a:spLocks xmlns:a="http://schemas.openxmlformats.org/drawingml/2006/main" noGrp="1"/>
          </p:cNvSpPr>
          <p:nvPr/>
        </p:nvSpPr>
        <p:spPr>
          <a:xfrm xmlns:a="http://schemas.openxmlformats.org/drawingml/2006/main">
            <a:off x="6819900" y="15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1AA58F"/>
                </a:solidFill>
                <a:latin typeface="Arial"/>
                <a:ea typeface="Arial"/>
                <a:cs typeface="Arial"/>
              </a:defRPr>
            </a:defPPr>
          </a:lstStyle>
          <a:p xmlns:a="http://schemas.openxmlformats.org/drawingml/2006/main">
            <a:pPr algn="ctr">
              <a:defRPr sz="1125" b="1">
                <a:solidFill>
                  <a:srgbClr val="1AA58F"/>
                </a:solidFill>
                <a:latin typeface="Arial"/>
                <a:ea typeface="Arial"/>
                <a:cs typeface="Arial"/>
              </a:defRPr>
            </a:pPr>
            <a:r>
              <a:rPr sz="1125" b="1">
                <a:solidFill>
                  <a:srgbClr val="1AA58F"/>
                </a:solidFill>
                <a:latin typeface="Arial"/>
                <a:ea typeface="Arial"/>
                <a:cs typeface="Arial"/>
              </a:rPr>
              <a:t>SATELLITE-DERIVED PRIORITY MAP</a:t>
            </a:r>
          </a:p>
        </p:txBody>
      </p:sp>
      <p:sp>
        <p:nvSpPr>
          <p:cNvPr id="5" name="">
            <a:extLst xmlns:a="http://schemas.openxmlformats.org/drawingml/2006/main">
              <a:ext uri="{FF2B5EF4-FFF2-40B4-BE49-F238E27FC236}">
                <a16:creationId xmlns:a16="http://schemas.microsoft.com/office/drawing/2014/main" id="{F30648E2-3877-4361-8226-B50CA2004954}"/>
              </a:ext>
            </a:extLst>
          </p:cNvPr>
          <p:cNvSpPr>
            <a:spLocks xmlns:a="http://schemas.openxmlformats.org/drawingml/2006/main" noGrp="1"/>
          </p:cNvSpPr>
          <p:nvPr/>
        </p:nvSpPr>
        <p:spPr>
          <a:xfrm xmlns:a="http://schemas.openxmlformats.org/drawingml/2006/main">
            <a:off x="6477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AA58F"/>
                </a:solidFill>
                <a:latin typeface="Arial"/>
                <a:ea typeface="Arial"/>
                <a:cs typeface="Arial"/>
              </a:defRPr>
            </a:defPPr>
          </a:lstStyle>
          <a:p xmlns:a="http://schemas.openxmlformats.org/drawingml/2006/main">
            <a:pPr algn="l">
              <a:defRPr sz="1275" b="1">
                <a:solidFill>
                  <a:srgbClr val="1AA58F"/>
                </a:solidFill>
                <a:latin typeface="Arial"/>
                <a:ea typeface="Arial"/>
                <a:cs typeface="Arial"/>
              </a:defRPr>
            </a:pPr>
            <a:r>
              <a:rPr sz="1275" b="1">
                <a:solidFill>
                  <a:srgbClr val="1AA58F"/>
                </a:solidFill>
                <a:latin typeface="Arial"/>
                <a:ea typeface="Arial"/>
                <a:cs typeface="Arial"/>
              </a:rPr>
              <a:t>RIYADH</a:t>
            </a:r>
          </a:p>
        </p:txBody>
      </p:sp>
      <p:sp>
        <p:nvSpPr>
          <p:cNvPr id="6" name="">
            <a:extLst xmlns:a="http://schemas.openxmlformats.org/drawingml/2006/main">
              <a:ext uri="{FF2B5EF4-FFF2-40B4-BE49-F238E27FC236}">
                <a16:creationId xmlns:a16="http://schemas.microsoft.com/office/drawing/2014/main" id="{6AE3BC55-6A69-40B7-BD26-67C61D44C5AC}"/>
              </a:ext>
            </a:extLst>
          </p:cNvPr>
          <p:cNvSpPr>
            <a:spLocks xmlns:a="http://schemas.openxmlformats.org/drawingml/2006/main" noGrp="1"/>
          </p:cNvSpPr>
          <p:nvPr/>
        </p:nvSpPr>
        <p:spPr>
          <a:xfrm xmlns:a="http://schemas.openxmlformats.org/drawingml/2006/main">
            <a:off x="647700" y="1123950"/>
            <a:ext cx="495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4200" b="1">
                <a:solidFill>
                  <a:srgbClr val="F3F6F2"/>
                </a:solidFill>
                <a:latin typeface="Arial"/>
                <a:ea typeface="Arial"/>
                <a:cs typeface="Arial"/>
              </a:defRPr>
            </a:defPPr>
          </a:lstStyle>
          <a:p xmlns:a="http://schemas.openxmlformats.org/drawingml/2006/main">
            <a:pPr algn="l">
              <a:defRPr sz="4200" b="1">
                <a:solidFill>
                  <a:srgbClr val="F3F6F2"/>
                </a:solidFill>
                <a:latin typeface="Arial"/>
                <a:ea typeface="Arial"/>
                <a:cs typeface="Arial"/>
              </a:defRPr>
            </a:pPr>
            <a:r>
              <a:rPr sz="4200" b="1">
                <a:solidFill>
                  <a:srgbClr val="F3F6F2"/>
                </a:solidFill>
                <a:latin typeface="Arial"/>
                <a:ea typeface="Arial"/>
                <a:cs typeface="Arial"/>
              </a:rPr>
              <a:t>HeatReady</a:t>
            </a:r>
          </a:p>
        </p:txBody>
      </p:sp>
      <p:sp>
        <p:nvSpPr>
          <p:cNvPr id="7" name="">
            <a:extLst xmlns:a="http://schemas.openxmlformats.org/drawingml/2006/main">
              <a:ext uri="{FF2B5EF4-FFF2-40B4-BE49-F238E27FC236}">
                <a16:creationId xmlns:a16="http://schemas.microsoft.com/office/drawing/2014/main" id="{E48055CE-7687-4D72-B56F-4F8A0698247F}"/>
              </a:ext>
            </a:extLst>
          </p:cNvPr>
          <p:cNvSpPr>
            <a:spLocks xmlns:a="http://schemas.openxmlformats.org/drawingml/2006/main" noGrp="1"/>
          </p:cNvSpPr>
          <p:nvPr/>
        </p:nvSpPr>
        <p:spPr>
          <a:xfrm xmlns:a="http://schemas.openxmlformats.org/drawingml/2006/main">
            <a:off x="647700" y="1952625"/>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a:solidFill>
                  <a:srgbClr val="AFC4C6"/>
                </a:solidFill>
                <a:latin typeface="Arial"/>
                <a:ea typeface="Arial"/>
                <a:cs typeface="Arial"/>
              </a:defRPr>
            </a:defPPr>
          </a:lstStyle>
          <a:p xmlns:a="http://schemas.openxmlformats.org/drawingml/2006/main">
            <a:pPr algn="l">
              <a:defRPr sz="1950">
                <a:solidFill>
                  <a:srgbClr val="AFC4C6"/>
                </a:solidFill>
                <a:latin typeface="Arial"/>
                <a:ea typeface="Arial"/>
                <a:cs typeface="Arial"/>
              </a:defRPr>
            </a:pPr>
            <a:r>
              <a:rPr sz="1950">
                <a:solidFill>
                  <a:srgbClr val="AFC4C6"/>
                </a:solidFill>
                <a:latin typeface="Arial"/>
                <a:ea typeface="Arial"/>
                <a:cs typeface="Arial"/>
              </a:rPr>
              <a:t>From satellite evidence to a clear municipal inspection priority</a:t>
            </a:r>
          </a:p>
        </p:txBody>
      </p:sp>
      <p:sp>
        <p:nvSpPr>
          <p:cNvPr id="8" name="">
            <a:extLst xmlns:a="http://schemas.openxmlformats.org/drawingml/2006/main">
              <a:ext uri="{FF2B5EF4-FFF2-40B4-BE49-F238E27FC236}">
                <a16:creationId xmlns:a16="http://schemas.microsoft.com/office/drawing/2014/main" id="{AC7CDF21-0028-49E4-AEC8-E958D1C2D842}"/>
              </a:ext>
            </a:extLst>
          </p:cNvPr>
          <p:cNvSpPr>
            <a:spLocks xmlns:a="http://schemas.openxmlformats.org/drawingml/2006/main" noGrp="1"/>
          </p:cNvSpPr>
          <p:nvPr/>
        </p:nvSpPr>
        <p:spPr>
          <a:xfrm xmlns:a="http://schemas.openxmlformats.org/drawingml/2006/main">
            <a:off x="647700" y="3086100"/>
            <a:ext cx="47625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9" name="">
            <a:extLst xmlns:a="http://schemas.openxmlformats.org/drawingml/2006/main">
              <a:ext uri="{FF2B5EF4-FFF2-40B4-BE49-F238E27FC236}">
                <a16:creationId xmlns:a16="http://schemas.microsoft.com/office/drawing/2014/main" id="{B316DEAF-9519-4203-8266-B91C8D48424E}"/>
              </a:ext>
            </a:extLst>
          </p:cNvPr>
          <p:cNvSpPr>
            <a:spLocks xmlns:a="http://schemas.openxmlformats.org/drawingml/2006/main" noGrp="1"/>
          </p:cNvSpPr>
          <p:nvPr/>
        </p:nvSpPr>
        <p:spPr>
          <a:xfrm xmlns:a="http://schemas.openxmlformats.org/drawingml/2006/main">
            <a:off x="64770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stStyle>
          <a:p xmlns:a="http://schemas.openxmlformats.org/drawingml/2006/main">
            <a:pPr algn="l">
              <a:defRPr sz="975" b="1">
                <a:solidFill>
                  <a:srgbClr val="E2AD2B"/>
                </a:solidFill>
                <a:latin typeface="Arial"/>
                <a:ea typeface="Arial"/>
                <a:cs typeface="Arial"/>
              </a:defRPr>
            </a:pPr>
            <a:r>
              <a:rPr sz="975" b="1">
                <a:solidFill>
                  <a:srgbClr val="E2AD2B"/>
                </a:solidFill>
                <a:latin typeface="Arial"/>
                <a:ea typeface="Arial"/>
                <a:cs typeface="Arial"/>
              </a:rPr>
              <a:t>ONE DECISION</a:t>
            </a:r>
          </a:p>
        </p:txBody>
      </p:sp>
      <p:sp>
        <p:nvSpPr>
          <p:cNvPr id="10" name="">
            <a:extLst xmlns:a="http://schemas.openxmlformats.org/drawingml/2006/main">
              <a:ext uri="{FF2B5EF4-FFF2-40B4-BE49-F238E27FC236}">
                <a16:creationId xmlns:a16="http://schemas.microsoft.com/office/drawing/2014/main" id="{2378D382-92CD-4587-88CD-7F281314C785}"/>
              </a:ext>
            </a:extLst>
          </p:cNvPr>
          <p:cNvSpPr>
            <a:spLocks xmlns:a="http://schemas.openxmlformats.org/drawingml/2006/main" noGrp="1"/>
          </p:cNvSpPr>
          <p:nvPr/>
        </p:nvSpPr>
        <p:spPr>
          <a:xfrm xmlns:a="http://schemas.openxmlformats.org/drawingml/2006/main">
            <a:off x="647700" y="3619500"/>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F3F6F2"/>
                </a:solidFill>
                <a:latin typeface="Arial"/>
                <a:ea typeface="Arial"/>
                <a:cs typeface="Arial"/>
              </a:defRPr>
            </a:defPPr>
          </a:lstStyle>
          <a:p xmlns:a="http://schemas.openxmlformats.org/drawingml/2006/main">
            <a:pPr algn="l">
              <a:defRPr sz="2025" b="1">
                <a:solidFill>
                  <a:srgbClr val="F3F6F2"/>
                </a:solidFill>
                <a:latin typeface="Arial"/>
                <a:ea typeface="Arial"/>
                <a:cs typeface="Arial"/>
              </a:defRPr>
            </a:pPr>
            <a:r>
              <a:rPr sz="2025" b="1">
                <a:solidFill>
                  <a:srgbClr val="F3F6F2"/>
                </a:solidFill>
                <a:latin typeface="Arial"/>
                <a:ea typeface="Arial"/>
                <a:cs typeface="Arial"/>
              </a:rPr>
              <a:t>Which 1 km zones should a planning and heat-resilience team inspect first?</a:t>
            </a:r>
          </a:p>
        </p:txBody>
      </p:sp>
      <p:sp>
        <p:nvSpPr>
          <p:cNvPr id="11" name="">
            <a:extLst xmlns:a="http://schemas.openxmlformats.org/drawingml/2006/main">
              <a:ext uri="{FF2B5EF4-FFF2-40B4-BE49-F238E27FC236}">
                <a16:creationId xmlns:a16="http://schemas.microsoft.com/office/drawing/2014/main" id="{FAC1A738-6C57-4460-865A-42B35F3EAD88}"/>
              </a:ext>
            </a:extLst>
          </p:cNvPr>
          <p:cNvSpPr>
            <a:spLocks xmlns:a="http://schemas.openxmlformats.org/drawingml/2006/main" noGrp="1"/>
          </p:cNvSpPr>
          <p:nvPr/>
        </p:nvSpPr>
        <p:spPr>
          <a:xfrm xmlns:a="http://schemas.openxmlformats.org/drawingml/2006/main">
            <a:off x="647700" y="592455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a:solidFill>
                  <a:srgbClr val="AFC4C6"/>
                </a:solidFill>
                <a:latin typeface="Arial"/>
                <a:ea typeface="Arial"/>
                <a:cs typeface="Arial"/>
              </a:defRPr>
            </a:defPPr>
          </a:lstStyle>
          <a:p xmlns:a="http://schemas.openxmlformats.org/drawingml/2006/main">
            <a:pPr algn="l">
              <a:defRPr sz="1050">
                <a:solidFill>
                  <a:srgbClr val="AFC4C6"/>
                </a:solidFill>
                <a:latin typeface="Arial"/>
                <a:ea typeface="Arial"/>
                <a:cs typeface="Arial"/>
              </a:defRPr>
            </a:pPr>
            <a:r>
              <a:rPr sz="1050">
                <a:solidFill>
                  <a:srgbClr val="AFC4C6"/>
                </a:solidFill>
                <a:latin typeface="Arial"/>
                <a:ea typeface="Arial"/>
                <a:cs typeface="Arial"/>
              </a:rPr>
              <a:t>Milkaholics  •  Urban Expansion, Land Use Change &amp; Heat Risk  •  United Arab Emirates</a:t>
            </a:r>
          </a:p>
        </p:txBody>
      </p:sp>
    </p:spTree>
    <p:extLst>
      <p:ext uri="{BB962C8B-B14F-4D97-AF65-F5344CB8AC3E}">
        <p14:creationId xmlns:p14="http://schemas.microsoft.com/office/powerpoint/2010/main" val="883959851"/>
      </p:ext>
    </p:extLst>
  </p:cSld>
</p:sld>
</file>

<file path=ppt/slides/slide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68C71BA-E92A-4001-B06E-5C3F5DC75C3C}"/>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TEAM CAPABILITY</a:t>
            </a:r>
          </a:p>
        </p:txBody>
      </p:sp>
      <p:sp>
        <p:nvSpPr>
          <p:cNvPr id="2" name="">
            <a:extLst xmlns:a="http://schemas.openxmlformats.org/drawingml/2006/main">
              <a:ext uri="{FF2B5EF4-FFF2-40B4-BE49-F238E27FC236}">
                <a16:creationId xmlns:a16="http://schemas.microsoft.com/office/drawing/2014/main" id="{45DDEF5C-8FCB-4B5A-A43A-683CB610B776}"/>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Two clear owners for one testable decision</a:t>
            </a:r>
          </a:p>
        </p:txBody>
      </p:sp>
      <p:sp>
        <p:nvSpPr>
          <p:cNvPr id="3" name="">
            <a:extLst xmlns:a="http://schemas.openxmlformats.org/drawingml/2006/main">
              <a:ext uri="{FF2B5EF4-FFF2-40B4-BE49-F238E27FC236}">
                <a16:creationId xmlns:a16="http://schemas.microsoft.com/office/drawing/2014/main" id="{74207480-C853-4C38-9645-78AC6A0BFAF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9C590BF0-FC90-4C31-94C4-360B39030162}"/>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D2DA2DD3-D2F6-4708-8572-289957858FC6}"/>
              </a:ext>
            </a:extLst>
          </p:cNvPr>
          <p:cNvSpPr>
            <a:spLocks xmlns:a="http://schemas.openxmlformats.org/drawingml/2006/main" noGrp="1"/>
          </p:cNvSpPr>
          <p:nvPr/>
        </p:nvSpPr>
        <p:spPr>
          <a:xfrm xmlns:a="http://schemas.openxmlformats.org/drawingml/2006/main">
            <a:off x="590550" y="1638300"/>
            <a:ext cx="5257800" cy="4095750"/>
          </a:xfrm>
          <a:prstGeom xmlns:a="http://schemas.openxmlformats.org/drawingml/2006/main" prst="roundRect">
            <a:avLst>
              <a:gd name="adj" fmla="val 4186"/>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FD167725-7513-4954-AC3F-22F86D34660C}"/>
              </a:ext>
            </a:extLst>
          </p:cNvPr>
          <p:cNvSpPr>
            <a:spLocks xmlns:a="http://schemas.openxmlformats.org/drawingml/2006/main" noGrp="1"/>
          </p:cNvSpPr>
          <p:nvPr/>
        </p:nvSpPr>
        <p:spPr>
          <a:xfrm xmlns:a="http://schemas.openxmlformats.org/drawingml/2006/main">
            <a:off x="876300" y="1924050"/>
            <a:ext cx="876300" cy="876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F3F6F2"/>
                </a:solidFill>
              </a:defRPr>
            </a:defPPr>
          </a:lstStyle>
          <a:p xmlns:a="http://schemas.openxmlformats.org/drawingml/2006/main">
            <a:pPr algn="ctr">
              <a:defRPr sz="2250" b="1">
                <a:solidFill>
                  <a:srgbClr val="F3F6F2"/>
                </a:solidFill>
              </a:defRPr>
            </a:pPr>
            <a:r>
              <a:rPr sz="2250" b="1">
                <a:solidFill>
                  <a:srgbClr val="F3F6F2"/>
                </a:solidFill>
              </a:rPr>
              <a:t>YK</a:t>
            </a:r>
          </a:p>
        </p:txBody>
      </p:sp>
      <p:sp>
        <p:nvSpPr>
          <p:cNvPr id="7" name="">
            <a:extLst xmlns:a="http://schemas.openxmlformats.org/drawingml/2006/main">
              <a:ext uri="{FF2B5EF4-FFF2-40B4-BE49-F238E27FC236}">
                <a16:creationId xmlns:a16="http://schemas.microsoft.com/office/drawing/2014/main" id="{74CD6630-D79A-47B9-81A2-64B20264FEB2}"/>
              </a:ext>
            </a:extLst>
          </p:cNvPr>
          <p:cNvSpPr>
            <a:spLocks xmlns:a="http://schemas.openxmlformats.org/drawingml/2006/main" noGrp="1"/>
          </p:cNvSpPr>
          <p:nvPr/>
        </p:nvSpPr>
        <p:spPr>
          <a:xfrm xmlns:a="http://schemas.openxmlformats.org/drawingml/2006/main">
            <a:off x="1981200" y="1885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F3F6F2"/>
                </a:solidFill>
                <a:latin typeface="Arial"/>
                <a:ea typeface="Arial"/>
                <a:cs typeface="Arial"/>
              </a:defRPr>
            </a:defPPr>
          </a:lstStyle>
          <a:p xmlns:a="http://schemas.openxmlformats.org/drawingml/2006/main">
            <a:pPr algn="l">
              <a:defRPr sz="2175" b="1">
                <a:solidFill>
                  <a:srgbClr val="F3F6F2"/>
                </a:solidFill>
                <a:latin typeface="Arial"/>
                <a:ea typeface="Arial"/>
                <a:cs typeface="Arial"/>
              </a:defRPr>
            </a:pPr>
            <a:r>
              <a:rPr sz="2175" b="1">
                <a:solidFill>
                  <a:srgbClr val="F3F6F2"/>
                </a:solidFill>
                <a:latin typeface="Arial"/>
                <a:ea typeface="Arial"/>
                <a:cs typeface="Arial"/>
              </a:rPr>
              <a:t>Yusuf Karanib</a:t>
            </a:r>
          </a:p>
        </p:txBody>
      </p:sp>
      <p:sp>
        <p:nvSpPr>
          <p:cNvPr id="8" name="">
            <a:extLst xmlns:a="http://schemas.openxmlformats.org/drawingml/2006/main">
              <a:ext uri="{FF2B5EF4-FFF2-40B4-BE49-F238E27FC236}">
                <a16:creationId xmlns:a16="http://schemas.microsoft.com/office/drawing/2014/main" id="{19D262DB-7707-40B4-ADAF-A4CC26C95413}"/>
              </a:ext>
            </a:extLst>
          </p:cNvPr>
          <p:cNvSpPr>
            <a:spLocks xmlns:a="http://schemas.openxmlformats.org/drawingml/2006/main" noGrp="1"/>
          </p:cNvSpPr>
          <p:nvPr/>
        </p:nvSpPr>
        <p:spPr>
          <a:xfrm xmlns:a="http://schemas.openxmlformats.org/drawingml/2006/main">
            <a:off x="1981200" y="23241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stStyle>
          <a:p xmlns:a="http://schemas.openxmlformats.org/drawingml/2006/main">
            <a:pPr algn="l">
              <a:defRPr sz="1350" b="1">
                <a:solidFill>
                  <a:srgbClr val="1AA58F"/>
                </a:solidFill>
                <a:latin typeface="Arial"/>
                <a:ea typeface="Arial"/>
                <a:cs typeface="Arial"/>
              </a:defRPr>
            </a:pPr>
            <a:r>
              <a:rPr sz="1350" b="1">
                <a:solidFill>
                  <a:srgbClr val="1AA58F"/>
                </a:solidFill>
                <a:latin typeface="Arial"/>
                <a:ea typeface="Arial"/>
                <a:cs typeface="Arial"/>
              </a:rPr>
              <a:t>Project Lead and Data/Method Presenter</a:t>
            </a:r>
          </a:p>
        </p:txBody>
      </p:sp>
      <p:sp>
        <p:nvSpPr>
          <p:cNvPr id="9" name="">
            <a:extLst xmlns:a="http://schemas.openxmlformats.org/drawingml/2006/main">
              <a:ext uri="{FF2B5EF4-FFF2-40B4-BE49-F238E27FC236}">
                <a16:creationId xmlns:a16="http://schemas.microsoft.com/office/drawing/2014/main" id="{59F1D292-8CE4-41BA-ABBF-3386454B7A40}"/>
              </a:ext>
            </a:extLst>
          </p:cNvPr>
          <p:cNvSpPr>
            <a:spLocks xmlns:a="http://schemas.openxmlformats.org/drawingml/2006/main" noGrp="1"/>
          </p:cNvSpPr>
          <p:nvPr/>
        </p:nvSpPr>
        <p:spPr>
          <a:xfrm xmlns:a="http://schemas.openxmlformats.org/drawingml/2006/main">
            <a:off x="876300" y="3105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stStyle>
          <a:p xmlns:a="http://schemas.openxmlformats.org/drawingml/2006/main">
            <a:pPr algn="l">
              <a:defRPr sz="975" b="1">
                <a:solidFill>
                  <a:srgbClr val="E2AD2B"/>
                </a:solidFill>
                <a:latin typeface="Arial"/>
                <a:ea typeface="Arial"/>
                <a:cs typeface="Arial"/>
              </a:defRPr>
            </a:pPr>
            <a:r>
              <a:rPr sz="975" b="1">
                <a:solidFill>
                  <a:srgbClr val="E2AD2B"/>
                </a:solidFill>
                <a:latin typeface="Arial"/>
                <a:ea typeface="Arial"/>
                <a:cs typeface="Arial"/>
              </a:rPr>
              <a:t>Project responsibility</a:t>
            </a:r>
          </a:p>
        </p:txBody>
      </p:sp>
      <p:sp>
        <p:nvSpPr>
          <p:cNvPr id="10" name="">
            <a:extLst xmlns:a="http://schemas.openxmlformats.org/drawingml/2006/main">
              <a:ext uri="{FF2B5EF4-FFF2-40B4-BE49-F238E27FC236}">
                <a16:creationId xmlns:a16="http://schemas.microsoft.com/office/drawing/2014/main" id="{66C86270-2C89-46C1-9BA8-9B1E644A0D45}"/>
              </a:ext>
            </a:extLst>
          </p:cNvPr>
          <p:cNvSpPr>
            <a:spLocks xmlns:a="http://schemas.openxmlformats.org/drawingml/2006/main" noGrp="1"/>
          </p:cNvSpPr>
          <p:nvPr/>
        </p:nvSpPr>
        <p:spPr>
          <a:xfrm xmlns:a="http://schemas.openxmlformats.org/drawingml/2006/main">
            <a:off x="876300" y="3448050"/>
            <a:ext cx="209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1453AF17-90B8-4C7C-9F74-D51B91F9CD24}"/>
              </a:ext>
            </a:extLst>
          </p:cNvPr>
          <p:cNvSpPr>
            <a:spLocks xmlns:a="http://schemas.openxmlformats.org/drawingml/2006/main" noGrp="1"/>
          </p:cNvSpPr>
          <p:nvPr/>
        </p:nvSpPr>
        <p:spPr>
          <a:xfrm xmlns:a="http://schemas.openxmlformats.org/drawingml/2006/main">
            <a:off x="1123950" y="3448050"/>
            <a:ext cx="4267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Coordinates the final submission and live demonstration.</a:t>
            </a:r>
          </a:p>
        </p:txBody>
      </p:sp>
      <p:sp>
        <p:nvSpPr>
          <p:cNvPr id="12" name="">
            <a:extLst xmlns:a="http://schemas.openxmlformats.org/drawingml/2006/main">
              <a:ext uri="{FF2B5EF4-FFF2-40B4-BE49-F238E27FC236}">
                <a16:creationId xmlns:a16="http://schemas.microsoft.com/office/drawing/2014/main" id="{91389149-A993-4295-A04B-1579728697E2}"/>
              </a:ext>
            </a:extLst>
          </p:cNvPr>
          <p:cNvSpPr>
            <a:spLocks xmlns:a="http://schemas.openxmlformats.org/drawingml/2006/main" noGrp="1"/>
          </p:cNvSpPr>
          <p:nvPr/>
        </p:nvSpPr>
        <p:spPr>
          <a:xfrm xmlns:a="http://schemas.openxmlformats.org/drawingml/2006/main">
            <a:off x="876300" y="4057650"/>
            <a:ext cx="209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33B5EC4F-AFE6-4A3A-96A0-A3C42C82DBAE}"/>
              </a:ext>
            </a:extLst>
          </p:cNvPr>
          <p:cNvSpPr>
            <a:spLocks xmlns:a="http://schemas.openxmlformats.org/drawingml/2006/main" noGrp="1"/>
          </p:cNvSpPr>
          <p:nvPr/>
        </p:nvSpPr>
        <p:spPr>
          <a:xfrm xmlns:a="http://schemas.openxmlformats.org/drawingml/2006/main">
            <a:off x="1123950" y="40576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Explains the problem, EO data, method, score and live demonstration.</a:t>
            </a:r>
          </a:p>
        </p:txBody>
      </p:sp>
      <p:sp>
        <p:nvSpPr>
          <p:cNvPr id="14" name="">
            <a:extLst xmlns:a="http://schemas.openxmlformats.org/drawingml/2006/main">
              <a:ext uri="{FF2B5EF4-FFF2-40B4-BE49-F238E27FC236}">
                <a16:creationId xmlns:a16="http://schemas.microsoft.com/office/drawing/2014/main" id="{17F11C73-A484-4B40-934A-C30D68721905}"/>
              </a:ext>
            </a:extLst>
          </p:cNvPr>
          <p:cNvSpPr>
            <a:spLocks xmlns:a="http://schemas.openxmlformats.org/drawingml/2006/main" noGrp="1"/>
          </p:cNvSpPr>
          <p:nvPr/>
        </p:nvSpPr>
        <p:spPr>
          <a:xfrm xmlns:a="http://schemas.openxmlformats.org/drawingml/2006/main">
            <a:off x="876300" y="4914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AFC4C6"/>
                </a:solidFill>
                <a:latin typeface="Arial"/>
                <a:ea typeface="Arial"/>
                <a:cs typeface="Arial"/>
              </a:defRPr>
            </a:defPPr>
          </a:lstStyle>
          <a:p xmlns:a="http://schemas.openxmlformats.org/drawingml/2006/main">
            <a:pPr algn="l">
              <a:defRPr sz="1275" b="1">
                <a:solidFill>
                  <a:srgbClr val="AFC4C6"/>
                </a:solidFill>
                <a:latin typeface="Arial"/>
                <a:ea typeface="Arial"/>
                <a:cs typeface="Arial"/>
              </a:defRPr>
            </a:pPr>
            <a:r>
              <a:rPr sz="1275" b="1">
                <a:solidFill>
                  <a:srgbClr val="AFC4C6"/>
                </a:solidFill>
                <a:latin typeface="Arial"/>
                <a:ea typeface="Arial"/>
                <a:cs typeface="Arial"/>
              </a:rPr>
              <a:t>Project expertise: EO workflow, data processing and reproducibility.</a:t>
            </a:r>
          </a:p>
        </p:txBody>
      </p:sp>
      <p:sp>
        <p:nvSpPr>
          <p:cNvPr id="15" name="">
            <a:extLst xmlns:a="http://schemas.openxmlformats.org/drawingml/2006/main">
              <a:ext uri="{FF2B5EF4-FFF2-40B4-BE49-F238E27FC236}">
                <a16:creationId xmlns:a16="http://schemas.microsoft.com/office/drawing/2014/main" id="{EB15450B-5CF7-483A-96E2-3719374BCDFA}"/>
              </a:ext>
            </a:extLst>
          </p:cNvPr>
          <p:cNvSpPr>
            <a:spLocks xmlns:a="http://schemas.openxmlformats.org/drawingml/2006/main" noGrp="1"/>
          </p:cNvSpPr>
          <p:nvPr/>
        </p:nvSpPr>
        <p:spPr>
          <a:xfrm xmlns:a="http://schemas.openxmlformats.org/drawingml/2006/main">
            <a:off x="6343650" y="1638300"/>
            <a:ext cx="5257800" cy="4095750"/>
          </a:xfrm>
          <a:prstGeom xmlns:a="http://schemas.openxmlformats.org/drawingml/2006/main" prst="roundRect">
            <a:avLst>
              <a:gd name="adj" fmla="val 4186"/>
            </a:avLst>
          </a:prstGeom>
          <a:solidFill xmlns:a="http://schemas.openxmlformats.org/drawingml/2006/main">
            <a:srgbClr val="113646"/>
          </a:solidFill>
          <a:ln xmlns:a="http://schemas.openxmlformats.org/drawingml/2006/main" w="9525">
            <a:solidFill>
              <a:srgbClr val="31505F"/>
            </a:solidFill>
            <a:prstDash val="solid"/>
          </a:ln>
        </p:spPr>
      </p:sp>
      <p:sp>
        <p:nvSpPr>
          <p:cNvPr id="16" name="">
            <a:extLst xmlns:a="http://schemas.openxmlformats.org/drawingml/2006/main">
              <a:ext uri="{FF2B5EF4-FFF2-40B4-BE49-F238E27FC236}">
                <a16:creationId xmlns:a16="http://schemas.microsoft.com/office/drawing/2014/main" id="{6C7BE594-FC69-4B93-9782-8900B9CCB468}"/>
              </a:ext>
            </a:extLst>
          </p:cNvPr>
          <p:cNvSpPr>
            <a:spLocks xmlns:a="http://schemas.openxmlformats.org/drawingml/2006/main" noGrp="1"/>
          </p:cNvSpPr>
          <p:nvPr/>
        </p:nvSpPr>
        <p:spPr>
          <a:xfrm xmlns:a="http://schemas.openxmlformats.org/drawingml/2006/main">
            <a:off x="6629400" y="1924050"/>
            <a:ext cx="876300" cy="876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F3F6F2"/>
                </a:solidFill>
              </a:defRPr>
            </a:defPPr>
          </a:lstStyle>
          <a:p xmlns:a="http://schemas.openxmlformats.org/drawingml/2006/main">
            <a:pPr algn="ctr">
              <a:defRPr sz="2250" b="1">
                <a:solidFill>
                  <a:srgbClr val="F3F6F2"/>
                </a:solidFill>
              </a:defRPr>
            </a:pPr>
            <a:r>
              <a:rPr sz="2250" b="1">
                <a:solidFill>
                  <a:srgbClr val="F3F6F2"/>
                </a:solidFill>
              </a:rPr>
              <a:t>RM</a:t>
            </a:r>
          </a:p>
        </p:txBody>
      </p:sp>
      <p:sp>
        <p:nvSpPr>
          <p:cNvPr id="17" name="">
            <a:extLst xmlns:a="http://schemas.openxmlformats.org/drawingml/2006/main">
              <a:ext uri="{FF2B5EF4-FFF2-40B4-BE49-F238E27FC236}">
                <a16:creationId xmlns:a16="http://schemas.microsoft.com/office/drawing/2014/main" id="{EFE8F568-C551-43ED-AF84-FE1D130391BA}"/>
              </a:ext>
            </a:extLst>
          </p:cNvPr>
          <p:cNvSpPr>
            <a:spLocks xmlns:a="http://schemas.openxmlformats.org/drawingml/2006/main" noGrp="1"/>
          </p:cNvSpPr>
          <p:nvPr/>
        </p:nvSpPr>
        <p:spPr>
          <a:xfrm xmlns:a="http://schemas.openxmlformats.org/drawingml/2006/main">
            <a:off x="7734300" y="1885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F3F6F2"/>
                </a:solidFill>
                <a:latin typeface="Arial"/>
                <a:ea typeface="Arial"/>
                <a:cs typeface="Arial"/>
              </a:defRPr>
            </a:defPPr>
          </a:lstStyle>
          <a:p xmlns:a="http://schemas.openxmlformats.org/drawingml/2006/main">
            <a:pPr algn="l">
              <a:defRPr sz="2175" b="1">
                <a:solidFill>
                  <a:srgbClr val="F3F6F2"/>
                </a:solidFill>
                <a:latin typeface="Arial"/>
                <a:ea typeface="Arial"/>
                <a:cs typeface="Arial"/>
              </a:defRPr>
            </a:pPr>
            <a:r>
              <a:rPr sz="2175" b="1">
                <a:solidFill>
                  <a:srgbClr val="F3F6F2"/>
                </a:solidFill>
                <a:latin typeface="Arial"/>
                <a:ea typeface="Arial"/>
                <a:cs typeface="Arial"/>
              </a:rPr>
              <a:t>Raed Mardoum</a:t>
            </a:r>
          </a:p>
        </p:txBody>
      </p:sp>
      <p:sp>
        <p:nvSpPr>
          <p:cNvPr id="18" name="">
            <a:extLst xmlns:a="http://schemas.openxmlformats.org/drawingml/2006/main">
              <a:ext uri="{FF2B5EF4-FFF2-40B4-BE49-F238E27FC236}">
                <a16:creationId xmlns:a16="http://schemas.microsoft.com/office/drawing/2014/main" id="{D9C937BF-B33C-457A-BF0E-FE8446A61052}"/>
              </a:ext>
            </a:extLst>
          </p:cNvPr>
          <p:cNvSpPr>
            <a:spLocks xmlns:a="http://schemas.openxmlformats.org/drawingml/2006/main" noGrp="1"/>
          </p:cNvSpPr>
          <p:nvPr/>
        </p:nvSpPr>
        <p:spPr>
          <a:xfrm xmlns:a="http://schemas.openxmlformats.org/drawingml/2006/main">
            <a:off x="7734300" y="23241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stStyle>
          <a:p xmlns:a="http://schemas.openxmlformats.org/drawingml/2006/main">
            <a:pPr algn="l">
              <a:defRPr sz="1350" b="1">
                <a:solidFill>
                  <a:srgbClr val="6D5DD3"/>
                </a:solidFill>
                <a:latin typeface="Arial"/>
                <a:ea typeface="Arial"/>
                <a:cs typeface="Arial"/>
              </a:defRPr>
            </a:pPr>
            <a:r>
              <a:rPr sz="1350" b="1">
                <a:solidFill>
                  <a:srgbClr val="6D5DD3"/>
                </a:solidFill>
                <a:latin typeface="Arial"/>
                <a:ea typeface="Arial"/>
                <a:cs typeface="Arial"/>
              </a:rPr>
              <a:t>Validation, Workflow and Impact Lead</a:t>
            </a:r>
          </a:p>
        </p:txBody>
      </p:sp>
      <p:sp>
        <p:nvSpPr>
          <p:cNvPr id="19" name="">
            <a:extLst xmlns:a="http://schemas.openxmlformats.org/drawingml/2006/main">
              <a:ext uri="{FF2B5EF4-FFF2-40B4-BE49-F238E27FC236}">
                <a16:creationId xmlns:a16="http://schemas.microsoft.com/office/drawing/2014/main" id="{1C828497-8B9B-4E28-BBA4-21B6459EF3E0}"/>
              </a:ext>
            </a:extLst>
          </p:cNvPr>
          <p:cNvSpPr>
            <a:spLocks xmlns:a="http://schemas.openxmlformats.org/drawingml/2006/main" noGrp="1"/>
          </p:cNvSpPr>
          <p:nvPr/>
        </p:nvSpPr>
        <p:spPr>
          <a:xfrm xmlns:a="http://schemas.openxmlformats.org/drawingml/2006/main">
            <a:off x="6629400" y="3105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stStyle>
          <a:p xmlns:a="http://schemas.openxmlformats.org/drawingml/2006/main">
            <a:pPr algn="l">
              <a:defRPr sz="975" b="1">
                <a:solidFill>
                  <a:srgbClr val="E2AD2B"/>
                </a:solidFill>
                <a:latin typeface="Arial"/>
                <a:ea typeface="Arial"/>
                <a:cs typeface="Arial"/>
              </a:defRPr>
            </a:pPr>
            <a:r>
              <a:rPr sz="975" b="1">
                <a:solidFill>
                  <a:srgbClr val="E2AD2B"/>
                </a:solidFill>
                <a:latin typeface="Arial"/>
                <a:ea typeface="Arial"/>
                <a:cs typeface="Arial"/>
              </a:rPr>
              <a:t>Finals responsibility</a:t>
            </a:r>
          </a:p>
        </p:txBody>
      </p:sp>
      <p:sp>
        <p:nvSpPr>
          <p:cNvPr id="20" name="">
            <a:extLst xmlns:a="http://schemas.openxmlformats.org/drawingml/2006/main">
              <a:ext uri="{FF2B5EF4-FFF2-40B4-BE49-F238E27FC236}">
                <a16:creationId xmlns:a16="http://schemas.microsoft.com/office/drawing/2014/main" id="{35179EEF-3728-43EC-A4DF-A098A6195126}"/>
              </a:ext>
            </a:extLst>
          </p:cNvPr>
          <p:cNvSpPr>
            <a:spLocks xmlns:a="http://schemas.openxmlformats.org/drawingml/2006/main" noGrp="1"/>
          </p:cNvSpPr>
          <p:nvPr/>
        </p:nvSpPr>
        <p:spPr>
          <a:xfrm xmlns:a="http://schemas.openxmlformats.org/drawingml/2006/main">
            <a:off x="6629400" y="3448050"/>
            <a:ext cx="209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32033E65-F830-4FC6-8BF6-1E4982D4FCCE}"/>
              </a:ext>
            </a:extLst>
          </p:cNvPr>
          <p:cNvSpPr>
            <a:spLocks xmlns:a="http://schemas.openxmlformats.org/drawingml/2006/main" noGrp="1"/>
          </p:cNvSpPr>
          <p:nvPr/>
        </p:nvSpPr>
        <p:spPr>
          <a:xfrm xmlns:a="http://schemas.openxmlformats.org/drawingml/2006/main">
            <a:off x="6877050" y="34480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Explains validation evidence, limitations and safe interpretation.</a:t>
            </a:r>
          </a:p>
        </p:txBody>
      </p:sp>
      <p:sp>
        <p:nvSpPr>
          <p:cNvPr id="22" name="">
            <a:extLst xmlns:a="http://schemas.openxmlformats.org/drawingml/2006/main">
              <a:ext uri="{FF2B5EF4-FFF2-40B4-BE49-F238E27FC236}">
                <a16:creationId xmlns:a16="http://schemas.microsoft.com/office/drawing/2014/main" id="{2D651EFC-36F4-4A83-8716-93254150DDA7}"/>
              </a:ext>
            </a:extLst>
          </p:cNvPr>
          <p:cNvSpPr>
            <a:spLocks xmlns:a="http://schemas.openxmlformats.org/drawingml/2006/main" noGrp="1"/>
          </p:cNvSpPr>
          <p:nvPr/>
        </p:nvSpPr>
        <p:spPr>
          <a:xfrm xmlns:a="http://schemas.openxmlformats.org/drawingml/2006/main">
            <a:off x="6629400" y="4133850"/>
            <a:ext cx="209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5EFACF24-938C-47F1-A090-89EFD91F787E}"/>
              </a:ext>
            </a:extLst>
          </p:cNvPr>
          <p:cNvSpPr>
            <a:spLocks xmlns:a="http://schemas.openxmlformats.org/drawingml/2006/main" noGrp="1"/>
          </p:cNvSpPr>
          <p:nvPr/>
        </p:nvSpPr>
        <p:spPr>
          <a:xfrm xmlns:a="http://schemas.openxmlformats.org/drawingml/2006/main">
            <a:off x="6877050" y="4133850"/>
            <a:ext cx="4267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Explains innovation, expected impact and the municipal pilot plan.</a:t>
            </a:r>
          </a:p>
        </p:txBody>
      </p:sp>
      <p:sp>
        <p:nvSpPr>
          <p:cNvPr id="24" name="">
            <a:extLst xmlns:a="http://schemas.openxmlformats.org/drawingml/2006/main">
              <a:ext uri="{FF2B5EF4-FFF2-40B4-BE49-F238E27FC236}">
                <a16:creationId xmlns:a16="http://schemas.microsoft.com/office/drawing/2014/main" id="{113D9244-961B-42FF-A1ED-B00C9EC270CA}"/>
              </a:ext>
            </a:extLst>
          </p:cNvPr>
          <p:cNvSpPr>
            <a:spLocks xmlns:a="http://schemas.openxmlformats.org/drawingml/2006/main" noGrp="1"/>
          </p:cNvSpPr>
          <p:nvPr/>
        </p:nvSpPr>
        <p:spPr>
          <a:xfrm xmlns:a="http://schemas.openxmlformats.org/drawingml/2006/main">
            <a:off x="6629400" y="4914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AFC4C6"/>
                </a:solidFill>
                <a:latin typeface="Arial"/>
                <a:ea typeface="Arial"/>
                <a:cs typeface="Arial"/>
              </a:defRPr>
            </a:defPPr>
          </a:lstStyle>
          <a:p xmlns:a="http://schemas.openxmlformats.org/drawingml/2006/main">
            <a:pPr algn="l">
              <a:defRPr sz="1275" b="1">
                <a:solidFill>
                  <a:srgbClr val="AFC4C6"/>
                </a:solidFill>
                <a:latin typeface="Arial"/>
                <a:ea typeface="Arial"/>
                <a:cs typeface="Arial"/>
              </a:defRPr>
            </a:pPr>
            <a:r>
              <a:rPr sz="1275" b="1">
                <a:solidFill>
                  <a:srgbClr val="AFC4C6"/>
                </a:solidFill>
                <a:latin typeface="Arial"/>
                <a:ea typeface="Arial"/>
                <a:cs typeface="Arial"/>
              </a:rPr>
              <a:t>Project responsibility: validation interpretation, decision workflow and pilot design.</a:t>
            </a:r>
          </a:p>
        </p:txBody>
      </p:sp>
      <p:sp>
        <p:nvSpPr>
          <p:cNvPr id="25" name="">
            <a:extLst xmlns:a="http://schemas.openxmlformats.org/drawingml/2006/main">
              <a:ext uri="{FF2B5EF4-FFF2-40B4-BE49-F238E27FC236}">
                <a16:creationId xmlns:a16="http://schemas.microsoft.com/office/drawing/2014/main" id="{306448E1-B3EE-4C27-AF5C-7A7781BB3F95}"/>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1399958036"/>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CC21CD5-4FDD-46E3-9E47-1DFF8B509C24}"/>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PROBLEM, USER AND NEED</a:t>
            </a:r>
          </a:p>
        </p:txBody>
      </p:sp>
      <p:sp>
        <p:nvSpPr>
          <p:cNvPr id="2" name="">
            <a:extLst xmlns:a="http://schemas.openxmlformats.org/drawingml/2006/main">
              <a:ext uri="{FF2B5EF4-FFF2-40B4-BE49-F238E27FC236}">
                <a16:creationId xmlns:a16="http://schemas.microsoft.com/office/drawing/2014/main" id="{A9DBA27B-9EAD-4037-A759-1A80871F6312}"/>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The problem is not missing maps — it is a fragmented decision</a:t>
            </a:r>
          </a:p>
        </p:txBody>
      </p:sp>
      <p:sp>
        <p:nvSpPr>
          <p:cNvPr id="3" name="">
            <a:extLst xmlns:a="http://schemas.openxmlformats.org/drawingml/2006/main">
              <a:ext uri="{FF2B5EF4-FFF2-40B4-BE49-F238E27FC236}">
                <a16:creationId xmlns:a16="http://schemas.microsoft.com/office/drawing/2014/main" id="{A537055D-7A5D-410F-9575-9344F49A3D64}"/>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868F8F61-DC01-44C4-AFB9-C64DD87BCF70}"/>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F3FEFC41-5D27-494F-B198-5530F0FCF34A}"/>
              </a:ext>
            </a:extLst>
          </p:cNvPr>
          <p:cNvSpPr>
            <a:spLocks xmlns:a="http://schemas.openxmlformats.org/drawingml/2006/main" noGrp="1"/>
          </p:cNvSpPr>
          <p:nvPr/>
        </p:nvSpPr>
        <p:spPr>
          <a:xfrm xmlns:a="http://schemas.openxmlformats.org/drawingml/2006/main">
            <a:off x="5905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7C817EB6-BD87-4067-B4B5-2A9A262BF588}"/>
              </a:ext>
            </a:extLst>
          </p:cNvPr>
          <p:cNvSpPr>
            <a:spLocks xmlns:a="http://schemas.openxmlformats.org/drawingml/2006/main" noGrp="1"/>
          </p:cNvSpPr>
          <p:nvPr/>
        </p:nvSpPr>
        <p:spPr>
          <a:xfrm xmlns:a="http://schemas.openxmlformats.org/drawingml/2006/main">
            <a:off x="7620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stStyle>
          <a:p xmlns:a="http://schemas.openxmlformats.org/drawingml/2006/main">
            <a:pPr algn="l">
              <a:defRPr sz="2550" b="1">
                <a:solidFill>
                  <a:srgbClr val="F06449"/>
                </a:solidFill>
                <a:latin typeface="Arial"/>
                <a:ea typeface="Arial"/>
                <a:cs typeface="Arial"/>
              </a:defRPr>
            </a:pPr>
            <a:r>
              <a:rPr sz="2550" b="1">
                <a:solidFill>
                  <a:srgbClr val="F06449"/>
                </a:solidFill>
                <a:latin typeface="Arial"/>
                <a:ea typeface="Arial"/>
                <a:cs typeface="Arial"/>
              </a:rPr>
              <a:t>168.30 km²</a:t>
            </a:r>
          </a:p>
        </p:txBody>
      </p:sp>
      <p:sp>
        <p:nvSpPr>
          <p:cNvPr id="7" name="">
            <a:extLst xmlns:a="http://schemas.openxmlformats.org/drawingml/2006/main">
              <a:ext uri="{FF2B5EF4-FFF2-40B4-BE49-F238E27FC236}">
                <a16:creationId xmlns:a16="http://schemas.microsoft.com/office/drawing/2014/main" id="{B3559BFE-40F4-4BC7-8684-C0517A2F075B}"/>
              </a:ext>
            </a:extLst>
          </p:cNvPr>
          <p:cNvSpPr>
            <a:spLocks xmlns:a="http://schemas.openxmlformats.org/drawingml/2006/main" noGrp="1"/>
          </p:cNvSpPr>
          <p:nvPr/>
        </p:nvSpPr>
        <p:spPr>
          <a:xfrm xmlns:a="http://schemas.openxmlformats.org/drawingml/2006/main">
            <a:off x="7620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SOUTHEASTERN RIYADH STUDY AREA</a:t>
            </a:r>
          </a:p>
        </p:txBody>
      </p:sp>
      <p:sp>
        <p:nvSpPr>
          <p:cNvPr id="8" name="">
            <a:extLst xmlns:a="http://schemas.openxmlformats.org/drawingml/2006/main">
              <a:ext uri="{FF2B5EF4-FFF2-40B4-BE49-F238E27FC236}">
                <a16:creationId xmlns:a16="http://schemas.microsoft.com/office/drawing/2014/main" id="{671AEB07-3B03-47FF-9F60-0225C9E76AE2}"/>
              </a:ext>
            </a:extLst>
          </p:cNvPr>
          <p:cNvSpPr>
            <a:spLocks xmlns:a="http://schemas.openxmlformats.org/drawingml/2006/main" noGrp="1"/>
          </p:cNvSpPr>
          <p:nvPr/>
        </p:nvSpPr>
        <p:spPr>
          <a:xfrm xmlns:a="http://schemas.openxmlformats.org/drawingml/2006/main">
            <a:off x="32194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89F2AD2E-6973-47B8-BEBF-96976C9087D4}"/>
              </a:ext>
            </a:extLst>
          </p:cNvPr>
          <p:cNvSpPr>
            <a:spLocks xmlns:a="http://schemas.openxmlformats.org/drawingml/2006/main" noGrp="1"/>
          </p:cNvSpPr>
          <p:nvPr/>
        </p:nvSpPr>
        <p:spPr>
          <a:xfrm xmlns:a="http://schemas.openxmlformats.org/drawingml/2006/main">
            <a:off x="33909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1 km</a:t>
            </a:r>
          </a:p>
        </p:txBody>
      </p:sp>
      <p:sp>
        <p:nvSpPr>
          <p:cNvPr id="10" name="">
            <a:extLst xmlns:a="http://schemas.openxmlformats.org/drawingml/2006/main">
              <a:ext uri="{FF2B5EF4-FFF2-40B4-BE49-F238E27FC236}">
                <a16:creationId xmlns:a16="http://schemas.microsoft.com/office/drawing/2014/main" id="{9508996E-2A24-4423-8F05-25527F6BC35F}"/>
              </a:ext>
            </a:extLst>
          </p:cNvPr>
          <p:cNvSpPr>
            <a:spLocks xmlns:a="http://schemas.openxmlformats.org/drawingml/2006/main" noGrp="1"/>
          </p:cNvSpPr>
          <p:nvPr/>
        </p:nvSpPr>
        <p:spPr>
          <a:xfrm xmlns:a="http://schemas.openxmlformats.org/drawingml/2006/main">
            <a:off x="33909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TRANSPARENT SCREENING CELLS</a:t>
            </a:r>
          </a:p>
        </p:txBody>
      </p:sp>
      <p:sp>
        <p:nvSpPr>
          <p:cNvPr id="11" name="">
            <a:extLst xmlns:a="http://schemas.openxmlformats.org/drawingml/2006/main">
              <a:ext uri="{FF2B5EF4-FFF2-40B4-BE49-F238E27FC236}">
                <a16:creationId xmlns:a16="http://schemas.microsoft.com/office/drawing/2014/main" id="{162AAF3C-8EF2-4514-B53E-3F3FD9618928}"/>
              </a:ext>
            </a:extLst>
          </p:cNvPr>
          <p:cNvSpPr>
            <a:spLocks xmlns:a="http://schemas.openxmlformats.org/drawingml/2006/main" noGrp="1"/>
          </p:cNvSpPr>
          <p:nvPr/>
        </p:nvSpPr>
        <p:spPr>
          <a:xfrm xmlns:a="http://schemas.openxmlformats.org/drawingml/2006/main">
            <a:off x="58483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875DCCC9-F35C-4DF0-8372-EBC151E54FD5}"/>
              </a:ext>
            </a:extLst>
          </p:cNvPr>
          <p:cNvSpPr>
            <a:spLocks xmlns:a="http://schemas.openxmlformats.org/drawingml/2006/main" noGrp="1"/>
          </p:cNvSpPr>
          <p:nvPr/>
        </p:nvSpPr>
        <p:spPr>
          <a:xfrm xmlns:a="http://schemas.openxmlformats.org/drawingml/2006/main">
            <a:off x="60198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1 user</a:t>
            </a:r>
          </a:p>
        </p:txBody>
      </p:sp>
      <p:sp>
        <p:nvSpPr>
          <p:cNvPr id="13" name="">
            <a:extLst xmlns:a="http://schemas.openxmlformats.org/drawingml/2006/main">
              <a:ext uri="{FF2B5EF4-FFF2-40B4-BE49-F238E27FC236}">
                <a16:creationId xmlns:a16="http://schemas.microsoft.com/office/drawing/2014/main" id="{96212F46-BD8F-481B-8C55-1CDCAF2F1B89}"/>
              </a:ext>
            </a:extLst>
          </p:cNvPr>
          <p:cNvSpPr>
            <a:spLocks xmlns:a="http://schemas.openxmlformats.org/drawingml/2006/main" noGrp="1"/>
          </p:cNvSpPr>
          <p:nvPr/>
        </p:nvSpPr>
        <p:spPr>
          <a:xfrm xmlns:a="http://schemas.openxmlformats.org/drawingml/2006/main">
            <a:off x="60198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MUNICIPAL PLANNING + HEAT TEAM</a:t>
            </a:r>
          </a:p>
        </p:txBody>
      </p:sp>
      <p:sp>
        <p:nvSpPr>
          <p:cNvPr id="14" name="">
            <a:extLst xmlns:a="http://schemas.openxmlformats.org/drawingml/2006/main">
              <a:ext uri="{FF2B5EF4-FFF2-40B4-BE49-F238E27FC236}">
                <a16:creationId xmlns:a16="http://schemas.microsoft.com/office/drawing/2014/main" id="{C45E2128-EE29-4C95-A16F-2AFB691A5CC5}"/>
              </a:ext>
            </a:extLst>
          </p:cNvPr>
          <p:cNvSpPr>
            <a:spLocks xmlns:a="http://schemas.openxmlformats.org/drawingml/2006/main" noGrp="1"/>
          </p:cNvSpPr>
          <p:nvPr/>
        </p:nvSpPr>
        <p:spPr>
          <a:xfrm xmlns:a="http://schemas.openxmlformats.org/drawingml/2006/main">
            <a:off x="8477250" y="1619250"/>
            <a:ext cx="31242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6710F0A1-DC7D-4274-9E65-6A2A514F6E57}"/>
              </a:ext>
            </a:extLst>
          </p:cNvPr>
          <p:cNvSpPr>
            <a:spLocks xmlns:a="http://schemas.openxmlformats.org/drawingml/2006/main" noGrp="1"/>
          </p:cNvSpPr>
          <p:nvPr/>
        </p:nvSpPr>
        <p:spPr>
          <a:xfrm xmlns:a="http://schemas.openxmlformats.org/drawingml/2006/main">
            <a:off x="8648700" y="1733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stStyle>
          <a:p xmlns:a="http://schemas.openxmlformats.org/drawingml/2006/main">
            <a:pPr algn="l">
              <a:defRPr sz="2550" b="1">
                <a:solidFill>
                  <a:srgbClr val="6D5DD3"/>
                </a:solidFill>
                <a:latin typeface="Arial"/>
                <a:ea typeface="Arial"/>
                <a:cs typeface="Arial"/>
              </a:defRPr>
            </a:pPr>
            <a:r>
              <a:rPr sz="2550" b="1">
                <a:solidFill>
                  <a:srgbClr val="6D5DD3"/>
                </a:solidFill>
                <a:latin typeface="Arial"/>
                <a:ea typeface="Arial"/>
                <a:cs typeface="Arial"/>
              </a:rPr>
              <a:t>1 action</a:t>
            </a:r>
          </a:p>
        </p:txBody>
      </p:sp>
      <p:sp>
        <p:nvSpPr>
          <p:cNvPr id="16" name="">
            <a:extLst xmlns:a="http://schemas.openxmlformats.org/drawingml/2006/main">
              <a:ext uri="{FF2B5EF4-FFF2-40B4-BE49-F238E27FC236}">
                <a16:creationId xmlns:a16="http://schemas.microsoft.com/office/drawing/2014/main" id="{553DB509-A141-49CB-9ECF-D9620E5B0DC0}"/>
              </a:ext>
            </a:extLst>
          </p:cNvPr>
          <p:cNvSpPr>
            <a:spLocks xmlns:a="http://schemas.openxmlformats.org/drawingml/2006/main" noGrp="1"/>
          </p:cNvSpPr>
          <p:nvPr/>
        </p:nvSpPr>
        <p:spPr>
          <a:xfrm xmlns:a="http://schemas.openxmlformats.org/drawingml/2006/main">
            <a:off x="8648700" y="22479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INSPECT LOCALLY BEFORE INTERVENTION</a:t>
            </a:r>
          </a:p>
        </p:txBody>
      </p:sp>
      <p:sp>
        <p:nvSpPr>
          <p:cNvPr id="17" name="">
            <a:extLst xmlns:a="http://schemas.openxmlformats.org/drawingml/2006/main">
              <a:ext uri="{FF2B5EF4-FFF2-40B4-BE49-F238E27FC236}">
                <a16:creationId xmlns:a16="http://schemas.microsoft.com/office/drawing/2014/main" id="{076037CE-B7F5-4B9F-A931-214039483C67}"/>
              </a:ext>
            </a:extLst>
          </p:cNvPr>
          <p:cNvSpPr>
            <a:spLocks xmlns:a="http://schemas.openxmlformats.org/drawingml/2006/main" noGrp="1"/>
          </p:cNvSpPr>
          <p:nvPr/>
        </p:nvSpPr>
        <p:spPr>
          <a:xfrm xmlns:a="http://schemas.openxmlformats.org/drawingml/2006/main">
            <a:off x="590550" y="3048000"/>
            <a:ext cx="11010900" cy="2647950"/>
          </a:xfrm>
          <a:prstGeom xmlns:a="http://schemas.openxmlformats.org/drawingml/2006/main" prst="roundRect">
            <a:avLst>
              <a:gd name="adj" fmla="val 575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5BB80B00-7204-4325-8C46-649183395EE9}"/>
              </a:ext>
            </a:extLst>
          </p:cNvPr>
          <p:cNvSpPr>
            <a:spLocks xmlns:a="http://schemas.openxmlformats.org/drawingml/2006/main" noGrp="1"/>
          </p:cNvSpPr>
          <p:nvPr/>
        </p:nvSpPr>
        <p:spPr>
          <a:xfrm xmlns:a="http://schemas.openxmlformats.org/drawingml/2006/main">
            <a:off x="8763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CURRENT PAIN</a:t>
            </a:r>
          </a:p>
        </p:txBody>
      </p:sp>
      <p:sp>
        <p:nvSpPr>
          <p:cNvPr id="19" name="">
            <a:extLst xmlns:a="http://schemas.openxmlformats.org/drawingml/2006/main">
              <a:ext uri="{FF2B5EF4-FFF2-40B4-BE49-F238E27FC236}">
                <a16:creationId xmlns:a16="http://schemas.microsoft.com/office/drawing/2014/main" id="{CF9701B7-939B-4D9E-AC11-B03E11F209C1}"/>
              </a:ext>
            </a:extLst>
          </p:cNvPr>
          <p:cNvSpPr>
            <a:spLocks xmlns:a="http://schemas.openxmlformats.org/drawingml/2006/main" noGrp="1"/>
          </p:cNvSpPr>
          <p:nvPr/>
        </p:nvSpPr>
        <p:spPr>
          <a:xfrm xmlns:a="http://schemas.openxmlformats.org/drawingml/2006/main">
            <a:off x="8763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stStyle>
          <a:p xmlns:a="http://schemas.openxmlformats.org/drawingml/2006/main">
            <a:pPr algn="l">
              <a:defRPr sz="1800" b="1">
                <a:solidFill>
                  <a:srgbClr val="F3F6F2"/>
                </a:solidFill>
                <a:latin typeface="Arial"/>
                <a:ea typeface="Arial"/>
                <a:cs typeface="Arial"/>
              </a:defRPr>
            </a:pPr>
            <a:r>
              <a:rPr sz="1800" b="1">
                <a:solidFill>
                  <a:srgbClr val="F3F6F2"/>
                </a:solidFill>
                <a:latin typeface="Arial"/>
                <a:ea typeface="Arial"/>
                <a:cs typeface="Arial"/>
              </a:rPr>
              <a:t>Growth, heat, population and vegetation sit in separate layers. A planner still needs a short, explainable list of places to inspect.</a:t>
            </a:r>
          </a:p>
        </p:txBody>
      </p:sp>
      <p:sp>
        <p:nvSpPr>
          <p:cNvPr id="20" name="">
            <a:extLst xmlns:a="http://schemas.openxmlformats.org/drawingml/2006/main">
              <a:ext uri="{FF2B5EF4-FFF2-40B4-BE49-F238E27FC236}">
                <a16:creationId xmlns:a16="http://schemas.microsoft.com/office/drawing/2014/main" id="{41D9C9BB-D03F-4D67-BAA4-01661592B6FD}"/>
              </a:ext>
            </a:extLst>
          </p:cNvPr>
          <p:cNvSpPr>
            <a:spLocks xmlns:a="http://schemas.openxmlformats.org/drawingml/2006/main" noGrp="1"/>
          </p:cNvSpPr>
          <p:nvPr/>
        </p:nvSpPr>
        <p:spPr>
          <a:xfrm xmlns:a="http://schemas.openxmlformats.org/drawingml/2006/main">
            <a:off x="5981700" y="3333750"/>
            <a:ext cx="9525" cy="198120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21" name="">
            <a:extLst xmlns:a="http://schemas.openxmlformats.org/drawingml/2006/main">
              <a:ext uri="{FF2B5EF4-FFF2-40B4-BE49-F238E27FC236}">
                <a16:creationId xmlns:a16="http://schemas.microsoft.com/office/drawing/2014/main" id="{90354DB5-C53D-4F95-93C9-C26CD28FC16D}"/>
              </a:ext>
            </a:extLst>
          </p:cNvPr>
          <p:cNvSpPr>
            <a:spLocks xmlns:a="http://schemas.openxmlformats.org/drawingml/2006/main" noGrp="1"/>
          </p:cNvSpPr>
          <p:nvPr/>
        </p:nvSpPr>
        <p:spPr>
          <a:xfrm xmlns:a="http://schemas.openxmlformats.org/drawingml/2006/main">
            <a:off x="63246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TESTABLE MVP</a:t>
            </a:r>
          </a:p>
        </p:txBody>
      </p:sp>
      <p:sp>
        <p:nvSpPr>
          <p:cNvPr id="22" name="">
            <a:extLst xmlns:a="http://schemas.openxmlformats.org/drawingml/2006/main">
              <a:ext uri="{FF2B5EF4-FFF2-40B4-BE49-F238E27FC236}">
                <a16:creationId xmlns:a16="http://schemas.microsoft.com/office/drawing/2014/main" id="{7143CCEB-97D6-4B64-9B1F-58AF12F3EB7A}"/>
              </a:ext>
            </a:extLst>
          </p:cNvPr>
          <p:cNvSpPr>
            <a:spLocks xmlns:a="http://schemas.openxmlformats.org/drawingml/2006/main" noGrp="1"/>
          </p:cNvSpPr>
          <p:nvPr/>
        </p:nvSpPr>
        <p:spPr>
          <a:xfrm xmlns:a="http://schemas.openxmlformats.org/drawingml/2006/main">
            <a:off x="63246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stStyle>
          <a:p xmlns:a="http://schemas.openxmlformats.org/drawingml/2006/main">
            <a:pPr algn="l">
              <a:defRPr sz="1800" b="1">
                <a:solidFill>
                  <a:srgbClr val="F3F6F2"/>
                </a:solidFill>
                <a:latin typeface="Arial"/>
                <a:ea typeface="Arial"/>
                <a:cs typeface="Arial"/>
              </a:defRPr>
            </a:pPr>
            <a:r>
              <a:rPr sz="1800" b="1">
                <a:solidFill>
                  <a:srgbClr val="F3F6F2"/>
                </a:solidFill>
                <a:latin typeface="Arial"/>
                <a:ea typeface="Arial"/>
                <a:cs typeface="Arial"/>
              </a:rPr>
              <a:t>A ranked layer, dashboard and GIS files that show the score and its evidence — without automatically selecting a cooling intervention.</a:t>
            </a:r>
          </a:p>
        </p:txBody>
      </p:sp>
      <p:sp>
        <p:nvSpPr>
          <p:cNvPr id="23" name="">
            <a:extLst xmlns:a="http://schemas.openxmlformats.org/drawingml/2006/main">
              <a:ext uri="{FF2B5EF4-FFF2-40B4-BE49-F238E27FC236}">
                <a16:creationId xmlns:a16="http://schemas.microsoft.com/office/drawing/2014/main" id="{AA994A03-C0B7-4760-AFF0-5EBD3A4BB6D0}"/>
              </a:ext>
            </a:extLst>
          </p:cNvPr>
          <p:cNvSpPr>
            <a:spLocks xmlns:a="http://schemas.openxmlformats.org/drawingml/2006/main" noGrp="1"/>
          </p:cNvSpPr>
          <p:nvPr/>
        </p:nvSpPr>
        <p:spPr>
          <a:xfrm xmlns:a="http://schemas.openxmlformats.org/drawingml/2006/main">
            <a:off x="876300" y="51911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E2AD2B"/>
                </a:solidFill>
                <a:latin typeface="Arial"/>
                <a:ea typeface="Arial"/>
                <a:cs typeface="Arial"/>
              </a:defRPr>
            </a:defPPr>
          </a:lstStyle>
          <a:p xmlns:a="http://schemas.openxmlformats.org/drawingml/2006/main">
            <a:pPr algn="l">
              <a:defRPr sz="1200" b="1">
                <a:solidFill>
                  <a:srgbClr val="E2AD2B"/>
                </a:solidFill>
                <a:latin typeface="Arial"/>
                <a:ea typeface="Arial"/>
                <a:cs typeface="Arial"/>
              </a:defRPr>
            </a:pPr>
            <a:r>
              <a:rPr sz="1200" b="1">
                <a:solidFill>
                  <a:srgbClr val="E2AD2B"/>
                </a:solidFill>
                <a:latin typeface="Arial"/>
                <a:ea typeface="Arial"/>
                <a:cs typeface="Arial"/>
              </a:rPr>
              <a:t>Honest gap: no municipal user interview has happened yet. The workflow and value must be tested during incubation.</a:t>
            </a:r>
          </a:p>
        </p:txBody>
      </p:sp>
      <p:sp>
        <p:nvSpPr>
          <p:cNvPr id="24" name="">
            <a:extLst xmlns:a="http://schemas.openxmlformats.org/drawingml/2006/main">
              <a:ext uri="{FF2B5EF4-FFF2-40B4-BE49-F238E27FC236}">
                <a16:creationId xmlns:a16="http://schemas.microsoft.com/office/drawing/2014/main" id="{CBA13DF2-61BA-45C2-8B5D-4F15D312CFFD}"/>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188046809"/>
      </p:ext>
    </p:extLst>
  </p:cSld>
</p:sld>
</file>

<file path=ppt/slides/slide4.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8343195-F850-4498-9D86-0B263AF9C7B2}"/>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SPACE DATA AND ANALYTICS</a:t>
            </a:r>
          </a:p>
        </p:txBody>
      </p:sp>
      <p:sp>
        <p:nvSpPr>
          <p:cNvPr id="2" name="">
            <a:extLst xmlns:a="http://schemas.openxmlformats.org/drawingml/2006/main">
              <a:ext uri="{FF2B5EF4-FFF2-40B4-BE49-F238E27FC236}">
                <a16:creationId xmlns:a16="http://schemas.microsoft.com/office/drawing/2014/main" id="{D6631DC3-A8C0-4A90-B0DB-DF30534A2435}"/>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Six open sources, one conservative chain</a:t>
            </a:r>
          </a:p>
        </p:txBody>
      </p:sp>
      <p:sp>
        <p:nvSpPr>
          <p:cNvPr id="3" name="">
            <a:extLst xmlns:a="http://schemas.openxmlformats.org/drawingml/2006/main">
              <a:ext uri="{FF2B5EF4-FFF2-40B4-BE49-F238E27FC236}">
                <a16:creationId xmlns:a16="http://schemas.microsoft.com/office/drawing/2014/main" id="{DCC92BB2-9C1A-4B8F-921F-2E28DCE225A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C9A2198-62F0-42B5-82F8-79C4A11D78D7}"/>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A93626A8-6DF7-4320-9B3D-5F4E40D582DB}"/>
              </a:ext>
            </a:extLst>
          </p:cNvPr>
          <p:cNvSpPr>
            <a:spLocks xmlns:a="http://schemas.openxmlformats.org/drawingml/2006/main" noGrp="1"/>
          </p:cNvSpPr>
          <p:nvPr/>
        </p:nvSpPr>
        <p:spPr>
          <a:xfrm xmlns:a="http://schemas.openxmlformats.org/drawingml/2006/main">
            <a:off x="590550" y="1562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9E2D4574-3798-43A6-8F86-BCC94BF2B46D}"/>
              </a:ext>
            </a:extLst>
          </p:cNvPr>
          <p:cNvSpPr>
            <a:spLocks xmlns:a="http://schemas.openxmlformats.org/drawingml/2006/main" noGrp="1"/>
          </p:cNvSpPr>
          <p:nvPr/>
        </p:nvSpPr>
        <p:spPr>
          <a:xfrm xmlns:a="http://schemas.openxmlformats.org/drawingml/2006/main">
            <a:off x="590550" y="1562100"/>
            <a:ext cx="76200" cy="514350"/>
          </a:xfrm>
          <a:prstGeom xmlns:a="http://schemas.openxmlformats.org/drawingml/2006/main" prst="rect">
            <a:avLst/>
          </a:prstGeom>
          <a:solidFill xmlns:a="http://schemas.openxmlformats.org/drawingml/2006/main">
            <a:srgbClr val="1AA58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ADD4A12-161F-4515-8111-235926D2EEF7}"/>
              </a:ext>
            </a:extLst>
          </p:cNvPr>
          <p:cNvSpPr>
            <a:spLocks xmlns:a="http://schemas.openxmlformats.org/drawingml/2006/main" noGrp="1"/>
          </p:cNvSpPr>
          <p:nvPr/>
        </p:nvSpPr>
        <p:spPr>
          <a:xfrm xmlns:a="http://schemas.openxmlformats.org/drawingml/2006/main">
            <a:off x="800100" y="1638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stStyle>
          <a:p xmlns:a="http://schemas.openxmlformats.org/drawingml/2006/main">
            <a:pPr algn="l">
              <a:defRPr sz="1350" b="1">
                <a:solidFill>
                  <a:srgbClr val="1AA58F"/>
                </a:solidFill>
                <a:latin typeface="Arial"/>
                <a:ea typeface="Arial"/>
                <a:cs typeface="Arial"/>
              </a:defRPr>
            </a:pPr>
            <a:r>
              <a:rPr sz="1350" b="1">
                <a:solidFill>
                  <a:srgbClr val="1AA58F"/>
                </a:solidFill>
                <a:latin typeface="Arial"/>
                <a:ea typeface="Arial"/>
                <a:cs typeface="Arial"/>
              </a:rPr>
              <a:t>Sentinel-2</a:t>
            </a:r>
          </a:p>
        </p:txBody>
      </p:sp>
      <p:sp>
        <p:nvSpPr>
          <p:cNvPr id="8" name="">
            <a:extLst xmlns:a="http://schemas.openxmlformats.org/drawingml/2006/main">
              <a:ext uri="{FF2B5EF4-FFF2-40B4-BE49-F238E27FC236}">
                <a16:creationId xmlns:a16="http://schemas.microsoft.com/office/drawing/2014/main" id="{69B076FB-3692-4A72-8C3A-33FE2FC628A3}"/>
              </a:ext>
            </a:extLst>
          </p:cNvPr>
          <p:cNvSpPr>
            <a:spLocks xmlns:a="http://schemas.openxmlformats.org/drawingml/2006/main" noGrp="1"/>
          </p:cNvSpPr>
          <p:nvPr/>
        </p:nvSpPr>
        <p:spPr>
          <a:xfrm xmlns:a="http://schemas.openxmlformats.org/drawingml/2006/main">
            <a:off x="2266950" y="1638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Optical reflectance, vegetation and built features</a:t>
            </a:r>
          </a:p>
        </p:txBody>
      </p:sp>
      <p:sp>
        <p:nvSpPr>
          <p:cNvPr id="9" name="">
            <a:extLst xmlns:a="http://schemas.openxmlformats.org/drawingml/2006/main">
              <a:ext uri="{FF2B5EF4-FFF2-40B4-BE49-F238E27FC236}">
                <a16:creationId xmlns:a16="http://schemas.microsoft.com/office/drawing/2014/main" id="{65804208-8659-4839-8746-5A676E1AEF3E}"/>
              </a:ext>
            </a:extLst>
          </p:cNvPr>
          <p:cNvSpPr>
            <a:spLocks xmlns:a="http://schemas.openxmlformats.org/drawingml/2006/main" noGrp="1"/>
          </p:cNvSpPr>
          <p:nvPr/>
        </p:nvSpPr>
        <p:spPr>
          <a:xfrm xmlns:a="http://schemas.openxmlformats.org/drawingml/2006/main">
            <a:off x="590550" y="2228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CFCFD3D6-7AB3-45BD-93EC-017ACC255C64}"/>
              </a:ext>
            </a:extLst>
          </p:cNvPr>
          <p:cNvSpPr>
            <a:spLocks xmlns:a="http://schemas.openxmlformats.org/drawingml/2006/main" noGrp="1"/>
          </p:cNvSpPr>
          <p:nvPr/>
        </p:nvSpPr>
        <p:spPr>
          <a:xfrm xmlns:a="http://schemas.openxmlformats.org/drawingml/2006/main">
            <a:off x="590550" y="2228850"/>
            <a:ext cx="76200" cy="514350"/>
          </a:xfrm>
          <a:prstGeom xmlns:a="http://schemas.openxmlformats.org/drawingml/2006/main" prst="rect">
            <a:avLst/>
          </a:prstGeom>
          <a:solidFill xmlns:a="http://schemas.openxmlformats.org/drawingml/2006/main">
            <a:srgbClr val="3183B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09EF860-6AA8-49D7-823A-ABF5CC2B037C}"/>
              </a:ext>
            </a:extLst>
          </p:cNvPr>
          <p:cNvSpPr>
            <a:spLocks xmlns:a="http://schemas.openxmlformats.org/drawingml/2006/main" noGrp="1"/>
          </p:cNvSpPr>
          <p:nvPr/>
        </p:nvSpPr>
        <p:spPr>
          <a:xfrm xmlns:a="http://schemas.openxmlformats.org/drawingml/2006/main">
            <a:off x="800100" y="2305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3183B8"/>
                </a:solidFill>
                <a:latin typeface="Arial"/>
                <a:ea typeface="Arial"/>
                <a:cs typeface="Arial"/>
              </a:defRPr>
            </a:defPPr>
          </a:lstStyle>
          <a:p xmlns:a="http://schemas.openxmlformats.org/drawingml/2006/main">
            <a:pPr algn="l">
              <a:defRPr sz="1350" b="1">
                <a:solidFill>
                  <a:srgbClr val="3183B8"/>
                </a:solidFill>
                <a:latin typeface="Arial"/>
                <a:ea typeface="Arial"/>
                <a:cs typeface="Arial"/>
              </a:defRPr>
            </a:pPr>
            <a:r>
              <a:rPr sz="1350" b="1">
                <a:solidFill>
                  <a:srgbClr val="3183B8"/>
                </a:solidFill>
                <a:latin typeface="Arial"/>
                <a:ea typeface="Arial"/>
                <a:cs typeface="Arial"/>
              </a:rPr>
              <a:t>Sentinel-1</a:t>
            </a:r>
          </a:p>
        </p:txBody>
      </p:sp>
      <p:sp>
        <p:nvSpPr>
          <p:cNvPr id="12" name="">
            <a:extLst xmlns:a="http://schemas.openxmlformats.org/drawingml/2006/main">
              <a:ext uri="{FF2B5EF4-FFF2-40B4-BE49-F238E27FC236}">
                <a16:creationId xmlns:a16="http://schemas.microsoft.com/office/drawing/2014/main" id="{F5818E19-9BB1-4C02-9932-687EB56C06DA}"/>
              </a:ext>
            </a:extLst>
          </p:cNvPr>
          <p:cNvSpPr>
            <a:spLocks xmlns:a="http://schemas.openxmlformats.org/drawingml/2006/main" noGrp="1"/>
          </p:cNvSpPr>
          <p:nvPr/>
        </p:nvSpPr>
        <p:spPr>
          <a:xfrm xmlns:a="http://schemas.openxmlformats.org/drawingml/2006/main">
            <a:off x="2266950" y="2305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Radar structure to reduce bright-desert confusion</a:t>
            </a:r>
          </a:p>
        </p:txBody>
      </p:sp>
      <p:sp>
        <p:nvSpPr>
          <p:cNvPr id="13" name="">
            <a:extLst xmlns:a="http://schemas.openxmlformats.org/drawingml/2006/main">
              <a:ext uri="{FF2B5EF4-FFF2-40B4-BE49-F238E27FC236}">
                <a16:creationId xmlns:a16="http://schemas.microsoft.com/office/drawing/2014/main" id="{C80B2743-FA9D-4C92-85A9-023CF951A30F}"/>
              </a:ext>
            </a:extLst>
          </p:cNvPr>
          <p:cNvSpPr>
            <a:spLocks xmlns:a="http://schemas.openxmlformats.org/drawingml/2006/main" noGrp="1"/>
          </p:cNvSpPr>
          <p:nvPr/>
        </p:nvSpPr>
        <p:spPr>
          <a:xfrm xmlns:a="http://schemas.openxmlformats.org/drawingml/2006/main">
            <a:off x="590550" y="28956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4D32D28A-EBE6-41C1-8943-8E94AF3E7C2E}"/>
              </a:ext>
            </a:extLst>
          </p:cNvPr>
          <p:cNvSpPr>
            <a:spLocks xmlns:a="http://schemas.openxmlformats.org/drawingml/2006/main" noGrp="1"/>
          </p:cNvSpPr>
          <p:nvPr/>
        </p:nvSpPr>
        <p:spPr>
          <a:xfrm xmlns:a="http://schemas.openxmlformats.org/drawingml/2006/main">
            <a:off x="590550" y="2895600"/>
            <a:ext cx="76200" cy="514350"/>
          </a:xfrm>
          <a:prstGeom xmlns:a="http://schemas.openxmlformats.org/drawingml/2006/main" prst="rect">
            <a:avLst/>
          </a:prstGeom>
          <a:solidFill xmlns:a="http://schemas.openxmlformats.org/drawingml/2006/main">
            <a:srgbClr val="E2AD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4B3DFC7-9D5F-4D35-9A9C-328480D23E33}"/>
              </a:ext>
            </a:extLst>
          </p:cNvPr>
          <p:cNvSpPr>
            <a:spLocks xmlns:a="http://schemas.openxmlformats.org/drawingml/2006/main" noGrp="1"/>
          </p:cNvSpPr>
          <p:nvPr/>
        </p:nvSpPr>
        <p:spPr>
          <a:xfrm xmlns:a="http://schemas.openxmlformats.org/drawingml/2006/main">
            <a:off x="800100" y="29718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stStyle>
          <a:p xmlns:a="http://schemas.openxmlformats.org/drawingml/2006/main">
            <a:pPr algn="l">
              <a:defRPr sz="1350" b="1">
                <a:solidFill>
                  <a:srgbClr val="E2AD2B"/>
                </a:solidFill>
                <a:latin typeface="Arial"/>
                <a:ea typeface="Arial"/>
                <a:cs typeface="Arial"/>
              </a:defRPr>
            </a:pPr>
            <a:r>
              <a:rPr sz="1350" b="1">
                <a:solidFill>
                  <a:srgbClr val="E2AD2B"/>
                </a:solidFill>
                <a:latin typeface="Arial"/>
                <a:ea typeface="Arial"/>
                <a:cs typeface="Arial"/>
              </a:rPr>
              <a:t>Annual LULC</a:t>
            </a:r>
          </a:p>
        </p:txBody>
      </p:sp>
      <p:sp>
        <p:nvSpPr>
          <p:cNvPr id="16" name="">
            <a:extLst xmlns:a="http://schemas.openxmlformats.org/drawingml/2006/main">
              <a:ext uri="{FF2B5EF4-FFF2-40B4-BE49-F238E27FC236}">
                <a16:creationId xmlns:a16="http://schemas.microsoft.com/office/drawing/2014/main" id="{27412037-1B0A-4015-B613-7E3DF5A679CB}"/>
              </a:ext>
            </a:extLst>
          </p:cNvPr>
          <p:cNvSpPr>
            <a:spLocks xmlns:a="http://schemas.openxmlformats.org/drawingml/2006/main" noGrp="1"/>
          </p:cNvSpPr>
          <p:nvPr/>
        </p:nvSpPr>
        <p:spPr>
          <a:xfrm xmlns:a="http://schemas.openxmlformats.org/drawingml/2006/main">
            <a:off x="2266950" y="29718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Six maps propose 2018–2023 built-up change</a:t>
            </a:r>
          </a:p>
        </p:txBody>
      </p:sp>
      <p:sp>
        <p:nvSpPr>
          <p:cNvPr id="17" name="">
            <a:extLst xmlns:a="http://schemas.openxmlformats.org/drawingml/2006/main">
              <a:ext uri="{FF2B5EF4-FFF2-40B4-BE49-F238E27FC236}">
                <a16:creationId xmlns:a16="http://schemas.microsoft.com/office/drawing/2014/main" id="{CFA7A8E5-4E85-4788-B341-A5E2316E576F}"/>
              </a:ext>
            </a:extLst>
          </p:cNvPr>
          <p:cNvSpPr>
            <a:spLocks xmlns:a="http://schemas.openxmlformats.org/drawingml/2006/main" noGrp="1"/>
          </p:cNvSpPr>
          <p:nvPr/>
        </p:nvSpPr>
        <p:spPr>
          <a:xfrm xmlns:a="http://schemas.openxmlformats.org/drawingml/2006/main">
            <a:off x="590550" y="35623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6364AF9F-0CE8-4CB1-85CA-D9CC20D56FC6}"/>
              </a:ext>
            </a:extLst>
          </p:cNvPr>
          <p:cNvSpPr>
            <a:spLocks xmlns:a="http://schemas.openxmlformats.org/drawingml/2006/main" noGrp="1"/>
          </p:cNvSpPr>
          <p:nvPr/>
        </p:nvSpPr>
        <p:spPr>
          <a:xfrm xmlns:a="http://schemas.openxmlformats.org/drawingml/2006/main">
            <a:off x="590550" y="3562350"/>
            <a:ext cx="76200" cy="514350"/>
          </a:xfrm>
          <a:prstGeom xmlns:a="http://schemas.openxmlformats.org/drawingml/2006/main" prst="rect">
            <a:avLst/>
          </a:prstGeom>
          <a:solidFill xmlns:a="http://schemas.openxmlformats.org/drawingml/2006/main">
            <a:srgbClr val="F064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A743213-A85C-408D-AA77-FCDAB74E4A21}"/>
              </a:ext>
            </a:extLst>
          </p:cNvPr>
          <p:cNvSpPr>
            <a:spLocks xmlns:a="http://schemas.openxmlformats.org/drawingml/2006/main" noGrp="1"/>
          </p:cNvSpPr>
          <p:nvPr/>
        </p:nvSpPr>
        <p:spPr>
          <a:xfrm xmlns:a="http://schemas.openxmlformats.org/drawingml/2006/main">
            <a:off x="800100" y="3638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06449"/>
                </a:solidFill>
                <a:latin typeface="Arial"/>
                <a:ea typeface="Arial"/>
                <a:cs typeface="Arial"/>
              </a:defRPr>
            </a:defPPr>
          </a:lstStyle>
          <a:p xmlns:a="http://schemas.openxmlformats.org/drawingml/2006/main">
            <a:pPr algn="l">
              <a:defRPr sz="1350" b="1">
                <a:solidFill>
                  <a:srgbClr val="F06449"/>
                </a:solidFill>
                <a:latin typeface="Arial"/>
                <a:ea typeface="Arial"/>
                <a:cs typeface="Arial"/>
              </a:defRPr>
            </a:pPr>
            <a:r>
              <a:rPr sz="1350" b="1">
                <a:solidFill>
                  <a:srgbClr val="F06449"/>
                </a:solidFill>
                <a:latin typeface="Arial"/>
                <a:ea typeface="Arial"/>
                <a:cs typeface="Arial"/>
              </a:rPr>
              <a:t>Landsat 8</a:t>
            </a:r>
          </a:p>
        </p:txBody>
      </p:sp>
      <p:sp>
        <p:nvSpPr>
          <p:cNvPr id="20" name="">
            <a:extLst xmlns:a="http://schemas.openxmlformats.org/drawingml/2006/main">
              <a:ext uri="{FF2B5EF4-FFF2-40B4-BE49-F238E27FC236}">
                <a16:creationId xmlns:a16="http://schemas.microsoft.com/office/drawing/2014/main" id="{173CA215-5D71-4A41-84B8-AA904C4D875A}"/>
              </a:ext>
            </a:extLst>
          </p:cNvPr>
          <p:cNvSpPr>
            <a:spLocks xmlns:a="http://schemas.openxmlformats.org/drawingml/2006/main" noGrp="1"/>
          </p:cNvSpPr>
          <p:nvPr/>
        </p:nvSpPr>
        <p:spPr>
          <a:xfrm xmlns:a="http://schemas.openxmlformats.org/drawingml/2006/main">
            <a:off x="2266950" y="36385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Quality-masked 2025 land-surface temperature</a:t>
            </a:r>
          </a:p>
        </p:txBody>
      </p:sp>
      <p:sp>
        <p:nvSpPr>
          <p:cNvPr id="21" name="">
            <a:extLst xmlns:a="http://schemas.openxmlformats.org/drawingml/2006/main">
              <a:ext uri="{FF2B5EF4-FFF2-40B4-BE49-F238E27FC236}">
                <a16:creationId xmlns:a16="http://schemas.microsoft.com/office/drawing/2014/main" id="{073264F7-9A42-4A3A-8F7C-3A97B5990295}"/>
              </a:ext>
            </a:extLst>
          </p:cNvPr>
          <p:cNvSpPr>
            <a:spLocks xmlns:a="http://schemas.openxmlformats.org/drawingml/2006/main" noGrp="1"/>
          </p:cNvSpPr>
          <p:nvPr/>
        </p:nvSpPr>
        <p:spPr>
          <a:xfrm xmlns:a="http://schemas.openxmlformats.org/drawingml/2006/main">
            <a:off x="590550" y="4229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2" name="">
            <a:extLst xmlns:a="http://schemas.openxmlformats.org/drawingml/2006/main">
              <a:ext uri="{FF2B5EF4-FFF2-40B4-BE49-F238E27FC236}">
                <a16:creationId xmlns:a16="http://schemas.microsoft.com/office/drawing/2014/main" id="{481ED304-12E3-4804-93A2-0B5C761F9E19}"/>
              </a:ext>
            </a:extLst>
          </p:cNvPr>
          <p:cNvSpPr>
            <a:spLocks xmlns:a="http://schemas.openxmlformats.org/drawingml/2006/main" noGrp="1"/>
          </p:cNvSpPr>
          <p:nvPr/>
        </p:nvSpPr>
        <p:spPr>
          <a:xfrm xmlns:a="http://schemas.openxmlformats.org/drawingml/2006/main">
            <a:off x="590550" y="4229100"/>
            <a:ext cx="76200" cy="514350"/>
          </a:xfrm>
          <a:prstGeom xmlns:a="http://schemas.openxmlformats.org/drawingml/2006/main" prst="rect">
            <a:avLst/>
          </a:prstGeom>
          <a:solidFill xmlns:a="http://schemas.openxmlformats.org/drawingml/2006/main">
            <a:srgbClr val="6D5DD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9A0D1EA-15A1-4A9A-8863-FE2E0FBF88B6}"/>
              </a:ext>
            </a:extLst>
          </p:cNvPr>
          <p:cNvSpPr>
            <a:spLocks xmlns:a="http://schemas.openxmlformats.org/drawingml/2006/main" noGrp="1"/>
          </p:cNvSpPr>
          <p:nvPr/>
        </p:nvSpPr>
        <p:spPr>
          <a:xfrm xmlns:a="http://schemas.openxmlformats.org/drawingml/2006/main">
            <a:off x="800100" y="4305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stStyle>
          <a:p xmlns:a="http://schemas.openxmlformats.org/drawingml/2006/main">
            <a:pPr algn="l">
              <a:defRPr sz="1350" b="1">
                <a:solidFill>
                  <a:srgbClr val="6D5DD3"/>
                </a:solidFill>
                <a:latin typeface="Arial"/>
                <a:ea typeface="Arial"/>
                <a:cs typeface="Arial"/>
              </a:defRPr>
            </a:pPr>
            <a:r>
              <a:rPr sz="1350" b="1">
                <a:solidFill>
                  <a:srgbClr val="6D5DD3"/>
                </a:solidFill>
                <a:latin typeface="Arial"/>
                <a:ea typeface="Arial"/>
                <a:cs typeface="Arial"/>
              </a:rPr>
              <a:t>WorldPop</a:t>
            </a:r>
          </a:p>
        </p:txBody>
      </p:sp>
      <p:sp>
        <p:nvSpPr>
          <p:cNvPr id="24" name="">
            <a:extLst xmlns:a="http://schemas.openxmlformats.org/drawingml/2006/main">
              <a:ext uri="{FF2B5EF4-FFF2-40B4-BE49-F238E27FC236}">
                <a16:creationId xmlns:a16="http://schemas.microsoft.com/office/drawing/2014/main" id="{C6E93C53-7291-45B5-94E6-70ABBCF1464E}"/>
              </a:ext>
            </a:extLst>
          </p:cNvPr>
          <p:cNvSpPr>
            <a:spLocks xmlns:a="http://schemas.openxmlformats.org/drawingml/2006/main" noGrp="1"/>
          </p:cNvSpPr>
          <p:nvPr/>
        </p:nvSpPr>
        <p:spPr>
          <a:xfrm xmlns:a="http://schemas.openxmlformats.org/drawingml/2006/main">
            <a:off x="2266950" y="4305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Modelled 2025 population exposure</a:t>
            </a:r>
          </a:p>
        </p:txBody>
      </p:sp>
      <p:sp>
        <p:nvSpPr>
          <p:cNvPr id="25" name="">
            <a:extLst xmlns:a="http://schemas.openxmlformats.org/drawingml/2006/main">
              <a:ext uri="{FF2B5EF4-FFF2-40B4-BE49-F238E27FC236}">
                <a16:creationId xmlns:a16="http://schemas.microsoft.com/office/drawing/2014/main" id="{7C374F39-E796-4182-8B0B-E0D57AD05A1E}"/>
              </a:ext>
            </a:extLst>
          </p:cNvPr>
          <p:cNvSpPr>
            <a:spLocks xmlns:a="http://schemas.openxmlformats.org/drawingml/2006/main" noGrp="1"/>
          </p:cNvSpPr>
          <p:nvPr/>
        </p:nvSpPr>
        <p:spPr>
          <a:xfrm xmlns:a="http://schemas.openxmlformats.org/drawingml/2006/main">
            <a:off x="590550" y="4895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6" name="">
            <a:extLst xmlns:a="http://schemas.openxmlformats.org/drawingml/2006/main">
              <a:ext uri="{FF2B5EF4-FFF2-40B4-BE49-F238E27FC236}">
                <a16:creationId xmlns:a16="http://schemas.microsoft.com/office/drawing/2014/main" id="{03FEFE43-1E53-40AA-86E1-300CA5F1DA2C}"/>
              </a:ext>
            </a:extLst>
          </p:cNvPr>
          <p:cNvSpPr>
            <a:spLocks xmlns:a="http://schemas.openxmlformats.org/drawingml/2006/main" noGrp="1"/>
          </p:cNvSpPr>
          <p:nvPr/>
        </p:nvSpPr>
        <p:spPr>
          <a:xfrm xmlns:a="http://schemas.openxmlformats.org/drawingml/2006/main">
            <a:off x="590550" y="4895850"/>
            <a:ext cx="76200" cy="514350"/>
          </a:xfrm>
          <a:prstGeom xmlns:a="http://schemas.openxmlformats.org/drawingml/2006/main" prst="rect">
            <a:avLst/>
          </a:prstGeom>
          <a:solidFill xmlns:a="http://schemas.openxmlformats.org/drawingml/2006/main">
            <a:srgbClr val="D967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00182D7-85A6-45AF-8F38-95BC6F2982DA}"/>
              </a:ext>
            </a:extLst>
          </p:cNvPr>
          <p:cNvSpPr>
            <a:spLocks xmlns:a="http://schemas.openxmlformats.org/drawingml/2006/main" noGrp="1"/>
          </p:cNvSpPr>
          <p:nvPr/>
        </p:nvSpPr>
        <p:spPr>
          <a:xfrm xmlns:a="http://schemas.openxmlformats.org/drawingml/2006/main">
            <a:off x="800100" y="4972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96787"/>
                </a:solidFill>
                <a:latin typeface="Arial"/>
                <a:ea typeface="Arial"/>
                <a:cs typeface="Arial"/>
              </a:defRPr>
            </a:defPPr>
          </a:lstStyle>
          <a:p xmlns:a="http://schemas.openxmlformats.org/drawingml/2006/main">
            <a:pPr algn="l">
              <a:defRPr sz="1350" b="1">
                <a:solidFill>
                  <a:srgbClr val="D96787"/>
                </a:solidFill>
                <a:latin typeface="Arial"/>
                <a:ea typeface="Arial"/>
                <a:cs typeface="Arial"/>
              </a:defRPr>
            </a:pPr>
            <a:r>
              <a:rPr sz="1350" b="1">
                <a:solidFill>
                  <a:srgbClr val="D96787"/>
                </a:solidFill>
                <a:latin typeface="Arial"/>
                <a:ea typeface="Arial"/>
                <a:cs typeface="Arial"/>
              </a:rPr>
              <a:t>Planet Tanager</a:t>
            </a:r>
          </a:p>
        </p:txBody>
      </p:sp>
      <p:sp>
        <p:nvSpPr>
          <p:cNvPr id="28" name="">
            <a:extLst xmlns:a="http://schemas.openxmlformats.org/drawingml/2006/main">
              <a:ext uri="{FF2B5EF4-FFF2-40B4-BE49-F238E27FC236}">
                <a16:creationId xmlns:a16="http://schemas.microsoft.com/office/drawing/2014/main" id="{9B935138-B2BE-4ED9-A73F-42A8473CBEA6}"/>
              </a:ext>
            </a:extLst>
          </p:cNvPr>
          <p:cNvSpPr>
            <a:spLocks xmlns:a="http://schemas.openxmlformats.org/drawingml/2006/main" noGrp="1"/>
          </p:cNvSpPr>
          <p:nvPr/>
        </p:nvSpPr>
        <p:spPr>
          <a:xfrm xmlns:a="http://schemas.openxmlformats.org/drawingml/2006/main">
            <a:off x="2266950" y="4972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426-band material context and failure-mode test</a:t>
            </a:r>
          </a:p>
        </p:txBody>
      </p:sp>
      <p:pic>
        <p:nvPicPr>
          <p:cNvPr id="29" name="">
            <a:extLst xmlns:a="http://schemas.openxmlformats.org/drawingml/2006/main">
              <a:ext uri="{FF2B5EF4-FFF2-40B4-BE49-F238E27FC236}">
                <a16:creationId xmlns:a16="http://schemas.microsoft.com/office/drawing/2014/main" id="{A3A5F56C-CF01-43FD-AEE5-66832CB55C9A}"/>
              </a:ext>
            </a:extLst>
          </p:cNvPr>
          <p:cNvPicPr>
            <a:picLocks xmlns:a="http://schemas.openxmlformats.org/drawingml/2006/main" noChangeAspect="1"/>
          </p:cNvPicPr>
          <p:nvPr/>
        </p:nvPicPr>
        <p:blipFill>
          <a:blip xmlns:r="http://schemas.openxmlformats.org/officeDocument/2006/relationships" xmlns:a="http://schemas.openxmlformats.org/drawingml/2006/main" r:embed="Rf0b387a42c8b42f1"/>
          <a:stretch xmlns:a="http://schemas.openxmlformats.org/drawingml/2006/main"/>
        </p:blipFill>
        <p:spPr>
          <a:xfrm xmlns:a="http://schemas.openxmlformats.org/drawingml/2006/main">
            <a:off x="6527807" y="1562100"/>
            <a:ext cx="4451336" cy="4038600"/>
          </a:xfrm>
          <a:prstGeom xmlns:a="http://schemas.openxmlformats.org/drawingml/2006/main" prst="roundRect">
            <a:avLst>
              <a:gd name="adj" fmla="val 2358"/>
            </a:avLst>
          </a:prstGeom>
        </p:spPr>
      </p:pic>
      <p:sp>
        <p:nvSpPr>
          <p:cNvPr id="30" name="">
            <a:extLst xmlns:a="http://schemas.openxmlformats.org/drawingml/2006/main">
              <a:ext uri="{FF2B5EF4-FFF2-40B4-BE49-F238E27FC236}">
                <a16:creationId xmlns:a16="http://schemas.microsoft.com/office/drawing/2014/main" id="{E3E4C294-3914-4F5F-A4FB-1C7416576B69}"/>
              </a:ext>
            </a:extLst>
          </p:cNvPr>
          <p:cNvSpPr>
            <a:spLocks xmlns:a="http://schemas.openxmlformats.org/drawingml/2006/main" noGrp="1"/>
          </p:cNvSpPr>
          <p:nvPr/>
        </p:nvSpPr>
        <p:spPr>
          <a:xfrm xmlns:a="http://schemas.openxmlformats.org/drawingml/2006/main">
            <a:off x="5905500" y="5715000"/>
            <a:ext cx="5695950" cy="514350"/>
          </a:xfrm>
          <a:prstGeom xmlns:a="http://schemas.openxmlformats.org/drawingml/2006/main" prst="roundRect">
            <a:avLst>
              <a:gd name="adj" fmla="val 18519"/>
            </a:avLst>
          </a:prstGeom>
          <a:solidFill xmlns:a="http://schemas.openxmlformats.org/drawingml/2006/main">
            <a:srgbClr val="113646"/>
          </a:solidFill>
          <a:ln xmlns:a="http://schemas.openxmlformats.org/drawingml/2006/main" w="9525">
            <a:solidFill>
              <a:srgbClr val="31505F"/>
            </a:solidFill>
            <a:prstDash val="solid"/>
          </a:ln>
        </p:spPr>
      </p:sp>
      <p:sp>
        <p:nvSpPr>
          <p:cNvPr id="31" name="">
            <a:extLst xmlns:a="http://schemas.openxmlformats.org/drawingml/2006/main">
              <a:ext uri="{FF2B5EF4-FFF2-40B4-BE49-F238E27FC236}">
                <a16:creationId xmlns:a16="http://schemas.microsoft.com/office/drawing/2014/main" id="{E8B2C4D2-A664-47F2-BF0B-CC4DF84E7531}"/>
              </a:ext>
            </a:extLst>
          </p:cNvPr>
          <p:cNvSpPr>
            <a:spLocks xmlns:a="http://schemas.openxmlformats.org/drawingml/2006/main" noGrp="1"/>
          </p:cNvSpPr>
          <p:nvPr/>
        </p:nvSpPr>
        <p:spPr>
          <a:xfrm xmlns:a="http://schemas.openxmlformats.org/drawingml/2006/main">
            <a:off x="6115050" y="5791200"/>
            <a:ext cx="527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F3F6F2"/>
                </a:solidFill>
                <a:latin typeface="Arial"/>
                <a:ea typeface="Arial"/>
                <a:cs typeface="Arial"/>
              </a:defRPr>
            </a:defPPr>
          </a:lstStyle>
          <a:p xmlns:a="http://schemas.openxmlformats.org/drawingml/2006/main">
            <a:pPr algn="l">
              <a:defRPr sz="1125" b="1">
                <a:solidFill>
                  <a:srgbClr val="F3F6F2"/>
                </a:solidFill>
                <a:latin typeface="Arial"/>
                <a:ea typeface="Arial"/>
                <a:cs typeface="Arial"/>
              </a:defRPr>
            </a:pPr>
            <a:r>
              <a:rPr sz="1125" b="1">
                <a:solidFill>
                  <a:srgbClr val="F3F6F2"/>
                </a:solidFill>
                <a:latin typeface="Arial"/>
                <a:ea typeface="Arial"/>
                <a:cs typeface="Arial"/>
              </a:rPr>
              <a:t>Annual change proposes growth → separate 2025 optical + radar evidence confirms it → heat, population and vegetation rank eligible cells.</a:t>
            </a:r>
          </a:p>
        </p:txBody>
      </p:sp>
      <p:sp>
        <p:nvSpPr>
          <p:cNvPr id="32" name="">
            <a:extLst xmlns:a="http://schemas.openxmlformats.org/drawingml/2006/main">
              <a:ext uri="{FF2B5EF4-FFF2-40B4-BE49-F238E27FC236}">
                <a16:creationId xmlns:a16="http://schemas.microsoft.com/office/drawing/2014/main" id="{79B8C9C2-B5C3-49C3-9B79-B366DC2C6FFB}"/>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1754971744"/>
      </p:ext>
    </p:extLst>
  </p:cSld>
</p:sld>
</file>

<file path=ppt/slides/slide5.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C1BC330-2DF9-4DEA-9379-26DF16EED6E0}"/>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WORKING OUTPUT</a:t>
            </a:r>
          </a:p>
        </p:txBody>
      </p:sp>
      <p:sp>
        <p:nvSpPr>
          <p:cNvPr id="2" name="">
            <a:extLst xmlns:a="http://schemas.openxmlformats.org/drawingml/2006/main">
              <a:ext uri="{FF2B5EF4-FFF2-40B4-BE49-F238E27FC236}">
                <a16:creationId xmlns:a16="http://schemas.microsoft.com/office/drawing/2014/main" id="{346A6C5D-46DE-4844-85EB-CF3BD4F232CB}"/>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A ranked map a planner can inspect and export</a:t>
            </a:r>
          </a:p>
        </p:txBody>
      </p:sp>
      <p:sp>
        <p:nvSpPr>
          <p:cNvPr id="3" name="">
            <a:extLst xmlns:a="http://schemas.openxmlformats.org/drawingml/2006/main">
              <a:ext uri="{FF2B5EF4-FFF2-40B4-BE49-F238E27FC236}">
                <a16:creationId xmlns:a16="http://schemas.microsoft.com/office/drawing/2014/main" id="{87EF95AF-A84E-4E18-9E32-01837ACBA7E1}"/>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5143431B-695B-4B07-B887-405876A63A2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727327FC-F29F-4DFF-9CAB-71132AD887ED}"/>
              </a:ext>
            </a:extLst>
          </p:cNvPr>
          <p:cNvPicPr>
            <a:picLocks xmlns:a="http://schemas.openxmlformats.org/drawingml/2006/main" noChangeAspect="1"/>
          </p:cNvPicPr>
          <p:nvPr/>
        </p:nvPicPr>
        <p:blipFill>
          <a:blip xmlns:r="http://schemas.openxmlformats.org/officeDocument/2006/relationships" xmlns:a="http://schemas.openxmlformats.org/drawingml/2006/main" r:embed="Rdb4cf7ffa7874c38"/>
          <a:stretch xmlns:a="http://schemas.openxmlformats.org/drawingml/2006/main"/>
        </p:blipFill>
        <p:spPr>
          <a:xfrm xmlns:a="http://schemas.openxmlformats.org/drawingml/2006/main">
            <a:off x="1128967" y="1485900"/>
            <a:ext cx="4304790" cy="4762500"/>
          </a:xfrm>
          <a:prstGeom xmlns:a="http://schemas.openxmlformats.org/drawingml/2006/main" prst="roundRect">
            <a:avLst>
              <a:gd name="adj" fmla="val 2000"/>
            </a:avLst>
          </a:prstGeom>
        </p:spPr>
      </p:pic>
      <p:pic>
        <p:nvPicPr>
          <p:cNvPr id="6" name="">
            <a:extLst xmlns:a="http://schemas.openxmlformats.org/drawingml/2006/main">
              <a:ext uri="{FF2B5EF4-FFF2-40B4-BE49-F238E27FC236}">
                <a16:creationId xmlns:a16="http://schemas.microsoft.com/office/drawing/2014/main" id="{0EA961FC-B6D0-4DD2-8D69-81140BAF26BD}"/>
              </a:ext>
            </a:extLst>
          </p:cNvPr>
          <p:cNvPicPr>
            <a:picLocks xmlns:a="http://schemas.openxmlformats.org/drawingml/2006/main" noChangeAspect="1"/>
          </p:cNvPicPr>
          <p:nvPr/>
        </p:nvPicPr>
        <p:blipFill>
          <a:blip xmlns:r="http://schemas.openxmlformats.org/officeDocument/2006/relationships" xmlns:a="http://schemas.openxmlformats.org/drawingml/2006/main" r:embed="Rafb22ed4563e454f"/>
          <a:stretch xmlns:a="http://schemas.openxmlformats.org/drawingml/2006/main"/>
        </p:blipFill>
        <p:spPr>
          <a:xfrm xmlns:a="http://schemas.openxmlformats.org/drawingml/2006/main">
            <a:off x="6535680" y="1562100"/>
            <a:ext cx="4759439" cy="2571750"/>
          </a:xfrm>
          <a:prstGeom xmlns:a="http://schemas.openxmlformats.org/drawingml/2006/main" prst="roundRect">
            <a:avLst>
              <a:gd name="adj" fmla="val 3704"/>
            </a:avLst>
          </a:prstGeom>
        </p:spPr>
      </p:pic>
      <p:sp>
        <p:nvSpPr>
          <p:cNvPr id="7" name="">
            <a:extLst xmlns:a="http://schemas.openxmlformats.org/drawingml/2006/main">
              <a:ext uri="{FF2B5EF4-FFF2-40B4-BE49-F238E27FC236}">
                <a16:creationId xmlns:a16="http://schemas.microsoft.com/office/drawing/2014/main" id="{54A75BB6-2A4A-4902-9B99-826B70816CAF}"/>
              </a:ext>
            </a:extLst>
          </p:cNvPr>
          <p:cNvSpPr>
            <a:spLocks xmlns:a="http://schemas.openxmlformats.org/drawingml/2006/main" noGrp="1"/>
          </p:cNvSpPr>
          <p:nvPr/>
        </p:nvSpPr>
        <p:spPr>
          <a:xfrm xmlns:a="http://schemas.openxmlformats.org/drawingml/2006/main">
            <a:off x="62293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8" name="">
            <a:extLst xmlns:a="http://schemas.openxmlformats.org/drawingml/2006/main">
              <a:ext uri="{FF2B5EF4-FFF2-40B4-BE49-F238E27FC236}">
                <a16:creationId xmlns:a16="http://schemas.microsoft.com/office/drawing/2014/main" id="{47103853-32D8-4B46-B4D5-41DA364E2E13}"/>
              </a:ext>
            </a:extLst>
          </p:cNvPr>
          <p:cNvSpPr>
            <a:spLocks xmlns:a="http://schemas.openxmlformats.org/drawingml/2006/main" noGrp="1"/>
          </p:cNvSpPr>
          <p:nvPr/>
        </p:nvSpPr>
        <p:spPr>
          <a:xfrm xmlns:a="http://schemas.openxmlformats.org/drawingml/2006/main">
            <a:off x="64008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stStyle>
          <a:p xmlns:a="http://schemas.openxmlformats.org/drawingml/2006/main">
            <a:pPr algn="l">
              <a:defRPr sz="2550" b="1">
                <a:solidFill>
                  <a:srgbClr val="F06449"/>
                </a:solidFill>
                <a:latin typeface="Arial"/>
                <a:ea typeface="Arial"/>
                <a:cs typeface="Arial"/>
              </a:defRPr>
            </a:pPr>
            <a:r>
              <a:rPr sz="2550" b="1">
                <a:solidFill>
                  <a:srgbClr val="F06449"/>
                </a:solidFill>
                <a:latin typeface="Arial"/>
                <a:ea typeface="Arial"/>
                <a:cs typeface="Arial"/>
              </a:rPr>
              <a:t>3.74 km²</a:t>
            </a:r>
          </a:p>
        </p:txBody>
      </p:sp>
      <p:sp>
        <p:nvSpPr>
          <p:cNvPr id="9" name="">
            <a:extLst xmlns:a="http://schemas.openxmlformats.org/drawingml/2006/main">
              <a:ext uri="{FF2B5EF4-FFF2-40B4-BE49-F238E27FC236}">
                <a16:creationId xmlns:a16="http://schemas.microsoft.com/office/drawing/2014/main" id="{10E311B2-5506-4BDD-907F-95B0520A9DDA}"/>
              </a:ext>
            </a:extLst>
          </p:cNvPr>
          <p:cNvSpPr>
            <a:spLocks xmlns:a="http://schemas.openxmlformats.org/drawingml/2006/main" noGrp="1"/>
          </p:cNvSpPr>
          <p:nvPr/>
        </p:nvSpPr>
        <p:spPr>
          <a:xfrm xmlns:a="http://schemas.openxmlformats.org/drawingml/2006/main">
            <a:off x="64008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CONFIRMED GROWTH SIGNAL</a:t>
            </a:r>
          </a:p>
        </p:txBody>
      </p:sp>
      <p:sp>
        <p:nvSpPr>
          <p:cNvPr id="10" name="">
            <a:extLst xmlns:a="http://schemas.openxmlformats.org/drawingml/2006/main">
              <a:ext uri="{FF2B5EF4-FFF2-40B4-BE49-F238E27FC236}">
                <a16:creationId xmlns:a16="http://schemas.microsoft.com/office/drawing/2014/main" id="{5DB1CCE4-B532-42F0-96AD-CD60C6718012}"/>
              </a:ext>
            </a:extLst>
          </p:cNvPr>
          <p:cNvSpPr>
            <a:spLocks xmlns:a="http://schemas.openxmlformats.org/drawingml/2006/main" noGrp="1"/>
          </p:cNvSpPr>
          <p:nvPr/>
        </p:nvSpPr>
        <p:spPr>
          <a:xfrm xmlns:a="http://schemas.openxmlformats.org/drawingml/2006/main">
            <a:off x="80200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1" name="">
            <a:extLst xmlns:a="http://schemas.openxmlformats.org/drawingml/2006/main">
              <a:ext uri="{FF2B5EF4-FFF2-40B4-BE49-F238E27FC236}">
                <a16:creationId xmlns:a16="http://schemas.microsoft.com/office/drawing/2014/main" id="{107428D5-8258-42C7-A67D-762C2E627E96}"/>
              </a:ext>
            </a:extLst>
          </p:cNvPr>
          <p:cNvSpPr>
            <a:spLocks xmlns:a="http://schemas.openxmlformats.org/drawingml/2006/main" noGrp="1"/>
          </p:cNvSpPr>
          <p:nvPr/>
        </p:nvSpPr>
        <p:spPr>
          <a:xfrm xmlns:a="http://schemas.openxmlformats.org/drawingml/2006/main">
            <a:off x="81915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14 / 67</a:t>
            </a:r>
          </a:p>
        </p:txBody>
      </p:sp>
      <p:sp>
        <p:nvSpPr>
          <p:cNvPr id="12" name="">
            <a:extLst xmlns:a="http://schemas.openxmlformats.org/drawingml/2006/main">
              <a:ext uri="{FF2B5EF4-FFF2-40B4-BE49-F238E27FC236}">
                <a16:creationId xmlns:a16="http://schemas.microsoft.com/office/drawing/2014/main" id="{9CE169D6-D110-4937-81CF-CBE8E16A5233}"/>
              </a:ext>
            </a:extLst>
          </p:cNvPr>
          <p:cNvSpPr>
            <a:spLocks xmlns:a="http://schemas.openxmlformats.org/drawingml/2006/main" noGrp="1"/>
          </p:cNvSpPr>
          <p:nvPr/>
        </p:nvSpPr>
        <p:spPr>
          <a:xfrm xmlns:a="http://schemas.openxmlformats.org/drawingml/2006/main">
            <a:off x="81915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HIGH / ELIGIBLE CELLS</a:t>
            </a:r>
          </a:p>
        </p:txBody>
      </p:sp>
      <p:sp>
        <p:nvSpPr>
          <p:cNvPr id="13" name="">
            <a:extLst xmlns:a="http://schemas.openxmlformats.org/drawingml/2006/main">
              <a:ext uri="{FF2B5EF4-FFF2-40B4-BE49-F238E27FC236}">
                <a16:creationId xmlns:a16="http://schemas.microsoft.com/office/drawing/2014/main" id="{B678FEBD-2195-4C69-881A-E55BBFB5A885}"/>
              </a:ext>
            </a:extLst>
          </p:cNvPr>
          <p:cNvSpPr>
            <a:spLocks xmlns:a="http://schemas.openxmlformats.org/drawingml/2006/main" noGrp="1"/>
          </p:cNvSpPr>
          <p:nvPr/>
        </p:nvSpPr>
        <p:spPr>
          <a:xfrm xmlns:a="http://schemas.openxmlformats.org/drawingml/2006/main">
            <a:off x="9810750" y="43243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28B237EA-9C06-4A67-9156-40A447D67756}"/>
              </a:ext>
            </a:extLst>
          </p:cNvPr>
          <p:cNvSpPr>
            <a:spLocks xmlns:a="http://schemas.openxmlformats.org/drawingml/2006/main" noGrp="1"/>
          </p:cNvSpPr>
          <p:nvPr/>
        </p:nvSpPr>
        <p:spPr>
          <a:xfrm xmlns:a="http://schemas.openxmlformats.org/drawingml/2006/main">
            <a:off x="9982200" y="44386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78.7</a:t>
            </a:r>
          </a:p>
        </p:txBody>
      </p:sp>
      <p:sp>
        <p:nvSpPr>
          <p:cNvPr id="15" name="">
            <a:extLst xmlns:a="http://schemas.openxmlformats.org/drawingml/2006/main">
              <a:ext uri="{FF2B5EF4-FFF2-40B4-BE49-F238E27FC236}">
                <a16:creationId xmlns:a16="http://schemas.microsoft.com/office/drawing/2014/main" id="{4D6AD1A8-9B11-429E-9175-A0CA0403CB3B}"/>
              </a:ext>
            </a:extLst>
          </p:cNvPr>
          <p:cNvSpPr>
            <a:spLocks xmlns:a="http://schemas.openxmlformats.org/drawingml/2006/main" noGrp="1"/>
          </p:cNvSpPr>
          <p:nvPr/>
        </p:nvSpPr>
        <p:spPr>
          <a:xfrm xmlns:a="http://schemas.openxmlformats.org/drawingml/2006/main">
            <a:off x="9982200" y="49530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TOP SCORE: R05C10</a:t>
            </a:r>
          </a:p>
        </p:txBody>
      </p:sp>
      <p:sp>
        <p:nvSpPr>
          <p:cNvPr id="16" name="">
            <a:extLst xmlns:a="http://schemas.openxmlformats.org/drawingml/2006/main">
              <a:ext uri="{FF2B5EF4-FFF2-40B4-BE49-F238E27FC236}">
                <a16:creationId xmlns:a16="http://schemas.microsoft.com/office/drawing/2014/main" id="{02FC1F06-9852-44E0-A72F-B09244BF4006}"/>
              </a:ext>
            </a:extLst>
          </p:cNvPr>
          <p:cNvSpPr>
            <a:spLocks xmlns:a="http://schemas.openxmlformats.org/drawingml/2006/main" noGrp="1"/>
          </p:cNvSpPr>
          <p:nvPr/>
        </p:nvSpPr>
        <p:spPr>
          <a:xfrm xmlns:a="http://schemas.openxmlformats.org/drawingml/2006/main">
            <a:off x="6229350" y="5543550"/>
            <a:ext cx="5372100" cy="704850"/>
          </a:xfrm>
          <a:prstGeom xmlns:a="http://schemas.openxmlformats.org/drawingml/2006/main" prst="roundRect">
            <a:avLst>
              <a:gd name="adj" fmla="val 13514"/>
            </a:avLst>
          </a:prstGeom>
          <a:solidFill xmlns:a="http://schemas.openxmlformats.org/drawingml/2006/main">
            <a:srgbClr val="113646"/>
          </a:solidFill>
          <a:ln xmlns:a="http://schemas.openxmlformats.org/drawingml/2006/main" w="9525">
            <a:solidFill>
              <a:srgbClr val="31505F"/>
            </a:solidFill>
            <a:prstDash val="solid"/>
          </a:ln>
        </p:spPr>
      </p:sp>
      <p:sp>
        <p:nvSpPr>
          <p:cNvPr id="17" name="">
            <a:extLst xmlns:a="http://schemas.openxmlformats.org/drawingml/2006/main">
              <a:ext uri="{FF2B5EF4-FFF2-40B4-BE49-F238E27FC236}">
                <a16:creationId xmlns:a16="http://schemas.microsoft.com/office/drawing/2014/main" id="{516DC55E-3A22-4831-9A5E-07C4CBCE9B4B}"/>
              </a:ext>
            </a:extLst>
          </p:cNvPr>
          <p:cNvSpPr>
            <a:spLocks xmlns:a="http://schemas.openxmlformats.org/drawingml/2006/main" noGrp="1"/>
          </p:cNvSpPr>
          <p:nvPr/>
        </p:nvSpPr>
        <p:spPr>
          <a:xfrm xmlns:a="http://schemas.openxmlformats.org/drawingml/2006/main">
            <a:off x="6438900" y="5648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stStyle>
          <a:p xmlns:a="http://schemas.openxmlformats.org/drawingml/2006/main">
            <a:pPr algn="l">
              <a:defRPr sz="1200" b="1">
                <a:solidFill>
                  <a:srgbClr val="F3F6F2"/>
                </a:solidFill>
                <a:latin typeface="Arial"/>
                <a:ea typeface="Arial"/>
                <a:cs typeface="Arial"/>
              </a:defRPr>
            </a:pPr>
            <a:r>
              <a:rPr sz="1200" b="1">
                <a:solidFill>
                  <a:srgbClr val="F3F6F2"/>
                </a:solidFill>
                <a:latin typeface="Arial"/>
                <a:ea typeface="Arial"/>
                <a:cs typeface="Arial"/>
              </a:rPr>
              <a:t>Demo path: open dashboard → select top zone → inspect heat, population, growth and green components → export CSV/GeoJSON/GeoTIFF.</a:t>
            </a:r>
          </a:p>
        </p:txBody>
      </p:sp>
      <p:sp>
        <p:nvSpPr>
          <p:cNvPr id="18" name="">
            <a:extLst xmlns:a="http://schemas.openxmlformats.org/drawingml/2006/main">
              <a:ext uri="{FF2B5EF4-FFF2-40B4-BE49-F238E27FC236}">
                <a16:creationId xmlns:a16="http://schemas.microsoft.com/office/drawing/2014/main" id="{178EF5E6-786B-4F75-A403-CD7262AFD6EC}"/>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1125765440"/>
      </p:ext>
    </p:extLst>
  </p:cSld>
</p:sld>
</file>

<file path=ppt/slides/slide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374CFDA-FD99-4F9C-9A1F-BF2A6BC70F10}"/>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SCIENTIFIC VALIDITY</a:t>
            </a:r>
          </a:p>
        </p:txBody>
      </p:sp>
      <p:sp>
        <p:nvSpPr>
          <p:cNvPr id="2" name="">
            <a:extLst xmlns:a="http://schemas.openxmlformats.org/drawingml/2006/main">
              <a:ext uri="{FF2B5EF4-FFF2-40B4-BE49-F238E27FC236}">
                <a16:creationId xmlns:a16="http://schemas.microsoft.com/office/drawing/2014/main" id="{83C57E7D-274C-4CA7-8E08-3B48765AE568}"/>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Measured agreement, explicit assumptions, bounded claims</a:t>
            </a:r>
          </a:p>
        </p:txBody>
      </p:sp>
      <p:sp>
        <p:nvSpPr>
          <p:cNvPr id="3" name="">
            <a:extLst xmlns:a="http://schemas.openxmlformats.org/drawingml/2006/main">
              <a:ext uri="{FF2B5EF4-FFF2-40B4-BE49-F238E27FC236}">
                <a16:creationId xmlns:a16="http://schemas.microsoft.com/office/drawing/2014/main" id="{73D426EB-98E0-4B2A-8EE5-A800553753C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E6A0C29-7B36-42C1-B47F-EC2800E4CFFF}"/>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F02AD2D2-4257-4B3F-91FE-83D6799E4E7C}"/>
              </a:ext>
            </a:extLst>
          </p:cNvPr>
          <p:cNvSpPr>
            <a:spLocks xmlns:a="http://schemas.openxmlformats.org/drawingml/2006/main" noGrp="1"/>
          </p:cNvSpPr>
          <p:nvPr/>
        </p:nvSpPr>
        <p:spPr>
          <a:xfrm xmlns:a="http://schemas.openxmlformats.org/drawingml/2006/main">
            <a:off x="590550" y="15049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7F11CB78-3954-4F46-A293-6BD560BDE38C}"/>
              </a:ext>
            </a:extLst>
          </p:cNvPr>
          <p:cNvSpPr>
            <a:spLocks xmlns:a="http://schemas.openxmlformats.org/drawingml/2006/main" noGrp="1"/>
          </p:cNvSpPr>
          <p:nvPr/>
        </p:nvSpPr>
        <p:spPr>
          <a:xfrm xmlns:a="http://schemas.openxmlformats.org/drawingml/2006/main">
            <a:off x="762000" y="16192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0.88</a:t>
            </a:r>
          </a:p>
        </p:txBody>
      </p:sp>
      <p:sp>
        <p:nvSpPr>
          <p:cNvPr id="7" name="">
            <a:extLst xmlns:a="http://schemas.openxmlformats.org/drawingml/2006/main">
              <a:ext uri="{FF2B5EF4-FFF2-40B4-BE49-F238E27FC236}">
                <a16:creationId xmlns:a16="http://schemas.microsoft.com/office/drawing/2014/main" id="{7BF1FEAD-FED3-4A39-8896-23EDFAF709FC}"/>
              </a:ext>
            </a:extLst>
          </p:cNvPr>
          <p:cNvSpPr>
            <a:spLocks xmlns:a="http://schemas.openxmlformats.org/drawingml/2006/main" noGrp="1"/>
          </p:cNvSpPr>
          <p:nvPr/>
        </p:nvSpPr>
        <p:spPr>
          <a:xfrm xmlns:a="http://schemas.openxmlformats.org/drawingml/2006/main">
            <a:off x="762000" y="21336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F1 AGREEMENT</a:t>
            </a:r>
          </a:p>
        </p:txBody>
      </p:sp>
      <p:sp>
        <p:nvSpPr>
          <p:cNvPr id="8" name="">
            <a:extLst xmlns:a="http://schemas.openxmlformats.org/drawingml/2006/main">
              <a:ext uri="{FF2B5EF4-FFF2-40B4-BE49-F238E27FC236}">
                <a16:creationId xmlns:a16="http://schemas.microsoft.com/office/drawing/2014/main" id="{FA4D4DF5-780F-43F6-B93A-15B5E4BAB8C0}"/>
              </a:ext>
            </a:extLst>
          </p:cNvPr>
          <p:cNvSpPr>
            <a:spLocks xmlns:a="http://schemas.openxmlformats.org/drawingml/2006/main" noGrp="1"/>
          </p:cNvSpPr>
          <p:nvPr/>
        </p:nvSpPr>
        <p:spPr>
          <a:xfrm xmlns:a="http://schemas.openxmlformats.org/drawingml/2006/main">
            <a:off x="251460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20FA3DC0-EA09-47AB-AB13-F764BB952200}"/>
              </a:ext>
            </a:extLst>
          </p:cNvPr>
          <p:cNvSpPr>
            <a:spLocks xmlns:a="http://schemas.openxmlformats.org/drawingml/2006/main" noGrp="1"/>
          </p:cNvSpPr>
          <p:nvPr/>
        </p:nvSpPr>
        <p:spPr>
          <a:xfrm xmlns:a="http://schemas.openxmlformats.org/drawingml/2006/main">
            <a:off x="268605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stStyle>
          <a:p xmlns:a="http://schemas.openxmlformats.org/drawingml/2006/main">
            <a:pPr algn="l">
              <a:defRPr sz="2550" b="1">
                <a:solidFill>
                  <a:srgbClr val="6D5DD3"/>
                </a:solidFill>
                <a:latin typeface="Arial"/>
                <a:ea typeface="Arial"/>
                <a:cs typeface="Arial"/>
              </a:defRPr>
            </a:pPr>
            <a:r>
              <a:rPr sz="2550" b="1">
                <a:solidFill>
                  <a:srgbClr val="6D5DD3"/>
                </a:solidFill>
                <a:latin typeface="Arial"/>
                <a:ea typeface="Arial"/>
                <a:cs typeface="Arial"/>
              </a:rPr>
              <a:t>0.78</a:t>
            </a:r>
          </a:p>
        </p:txBody>
      </p:sp>
      <p:sp>
        <p:nvSpPr>
          <p:cNvPr id="10" name="">
            <a:extLst xmlns:a="http://schemas.openxmlformats.org/drawingml/2006/main">
              <a:ext uri="{FF2B5EF4-FFF2-40B4-BE49-F238E27FC236}">
                <a16:creationId xmlns:a16="http://schemas.microsoft.com/office/drawing/2014/main" id="{9F8077FD-0DAB-4F43-8B54-3A39AD86BC91}"/>
              </a:ext>
            </a:extLst>
          </p:cNvPr>
          <p:cNvSpPr>
            <a:spLocks xmlns:a="http://schemas.openxmlformats.org/drawingml/2006/main" noGrp="1"/>
          </p:cNvSpPr>
          <p:nvPr/>
        </p:nvSpPr>
        <p:spPr>
          <a:xfrm xmlns:a="http://schemas.openxmlformats.org/drawingml/2006/main">
            <a:off x="268605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INTERSECTION OVER UNION</a:t>
            </a:r>
          </a:p>
        </p:txBody>
      </p:sp>
      <p:sp>
        <p:nvSpPr>
          <p:cNvPr id="11" name="">
            <a:extLst xmlns:a="http://schemas.openxmlformats.org/drawingml/2006/main">
              <a:ext uri="{FF2B5EF4-FFF2-40B4-BE49-F238E27FC236}">
                <a16:creationId xmlns:a16="http://schemas.microsoft.com/office/drawing/2014/main" id="{4F2FFE0D-CF8B-4A31-AC76-ABD718415EAE}"/>
              </a:ext>
            </a:extLst>
          </p:cNvPr>
          <p:cNvSpPr>
            <a:spLocks xmlns:a="http://schemas.openxmlformats.org/drawingml/2006/main" noGrp="1"/>
          </p:cNvSpPr>
          <p:nvPr/>
        </p:nvSpPr>
        <p:spPr>
          <a:xfrm xmlns:a="http://schemas.openxmlformats.org/drawingml/2006/main">
            <a:off x="474345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DF920737-C290-4A82-B0C3-C0754537D31D}"/>
              </a:ext>
            </a:extLst>
          </p:cNvPr>
          <p:cNvSpPr>
            <a:spLocks xmlns:a="http://schemas.openxmlformats.org/drawingml/2006/main" noGrp="1"/>
          </p:cNvSpPr>
          <p:nvPr/>
        </p:nvSpPr>
        <p:spPr>
          <a:xfrm xmlns:a="http://schemas.openxmlformats.org/drawingml/2006/main">
            <a:off x="491490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0.89</a:t>
            </a:r>
          </a:p>
        </p:txBody>
      </p:sp>
      <p:sp>
        <p:nvSpPr>
          <p:cNvPr id="13" name="">
            <a:extLst xmlns:a="http://schemas.openxmlformats.org/drawingml/2006/main">
              <a:ext uri="{FF2B5EF4-FFF2-40B4-BE49-F238E27FC236}">
                <a16:creationId xmlns:a16="http://schemas.microsoft.com/office/drawing/2014/main" id="{8279DEFE-FD01-44E4-ACEA-F0C8F28B5C29}"/>
              </a:ext>
            </a:extLst>
          </p:cNvPr>
          <p:cNvSpPr>
            <a:spLocks xmlns:a="http://schemas.openxmlformats.org/drawingml/2006/main" noGrp="1"/>
          </p:cNvSpPr>
          <p:nvPr/>
        </p:nvSpPr>
        <p:spPr>
          <a:xfrm xmlns:a="http://schemas.openxmlformats.org/drawingml/2006/main">
            <a:off x="491490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002E6EF9-898A-4149-95B5-E5724AE61A6C}"/>
              </a:ext>
            </a:extLst>
          </p:cNvPr>
          <p:cNvSpPr>
            <a:spLocks xmlns:a="http://schemas.openxmlformats.org/drawingml/2006/main" noGrp="1"/>
          </p:cNvSpPr>
          <p:nvPr/>
        </p:nvSpPr>
        <p:spPr>
          <a:xfrm xmlns:a="http://schemas.openxmlformats.org/drawingml/2006/main">
            <a:off x="7029450" y="1504950"/>
            <a:ext cx="45720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F06449"/>
            </a:solidFill>
            <a:prstDash val="solid"/>
          </a:ln>
        </p:spPr>
      </p:sp>
      <p:sp>
        <p:nvSpPr>
          <p:cNvPr id="15" name="">
            <a:extLst xmlns:a="http://schemas.openxmlformats.org/drawingml/2006/main">
              <a:ext uri="{FF2B5EF4-FFF2-40B4-BE49-F238E27FC236}">
                <a16:creationId xmlns:a16="http://schemas.microsoft.com/office/drawing/2014/main" id="{073FC145-6291-40F0-B0FD-AA713BF58B84}"/>
              </a:ext>
            </a:extLst>
          </p:cNvPr>
          <p:cNvSpPr>
            <a:spLocks xmlns:a="http://schemas.openxmlformats.org/drawingml/2006/main" noGrp="1"/>
          </p:cNvSpPr>
          <p:nvPr/>
        </p:nvSpPr>
        <p:spPr>
          <a:xfrm xmlns:a="http://schemas.openxmlformats.org/drawingml/2006/main">
            <a:off x="7239000" y="1685925"/>
            <a:ext cx="415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F3F6F2"/>
                </a:solidFill>
                <a:latin typeface="Arial"/>
                <a:ea typeface="Arial"/>
                <a:cs typeface="Arial"/>
              </a:defRPr>
            </a:defPPr>
          </a:lstStyle>
          <a:p xmlns:a="http://schemas.openxmlformats.org/drawingml/2006/main">
            <a:pPr algn="l">
              <a:defRPr sz="1425" b="1">
                <a:solidFill>
                  <a:srgbClr val="F3F6F2"/>
                </a:solidFill>
                <a:latin typeface="Arial"/>
                <a:ea typeface="Arial"/>
                <a:cs typeface="Arial"/>
              </a:defRPr>
            </a:pPr>
            <a:r>
              <a:rPr sz="1425" b="1">
                <a:solidFill>
                  <a:srgbClr val="F3F6F2"/>
                </a:solidFill>
                <a:latin typeface="Arial"/>
                <a:ea typeface="Arial"/>
                <a:cs typeface="Arial"/>
              </a:rPr>
              <a:t>These compare the model with a spatially separate WorldCover reference. They are not field accuracy.</a:t>
            </a:r>
          </a:p>
        </p:txBody>
      </p:sp>
      <p:pic>
        <p:nvPicPr>
          <p:cNvPr id="16" name="">
            <a:extLst xmlns:a="http://schemas.openxmlformats.org/drawingml/2006/main">
              <a:ext uri="{FF2B5EF4-FFF2-40B4-BE49-F238E27FC236}">
                <a16:creationId xmlns:a16="http://schemas.microsoft.com/office/drawing/2014/main" id="{6DEA93C3-6EFA-44DB-BEA7-CBDD89EEDC1D}"/>
              </a:ext>
            </a:extLst>
          </p:cNvPr>
          <p:cNvPicPr>
            <a:picLocks xmlns:a="http://schemas.openxmlformats.org/drawingml/2006/main" noChangeAspect="1"/>
          </p:cNvPicPr>
          <p:nvPr/>
        </p:nvPicPr>
        <p:blipFill>
          <a:blip xmlns:r="http://schemas.openxmlformats.org/officeDocument/2006/relationships" xmlns:a="http://schemas.openxmlformats.org/drawingml/2006/main" r:embed="R4ce2179c8dc649d8"/>
          <a:stretch xmlns:a="http://schemas.openxmlformats.org/drawingml/2006/main"/>
        </p:blipFill>
        <p:spPr>
          <a:xfrm xmlns:a="http://schemas.openxmlformats.org/drawingml/2006/main">
            <a:off x="590550" y="2913104"/>
            <a:ext cx="7010400" cy="2974893"/>
          </a:xfrm>
          <a:prstGeom xmlns:a="http://schemas.openxmlformats.org/drawingml/2006/main" prst="roundRect">
            <a:avLst>
              <a:gd name="adj" fmla="val 2941"/>
            </a:avLst>
          </a:prstGeom>
        </p:spPr>
      </p:pic>
      <p:sp>
        <p:nvSpPr>
          <p:cNvPr id="17" name="">
            <a:extLst xmlns:a="http://schemas.openxmlformats.org/drawingml/2006/main">
              <a:ext uri="{FF2B5EF4-FFF2-40B4-BE49-F238E27FC236}">
                <a16:creationId xmlns:a16="http://schemas.microsoft.com/office/drawing/2014/main" id="{1F61B607-2B87-4985-B06C-4FA2860AEDD6}"/>
              </a:ext>
            </a:extLst>
          </p:cNvPr>
          <p:cNvSpPr>
            <a:spLocks xmlns:a="http://schemas.openxmlformats.org/drawingml/2006/main" noGrp="1"/>
          </p:cNvSpPr>
          <p:nvPr/>
        </p:nvSpPr>
        <p:spPr>
          <a:xfrm xmlns:a="http://schemas.openxmlformats.org/drawingml/2006/main">
            <a:off x="7886700" y="2781300"/>
            <a:ext cx="3714750" cy="3238500"/>
          </a:xfrm>
          <a:prstGeom xmlns:a="http://schemas.openxmlformats.org/drawingml/2006/main" prst="roundRect">
            <a:avLst>
              <a:gd name="adj" fmla="val 4118"/>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FA9464B9-1E86-4041-8986-89791E37DD07}"/>
              </a:ext>
            </a:extLst>
          </p:cNvPr>
          <p:cNvSpPr>
            <a:spLocks xmlns:a="http://schemas.openxmlformats.org/drawingml/2006/main" noGrp="1"/>
          </p:cNvSpPr>
          <p:nvPr/>
        </p:nvSpPr>
        <p:spPr>
          <a:xfrm xmlns:a="http://schemas.openxmlformats.org/drawingml/2006/main">
            <a:off x="81153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LIMITS JUDGES SHOULD HEAR</a:t>
            </a:r>
          </a:p>
        </p:txBody>
      </p:sp>
      <p:sp>
        <p:nvSpPr>
          <p:cNvPr id="19" name="">
            <a:extLst xmlns:a="http://schemas.openxmlformats.org/drawingml/2006/main">
              <a:ext uri="{FF2B5EF4-FFF2-40B4-BE49-F238E27FC236}">
                <a16:creationId xmlns:a16="http://schemas.microsoft.com/office/drawing/2014/main" id="{81C20C19-9283-47D8-B315-557F2A047877}"/>
              </a:ext>
            </a:extLst>
          </p:cNvPr>
          <p:cNvSpPr>
            <a:spLocks xmlns:a="http://schemas.openxmlformats.org/drawingml/2006/main" noGrp="1"/>
          </p:cNvSpPr>
          <p:nvPr/>
        </p:nvSpPr>
        <p:spPr>
          <a:xfrm xmlns:a="http://schemas.openxmlformats.org/drawingml/2006/main">
            <a:off x="8115300" y="3390900"/>
            <a:ext cx="209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599369FA-1B34-4078-8116-DE5044BD64AC}"/>
              </a:ext>
            </a:extLst>
          </p:cNvPr>
          <p:cNvSpPr>
            <a:spLocks xmlns:a="http://schemas.openxmlformats.org/drawingml/2006/main" noGrp="1"/>
          </p:cNvSpPr>
          <p:nvPr/>
        </p:nvSpPr>
        <p:spPr>
          <a:xfrm xmlns:a="http://schemas.openxmlformats.org/drawingml/2006/main">
            <a:off x="8362950" y="33909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Land-surface temperature is not air temperature or personal heat exposure.</a:t>
            </a:r>
          </a:p>
        </p:txBody>
      </p:sp>
      <p:sp>
        <p:nvSpPr>
          <p:cNvPr id="21" name="">
            <a:extLst xmlns:a="http://schemas.openxmlformats.org/drawingml/2006/main">
              <a:ext uri="{FF2B5EF4-FFF2-40B4-BE49-F238E27FC236}">
                <a16:creationId xmlns:a16="http://schemas.microsoft.com/office/drawing/2014/main" id="{00DA6A98-9421-4518-87F5-F0DA67D98394}"/>
              </a:ext>
            </a:extLst>
          </p:cNvPr>
          <p:cNvSpPr>
            <a:spLocks xmlns:a="http://schemas.openxmlformats.org/drawingml/2006/main" noGrp="1"/>
          </p:cNvSpPr>
          <p:nvPr/>
        </p:nvSpPr>
        <p:spPr>
          <a:xfrm xmlns:a="http://schemas.openxmlformats.org/drawingml/2006/main">
            <a:off x="8115300" y="4095750"/>
            <a:ext cx="209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C350636E-C476-4F04-BC4E-BEF25D725CC7}"/>
              </a:ext>
            </a:extLst>
          </p:cNvPr>
          <p:cNvSpPr>
            <a:spLocks xmlns:a="http://schemas.openxmlformats.org/drawingml/2006/main" noGrp="1"/>
          </p:cNvSpPr>
          <p:nvPr/>
        </p:nvSpPr>
        <p:spPr>
          <a:xfrm xmlns:a="http://schemas.openxmlformats.org/drawingml/2006/main">
            <a:off x="8362950" y="4095750"/>
            <a:ext cx="289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WorldPop is modelled; it is not a live census or worker count.</a:t>
            </a:r>
          </a:p>
        </p:txBody>
      </p:sp>
      <p:sp>
        <p:nvSpPr>
          <p:cNvPr id="23" name="">
            <a:extLst xmlns:a="http://schemas.openxmlformats.org/drawingml/2006/main">
              <a:ext uri="{FF2B5EF4-FFF2-40B4-BE49-F238E27FC236}">
                <a16:creationId xmlns:a16="http://schemas.microsoft.com/office/drawing/2014/main" id="{235A18BE-EE96-4088-B60F-81947A44DE02}"/>
              </a:ext>
            </a:extLst>
          </p:cNvPr>
          <p:cNvSpPr>
            <a:spLocks xmlns:a="http://schemas.openxmlformats.org/drawingml/2006/main" noGrp="1"/>
          </p:cNvSpPr>
          <p:nvPr/>
        </p:nvSpPr>
        <p:spPr>
          <a:xfrm xmlns:a="http://schemas.openxmlformats.org/drawingml/2006/main">
            <a:off x="8115300" y="4705350"/>
            <a:ext cx="209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1679604D-F2EC-43A1-BE15-060C598B5028}"/>
              </a:ext>
            </a:extLst>
          </p:cNvPr>
          <p:cNvSpPr>
            <a:spLocks xmlns:a="http://schemas.openxmlformats.org/drawingml/2006/main" noGrp="1"/>
          </p:cNvSpPr>
          <p:nvPr/>
        </p:nvSpPr>
        <p:spPr>
          <a:xfrm xmlns:a="http://schemas.openxmlformats.org/drawingml/2006/main">
            <a:off x="8362950" y="4705350"/>
            <a:ext cx="289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Bright desert and roofs can still confuse classification.</a:t>
            </a:r>
          </a:p>
        </p:txBody>
      </p:sp>
      <p:sp>
        <p:nvSpPr>
          <p:cNvPr id="25" name="">
            <a:extLst xmlns:a="http://schemas.openxmlformats.org/drawingml/2006/main">
              <a:ext uri="{FF2B5EF4-FFF2-40B4-BE49-F238E27FC236}">
                <a16:creationId xmlns:a16="http://schemas.microsoft.com/office/drawing/2014/main" id="{CB9D1D2A-44F4-4916-9C23-4AE8F114F5CA}"/>
              </a:ext>
            </a:extLst>
          </p:cNvPr>
          <p:cNvSpPr>
            <a:spLocks xmlns:a="http://schemas.openxmlformats.org/drawingml/2006/main" noGrp="1"/>
          </p:cNvSpPr>
          <p:nvPr/>
        </p:nvSpPr>
        <p:spPr>
          <a:xfrm xmlns:a="http://schemas.openxmlformats.org/drawingml/2006/main">
            <a:off x="8115300" y="5276850"/>
            <a:ext cx="209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B9A2E4D4-BB8D-4A6F-8241-079643027C8C}"/>
              </a:ext>
            </a:extLst>
          </p:cNvPr>
          <p:cNvSpPr>
            <a:spLocks xmlns:a="http://schemas.openxmlformats.org/drawingml/2006/main" noGrp="1"/>
          </p:cNvSpPr>
          <p:nvPr/>
        </p:nvSpPr>
        <p:spPr>
          <a:xfrm xmlns:a="http://schemas.openxmlformats.org/drawingml/2006/main">
            <a:off x="8362950" y="5276850"/>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Score weights are PoC assumptions that a real user must review.</a:t>
            </a:r>
          </a:p>
        </p:txBody>
      </p:sp>
      <p:sp>
        <p:nvSpPr>
          <p:cNvPr id="27" name="">
            <a:extLst xmlns:a="http://schemas.openxmlformats.org/drawingml/2006/main">
              <a:ext uri="{FF2B5EF4-FFF2-40B4-BE49-F238E27FC236}">
                <a16:creationId xmlns:a16="http://schemas.microsoft.com/office/drawing/2014/main" id="{A82B58FA-5037-43CD-9B37-52D97F48BE24}"/>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777902603"/>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703364C-58AB-4D25-80C8-A63F39DE3AC7}"/>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INNOVATION AND DIFFERENTIATION</a:t>
            </a:r>
          </a:p>
        </p:txBody>
      </p:sp>
      <p:sp>
        <p:nvSpPr>
          <p:cNvPr id="2" name="">
            <a:extLst xmlns:a="http://schemas.openxmlformats.org/drawingml/2006/main">
              <a:ext uri="{FF2B5EF4-FFF2-40B4-BE49-F238E27FC236}">
                <a16:creationId xmlns:a16="http://schemas.microsoft.com/office/drawing/2014/main" id="{40028A21-723D-402C-A4CD-359E9AAC17B3}"/>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The value is the evidence chain — not a black-box score</a:t>
            </a:r>
          </a:p>
        </p:txBody>
      </p:sp>
      <p:sp>
        <p:nvSpPr>
          <p:cNvPr id="3" name="">
            <a:extLst xmlns:a="http://schemas.openxmlformats.org/drawingml/2006/main">
              <a:ext uri="{FF2B5EF4-FFF2-40B4-BE49-F238E27FC236}">
                <a16:creationId xmlns:a16="http://schemas.microsoft.com/office/drawing/2014/main" id="{2669356D-94A7-4154-BEE4-157DA6C8DA53}"/>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B85F6360-F817-4DA3-839E-8108A778B3E7}"/>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DC981A58-EC73-45CB-992A-65FE47BA29BD}"/>
              </a:ext>
            </a:extLst>
          </p:cNvPr>
          <p:cNvPicPr>
            <a:picLocks xmlns:a="http://schemas.openxmlformats.org/drawingml/2006/main" noChangeAspect="1"/>
          </p:cNvPicPr>
          <p:nvPr/>
        </p:nvPicPr>
        <p:blipFill>
          <a:blip xmlns:r="http://schemas.openxmlformats.org/officeDocument/2006/relationships" xmlns:a="http://schemas.openxmlformats.org/drawingml/2006/main" r:embed="Ra5797c5f1d3f4ae0"/>
          <a:stretch xmlns:a="http://schemas.openxmlformats.org/drawingml/2006/main"/>
        </p:blipFill>
        <p:spPr>
          <a:xfrm xmlns:a="http://schemas.openxmlformats.org/drawingml/2006/main">
            <a:off x="590550" y="1964391"/>
            <a:ext cx="6477000" cy="2576793"/>
          </a:xfrm>
          <a:prstGeom xmlns:a="http://schemas.openxmlformats.org/drawingml/2006/main" prst="roundRect">
            <a:avLst>
              <a:gd name="adj" fmla="val 2817"/>
            </a:avLst>
          </a:prstGeom>
        </p:spPr>
      </p:pic>
      <p:sp>
        <p:nvSpPr>
          <p:cNvPr id="6" name="">
            <a:extLst xmlns:a="http://schemas.openxmlformats.org/drawingml/2006/main">
              <a:ext uri="{FF2B5EF4-FFF2-40B4-BE49-F238E27FC236}">
                <a16:creationId xmlns:a16="http://schemas.microsoft.com/office/drawing/2014/main" id="{378C99AB-0899-4F69-A801-6930A15CB5C6}"/>
              </a:ext>
            </a:extLst>
          </p:cNvPr>
          <p:cNvSpPr>
            <a:spLocks xmlns:a="http://schemas.openxmlformats.org/drawingml/2006/main" noGrp="1"/>
          </p:cNvSpPr>
          <p:nvPr/>
        </p:nvSpPr>
        <p:spPr>
          <a:xfrm xmlns:a="http://schemas.openxmlformats.org/drawingml/2006/main">
            <a:off x="7334250" y="1562100"/>
            <a:ext cx="4267200" cy="3381375"/>
          </a:xfrm>
          <a:prstGeom xmlns:a="http://schemas.openxmlformats.org/drawingml/2006/main" prst="roundRect">
            <a:avLst>
              <a:gd name="adj" fmla="val 3944"/>
            </a:avLst>
          </a:prstGeom>
          <a:solidFill xmlns:a="http://schemas.openxmlformats.org/drawingml/2006/main">
            <a:srgbClr val="113646"/>
          </a:solidFill>
          <a:ln xmlns:a="http://schemas.openxmlformats.org/drawingml/2006/main" w="9525">
            <a:solidFill>
              <a:srgbClr val="31505F"/>
            </a:solidFill>
            <a:prstDash val="solid"/>
          </a:ln>
        </p:spPr>
      </p:sp>
      <p:sp>
        <p:nvSpPr>
          <p:cNvPr id="7" name="">
            <a:extLst xmlns:a="http://schemas.openxmlformats.org/drawingml/2006/main">
              <a:ext uri="{FF2B5EF4-FFF2-40B4-BE49-F238E27FC236}">
                <a16:creationId xmlns:a16="http://schemas.microsoft.com/office/drawing/2014/main" id="{E195A5FD-31DF-4244-A662-1AAE1978BD0C}"/>
              </a:ext>
            </a:extLst>
          </p:cNvPr>
          <p:cNvSpPr>
            <a:spLocks xmlns:a="http://schemas.openxmlformats.org/drawingml/2006/main" noGrp="1"/>
          </p:cNvSpPr>
          <p:nvPr/>
        </p:nvSpPr>
        <p:spPr>
          <a:xfrm xmlns:a="http://schemas.openxmlformats.org/drawingml/2006/main">
            <a:off x="758190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WHAT IS DIFFERENT</a:t>
            </a:r>
          </a:p>
        </p:txBody>
      </p:sp>
      <p:sp>
        <p:nvSpPr>
          <p:cNvPr id="8" name="">
            <a:extLst xmlns:a="http://schemas.openxmlformats.org/drawingml/2006/main">
              <a:ext uri="{FF2B5EF4-FFF2-40B4-BE49-F238E27FC236}">
                <a16:creationId xmlns:a16="http://schemas.microsoft.com/office/drawing/2014/main" id="{1ED1867C-A1CA-4FB9-B922-88B3C6BC89EE}"/>
              </a:ext>
            </a:extLst>
          </p:cNvPr>
          <p:cNvSpPr>
            <a:spLocks xmlns:a="http://schemas.openxmlformats.org/drawingml/2006/main" noGrp="1"/>
          </p:cNvSpPr>
          <p:nvPr/>
        </p:nvSpPr>
        <p:spPr>
          <a:xfrm xmlns:a="http://schemas.openxmlformats.org/drawingml/2006/main">
            <a:off x="7581900" y="2209800"/>
            <a:ext cx="209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D8B0D86F-D9FC-4FC1-97B4-FA62F3F00352}"/>
              </a:ext>
            </a:extLst>
          </p:cNvPr>
          <p:cNvSpPr>
            <a:spLocks xmlns:a="http://schemas.openxmlformats.org/drawingml/2006/main" noGrp="1"/>
          </p:cNvSpPr>
          <p:nvPr/>
        </p:nvSpPr>
        <p:spPr>
          <a:xfrm xmlns:a="http://schemas.openxmlformats.org/drawingml/2006/main">
            <a:off x="7829550" y="2209800"/>
            <a:ext cx="3371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Annual maps propose change; independent optical and radar evidence confirms it.</a:t>
            </a:r>
          </a:p>
        </p:txBody>
      </p:sp>
      <p:sp>
        <p:nvSpPr>
          <p:cNvPr id="10" name="">
            <a:extLst xmlns:a="http://schemas.openxmlformats.org/drawingml/2006/main">
              <a:ext uri="{FF2B5EF4-FFF2-40B4-BE49-F238E27FC236}">
                <a16:creationId xmlns:a16="http://schemas.microsoft.com/office/drawing/2014/main" id="{AE4B1B96-03EA-43E7-8361-5C72BF216A2A}"/>
              </a:ext>
            </a:extLst>
          </p:cNvPr>
          <p:cNvSpPr>
            <a:spLocks xmlns:a="http://schemas.openxmlformats.org/drawingml/2006/main" noGrp="1"/>
          </p:cNvSpPr>
          <p:nvPr/>
        </p:nvSpPr>
        <p:spPr>
          <a:xfrm xmlns:a="http://schemas.openxmlformats.org/drawingml/2006/main">
            <a:off x="7581900" y="2990850"/>
            <a:ext cx="209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B74CC73A-CA80-472F-B3D5-2E292478B623}"/>
              </a:ext>
            </a:extLst>
          </p:cNvPr>
          <p:cNvSpPr>
            <a:spLocks xmlns:a="http://schemas.openxmlformats.org/drawingml/2006/main" noGrp="1"/>
          </p:cNvSpPr>
          <p:nvPr/>
        </p:nvSpPr>
        <p:spPr>
          <a:xfrm xmlns:a="http://schemas.openxmlformats.org/drawingml/2006/main">
            <a:off x="7829550" y="2990850"/>
            <a:ext cx="3371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Tanager tests why a simple high-NDBI-means-built rule can fail in bright desert.</a:t>
            </a:r>
          </a:p>
        </p:txBody>
      </p:sp>
      <p:sp>
        <p:nvSpPr>
          <p:cNvPr id="12" name="">
            <a:extLst xmlns:a="http://schemas.openxmlformats.org/drawingml/2006/main">
              <a:ext uri="{FF2B5EF4-FFF2-40B4-BE49-F238E27FC236}">
                <a16:creationId xmlns:a16="http://schemas.microsoft.com/office/drawing/2014/main" id="{381BDEF3-9631-4279-9645-F5D32C976424}"/>
              </a:ext>
            </a:extLst>
          </p:cNvPr>
          <p:cNvSpPr>
            <a:spLocks xmlns:a="http://schemas.openxmlformats.org/drawingml/2006/main" noGrp="1"/>
          </p:cNvSpPr>
          <p:nvPr/>
        </p:nvSpPr>
        <p:spPr>
          <a:xfrm xmlns:a="http://schemas.openxmlformats.org/drawingml/2006/main">
            <a:off x="7581900" y="3771900"/>
            <a:ext cx="209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6F44FE4E-3A0B-4365-AD95-AE7ECD0FE3FE}"/>
              </a:ext>
            </a:extLst>
          </p:cNvPr>
          <p:cNvSpPr>
            <a:spLocks xmlns:a="http://schemas.openxmlformats.org/drawingml/2006/main" noGrp="1"/>
          </p:cNvSpPr>
          <p:nvPr/>
        </p:nvSpPr>
        <p:spPr>
          <a:xfrm xmlns:a="http://schemas.openxmlformats.org/drawingml/2006/main">
            <a:off x="7829550" y="3771900"/>
            <a:ext cx="3371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Every ranked cell keeps visible score components and GIS-ready evidence.</a:t>
            </a:r>
          </a:p>
        </p:txBody>
      </p:sp>
      <p:sp>
        <p:nvSpPr>
          <p:cNvPr id="14" name="">
            <a:extLst xmlns:a="http://schemas.openxmlformats.org/drawingml/2006/main">
              <a:ext uri="{FF2B5EF4-FFF2-40B4-BE49-F238E27FC236}">
                <a16:creationId xmlns:a16="http://schemas.microsoft.com/office/drawing/2014/main" id="{ED6E9B40-DFF9-4DC7-B9F7-F115A5419B7D}"/>
              </a:ext>
            </a:extLst>
          </p:cNvPr>
          <p:cNvSpPr>
            <a:spLocks xmlns:a="http://schemas.openxmlformats.org/drawingml/2006/main" noGrp="1"/>
          </p:cNvSpPr>
          <p:nvPr/>
        </p:nvSpPr>
        <p:spPr>
          <a:xfrm xmlns:a="http://schemas.openxmlformats.org/drawingml/2006/main">
            <a:off x="7581900" y="44958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E2AD2B"/>
                </a:solidFill>
                <a:latin typeface="Arial"/>
                <a:ea typeface="Arial"/>
                <a:cs typeface="Arial"/>
              </a:defRPr>
            </a:defPPr>
          </a:lstStyle>
          <a:p xmlns:a="http://schemas.openxmlformats.org/drawingml/2006/main">
            <a:pPr algn="l">
              <a:defRPr sz="1050" b="1">
                <a:solidFill>
                  <a:srgbClr val="E2AD2B"/>
                </a:solidFill>
                <a:latin typeface="Arial"/>
                <a:ea typeface="Arial"/>
                <a:cs typeface="Arial"/>
              </a:defRPr>
            </a:pPr>
            <a:r>
              <a:rPr sz="1050" b="1">
                <a:solidFill>
                  <a:srgbClr val="E2AD2B"/>
                </a:solidFill>
                <a:latin typeface="Arial"/>
                <a:ea typeface="Arial"/>
                <a:cs typeface="Arial"/>
              </a:rPr>
              <a:t>Careful claim: one Tanager date adds material context. It does not prove change or identify specific materials.</a:t>
            </a:r>
          </a:p>
        </p:txBody>
      </p:sp>
      <p:sp>
        <p:nvSpPr>
          <p:cNvPr id="15" name="">
            <a:extLst xmlns:a="http://schemas.openxmlformats.org/drawingml/2006/main">
              <a:ext uri="{FF2B5EF4-FFF2-40B4-BE49-F238E27FC236}">
                <a16:creationId xmlns:a16="http://schemas.microsoft.com/office/drawing/2014/main" id="{B3CE1983-4521-423F-9206-129C665AEBA1}"/>
              </a:ext>
            </a:extLst>
          </p:cNvPr>
          <p:cNvSpPr>
            <a:spLocks xmlns:a="http://schemas.openxmlformats.org/drawingml/2006/main" noGrp="1"/>
          </p:cNvSpPr>
          <p:nvPr/>
        </p:nvSpPr>
        <p:spPr>
          <a:xfrm xmlns:a="http://schemas.openxmlformats.org/drawingml/2006/main">
            <a:off x="590550" y="5219700"/>
            <a:ext cx="11010900" cy="990600"/>
          </a:xfrm>
          <a:prstGeom xmlns:a="http://schemas.openxmlformats.org/drawingml/2006/main" prst="roundRect">
            <a:avLst>
              <a:gd name="adj" fmla="val 13462"/>
            </a:avLst>
          </a:prstGeom>
          <a:solidFill xmlns:a="http://schemas.openxmlformats.org/drawingml/2006/main">
            <a:srgbClr val="113646"/>
          </a:solidFill>
          <a:ln xmlns:a="http://schemas.openxmlformats.org/drawingml/2006/main" w="9525">
            <a:solidFill>
              <a:srgbClr val="31505F"/>
            </a:solidFill>
            <a:prstDash val="solid"/>
          </a:ln>
        </p:spPr>
      </p:sp>
      <p:sp>
        <p:nvSpPr>
          <p:cNvPr id="16" name="">
            <a:extLst xmlns:a="http://schemas.openxmlformats.org/drawingml/2006/main">
              <a:ext uri="{FF2B5EF4-FFF2-40B4-BE49-F238E27FC236}">
                <a16:creationId xmlns:a16="http://schemas.microsoft.com/office/drawing/2014/main" id="{B1032D07-3DCE-40DB-BAA6-2AA203EDD8DE}"/>
              </a:ext>
            </a:extLst>
          </p:cNvPr>
          <p:cNvSpPr>
            <a:spLocks xmlns:a="http://schemas.openxmlformats.org/drawingml/2006/main" noGrp="1"/>
          </p:cNvSpPr>
          <p:nvPr/>
        </p:nvSpPr>
        <p:spPr>
          <a:xfrm xmlns:a="http://schemas.openxmlformats.org/drawingml/2006/main">
            <a:off x="838200" y="5429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POTENTIAL IMPACT</a:t>
            </a:r>
          </a:p>
        </p:txBody>
      </p:sp>
      <p:sp>
        <p:nvSpPr>
          <p:cNvPr id="17" name="">
            <a:extLst xmlns:a="http://schemas.openxmlformats.org/drawingml/2006/main">
              <a:ext uri="{FF2B5EF4-FFF2-40B4-BE49-F238E27FC236}">
                <a16:creationId xmlns:a16="http://schemas.microsoft.com/office/drawing/2014/main" id="{10E1457A-D80A-4FF8-B552-E0656973B5C3}"/>
              </a:ext>
            </a:extLst>
          </p:cNvPr>
          <p:cNvSpPr>
            <a:spLocks xmlns:a="http://schemas.openxmlformats.org/drawingml/2006/main" noGrp="1"/>
          </p:cNvSpPr>
          <p:nvPr/>
        </p:nvSpPr>
        <p:spPr>
          <a:xfrm xmlns:a="http://schemas.openxmlformats.org/drawingml/2006/main">
            <a:off x="2571750" y="5372100"/>
            <a:ext cx="866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3F6F2"/>
                </a:solidFill>
                <a:latin typeface="Arial"/>
                <a:ea typeface="Arial"/>
                <a:cs typeface="Arial"/>
              </a:defRPr>
            </a:defPPr>
          </a:lstStyle>
          <a:p xmlns:a="http://schemas.openxmlformats.org/drawingml/2006/main">
            <a:pPr algn="l">
              <a:defRPr sz="1575" b="1">
                <a:solidFill>
                  <a:srgbClr val="F3F6F2"/>
                </a:solidFill>
                <a:latin typeface="Arial"/>
                <a:ea typeface="Arial"/>
                <a:cs typeface="Arial"/>
              </a:defRPr>
            </a:pPr>
            <a:r>
              <a:rPr sz="1575" b="1">
                <a:solidFill>
                  <a:srgbClr val="F3F6F2"/>
                </a:solidFill>
                <a:latin typeface="Arial"/>
                <a:ea typeface="Arial"/>
                <a:cs typeface="Arial"/>
              </a:rPr>
              <a:t>Reduce time spent comparing separate datasets and create a repeatable way to select field-inspection priorities. This is a hypothesis until real users test it.</a:t>
            </a:r>
          </a:p>
        </p:txBody>
      </p:sp>
      <p:sp>
        <p:nvSpPr>
          <p:cNvPr id="18" name="">
            <a:extLst xmlns:a="http://schemas.openxmlformats.org/drawingml/2006/main">
              <a:ext uri="{FF2B5EF4-FFF2-40B4-BE49-F238E27FC236}">
                <a16:creationId xmlns:a16="http://schemas.microsoft.com/office/drawing/2014/main" id="{253A0BCB-7088-460A-B8E9-0A1823CAF857}"/>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809213370"/>
      </p:ext>
    </p:extLst>
  </p:cSld>
</p:sld>
</file>

<file path=ppt/slides/slide8.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DC3F17B-525D-451B-89E4-5027E19E957F}"/>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DEVELOPMENT POTENTIAL</a:t>
            </a:r>
          </a:p>
        </p:txBody>
      </p:sp>
      <p:sp>
        <p:nvSpPr>
          <p:cNvPr id="2" name="">
            <a:extLst xmlns:a="http://schemas.openxmlformats.org/drawingml/2006/main">
              <a:ext uri="{FF2B5EF4-FFF2-40B4-BE49-F238E27FC236}">
                <a16:creationId xmlns:a16="http://schemas.microsoft.com/office/drawing/2014/main" id="{012ADEF2-4628-4CC1-B87A-E1B51592416B}"/>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Turn the PoC into a measured municipal pilot</a:t>
            </a:r>
          </a:p>
        </p:txBody>
      </p:sp>
      <p:sp>
        <p:nvSpPr>
          <p:cNvPr id="3" name="">
            <a:extLst xmlns:a="http://schemas.openxmlformats.org/drawingml/2006/main">
              <a:ext uri="{FF2B5EF4-FFF2-40B4-BE49-F238E27FC236}">
                <a16:creationId xmlns:a16="http://schemas.microsoft.com/office/drawing/2014/main" id="{B22CD44B-F458-4769-8C53-9CE96E046A2A}"/>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79CE1236-8BF7-4E3D-B5C6-FD7CD7E52B65}"/>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1F5796ED-5401-41B2-B54A-A63105B87B0C}"/>
              </a:ext>
            </a:extLst>
          </p:cNvPr>
          <p:cNvSpPr>
            <a:spLocks xmlns:a="http://schemas.openxmlformats.org/drawingml/2006/main" noGrp="1"/>
          </p:cNvSpPr>
          <p:nvPr/>
        </p:nvSpPr>
        <p:spPr>
          <a:xfrm xmlns:a="http://schemas.openxmlformats.org/drawingml/2006/main">
            <a:off x="59055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A1571621-F69A-4C20-92C7-B21E5D8EA626}"/>
              </a:ext>
            </a:extLst>
          </p:cNvPr>
          <p:cNvSpPr>
            <a:spLocks xmlns:a="http://schemas.openxmlformats.org/drawingml/2006/main" noGrp="1"/>
          </p:cNvSpPr>
          <p:nvPr/>
        </p:nvSpPr>
        <p:spPr>
          <a:xfrm xmlns:a="http://schemas.openxmlformats.org/drawingml/2006/main">
            <a:off x="800100" y="1885950"/>
            <a:ext cx="495300" cy="495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1</a:t>
            </a:r>
          </a:p>
        </p:txBody>
      </p:sp>
      <p:sp>
        <p:nvSpPr>
          <p:cNvPr id="7" name="">
            <a:extLst xmlns:a="http://schemas.openxmlformats.org/drawingml/2006/main">
              <a:ext uri="{FF2B5EF4-FFF2-40B4-BE49-F238E27FC236}">
                <a16:creationId xmlns:a16="http://schemas.microsoft.com/office/drawing/2014/main" id="{8E5ADFE9-2A4A-4CF1-9F3C-1BE2F802F9DB}"/>
              </a:ext>
            </a:extLst>
          </p:cNvPr>
          <p:cNvSpPr>
            <a:spLocks xmlns:a="http://schemas.openxmlformats.org/drawingml/2006/main" noGrp="1"/>
          </p:cNvSpPr>
          <p:nvPr/>
        </p:nvSpPr>
        <p:spPr>
          <a:xfrm xmlns:a="http://schemas.openxmlformats.org/drawingml/2006/main">
            <a:off x="80010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Interview</a:t>
            </a:r>
          </a:p>
        </p:txBody>
      </p:sp>
      <p:sp>
        <p:nvSpPr>
          <p:cNvPr id="8" name="">
            <a:extLst xmlns:a="http://schemas.openxmlformats.org/drawingml/2006/main">
              <a:ext uri="{FF2B5EF4-FFF2-40B4-BE49-F238E27FC236}">
                <a16:creationId xmlns:a16="http://schemas.microsoft.com/office/drawing/2014/main" id="{2843D601-D465-4746-B87B-FC38A8D53E77}"/>
              </a:ext>
            </a:extLst>
          </p:cNvPr>
          <p:cNvSpPr>
            <a:spLocks xmlns:a="http://schemas.openxmlformats.org/drawingml/2006/main" noGrp="1"/>
          </p:cNvSpPr>
          <p:nvPr/>
        </p:nvSpPr>
        <p:spPr>
          <a:xfrm xmlns:a="http://schemas.openxmlformats.org/drawingml/2006/main">
            <a:off x="80010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Confirm the decision, current workflow and acceptable false alarms with at least three real users.</a:t>
            </a:r>
          </a:p>
        </p:txBody>
      </p:sp>
      <p:sp>
        <p:nvSpPr>
          <p:cNvPr id="9" name="">
            <a:extLst xmlns:a="http://schemas.openxmlformats.org/drawingml/2006/main">
              <a:ext uri="{FF2B5EF4-FFF2-40B4-BE49-F238E27FC236}">
                <a16:creationId xmlns:a16="http://schemas.microsoft.com/office/drawing/2014/main" id="{BD1FED7A-AC44-4C3E-B45E-470D233855C1}"/>
              </a:ext>
            </a:extLst>
          </p:cNvPr>
          <p:cNvSpPr>
            <a:spLocks xmlns:a="http://schemas.openxmlformats.org/drawingml/2006/main" noGrp="1"/>
          </p:cNvSpPr>
          <p:nvPr/>
        </p:nvSpPr>
        <p:spPr>
          <a:xfrm xmlns:a="http://schemas.openxmlformats.org/drawingml/2006/main">
            <a:off x="334327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AC1E9303-4E5F-47D7-8676-781289559E64}"/>
              </a:ext>
            </a:extLst>
          </p:cNvPr>
          <p:cNvSpPr>
            <a:spLocks xmlns:a="http://schemas.openxmlformats.org/drawingml/2006/main" noGrp="1"/>
          </p:cNvSpPr>
          <p:nvPr/>
        </p:nvSpPr>
        <p:spPr>
          <a:xfrm xmlns:a="http://schemas.openxmlformats.org/drawingml/2006/main">
            <a:off x="3552825" y="1885950"/>
            <a:ext cx="495300" cy="495300"/>
          </a:xfrm>
          <a:prstGeom xmlns:a="http://schemas.openxmlformats.org/drawingml/2006/main" prst="ellipse">
            <a:avLst/>
          </a:prstGeom>
          <a:solidFill xmlns:a="http://schemas.openxmlformats.org/drawingml/2006/main">
            <a:srgbClr val="E2AD2B"/>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2</a:t>
            </a:r>
          </a:p>
        </p:txBody>
      </p:sp>
      <p:sp>
        <p:nvSpPr>
          <p:cNvPr id="11" name="">
            <a:extLst xmlns:a="http://schemas.openxmlformats.org/drawingml/2006/main">
              <a:ext uri="{FF2B5EF4-FFF2-40B4-BE49-F238E27FC236}">
                <a16:creationId xmlns:a16="http://schemas.microsoft.com/office/drawing/2014/main" id="{D7DFE479-866C-44B1-AA13-D90CAFFF8AB7}"/>
              </a:ext>
            </a:extLst>
          </p:cNvPr>
          <p:cNvSpPr>
            <a:spLocks xmlns:a="http://schemas.openxmlformats.org/drawingml/2006/main" noGrp="1"/>
          </p:cNvSpPr>
          <p:nvPr/>
        </p:nvSpPr>
        <p:spPr>
          <a:xfrm xmlns:a="http://schemas.openxmlformats.org/drawingml/2006/main">
            <a:off x="355282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Validate</a:t>
            </a:r>
          </a:p>
        </p:txBody>
      </p:sp>
      <p:sp>
        <p:nvSpPr>
          <p:cNvPr id="12" name="">
            <a:extLst xmlns:a="http://schemas.openxmlformats.org/drawingml/2006/main">
              <a:ext uri="{FF2B5EF4-FFF2-40B4-BE49-F238E27FC236}">
                <a16:creationId xmlns:a16="http://schemas.microsoft.com/office/drawing/2014/main" id="{FDCDBDC9-A6AB-4856-A718-119A64D49702}"/>
              </a:ext>
            </a:extLst>
          </p:cNvPr>
          <p:cNvSpPr>
            <a:spLocks xmlns:a="http://schemas.openxmlformats.org/drawingml/2006/main" noGrp="1"/>
          </p:cNvSpPr>
          <p:nvPr/>
        </p:nvSpPr>
        <p:spPr>
          <a:xfrm xmlns:a="http://schemas.openxmlformats.org/drawingml/2006/main">
            <a:off x="355282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Inspect the top five zones, record useful results and false alarms, and compare with local plans.</a:t>
            </a:r>
          </a:p>
        </p:txBody>
      </p:sp>
      <p:sp>
        <p:nvSpPr>
          <p:cNvPr id="13" name="">
            <a:extLst xmlns:a="http://schemas.openxmlformats.org/drawingml/2006/main">
              <a:ext uri="{FF2B5EF4-FFF2-40B4-BE49-F238E27FC236}">
                <a16:creationId xmlns:a16="http://schemas.microsoft.com/office/drawing/2014/main" id="{21CB0BFC-239A-4899-9397-CC5090F80E12}"/>
              </a:ext>
            </a:extLst>
          </p:cNvPr>
          <p:cNvSpPr>
            <a:spLocks xmlns:a="http://schemas.openxmlformats.org/drawingml/2006/main" noGrp="1"/>
          </p:cNvSpPr>
          <p:nvPr/>
        </p:nvSpPr>
        <p:spPr>
          <a:xfrm xmlns:a="http://schemas.openxmlformats.org/drawingml/2006/main">
            <a:off x="609600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1DA644B9-4017-422D-8874-ACE66DCFD800}"/>
              </a:ext>
            </a:extLst>
          </p:cNvPr>
          <p:cNvSpPr>
            <a:spLocks xmlns:a="http://schemas.openxmlformats.org/drawingml/2006/main" noGrp="1"/>
          </p:cNvSpPr>
          <p:nvPr/>
        </p:nvSpPr>
        <p:spPr>
          <a:xfrm xmlns:a="http://schemas.openxmlformats.org/drawingml/2006/main">
            <a:off x="6305550" y="1885950"/>
            <a:ext cx="495300" cy="495300"/>
          </a:xfrm>
          <a:prstGeom xmlns:a="http://schemas.openxmlformats.org/drawingml/2006/main" prst="ellipse">
            <a:avLst/>
          </a:prstGeom>
          <a:solidFill xmlns:a="http://schemas.openxmlformats.org/drawingml/2006/main">
            <a:srgbClr val="F06449"/>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3</a:t>
            </a:r>
          </a:p>
        </p:txBody>
      </p:sp>
      <p:sp>
        <p:nvSpPr>
          <p:cNvPr id="15" name="">
            <a:extLst xmlns:a="http://schemas.openxmlformats.org/drawingml/2006/main">
              <a:ext uri="{FF2B5EF4-FFF2-40B4-BE49-F238E27FC236}">
                <a16:creationId xmlns:a16="http://schemas.microsoft.com/office/drawing/2014/main" id="{95CDD119-147F-437E-9A2C-BC37268D1B0F}"/>
              </a:ext>
            </a:extLst>
          </p:cNvPr>
          <p:cNvSpPr>
            <a:spLocks xmlns:a="http://schemas.openxmlformats.org/drawingml/2006/main" noGrp="1"/>
          </p:cNvSpPr>
          <p:nvPr/>
        </p:nvSpPr>
        <p:spPr>
          <a:xfrm xmlns:a="http://schemas.openxmlformats.org/drawingml/2006/main">
            <a:off x="630555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Adapt</a:t>
            </a:r>
          </a:p>
        </p:txBody>
      </p:sp>
      <p:sp>
        <p:nvSpPr>
          <p:cNvPr id="16" name="">
            <a:extLst xmlns:a="http://schemas.openxmlformats.org/drawingml/2006/main">
              <a:ext uri="{FF2B5EF4-FFF2-40B4-BE49-F238E27FC236}">
                <a16:creationId xmlns:a16="http://schemas.microsoft.com/office/drawing/2014/main" id="{9149D504-819F-420D-AF1F-F343ED48F55E}"/>
              </a:ext>
            </a:extLst>
          </p:cNvPr>
          <p:cNvSpPr>
            <a:spLocks xmlns:a="http://schemas.openxmlformats.org/drawingml/2006/main" noGrp="1"/>
          </p:cNvSpPr>
          <p:nvPr/>
        </p:nvSpPr>
        <p:spPr>
          <a:xfrm xmlns:a="http://schemas.openxmlformats.org/drawingml/2006/main">
            <a:off x="630555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Agree on weights, add worker exposure and city-plan constraints, then rerun the ranking.</a:t>
            </a:r>
          </a:p>
        </p:txBody>
      </p:sp>
      <p:sp>
        <p:nvSpPr>
          <p:cNvPr id="17" name="">
            <a:extLst xmlns:a="http://schemas.openxmlformats.org/drawingml/2006/main">
              <a:ext uri="{FF2B5EF4-FFF2-40B4-BE49-F238E27FC236}">
                <a16:creationId xmlns:a16="http://schemas.microsoft.com/office/drawing/2014/main" id="{887FE75A-2724-4B16-8DA3-01F1B182D4DD}"/>
              </a:ext>
            </a:extLst>
          </p:cNvPr>
          <p:cNvSpPr>
            <a:spLocks xmlns:a="http://schemas.openxmlformats.org/drawingml/2006/main" noGrp="1"/>
          </p:cNvSpPr>
          <p:nvPr/>
        </p:nvSpPr>
        <p:spPr>
          <a:xfrm xmlns:a="http://schemas.openxmlformats.org/drawingml/2006/main">
            <a:off x="884872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65CA30C3-372C-4C00-A617-4DFE805BB8CD}"/>
              </a:ext>
            </a:extLst>
          </p:cNvPr>
          <p:cNvSpPr>
            <a:spLocks xmlns:a="http://schemas.openxmlformats.org/drawingml/2006/main" noGrp="1"/>
          </p:cNvSpPr>
          <p:nvPr/>
        </p:nvSpPr>
        <p:spPr>
          <a:xfrm xmlns:a="http://schemas.openxmlformats.org/drawingml/2006/main">
            <a:off x="9058275" y="1885950"/>
            <a:ext cx="495300" cy="495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4</a:t>
            </a:r>
          </a:p>
        </p:txBody>
      </p:sp>
      <p:sp>
        <p:nvSpPr>
          <p:cNvPr id="19" name="">
            <a:extLst xmlns:a="http://schemas.openxmlformats.org/drawingml/2006/main">
              <a:ext uri="{FF2B5EF4-FFF2-40B4-BE49-F238E27FC236}">
                <a16:creationId xmlns:a16="http://schemas.microsoft.com/office/drawing/2014/main" id="{FEA7895C-CB98-4713-8EFC-F52A2761B40A}"/>
              </a:ext>
            </a:extLst>
          </p:cNvPr>
          <p:cNvSpPr>
            <a:spLocks xmlns:a="http://schemas.openxmlformats.org/drawingml/2006/main" noGrp="1"/>
          </p:cNvSpPr>
          <p:nvPr/>
        </p:nvSpPr>
        <p:spPr>
          <a:xfrm xmlns:a="http://schemas.openxmlformats.org/drawingml/2006/main">
            <a:off x="905827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Scale</a:t>
            </a:r>
          </a:p>
        </p:txBody>
      </p:sp>
      <p:sp>
        <p:nvSpPr>
          <p:cNvPr id="20" name="">
            <a:extLst xmlns:a="http://schemas.openxmlformats.org/drawingml/2006/main">
              <a:ext uri="{FF2B5EF4-FFF2-40B4-BE49-F238E27FC236}">
                <a16:creationId xmlns:a16="http://schemas.microsoft.com/office/drawing/2014/main" id="{A4BBE3DD-EFC9-41FE-9A8C-4949E2317ACB}"/>
              </a:ext>
            </a:extLst>
          </p:cNvPr>
          <p:cNvSpPr>
            <a:spLocks xmlns:a="http://schemas.openxmlformats.org/drawingml/2006/main" noGrp="1"/>
          </p:cNvSpPr>
          <p:nvPr/>
        </p:nvSpPr>
        <p:spPr>
          <a:xfrm xmlns:a="http://schemas.openxmlformats.org/drawingml/2006/main">
            <a:off x="905827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Test a repeatable update in another Riyadh area before any operational deployment claim.</a:t>
            </a:r>
          </a:p>
        </p:txBody>
      </p:sp>
      <p:sp>
        <p:nvSpPr>
          <p:cNvPr id="21" name="">
            <a:extLst xmlns:a="http://schemas.openxmlformats.org/drawingml/2006/main">
              <a:ext uri="{FF2B5EF4-FFF2-40B4-BE49-F238E27FC236}">
                <a16:creationId xmlns:a16="http://schemas.microsoft.com/office/drawing/2014/main" id="{759EAD20-7F94-4B24-9254-8F32A834427E}"/>
              </a:ext>
            </a:extLst>
          </p:cNvPr>
          <p:cNvSpPr>
            <a:spLocks xmlns:a="http://schemas.openxmlformats.org/drawingml/2006/main" noGrp="1"/>
          </p:cNvSpPr>
          <p:nvPr/>
        </p:nvSpPr>
        <p:spPr>
          <a:xfrm xmlns:a="http://schemas.openxmlformats.org/drawingml/2006/main">
            <a:off x="590550" y="4762500"/>
            <a:ext cx="11010900" cy="1352550"/>
          </a:xfrm>
          <a:prstGeom xmlns:a="http://schemas.openxmlformats.org/drawingml/2006/main" prst="roundRect">
            <a:avLst>
              <a:gd name="adj" fmla="val 11268"/>
            </a:avLst>
          </a:prstGeom>
          <a:solidFill xmlns:a="http://schemas.openxmlformats.org/drawingml/2006/main">
            <a:srgbClr val="0D2A3A"/>
          </a:solidFill>
          <a:ln xmlns:a="http://schemas.openxmlformats.org/drawingml/2006/main" w="9525">
            <a:solidFill>
              <a:srgbClr val="1AA58F"/>
            </a:solidFill>
            <a:prstDash val="solid"/>
          </a:ln>
        </p:spPr>
      </p:sp>
      <p:sp>
        <p:nvSpPr>
          <p:cNvPr id="22" name="">
            <a:extLst xmlns:a="http://schemas.openxmlformats.org/drawingml/2006/main">
              <a:ext uri="{FF2B5EF4-FFF2-40B4-BE49-F238E27FC236}">
                <a16:creationId xmlns:a16="http://schemas.microsoft.com/office/drawing/2014/main" id="{2DA1AA00-257E-4B8F-8142-6A2A4B972E21}"/>
              </a:ext>
            </a:extLst>
          </p:cNvPr>
          <p:cNvSpPr>
            <a:spLocks xmlns:a="http://schemas.openxmlformats.org/drawingml/2006/main" noGrp="1"/>
          </p:cNvSpPr>
          <p:nvPr/>
        </p:nvSpPr>
        <p:spPr>
          <a:xfrm xmlns:a="http://schemas.openxmlformats.org/drawingml/2006/main">
            <a:off x="838200" y="5010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THE FINAL ASK</a:t>
            </a:r>
          </a:p>
        </p:txBody>
      </p:sp>
      <p:sp>
        <p:nvSpPr>
          <p:cNvPr id="23" name="">
            <a:extLst xmlns:a="http://schemas.openxmlformats.org/drawingml/2006/main">
              <a:ext uri="{FF2B5EF4-FFF2-40B4-BE49-F238E27FC236}">
                <a16:creationId xmlns:a16="http://schemas.microsoft.com/office/drawing/2014/main" id="{436BE64B-822F-4A2E-884C-2158A0DBE809}"/>
              </a:ext>
            </a:extLst>
          </p:cNvPr>
          <p:cNvSpPr>
            <a:spLocks xmlns:a="http://schemas.openxmlformats.org/drawingml/2006/main" noGrp="1"/>
          </p:cNvSpPr>
          <p:nvPr/>
        </p:nvSpPr>
        <p:spPr>
          <a:xfrm xmlns:a="http://schemas.openxmlformats.org/drawingml/2006/main">
            <a:off x="838200" y="53340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Support one municipal pilot that tests whether HeatReady helps a real team choose where to inspect first — with measurable false alarms, user feedback and updated weights.</a:t>
            </a:r>
          </a:p>
        </p:txBody>
      </p:sp>
      <p:sp>
        <p:nvSpPr>
          <p:cNvPr id="24" name="">
            <a:extLst xmlns:a="http://schemas.openxmlformats.org/drawingml/2006/main">
              <a:ext uri="{FF2B5EF4-FFF2-40B4-BE49-F238E27FC236}">
                <a16:creationId xmlns:a16="http://schemas.microsoft.com/office/drawing/2014/main" id="{B7FFF03F-DAA8-45D8-9E15-75BB367627DD}"/>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506550272"/>
      </p:ext>
    </p:extLst>
  </p:cSld>
</p:sld>
</file>

<file path=ppt/slides/slide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FE7835-DCAB-4B31-96C6-C41FFF89278F}"/>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40D3B2F0-D873-4EC1-A468-6EC7242C407F}"/>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Exact data roles and dates</a:t>
            </a:r>
          </a:p>
        </p:txBody>
      </p:sp>
      <p:sp>
        <p:nvSpPr>
          <p:cNvPr id="3" name="">
            <a:extLst xmlns:a="http://schemas.openxmlformats.org/drawingml/2006/main">
              <a:ext uri="{FF2B5EF4-FFF2-40B4-BE49-F238E27FC236}">
                <a16:creationId xmlns:a16="http://schemas.microsoft.com/office/drawing/2014/main" id="{7A7A3C78-F600-45E3-A293-A600A73130AA}"/>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AA4A1AFE-0B6F-4FFE-BD9E-46E396DF7988}"/>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graphicFrame>
        <p:nvGraphicFramePr>
          <p:cNvPr id="5" name="">
            <a:extLst xmlns:a="http://schemas.openxmlformats.org/drawingml/2006/main">
              <a:ext uri="{FF2B5EF4-FFF2-40B4-BE49-F238E27FC236}">
                <a16:creationId xmlns:a16="http://schemas.microsoft.com/office/drawing/2014/main" id="{550CC00B-D8D2-423C-9052-2BF560D87CA4}"/>
              </a:ext>
            </a:extLst>
          </p:cNvPr>
          <p:cNvGraphicFramePr/>
          <p:nvPr/>
        </p:nvGraphicFramePr>
        <p:xfrm>
          <a:off xmlns:a="http://schemas.openxmlformats.org/drawingml/2006/main" x="590550" y="1562100"/>
          <a:ext xmlns:a="http://schemas.openxmlformats.org/drawingml/2006/main" cx="11010900" cy="4191000"/>
        </p:xfrm>
        <a:graphic xmlns:a="http://schemas.openxmlformats.org/drawingml/2006/main">
          <a:graphicData uri="http://schemas.openxmlformats.org/drawingml/2006/table">
            <a:tbl>
              <a:tblPr/>
              <a:tblGrid>
                <a:gridCol w="2095500"/>
                <a:gridCol w="2476500"/>
                <a:gridCol w="3905250"/>
                <a:gridCol w="2533650"/>
              </a:tblGrid>
              <a:tr h="523875">
                <a:tc>
                  <a:txBody>
                    <a:bodyPr/>
                    <a:lstStyle/>
                    <a:p>
                      <a:r>
                        <a:rPr sz="1050" b="1">
                          <a:solidFill>
                            <a:srgbClr val="F3F6F2"/>
                          </a:solidFill>
                        </a:rPr>
                        <a:t>Source</a:t>
                      </a:r>
                    </a:p>
                  </a:txBody>
                  <a:tcPr marL="95250" marR="95250" marT="76200" marB="76200">
                    <a:lnL w="9525">
                      <a:solidFill>
                        <a:srgbClr val="31505F"/>
                      </a:solidFill>
                      <a:prstDash val="solid"/>
                    </a:lnL>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Dates used</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Role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Access / licence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r>
              <a:tr h="523875">
                <a:tc>
                  <a:txBody>
                    <a:bodyPr/>
                    <a:lstStyle/>
                    <a:p>
                      <a:r>
                        <a:rPr sz="900">
                          <a:solidFill>
                            <a:srgbClr val="F3F6F2"/>
                          </a:solidFill>
                        </a:rPr>
                        <a:t>Sentinel-2 L2A</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11 May 2018; 10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Optical features, masks, vegetation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Copernicus open access</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Sentinel-1 RTC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2018; 6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Radar structure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Microsoft PC;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IO/Esri annual LULC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2018–2023</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Trend + candidate endpoint change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Landsat 8 C2 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Land-surface temperature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US public domain</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ESA WorldCover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2021</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Spatial holdout reference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WorldPop Global2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Modelled population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Planet Tanager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15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Spectral context + sensitivity test</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Open urban archive;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bl>
          </a:graphicData>
        </a:graphic>
      </p:graphicFrame>
      <p:sp>
        <p:nvSpPr>
          <p:cNvPr id="6" name="">
            <a:extLst xmlns:a="http://schemas.openxmlformats.org/drawingml/2006/main">
              <a:ext uri="{FF2B5EF4-FFF2-40B4-BE49-F238E27FC236}">
                <a16:creationId xmlns:a16="http://schemas.microsoft.com/office/drawing/2014/main" id="{922EC8EB-851B-46CF-BDAE-30FBDD1F3338}"/>
              </a:ext>
            </a:extLst>
          </p:cNvPr>
          <p:cNvSpPr>
            <a:spLocks xmlns:a="http://schemas.openxmlformats.org/drawingml/2006/main" noGrp="1"/>
          </p:cNvSpPr>
          <p:nvPr/>
        </p:nvSpPr>
        <p:spPr>
          <a:xfrm xmlns:a="http://schemas.openxmlformats.org/drawingml/2006/main">
            <a:off x="590550" y="5924550"/>
            <a:ext cx="1101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E2AD2B"/>
                </a:solidFill>
                <a:latin typeface="Arial"/>
                <a:ea typeface="Arial"/>
                <a:cs typeface="Arial"/>
              </a:defRPr>
            </a:defPPr>
          </a:lstStyle>
          <a:p xmlns:a="http://schemas.openxmlformats.org/drawingml/2006/main">
            <a:pPr algn="l">
              <a:defRPr sz="1125" b="1">
                <a:solidFill>
                  <a:srgbClr val="E2AD2B"/>
                </a:solidFill>
                <a:latin typeface="Arial"/>
                <a:ea typeface="Arial"/>
                <a:cs typeface="Arial"/>
              </a:defRPr>
            </a:pPr>
            <a:r>
              <a:rPr sz="1125" b="1">
                <a:solidFill>
                  <a:srgbClr val="E2AD2B"/>
                </a:solidFill>
                <a:latin typeface="Arial"/>
                <a:ea typeface="Arial"/>
                <a:cs typeface="Arial"/>
              </a:rPr>
              <a:t>Exact item IDs, URLs, processing and attribution are in config.json and docs/DATA_AND_LICENSES.md. The PoC does not use Satellite 813 or restricted imagery.</a:t>
            </a:r>
          </a:p>
        </p:txBody>
      </p:sp>
      <p:sp>
        <p:nvSpPr>
          <p:cNvPr id="7" name="">
            <a:extLst xmlns:a="http://schemas.openxmlformats.org/drawingml/2006/main">
              <a:ext uri="{FF2B5EF4-FFF2-40B4-BE49-F238E27FC236}">
                <a16:creationId xmlns:a16="http://schemas.microsoft.com/office/drawing/2014/main" id="{8F94B323-553A-42AD-A5C3-85C837B95F41}"/>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APPENDIX  •  MILKAHOLICS  •  ARAB YOUTH SPACE HACKATHON: 813 CHALLENGE</a:t>
            </a:r>
          </a:p>
        </p:txBody>
      </p:sp>
    </p:spTree>
    <p:extLst>
      <p:ext uri="{BB962C8B-B14F-4D97-AF65-F5344CB8AC3E}">
        <p14:creationId xmlns:p14="http://schemas.microsoft.com/office/powerpoint/2010/main" val="258467650"/>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C249EEF-A12F-4415-A975-542CDE3DAB7A}"/>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What the validation can — and cannot — prove</a:t>
            </a:r>
          </a:p>
        </p:txBody>
      </p:sp>
      <p:sp>
        <p:nvSpPr>
          <p:cNvPr id="2" name="">
            <a:extLst xmlns:a="http://schemas.openxmlformats.org/drawingml/2006/main">
              <a:ext uri="{FF2B5EF4-FFF2-40B4-BE49-F238E27FC236}">
                <a16:creationId xmlns:a16="http://schemas.microsoft.com/office/drawing/2014/main" id="{869EF787-C640-4841-9C13-0ABA11D5A605}"/>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3" name="">
            <a:extLst xmlns:a="http://schemas.openxmlformats.org/drawingml/2006/main">
              <a:ext uri="{FF2B5EF4-FFF2-40B4-BE49-F238E27FC236}">
                <a16:creationId xmlns:a16="http://schemas.microsoft.com/office/drawing/2014/main" id="{75B66940-1EED-4E61-96D0-FCC87D715DB8}"/>
              </a:ext>
            </a:extLst>
          </p:cNvPr>
          <p:cNvPicPr>
            <a:picLocks xmlns:a="http://schemas.openxmlformats.org/drawingml/2006/main" noChangeAspect="1"/>
          </p:cNvPicPr>
          <p:nvPr/>
        </p:nvPicPr>
        <p:blipFill>
          <a:blip xmlns:r="http://schemas.openxmlformats.org/officeDocument/2006/relationships" xmlns:a="http://schemas.openxmlformats.org/drawingml/2006/main" r:embed="R05663c2dbb9d44d2"/>
          <a:stretch xmlns:a="http://schemas.openxmlformats.org/drawingml/2006/main"/>
        </p:blipFill>
        <p:spPr>
          <a:xfrm xmlns:a="http://schemas.openxmlformats.org/drawingml/2006/main">
            <a:off x="590550" y="1962958"/>
            <a:ext cx="6191250" cy="2627283"/>
          </a:xfrm>
          <a:prstGeom xmlns:a="http://schemas.openxmlformats.org/drawingml/2006/main" prst="roundRect">
            <a:avLst>
              <a:gd name="adj" fmla="val 2778"/>
            </a:avLst>
          </a:prstGeom>
        </p:spPr>
      </p:pic>
      <p:pic>
        <p:nvPicPr>
          <p:cNvPr id="4" name="">
            <a:extLst xmlns:a="http://schemas.openxmlformats.org/drawingml/2006/main">
              <a:ext uri="{FF2B5EF4-FFF2-40B4-BE49-F238E27FC236}">
                <a16:creationId xmlns:a16="http://schemas.microsoft.com/office/drawing/2014/main" id="{51CC1427-3356-4E95-8415-FB196346AB39}"/>
              </a:ext>
            </a:extLst>
          </p:cNvPr>
          <p:cNvPicPr>
            <a:picLocks xmlns:a="http://schemas.openxmlformats.org/drawingml/2006/main" noChangeAspect="1"/>
          </p:cNvPicPr>
          <p:nvPr/>
        </p:nvPicPr>
        <p:blipFill>
          <a:blip xmlns:r="http://schemas.openxmlformats.org/officeDocument/2006/relationships" xmlns:a="http://schemas.openxmlformats.org/drawingml/2006/main" r:embed="R34c9fb564e9642d6"/>
          <a:stretch xmlns:a="http://schemas.openxmlformats.org/drawingml/2006/main"/>
        </p:blipFill>
        <p:spPr>
          <a:xfrm xmlns:a="http://schemas.openxmlformats.org/drawingml/2006/main">
            <a:off x="2699253" y="5143500"/>
            <a:ext cx="1973844" cy="1095375"/>
          </a:xfrm>
          <a:prstGeom xmlns:a="http://schemas.openxmlformats.org/drawingml/2006/main" prst="roundRect">
            <a:avLst>
              <a:gd name="adj" fmla="val 8696"/>
            </a:avLst>
          </a:prstGeom>
        </p:spPr>
      </p:pic>
      <p:sp>
        <p:nvSpPr>
          <p:cNvPr id="5" name="">
            <a:extLst xmlns:a="http://schemas.openxmlformats.org/drawingml/2006/main">
              <a:ext uri="{FF2B5EF4-FFF2-40B4-BE49-F238E27FC236}">
                <a16:creationId xmlns:a16="http://schemas.microsoft.com/office/drawing/2014/main" id="{49A44DD7-10E0-446D-ACC0-A70196D6B6C1}"/>
              </a:ext>
            </a:extLst>
          </p:cNvPr>
          <p:cNvSpPr>
            <a:spLocks xmlns:a="http://schemas.openxmlformats.org/drawingml/2006/main" noGrp="1"/>
          </p:cNvSpPr>
          <p:nvPr/>
        </p:nvSpPr>
        <p:spPr>
          <a:xfrm xmlns:a="http://schemas.openxmlformats.org/drawingml/2006/main">
            <a:off x="7067550" y="1562100"/>
            <a:ext cx="4533900" cy="4676775"/>
          </a:xfrm>
          <a:prstGeom xmlns:a="http://schemas.openxmlformats.org/drawingml/2006/main" prst="roundRect">
            <a:avLst>
              <a:gd name="adj" fmla="val 2941"/>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931069EE-6CF4-457E-8A13-17972759510D}"/>
              </a:ext>
            </a:extLst>
          </p:cNvPr>
          <p:cNvSpPr>
            <a:spLocks xmlns:a="http://schemas.openxmlformats.org/drawingml/2006/main" noGrp="1"/>
          </p:cNvSpPr>
          <p:nvPr/>
        </p:nvSpPr>
        <p:spPr>
          <a:xfrm xmlns:a="http://schemas.openxmlformats.org/drawingml/2006/main">
            <a:off x="7334250" y="1809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VALIDATION LOGIC</a:t>
            </a:r>
          </a:p>
        </p:txBody>
      </p:sp>
      <p:sp>
        <p:nvSpPr>
          <p:cNvPr id="7" name="">
            <a:extLst xmlns:a="http://schemas.openxmlformats.org/drawingml/2006/main">
              <a:ext uri="{FF2B5EF4-FFF2-40B4-BE49-F238E27FC236}">
                <a16:creationId xmlns:a16="http://schemas.microsoft.com/office/drawing/2014/main" id="{4D8E7FB9-B92A-4923-BC30-2FB23B6CBB07}"/>
              </a:ext>
            </a:extLst>
          </p:cNvPr>
          <p:cNvSpPr>
            <a:spLocks xmlns:a="http://schemas.openxmlformats.org/drawingml/2006/main" noGrp="1"/>
          </p:cNvSpPr>
          <p:nvPr/>
        </p:nvSpPr>
        <p:spPr>
          <a:xfrm xmlns:a="http://schemas.openxmlformats.org/drawingml/2006/main">
            <a:off x="7334250" y="2171700"/>
            <a:ext cx="209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AA58F"/>
                </a:solidFill>
                <a:latin typeface="Arial"/>
                <a:ea typeface="Arial"/>
                <a:cs typeface="Arial"/>
              </a:defRPr>
            </a:defPPr>
          </a:lstStyle>
          <a:p xmlns:a="http://schemas.openxmlformats.org/drawingml/2006/main">
            <a:pPr algn="l">
              <a:defRPr sz="1575" b="1">
                <a:solidFill>
                  <a:srgbClr val="1AA58F"/>
                </a:solidFill>
                <a:latin typeface="Arial"/>
                <a:ea typeface="Arial"/>
                <a:cs typeface="Arial"/>
              </a:defRPr>
            </a:pPr>
            <a:r>
              <a:rPr sz="1575" b="1">
                <a:solidFill>
                  <a:srgbClr val="1AA58F"/>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11107C3B-A49E-4404-AC77-03114EFDE43A}"/>
              </a:ext>
            </a:extLst>
          </p:cNvPr>
          <p:cNvSpPr>
            <a:spLocks xmlns:a="http://schemas.openxmlformats.org/drawingml/2006/main" noGrp="1"/>
          </p:cNvSpPr>
          <p:nvPr/>
        </p:nvSpPr>
        <p:spPr>
          <a:xfrm xmlns:a="http://schemas.openxmlformats.org/drawingml/2006/main">
            <a:off x="7581900" y="2171700"/>
            <a:ext cx="3638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a:solidFill>
                  <a:srgbClr val="F3F6F2"/>
                </a:solidFill>
                <a:latin typeface="Arial"/>
                <a:ea typeface="Arial"/>
                <a:cs typeface="Arial"/>
              </a:defRPr>
            </a:defPPr>
          </a:lstStyle>
          <a:p xmlns:a="http://schemas.openxmlformats.org/drawingml/2006/main">
            <a:pPr algn="l">
              <a:defRPr sz="1275">
                <a:solidFill>
                  <a:srgbClr val="F3F6F2"/>
                </a:solidFill>
                <a:latin typeface="Arial"/>
                <a:ea typeface="Arial"/>
                <a:cs typeface="Arial"/>
              </a:defRPr>
            </a:pPr>
            <a:r>
              <a:rPr sz="1275">
                <a:solidFill>
                  <a:srgbClr val="F3F6F2"/>
                </a:solidFill>
                <a:latin typeface="Arial"/>
                <a:ea typeface="Arial"/>
                <a:cs typeface="Arial"/>
              </a:rPr>
              <a:t>West strip trains; middle strip tunes; east strip tests against WorldCover.</a:t>
            </a:r>
          </a:p>
        </p:txBody>
      </p:sp>
      <p:sp>
        <p:nvSpPr>
          <p:cNvPr id="9" name="">
            <a:extLst xmlns:a="http://schemas.openxmlformats.org/drawingml/2006/main">
              <a:ext uri="{FF2B5EF4-FFF2-40B4-BE49-F238E27FC236}">
                <a16:creationId xmlns:a16="http://schemas.microsoft.com/office/drawing/2014/main" id="{8E5E3C14-5E7B-4A9D-88A0-EE039D3F1638}"/>
              </a:ext>
            </a:extLst>
          </p:cNvPr>
          <p:cNvSpPr>
            <a:spLocks xmlns:a="http://schemas.openxmlformats.org/drawingml/2006/main" noGrp="1"/>
          </p:cNvSpPr>
          <p:nvPr/>
        </p:nvSpPr>
        <p:spPr>
          <a:xfrm xmlns:a="http://schemas.openxmlformats.org/drawingml/2006/main">
            <a:off x="7334250" y="2857500"/>
            <a:ext cx="209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AA58F"/>
                </a:solidFill>
                <a:latin typeface="Arial"/>
                <a:ea typeface="Arial"/>
                <a:cs typeface="Arial"/>
              </a:defRPr>
            </a:defPPr>
          </a:lstStyle>
          <a:p xmlns:a="http://schemas.openxmlformats.org/drawingml/2006/main">
            <a:pPr algn="l">
              <a:defRPr sz="1575" b="1">
                <a:solidFill>
                  <a:srgbClr val="1AA58F"/>
                </a:solidFill>
                <a:latin typeface="Arial"/>
                <a:ea typeface="Arial"/>
                <a:cs typeface="Arial"/>
              </a:defRPr>
            </a:pPr>
            <a:r>
              <a:rPr sz="1575" b="1">
                <a:solidFill>
                  <a:srgbClr val="1AA58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FF56938A-E15B-45B4-A00C-6FB337A4BC59}"/>
              </a:ext>
            </a:extLst>
          </p:cNvPr>
          <p:cNvSpPr>
            <a:spLocks xmlns:a="http://schemas.openxmlformats.org/drawingml/2006/main" noGrp="1"/>
          </p:cNvSpPr>
          <p:nvPr/>
        </p:nvSpPr>
        <p:spPr>
          <a:xfrm xmlns:a="http://schemas.openxmlformats.org/drawingml/2006/main">
            <a:off x="7581900" y="2857500"/>
            <a:ext cx="3638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a:solidFill>
                  <a:srgbClr val="F3F6F2"/>
                </a:solidFill>
                <a:latin typeface="Arial"/>
                <a:ea typeface="Arial"/>
                <a:cs typeface="Arial"/>
              </a:defRPr>
            </a:defPPr>
          </a:lstStyle>
          <a:p xmlns:a="http://schemas.openxmlformats.org/drawingml/2006/main">
            <a:pPr algn="l">
              <a:defRPr sz="1275">
                <a:solidFill>
                  <a:srgbClr val="F3F6F2"/>
                </a:solidFill>
                <a:latin typeface="Arial"/>
                <a:ea typeface="Arial"/>
                <a:cs typeface="Arial"/>
              </a:defRPr>
            </a:pPr>
            <a:r>
              <a:rPr sz="1275">
                <a:solidFill>
                  <a:srgbClr val="F3F6F2"/>
                </a:solidFill>
                <a:latin typeface="Arial"/>
                <a:ea typeface="Arial"/>
                <a:cs typeface="Arial"/>
              </a:rPr>
              <a:t>The test set is spatially separate and contains more than 10,000 reference pixels.</a:t>
            </a:r>
          </a:p>
        </p:txBody>
      </p:sp>
      <p:sp>
        <p:nvSpPr>
          <p:cNvPr id="11" name="">
            <a:extLst xmlns:a="http://schemas.openxmlformats.org/drawingml/2006/main">
              <a:ext uri="{FF2B5EF4-FFF2-40B4-BE49-F238E27FC236}">
                <a16:creationId xmlns:a16="http://schemas.microsoft.com/office/drawing/2014/main" id="{B8DA6B77-6CBD-4956-A85E-A8C29826F0FE}"/>
              </a:ext>
            </a:extLst>
          </p:cNvPr>
          <p:cNvSpPr>
            <a:spLocks xmlns:a="http://schemas.openxmlformats.org/drawingml/2006/main" noGrp="1"/>
          </p:cNvSpPr>
          <p:nvPr/>
        </p:nvSpPr>
        <p:spPr>
          <a:xfrm xmlns:a="http://schemas.openxmlformats.org/drawingml/2006/main">
            <a:off x="7334250" y="3543300"/>
            <a:ext cx="209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AA58F"/>
                </a:solidFill>
                <a:latin typeface="Arial"/>
                <a:ea typeface="Arial"/>
                <a:cs typeface="Arial"/>
              </a:defRPr>
            </a:defPPr>
          </a:lstStyle>
          <a:p xmlns:a="http://schemas.openxmlformats.org/drawingml/2006/main">
            <a:pPr algn="l">
              <a:defRPr sz="1575" b="1">
                <a:solidFill>
                  <a:srgbClr val="1AA58F"/>
                </a:solidFill>
                <a:latin typeface="Arial"/>
                <a:ea typeface="Arial"/>
                <a:cs typeface="Arial"/>
              </a:defRPr>
            </a:pPr>
            <a:r>
              <a:rPr sz="1575" b="1">
                <a:solidFill>
                  <a:srgbClr val="1AA58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4A9411CD-771A-4225-A6A5-DB8841616968}"/>
              </a:ext>
            </a:extLst>
          </p:cNvPr>
          <p:cNvSpPr>
            <a:spLocks xmlns:a="http://schemas.openxmlformats.org/drawingml/2006/main" noGrp="1"/>
          </p:cNvSpPr>
          <p:nvPr/>
        </p:nvSpPr>
        <p:spPr>
          <a:xfrm xmlns:a="http://schemas.openxmlformats.org/drawingml/2006/main">
            <a:off x="7581900" y="3543300"/>
            <a:ext cx="3638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a:solidFill>
                  <a:srgbClr val="F3F6F2"/>
                </a:solidFill>
                <a:latin typeface="Arial"/>
                <a:ea typeface="Arial"/>
                <a:cs typeface="Arial"/>
              </a:defRPr>
            </a:defPPr>
          </a:lstStyle>
          <a:p xmlns:a="http://schemas.openxmlformats.org/drawingml/2006/main">
            <a:pPr algn="l">
              <a:defRPr sz="1275">
                <a:solidFill>
                  <a:srgbClr val="F3F6F2"/>
                </a:solidFill>
                <a:latin typeface="Arial"/>
                <a:ea typeface="Arial"/>
                <a:cs typeface="Arial"/>
              </a:defRPr>
            </a:pPr>
            <a:r>
              <a:rPr sz="1275">
                <a:solidFill>
                  <a:srgbClr val="F3F6F2"/>
                </a:solidFill>
                <a:latin typeface="Arial"/>
                <a:ea typeface="Arial"/>
                <a:cs typeface="Arial"/>
              </a:rPr>
              <a:t>The annual time series supports trend interpretation; the 2022 dip shows why it is not construction truth.</a:t>
            </a:r>
          </a:p>
        </p:txBody>
      </p:sp>
      <p:sp>
        <p:nvSpPr>
          <p:cNvPr id="13" name="">
            <a:extLst xmlns:a="http://schemas.openxmlformats.org/drawingml/2006/main">
              <a:ext uri="{FF2B5EF4-FFF2-40B4-BE49-F238E27FC236}">
                <a16:creationId xmlns:a16="http://schemas.microsoft.com/office/drawing/2014/main" id="{57CE7125-5BDD-4F1E-B640-D8E451060A1C}"/>
              </a:ext>
            </a:extLst>
          </p:cNvPr>
          <p:cNvSpPr>
            <a:spLocks xmlns:a="http://schemas.openxmlformats.org/drawingml/2006/main" noGrp="1"/>
          </p:cNvSpPr>
          <p:nvPr/>
        </p:nvSpPr>
        <p:spPr>
          <a:xfrm xmlns:a="http://schemas.openxmlformats.org/drawingml/2006/main">
            <a:off x="7334250" y="4400550"/>
            <a:ext cx="2095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AA58F"/>
                </a:solidFill>
                <a:latin typeface="Arial"/>
                <a:ea typeface="Arial"/>
                <a:cs typeface="Arial"/>
              </a:defRPr>
            </a:defPPr>
          </a:lstStyle>
          <a:p xmlns:a="http://schemas.openxmlformats.org/drawingml/2006/main">
            <a:pPr algn="l">
              <a:defRPr sz="1575" b="1">
                <a:solidFill>
                  <a:srgbClr val="1AA58F"/>
                </a:solidFill>
                <a:latin typeface="Arial"/>
                <a:ea typeface="Arial"/>
                <a:cs typeface="Arial"/>
              </a:defRPr>
            </a:pPr>
            <a:r>
              <a:rPr sz="1575" b="1">
                <a:solidFill>
                  <a:srgbClr val="1AA58F"/>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5A0BE371-CD55-44BF-8FFF-137A835758F0}"/>
              </a:ext>
            </a:extLst>
          </p:cNvPr>
          <p:cNvSpPr>
            <a:spLocks xmlns:a="http://schemas.openxmlformats.org/drawingml/2006/main" noGrp="1"/>
          </p:cNvSpPr>
          <p:nvPr/>
        </p:nvSpPr>
        <p:spPr>
          <a:xfrm xmlns:a="http://schemas.openxmlformats.org/drawingml/2006/main">
            <a:off x="7581900" y="4400550"/>
            <a:ext cx="36385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a:solidFill>
                  <a:srgbClr val="F3F6F2"/>
                </a:solidFill>
                <a:latin typeface="Arial"/>
                <a:ea typeface="Arial"/>
                <a:cs typeface="Arial"/>
              </a:defRPr>
            </a:defPPr>
          </a:lstStyle>
          <a:p xmlns:a="http://schemas.openxmlformats.org/drawingml/2006/main">
            <a:pPr algn="l">
              <a:defRPr sz="1275">
                <a:solidFill>
                  <a:srgbClr val="F3F6F2"/>
                </a:solidFill>
                <a:latin typeface="Arial"/>
                <a:ea typeface="Arial"/>
                <a:cs typeface="Arial"/>
              </a:defRPr>
            </a:pPr>
            <a:r>
              <a:rPr sz="1275">
                <a:solidFill>
                  <a:srgbClr val="F3F6F2"/>
                </a:solidFill>
                <a:latin typeface="Arial"/>
                <a:ea typeface="Arial"/>
                <a:cs typeface="Arial"/>
              </a:rPr>
              <a:t>No field survey, air-temperature model, health outcome or municipal acceptance test is claimed.</a:t>
            </a:r>
          </a:p>
        </p:txBody>
      </p:sp>
      <p:sp>
        <p:nvSpPr>
          <p:cNvPr id="15" name="">
            <a:extLst xmlns:a="http://schemas.openxmlformats.org/drawingml/2006/main">
              <a:ext uri="{FF2B5EF4-FFF2-40B4-BE49-F238E27FC236}">
                <a16:creationId xmlns:a16="http://schemas.microsoft.com/office/drawing/2014/main" id="{5CF055EC-1D1C-4CD8-9514-A84422AD87B5}"/>
              </a:ext>
            </a:extLst>
          </p:cNvPr>
          <p:cNvSpPr>
            <a:spLocks xmlns:a="http://schemas.openxmlformats.org/drawingml/2006/main" noGrp="1"/>
          </p:cNvSpPr>
          <p:nvPr/>
        </p:nvSpPr>
        <p:spPr>
          <a:xfrm xmlns:a="http://schemas.openxmlformats.org/drawingml/2006/main">
            <a:off x="7334250" y="5334000"/>
            <a:ext cx="3886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E2AD2B"/>
                </a:solidFill>
                <a:latin typeface="Arial"/>
                <a:ea typeface="Arial"/>
                <a:cs typeface="Arial"/>
              </a:defRPr>
            </a:defPPr>
          </a:lstStyle>
          <a:p xmlns:a="http://schemas.openxmlformats.org/drawingml/2006/main">
            <a:pPr algn="l">
              <a:defRPr sz="1500" b="1">
                <a:solidFill>
                  <a:srgbClr val="E2AD2B"/>
                </a:solidFill>
                <a:latin typeface="Arial"/>
                <a:ea typeface="Arial"/>
                <a:cs typeface="Arial"/>
              </a:defRPr>
            </a:pPr>
            <a:r>
              <a:rPr sz="1500" b="1">
                <a:solidFill>
                  <a:srgbClr val="E2AD2B"/>
                </a:solidFill>
                <a:latin typeface="Arial"/>
                <a:ea typeface="Arial"/>
                <a:cs typeface="Arial"/>
              </a:rPr>
              <a:t>Operational validation must measure useful inspections and false alarms with a real user.</a:t>
            </a:r>
          </a:p>
        </p:txBody>
      </p:sp>
      <p:sp>
        <p:nvSpPr>
          <p:cNvPr id="16" name="">
            <a:extLst xmlns:a="http://schemas.openxmlformats.org/drawingml/2006/main">
              <a:ext uri="{FF2B5EF4-FFF2-40B4-BE49-F238E27FC236}">
                <a16:creationId xmlns:a16="http://schemas.microsoft.com/office/drawing/2014/main" id="{70D58B24-BAE4-4E52-ADFA-14A283A0C0CA}"/>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17" name="">
            <a:extLst xmlns:a="http://schemas.openxmlformats.org/drawingml/2006/main">
              <a:ext uri="{FF2B5EF4-FFF2-40B4-BE49-F238E27FC236}">
                <a16:creationId xmlns:a16="http://schemas.microsoft.com/office/drawing/2014/main" id="{38549C1C-5494-4A24-A562-782863DE0454}"/>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10</a:t>
            </a:r>
          </a:p>
        </p:txBody>
      </p:sp>
      <p:sp>
        <p:nvSpPr>
          <p:cNvPr id="18" name="">
            <a:extLst xmlns:a="http://schemas.openxmlformats.org/drawingml/2006/main">
              <a:ext uri="{FF2B5EF4-FFF2-40B4-BE49-F238E27FC236}">
                <a16:creationId xmlns:a16="http://schemas.microsoft.com/office/drawing/2014/main" id="{D23851D7-19A2-4135-84BE-0FC93B0AEA73}"/>
              </a:ext>
            </a:extLst>
          </p:cNvPr>
          <p:cNvSpPr>
            <a:spLocks xmlns:a="http://schemas.openxmlformats.org/drawingml/2006/main" noGrp="1"/>
          </p:cNvSpPr>
          <p:nvPr/>
        </p:nvSpPr>
        <p:spPr>
          <a:xfrm xmlns:a="http://schemas.openxmlformats.org/drawingml/2006/main">
            <a:off x="590550" y="6419850"/>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APPENDIX  •  MILKAHOLICS  •  ARAB YOUTH SPACE HACKATHON: 813 CHALLENGE</a:t>
            </a:r>
          </a:p>
        </p:txBody>
      </p:sp>
    </p:spTree>
    <p:extLst>
      <p:ext uri="{BB962C8B-B14F-4D97-AF65-F5344CB8AC3E}">
        <p14:creationId xmlns:p14="http://schemas.microsoft.com/office/powerpoint/2010/main" val="1956426954"/>
      </p:ext>
    </p:extLst>
  </p:cSld>
</p:sld>
</file>

<file path=ppt/slides/slide1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647C733-38EA-403E-9B0E-A9EFD42B3B73}"/>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752E0156-34A9-4F0D-9122-C0A9D5FCB859}"/>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Fast answers judges may ask for</a:t>
            </a:r>
          </a:p>
        </p:txBody>
      </p:sp>
      <p:sp>
        <p:nvSpPr>
          <p:cNvPr id="3" name="">
            <a:extLst xmlns:a="http://schemas.openxmlformats.org/drawingml/2006/main">
              <a:ext uri="{FF2B5EF4-FFF2-40B4-BE49-F238E27FC236}">
                <a16:creationId xmlns:a16="http://schemas.microsoft.com/office/drawing/2014/main" id="{B88FE900-B4BF-4818-A870-30C2ADDFAA9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537F9772-E862-43B4-BFCB-314CC12D1AFD}"/>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5FA1FA1A-744E-4AA3-AB4D-FBF139216F89}"/>
              </a:ext>
            </a:extLst>
          </p:cNvPr>
          <p:cNvSpPr>
            <a:spLocks xmlns:a="http://schemas.openxmlformats.org/drawingml/2006/main" noGrp="1"/>
          </p:cNvSpPr>
          <p:nvPr/>
        </p:nvSpPr>
        <p:spPr>
          <a:xfrm xmlns:a="http://schemas.openxmlformats.org/drawingml/2006/main">
            <a:off x="590550" y="15811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93F5BF77-B84E-4F09-82EA-477B5A2E6C1A}"/>
              </a:ext>
            </a:extLst>
          </p:cNvPr>
          <p:cNvSpPr>
            <a:spLocks xmlns:a="http://schemas.openxmlformats.org/drawingml/2006/main" noGrp="1"/>
          </p:cNvSpPr>
          <p:nvPr/>
        </p:nvSpPr>
        <p:spPr>
          <a:xfrm xmlns:a="http://schemas.openxmlformats.org/drawingml/2006/main">
            <a:off x="800100" y="17526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Why 1 km cells?</a:t>
            </a:r>
          </a:p>
        </p:txBody>
      </p:sp>
      <p:sp>
        <p:nvSpPr>
          <p:cNvPr id="7" name="">
            <a:extLst xmlns:a="http://schemas.openxmlformats.org/drawingml/2006/main">
              <a:ext uri="{FF2B5EF4-FFF2-40B4-BE49-F238E27FC236}">
                <a16:creationId xmlns:a16="http://schemas.microsoft.com/office/drawing/2014/main" id="{BBACE4B7-D594-42B9-BD1A-6D0580E578E6}"/>
              </a:ext>
            </a:extLst>
          </p:cNvPr>
          <p:cNvSpPr>
            <a:spLocks xmlns:a="http://schemas.openxmlformats.org/drawingml/2006/main" noGrp="1"/>
          </p:cNvSpPr>
          <p:nvPr/>
        </p:nvSpPr>
        <p:spPr>
          <a:xfrm xmlns:a="http://schemas.openxmlformats.org/drawingml/2006/main">
            <a:off x="800100" y="21145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They match the population layer and support early area screening; they do not select an individual building.</a:t>
            </a:r>
          </a:p>
        </p:txBody>
      </p:sp>
      <p:sp>
        <p:nvSpPr>
          <p:cNvPr id="8" name="">
            <a:extLst xmlns:a="http://schemas.openxmlformats.org/drawingml/2006/main">
              <a:ext uri="{FF2B5EF4-FFF2-40B4-BE49-F238E27FC236}">
                <a16:creationId xmlns:a16="http://schemas.microsoft.com/office/drawing/2014/main" id="{6C92B5C1-D6BD-408F-A57B-114CBB845C96}"/>
              </a:ext>
            </a:extLst>
          </p:cNvPr>
          <p:cNvSpPr>
            <a:spLocks xmlns:a="http://schemas.openxmlformats.org/drawingml/2006/main" noGrp="1"/>
          </p:cNvSpPr>
          <p:nvPr/>
        </p:nvSpPr>
        <p:spPr>
          <a:xfrm xmlns:a="http://schemas.openxmlformats.org/drawingml/2006/main">
            <a:off x="6096000" y="15811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E9E4DA96-F043-4B8C-93D2-ED5F27A140DC}"/>
              </a:ext>
            </a:extLst>
          </p:cNvPr>
          <p:cNvSpPr>
            <a:spLocks xmlns:a="http://schemas.openxmlformats.org/drawingml/2006/main" noGrp="1"/>
          </p:cNvSpPr>
          <p:nvPr/>
        </p:nvSpPr>
        <p:spPr>
          <a:xfrm xmlns:a="http://schemas.openxmlformats.org/drawingml/2006/main">
            <a:off x="6305550" y="17526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E2AD2B"/>
                </a:solidFill>
                <a:latin typeface="Arial"/>
                <a:ea typeface="Arial"/>
                <a:cs typeface="Arial"/>
              </a:defRPr>
            </a:defPPr>
          </a:lstStyle>
          <a:p xmlns:a="http://schemas.openxmlformats.org/drawingml/2006/main">
            <a:pPr algn="l">
              <a:defRPr sz="1500" b="1">
                <a:solidFill>
                  <a:srgbClr val="E2AD2B"/>
                </a:solidFill>
                <a:latin typeface="Arial"/>
                <a:ea typeface="Arial"/>
                <a:cs typeface="Arial"/>
              </a:defRPr>
            </a:pPr>
            <a:r>
              <a:rPr sz="1500" b="1">
                <a:solidFill>
                  <a:srgbClr val="E2AD2B"/>
                </a:solidFill>
                <a:latin typeface="Arial"/>
                <a:ea typeface="Arial"/>
                <a:cs typeface="Arial"/>
              </a:rPr>
              <a:t>Why these weights?</a:t>
            </a:r>
          </a:p>
        </p:txBody>
      </p:sp>
      <p:sp>
        <p:nvSpPr>
          <p:cNvPr id="10" name="">
            <a:extLst xmlns:a="http://schemas.openxmlformats.org/drawingml/2006/main">
              <a:ext uri="{FF2B5EF4-FFF2-40B4-BE49-F238E27FC236}">
                <a16:creationId xmlns:a16="http://schemas.microsoft.com/office/drawing/2014/main" id="{9B298C95-A4C9-4AF6-BB4A-66491D741B00}"/>
              </a:ext>
            </a:extLst>
          </p:cNvPr>
          <p:cNvSpPr>
            <a:spLocks xmlns:a="http://schemas.openxmlformats.org/drawingml/2006/main" noGrp="1"/>
          </p:cNvSpPr>
          <p:nvPr/>
        </p:nvSpPr>
        <p:spPr>
          <a:xfrm xmlns:a="http://schemas.openxmlformats.org/drawingml/2006/main">
            <a:off x="6305550" y="21145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They are transparent PoC assumptions: 40% heat, 30% population, 20% growth, 10% lack of vegetation. A real user must review them.</a:t>
            </a:r>
          </a:p>
        </p:txBody>
      </p:sp>
      <p:sp>
        <p:nvSpPr>
          <p:cNvPr id="11" name="">
            <a:extLst xmlns:a="http://schemas.openxmlformats.org/drawingml/2006/main">
              <a:ext uri="{FF2B5EF4-FFF2-40B4-BE49-F238E27FC236}">
                <a16:creationId xmlns:a16="http://schemas.microsoft.com/office/drawing/2014/main" id="{133BC5C5-ED6A-46FE-9C4B-CCDEE3C941B3}"/>
              </a:ext>
            </a:extLst>
          </p:cNvPr>
          <p:cNvSpPr>
            <a:spLocks xmlns:a="http://schemas.openxmlformats.org/drawingml/2006/main" noGrp="1"/>
          </p:cNvSpPr>
          <p:nvPr/>
        </p:nvSpPr>
        <p:spPr>
          <a:xfrm xmlns:a="http://schemas.openxmlformats.org/drawingml/2006/main">
            <a:off x="590550" y="31432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356DB16E-D243-46CC-94FB-D37B1AB88057}"/>
              </a:ext>
            </a:extLst>
          </p:cNvPr>
          <p:cNvSpPr>
            <a:spLocks xmlns:a="http://schemas.openxmlformats.org/drawingml/2006/main" noGrp="1"/>
          </p:cNvSpPr>
          <p:nvPr/>
        </p:nvSpPr>
        <p:spPr>
          <a:xfrm xmlns:a="http://schemas.openxmlformats.org/drawingml/2006/main">
            <a:off x="800100" y="33147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Why not use NDBI alone?</a:t>
            </a:r>
          </a:p>
        </p:txBody>
      </p:sp>
      <p:sp>
        <p:nvSpPr>
          <p:cNvPr id="13" name="">
            <a:extLst xmlns:a="http://schemas.openxmlformats.org/drawingml/2006/main">
              <a:ext uri="{FF2B5EF4-FFF2-40B4-BE49-F238E27FC236}">
                <a16:creationId xmlns:a16="http://schemas.microsoft.com/office/drawing/2014/main" id="{1FCF9C1B-26FE-44A5-8CAE-48C3095EF7DB}"/>
              </a:ext>
            </a:extLst>
          </p:cNvPr>
          <p:cNvSpPr>
            <a:spLocks xmlns:a="http://schemas.openxmlformats.org/drawingml/2006/main" noGrp="1"/>
          </p:cNvSpPr>
          <p:nvPr/>
        </p:nvSpPr>
        <p:spPr>
          <a:xfrm xmlns:a="http://schemas.openxmlformats.org/drawingml/2006/main">
            <a:off x="800100" y="36766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Bright desert can look built-like. Tanager and the optical-radar model show why multiple evidence sources are safer.</a:t>
            </a:r>
          </a:p>
        </p:txBody>
      </p:sp>
      <p:sp>
        <p:nvSpPr>
          <p:cNvPr id="14" name="">
            <a:extLst xmlns:a="http://schemas.openxmlformats.org/drawingml/2006/main">
              <a:ext uri="{FF2B5EF4-FFF2-40B4-BE49-F238E27FC236}">
                <a16:creationId xmlns:a16="http://schemas.microsoft.com/office/drawing/2014/main" id="{54E645AA-D467-4EC6-B5D1-8500FB8F2765}"/>
              </a:ext>
            </a:extLst>
          </p:cNvPr>
          <p:cNvSpPr>
            <a:spLocks xmlns:a="http://schemas.openxmlformats.org/drawingml/2006/main" noGrp="1"/>
          </p:cNvSpPr>
          <p:nvPr/>
        </p:nvSpPr>
        <p:spPr>
          <a:xfrm xmlns:a="http://schemas.openxmlformats.org/drawingml/2006/main">
            <a:off x="6096000" y="31432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62725090-1514-4C78-822A-32B28835A985}"/>
              </a:ext>
            </a:extLst>
          </p:cNvPr>
          <p:cNvSpPr>
            <a:spLocks xmlns:a="http://schemas.openxmlformats.org/drawingml/2006/main" noGrp="1"/>
          </p:cNvSpPr>
          <p:nvPr/>
        </p:nvSpPr>
        <p:spPr>
          <a:xfrm xmlns:a="http://schemas.openxmlformats.org/drawingml/2006/main">
            <a:off x="6305550" y="33147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E2AD2B"/>
                </a:solidFill>
                <a:latin typeface="Arial"/>
                <a:ea typeface="Arial"/>
                <a:cs typeface="Arial"/>
              </a:defRPr>
            </a:defPPr>
          </a:lstStyle>
          <a:p xmlns:a="http://schemas.openxmlformats.org/drawingml/2006/main">
            <a:pPr algn="l">
              <a:defRPr sz="1500" b="1">
                <a:solidFill>
                  <a:srgbClr val="E2AD2B"/>
                </a:solidFill>
                <a:latin typeface="Arial"/>
                <a:ea typeface="Arial"/>
                <a:cs typeface="Arial"/>
              </a:defRPr>
            </a:pPr>
            <a:r>
              <a:rPr sz="1500" b="1">
                <a:solidFill>
                  <a:srgbClr val="E2AD2B"/>
                </a:solidFill>
                <a:latin typeface="Arial"/>
                <a:ea typeface="Arial"/>
                <a:cs typeface="Arial"/>
              </a:rPr>
              <a:t>Can judges reproduce it?</a:t>
            </a:r>
          </a:p>
        </p:txBody>
      </p:sp>
      <p:sp>
        <p:nvSpPr>
          <p:cNvPr id="16" name="">
            <a:extLst xmlns:a="http://schemas.openxmlformats.org/drawingml/2006/main">
              <a:ext uri="{FF2B5EF4-FFF2-40B4-BE49-F238E27FC236}">
                <a16:creationId xmlns:a16="http://schemas.microsoft.com/office/drawing/2014/main" id="{BF6F67A4-3593-4D6C-8FDF-34A69FD43977}"/>
              </a:ext>
            </a:extLst>
          </p:cNvPr>
          <p:cNvSpPr>
            <a:spLocks xmlns:a="http://schemas.openxmlformats.org/drawingml/2006/main" noGrp="1"/>
          </p:cNvSpPr>
          <p:nvPr/>
        </p:nvSpPr>
        <p:spPr>
          <a:xfrm xmlns:a="http://schemas.openxmlformats.org/drawingml/2006/main">
            <a:off x="6305550" y="36766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Yes. The public repository has pinned requirements, a run-all sample notebook, example input/output and the full source pipeline.</a:t>
            </a:r>
          </a:p>
        </p:txBody>
      </p:sp>
      <p:sp>
        <p:nvSpPr>
          <p:cNvPr id="17" name="">
            <a:extLst xmlns:a="http://schemas.openxmlformats.org/drawingml/2006/main">
              <a:ext uri="{FF2B5EF4-FFF2-40B4-BE49-F238E27FC236}">
                <a16:creationId xmlns:a16="http://schemas.microsoft.com/office/drawing/2014/main" id="{466E8425-F720-49C5-9E12-2734FC2ED644}"/>
              </a:ext>
            </a:extLst>
          </p:cNvPr>
          <p:cNvSpPr>
            <a:spLocks xmlns:a="http://schemas.openxmlformats.org/drawingml/2006/main" noGrp="1"/>
          </p:cNvSpPr>
          <p:nvPr/>
        </p:nvSpPr>
        <p:spPr>
          <a:xfrm xmlns:a="http://schemas.openxmlformats.org/drawingml/2006/main">
            <a:off x="590550" y="47053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1664E465-6AF3-4092-9670-F17815D41739}"/>
              </a:ext>
            </a:extLst>
          </p:cNvPr>
          <p:cNvSpPr>
            <a:spLocks xmlns:a="http://schemas.openxmlformats.org/drawingml/2006/main" noGrp="1"/>
          </p:cNvSpPr>
          <p:nvPr/>
        </p:nvSpPr>
        <p:spPr>
          <a:xfrm xmlns:a="http://schemas.openxmlformats.org/drawingml/2006/main">
            <a:off x="800100" y="48768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What happens if the score is wrong?</a:t>
            </a:r>
          </a:p>
        </p:txBody>
      </p:sp>
      <p:sp>
        <p:nvSpPr>
          <p:cNvPr id="19" name="">
            <a:extLst xmlns:a="http://schemas.openxmlformats.org/drawingml/2006/main">
              <a:ext uri="{FF2B5EF4-FFF2-40B4-BE49-F238E27FC236}">
                <a16:creationId xmlns:a16="http://schemas.microsoft.com/office/drawing/2014/main" id="{D014FD1D-F755-47F2-B44C-CDA9635ED4E6}"/>
              </a:ext>
            </a:extLst>
          </p:cNvPr>
          <p:cNvSpPr>
            <a:spLocks xmlns:a="http://schemas.openxmlformats.org/drawingml/2006/main" noGrp="1"/>
          </p:cNvSpPr>
          <p:nvPr/>
        </p:nvSpPr>
        <p:spPr>
          <a:xfrm xmlns:a="http://schemas.openxmlformats.org/drawingml/2006/main">
            <a:off x="800100" y="52387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No automatic action follows. The cost is wasted inspection time, so the pilot measures false alarms before operational use.</a:t>
            </a:r>
          </a:p>
        </p:txBody>
      </p:sp>
      <p:sp>
        <p:nvSpPr>
          <p:cNvPr id="20" name="">
            <a:extLst xmlns:a="http://schemas.openxmlformats.org/drawingml/2006/main">
              <a:ext uri="{FF2B5EF4-FFF2-40B4-BE49-F238E27FC236}">
                <a16:creationId xmlns:a16="http://schemas.microsoft.com/office/drawing/2014/main" id="{66EAEDEE-34AC-4730-A6A2-EA46CA733F81}"/>
              </a:ext>
            </a:extLst>
          </p:cNvPr>
          <p:cNvSpPr>
            <a:spLocks xmlns:a="http://schemas.openxmlformats.org/drawingml/2006/main" noGrp="1"/>
          </p:cNvSpPr>
          <p:nvPr/>
        </p:nvSpPr>
        <p:spPr>
          <a:xfrm xmlns:a="http://schemas.openxmlformats.org/drawingml/2006/main">
            <a:off x="6096000" y="47053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21" name="">
            <a:extLst xmlns:a="http://schemas.openxmlformats.org/drawingml/2006/main">
              <a:ext uri="{FF2B5EF4-FFF2-40B4-BE49-F238E27FC236}">
                <a16:creationId xmlns:a16="http://schemas.microsoft.com/office/drawing/2014/main" id="{42B8894A-8903-47CB-BF67-7DE8C886CC61}"/>
              </a:ext>
            </a:extLst>
          </p:cNvPr>
          <p:cNvSpPr>
            <a:spLocks xmlns:a="http://schemas.openxmlformats.org/drawingml/2006/main" noGrp="1"/>
          </p:cNvSpPr>
          <p:nvPr/>
        </p:nvSpPr>
        <p:spPr>
          <a:xfrm xmlns:a="http://schemas.openxmlformats.org/drawingml/2006/main">
            <a:off x="6305550" y="48768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E2AD2B"/>
                </a:solidFill>
                <a:latin typeface="Arial"/>
                <a:ea typeface="Arial"/>
                <a:cs typeface="Arial"/>
              </a:defRPr>
            </a:defPPr>
          </a:lstStyle>
          <a:p xmlns:a="http://schemas.openxmlformats.org/drawingml/2006/main">
            <a:pPr algn="l">
              <a:defRPr sz="1500" b="1">
                <a:solidFill>
                  <a:srgbClr val="E2AD2B"/>
                </a:solidFill>
                <a:latin typeface="Arial"/>
                <a:ea typeface="Arial"/>
                <a:cs typeface="Arial"/>
              </a:defRPr>
            </a:pPr>
            <a:r>
              <a:rPr sz="1500" b="1">
                <a:solidFill>
                  <a:srgbClr val="E2AD2B"/>
                </a:solidFill>
                <a:latin typeface="Arial"/>
                <a:ea typeface="Arial"/>
                <a:cs typeface="Arial"/>
              </a:rPr>
              <a:t>What is next?</a:t>
            </a:r>
          </a:p>
        </p:txBody>
      </p:sp>
      <p:sp>
        <p:nvSpPr>
          <p:cNvPr id="22" name="">
            <a:extLst xmlns:a="http://schemas.openxmlformats.org/drawingml/2006/main">
              <a:ext uri="{FF2B5EF4-FFF2-40B4-BE49-F238E27FC236}">
                <a16:creationId xmlns:a16="http://schemas.microsoft.com/office/drawing/2014/main" id="{26214EF1-A38B-43D3-A7E1-138B912DA909}"/>
              </a:ext>
            </a:extLst>
          </p:cNvPr>
          <p:cNvSpPr>
            <a:spLocks xmlns:a="http://schemas.openxmlformats.org/drawingml/2006/main" noGrp="1"/>
          </p:cNvSpPr>
          <p:nvPr/>
        </p:nvSpPr>
        <p:spPr>
          <a:xfrm xmlns:a="http://schemas.openxmlformats.org/drawingml/2006/main">
            <a:off x="6305550" y="52387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User interviews, top-five field checks, local constraints, updated weights and a repeatable test in another Riyadh area.</a:t>
            </a:r>
          </a:p>
        </p:txBody>
      </p:sp>
      <p:sp>
        <p:nvSpPr>
          <p:cNvPr id="23" name="">
            <a:extLst xmlns:a="http://schemas.openxmlformats.org/drawingml/2006/main">
              <a:ext uri="{FF2B5EF4-FFF2-40B4-BE49-F238E27FC236}">
                <a16:creationId xmlns:a16="http://schemas.microsoft.com/office/drawing/2014/main" id="{6BDA7EC3-3FDD-433A-96CF-6E0CC40C1877}"/>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APPENDIX  •  MILKAHOLICS  •  ARAB YOUTH SPACE HACKATHON: 813 CHALLENGE</a:t>
            </a:r>
          </a:p>
        </p:txBody>
      </p:sp>
    </p:spTree>
    <p:extLst>
      <p:ext uri="{BB962C8B-B14F-4D97-AF65-F5344CB8AC3E}">
        <p14:creationId xmlns:p14="http://schemas.microsoft.com/office/powerpoint/2010/main" val="1441117275"/>
      </p:ext>
    </p:extLst>
  </p:cSld>
</p:sld>
</file>

<file path=ppt/theme/theme1.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2026-10-16T11:50:31.4560000Z</dcterms:created>
  <dcterms:modified xsi:type="dcterms:W3CDTF">2026-10-16T11:50:31.4560000Z</dcterms:modified>
</coreProperties>
</file>