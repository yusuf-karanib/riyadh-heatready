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a013e6a56a5421a" /><Relationship Type="http://schemas.openxmlformats.org/officeDocument/2006/relationships/extended-properties" Target="/docProps/app.xml" Id="Rfaf15afc80054d2d" /><Relationship Type="http://schemas.openxmlformats.org/officeDocument/2006/relationships/officeDocument" Target="/ppt/presentation.xml" Id="Rece3dc9f77464770" /></Relationships>
</file>

<file path=ppt/presentation.xml><?xml version="1.0" encoding="utf-8"?>
<p:presentation xmlns:p="http://schemas.openxmlformats.org/presentationml/2006/main">
  <p:sldMasterIdLst>
    <p:sldMasterId xmlns:r="http://schemas.openxmlformats.org/officeDocument/2006/relationships" id="2147483648" r:id="Rec99d9ad124b4b76"/>
  </p:sldMasterIdLst>
  <p:notesMasterIdLst>
    <p:notesMasterId xmlns:r="http://schemas.openxmlformats.org/officeDocument/2006/relationships" r:id="R5e14b88573944eb6"/>
  </p:notesMasterIdLst>
  <p:sldIdLst>
    <p:sldId xmlns:r="http://schemas.openxmlformats.org/officeDocument/2006/relationships" id="256" r:id="Re1331cb7ea4a4b49"/>
    <p:sldId xmlns:r="http://schemas.openxmlformats.org/officeDocument/2006/relationships" id="257" r:id="R013388705ec94d2f"/>
    <p:sldId xmlns:r="http://schemas.openxmlformats.org/officeDocument/2006/relationships" id="258" r:id="R8579d770ecba4bf3"/>
    <p:sldId xmlns:r="http://schemas.openxmlformats.org/officeDocument/2006/relationships" id="259" r:id="Ra45ed181fcee45d8"/>
    <p:sldId xmlns:r="http://schemas.openxmlformats.org/officeDocument/2006/relationships" id="260" r:id="R74f2169c17464658"/>
    <p:sldId xmlns:r="http://schemas.openxmlformats.org/officeDocument/2006/relationships" id="261" r:id="Rba9cc006a8914b7f"/>
    <p:sldId xmlns:r="http://schemas.openxmlformats.org/officeDocument/2006/relationships" id="262" r:id="R79b704886ba945fc"/>
    <p:sldId xmlns:r="http://schemas.openxmlformats.org/officeDocument/2006/relationships" id="263" r:id="R9ade6f96b9304589"/>
    <p:sldId xmlns:r="http://schemas.openxmlformats.org/officeDocument/2006/relationships" id="264" r:id="R4c9eaae2c0454b72"/>
    <p:sldId xmlns:r="http://schemas.openxmlformats.org/officeDocument/2006/relationships" id="265" r:id="Rc0833706a27f460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31afb0ae13f4db1" /><Relationship Type="http://schemas.openxmlformats.org/officeDocument/2006/relationships/slideMaster" Target="/ppt/slideMasters/slideMaster1.xml" Id="Rec99d9ad124b4b76" /><Relationship Type="http://schemas.openxmlformats.org/officeDocument/2006/relationships/notesMaster" Target="/ppt/notesMasters/notesMaster1.xml" Id="R5e14b88573944eb6" /><Relationship Type="http://schemas.openxmlformats.org/officeDocument/2006/relationships/presProps" Target="/ppt/presProps.xml" Id="R51001a0ca525414f" /><Relationship Type="http://schemas.openxmlformats.org/officeDocument/2006/relationships/tableStyles" Target="/ppt/tableStyles.xml" Id="R02d200d679fe4d55" /><Relationship Type="http://schemas.openxmlformats.org/officeDocument/2006/relationships/slide" Target="/ppt/slides/slide1.xml" Id="Re1331cb7ea4a4b49" /><Relationship Type="http://schemas.openxmlformats.org/officeDocument/2006/relationships/slide" Target="/ppt/slides/slide2.xml" Id="R013388705ec94d2f" /><Relationship Type="http://schemas.openxmlformats.org/officeDocument/2006/relationships/slide" Target="/ppt/slides/slide3.xml" Id="R8579d770ecba4bf3" /><Relationship Type="http://schemas.openxmlformats.org/officeDocument/2006/relationships/slide" Target="/ppt/slides/slide4.xml" Id="Ra45ed181fcee45d8" /><Relationship Type="http://schemas.openxmlformats.org/officeDocument/2006/relationships/slide" Target="/ppt/slides/slide5.xml" Id="R74f2169c17464658" /><Relationship Type="http://schemas.openxmlformats.org/officeDocument/2006/relationships/slide" Target="/ppt/slides/slide6.xml" Id="Rba9cc006a8914b7f" /><Relationship Type="http://schemas.openxmlformats.org/officeDocument/2006/relationships/slide" Target="/ppt/slides/slide7.xml" Id="R79b704886ba945fc" /><Relationship Type="http://schemas.openxmlformats.org/officeDocument/2006/relationships/slide" Target="/ppt/slides/slide8.xml" Id="R9ade6f96b9304589" /><Relationship Type="http://schemas.openxmlformats.org/officeDocument/2006/relationships/slide" Target="/ppt/slides/slide9.xml" Id="R4c9eaae2c0454b72" /><Relationship Type="http://schemas.openxmlformats.org/officeDocument/2006/relationships/slide" Target="/ppt/slides/slide10.xml" Id="Rc0833706a27f460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72a340340164a9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HeatReady">
      <a:dk1>
        <a:srgbClr val="000000"/>
      </a:dk1>
      <a:lt1>
        <a:srgbClr val="FFFFFF"/>
      </a:lt1>
      <a:dk2>
        <a:srgbClr val="0D2A3A"/>
      </a:dk2>
      <a:lt2>
        <a:srgbClr val="DCE7E7"/>
      </a:lt2>
      <a:accent1>
        <a:srgbClr val="1AA58F"/>
      </a:accent1>
      <a:accent2>
        <a:srgbClr val="F06449"/>
      </a:accent2>
      <a:accent3>
        <a:srgbClr val="E2AD2B"/>
      </a:accent3>
      <a:accent4>
        <a:srgbClr val="6D5DD3"/>
      </a:accent4>
      <a:accent5>
        <a:srgbClr val="3183B8"/>
      </a:accent5>
      <a:accent6>
        <a:srgbClr val="D96787"/>
      </a:accent6>
      <a:hlink>
        <a:srgbClr val="1AA58F"/>
      </a:hlink>
      <a:folHlink>
        <a:srgbClr val="6D5DD3"/>
      </a:folHlink>
    </a:clrScheme>
    <a:fontScheme name="">
      <a:majorFont>
        <a:latin typeface="Aptos"/>
        <a:ea typeface=""/>
        <a:cs typeface=""/>
      </a:majorFont>
      <a:minorFont>
        <a:latin typeface="Aptos"/>
        <a:ea typeface=""/>
        <a:cs typeface=""/>
      </a:minorFont>
    </a:fontScheme>
    <a:fmtScheme name="HeatReady">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a07d1f399b848e5" /><Relationship Type="http://schemas.openxmlformats.org/officeDocument/2006/relationships/notesMaster" Target="/ppt/notesMasters/notesMaster1.xml" Id="R7d704eb699e94ae6" /></Relationships>
</file>

<file path=ppt/notesSlides/_rels/notesSlide2.xml.rels>&#65279;<?xml version="1.0" encoding="utf-8"?><Relationships xmlns="http://schemas.openxmlformats.org/package/2006/relationships"><Relationship Type="http://schemas.openxmlformats.org/officeDocument/2006/relationships/slide" Target="/ppt/slides/slide2.xml" Id="Rc00de94895ef4c43" /><Relationship Type="http://schemas.openxmlformats.org/officeDocument/2006/relationships/notesMaster" Target="/ppt/notesMasters/notesMaster1.xml" Id="R891d85eff0a14c09" /></Relationships>
</file>

<file path=ppt/notesSlides/_rels/notesSlide3.xml.rels>&#65279;<?xml version="1.0" encoding="utf-8"?><Relationships xmlns="http://schemas.openxmlformats.org/package/2006/relationships"><Relationship Type="http://schemas.openxmlformats.org/officeDocument/2006/relationships/slide" Target="/ppt/slides/slide3.xml" Id="R1af5a599e4c34c41" /><Relationship Type="http://schemas.openxmlformats.org/officeDocument/2006/relationships/notesMaster" Target="/ppt/notesMasters/notesMaster1.xml" Id="R5c0649feb87740cc" /></Relationships>
</file>

<file path=ppt/notesSlides/_rels/notesSlide4.xml.rels>&#65279;<?xml version="1.0" encoding="utf-8"?><Relationships xmlns="http://schemas.openxmlformats.org/package/2006/relationships"><Relationship Type="http://schemas.openxmlformats.org/officeDocument/2006/relationships/slide" Target="/ppt/slides/slide4.xml" Id="R7a3a102dc6864554" /><Relationship Type="http://schemas.openxmlformats.org/officeDocument/2006/relationships/notesMaster" Target="/ppt/notesMasters/notesMaster1.xml" Id="R6fcafd1655dc4cf9" /></Relationships>
</file>

<file path=ppt/notesSlides/_rels/notesSlide5.xml.rels>&#65279;<?xml version="1.0" encoding="utf-8"?><Relationships xmlns="http://schemas.openxmlformats.org/package/2006/relationships"><Relationship Type="http://schemas.openxmlformats.org/officeDocument/2006/relationships/slide" Target="/ppt/slides/slide5.xml" Id="Rac6b1711ac4e4352" /><Relationship Type="http://schemas.openxmlformats.org/officeDocument/2006/relationships/notesMaster" Target="/ppt/notesMasters/notesMaster1.xml" Id="R1ee734a91c244cf9" /></Relationships>
</file>

<file path=ppt/notesSlides/_rels/notesSlide6.xml.rels>&#65279;<?xml version="1.0" encoding="utf-8"?><Relationships xmlns="http://schemas.openxmlformats.org/package/2006/relationships"><Relationship Type="http://schemas.openxmlformats.org/officeDocument/2006/relationships/slide" Target="/ppt/slides/slide6.xml" Id="Rb9fab492549a41a4" /><Relationship Type="http://schemas.openxmlformats.org/officeDocument/2006/relationships/notesMaster" Target="/ppt/notesMasters/notesMaster1.xml" Id="R04e460d4f9ab4e5f" /></Relationships>
</file>

<file path=ppt/notesSlides/_rels/notesSlide7.xml.rels>&#65279;<?xml version="1.0" encoding="utf-8"?><Relationships xmlns="http://schemas.openxmlformats.org/package/2006/relationships"><Relationship Type="http://schemas.openxmlformats.org/officeDocument/2006/relationships/slide" Target="/ppt/slides/slide7.xml" Id="R30dc8508abf74630" /><Relationship Type="http://schemas.openxmlformats.org/officeDocument/2006/relationships/notesMaster" Target="/ppt/notesMasters/notesMaster1.xml" Id="R224c3dcf0d49411c" /></Relationships>
</file>

<file path=ppt/notesSlides/_rels/notesSlide8.xml.rels>&#65279;<?xml version="1.0" encoding="utf-8"?><Relationships xmlns="http://schemas.openxmlformats.org/package/2006/relationships"><Relationship Type="http://schemas.openxmlformats.org/officeDocument/2006/relationships/slide" Target="/ppt/slides/slide8.xml" Id="Rbd3c30204e7d41a0" /><Relationship Type="http://schemas.openxmlformats.org/officeDocument/2006/relationships/notesMaster" Target="/ppt/notesMasters/notesMaster1.xml" Id="R7a08c982805e4b06" /></Relationships>
</file>

<file path=ppt/notesSlides/_rels/notesSlide9.xml.rels>&#65279;<?xml version="1.0" encoding="utf-8"?><Relationships xmlns="http://schemas.openxmlformats.org/package/2006/relationships"><Relationship Type="http://schemas.openxmlformats.org/officeDocument/2006/relationships/slide" Target="/ppt/slides/slide9.xml" Id="R736a31a5bfd84fc5" /><Relationship Type="http://schemas.openxmlformats.org/officeDocument/2006/relationships/notesMaster" Target="/ppt/notesMasters/notesMaster1.xml" Id="R9dade5652d904e0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624303f077c4f3d" /><Relationship Type="http://schemas.openxmlformats.org/officeDocument/2006/relationships/notesMaster" Target="/ppt/notesMasters/notesMaster1.xml" Id="Rb25ebc34664f474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0:00–0:20 | Yusuf. Good afternoon. We are Team Milkaholics. Our project is Riyadh HeatReady. It uses satellite data to rank one-kilometre cells in southeast Riyadh where urban growth, high surface temperature and modelled population overlap. We want to help answer one practical question: where should a municipal planning team inspect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0:20–0:55 | Yusuf. I am Yusuf Karanib, the project lead. I will explain the problem, satellite data, analysis, score and demonstration. Raed Mardoum will present the validation results and limitations, how a planning team could use the ranking, and how we would test the idea through a municipal pilot.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0:55–1:50 | Yusuf. The study area covers 168.30 square kilometres on the southeastern edge of Riyadh. It is one part of the city, not all of Riyadh. Our intended user is a municipal planning and heat-resilience team. Growth, surface heat, population and vegetation can sit in separate layers, so staff still have to compare them before deciding where to inspect. HeatReady puts those layers into one ranked list of one-kilometre cells. It does not tell the user to plant trees or install a cool roof. It only suggests where to check first and compare with local plans and field conditions. We have not yet interviewed municipal users, so the first pilot must test whether this workflow is useful to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1:50–3:10 | Yusuf. We used six open data sources, and each one has a specific job. Sentinel-2 provides optical information about vegetation and built surfaces. Sentinel-1 adds radar structure, which helps because bright desert can look built-up in optical images. Six annual land-cover maps flag possible built-up change from 2018 to 2023. Landsat 8 provides land-surface temperature for 10 May 2025. WorldPop provides modelled population for 2025. Planet Tanager gives us a detailed spectrum for one date, which we use to test a known desert problem. We did not trust the annual change map by itself. It first flagged 13.82 square kilometres. We then kept only pixels where the 2025 optical and radar evidence also looked built-up. This left 3.74 square kilometres. We ranked the eligible one-kilometre cells using 40 percent heat, 30 percent population, 20 percent confirmed growth and 10 percent lack of vegetation. These weights are our PoC assumptions, not municipal policy.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3:10–4:45 | Yusuf. [On slide 5] The result is a decision map and a component chart. Sixty-seven cells contain confirmed growth, and fourteen are labelled High priority. R05C10 ranks first with a score of about 78.7. Its score does not come from one hidden prediction; the chart shows the heat, population, growth and vegetation components. [Open outputs/dashboard.html and stay at Decision output.] This dashboard is a self-contained static report, not an interactive application. Here are the headline metrics, the decision map and the top-five table. The stricter rule retained 3.74 square kilometres of confirmed growth, and the top row is R05C10. The repository also contains separate CSV, GeoJSON and GeoTIFF files so a planner can review the same result in a spreadsheet or GIS. [Return to slide 5.] This output is a screening result. It cannot choose an intervention by itself; every high-ranked zone still needs local inspection. Raed will now explain what our validation proves, what the method adds, and how we would test it with a municipality.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4:45–5:55 | Raed. To test the built-up model, we trained in the western part of the study area, tuned in a separate middle strip and tested in the east against ESA WorldCover. The east-side holdout reached an F1 score of 0.88, an intersection over union of 0.78 and balanced accuracy of 0.89. F1 balances missed built-up pixels and false alarms. Intersection over union measures overlap. Balanced accuracy gives equal weight to built and unbuilt classes. These numbers show agreement with another satellite product; they are not field accuracy. Landsat measures land-surface temperature, not air temperature or personal heat exposure. WorldPop is modelled and may miss worker exposure. Bright desert and roofs can still confuse classification. The score weights are assumptions that a real user must review. Because of these limits, HeatReady supports inspection rather than making an automatic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5:55–6:55 | Raed. HeatReady does not depend on one index. The annual maps flag possible change, and separate optical and radar evidence check whether the area still looks built-up. We also tested a common shortcut: using a high NDBI value as proof of built land. In the Tanager scene, likely-unbuilt desert had a higher median narrow-band NDBI than established built land, so one threshold can fail here. The Tanager image gives extra spectral context for one date. It cannot prove change or identify a material. Each ranked cell keeps its score parts and GIS evidence. This could make screening faster, but we need real users to test that before we claim a benefit.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6:55–7:55 | Raed. Our next step is a small municipal pilot. First, we would speak with at least three planners, GIS staff or heat-resilience stakeholders and confirm how they currently choose areas to inspect. Second, they would review the top five cells against local plans and field observations, and record useful findings and false alarms. Third, we would adjust the weights and add missing local information such as worker exposure and city-plan constraints. Finally, we would repeat the test in another Riyadh area and measure the time, cost and repeatability. We are asking for support to run that pilot and find out whether HeatReady actually helps a municipal team. Thank you. We are ready for your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only. Open if a judge asks for exact source dates, roles or licences.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only. Use for questions about leakage, train-test geography, annual trend uncertainty or the difference between satellite agreement and field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ae2988901eb474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3888af10755480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4e230929d7b444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d8bcb860d0840b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4bf16b663f34a9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c369f4de36747f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809BDB6-ACF4-472E-B615-8485594E313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09F253B-5E97-411A-8CBE-738A1667C72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FB8B9EA-0127-4B0B-9ECC-99EA33940A2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7ED7DB1-0D06-42B0-A0E4-6BBA856D6E7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A47A2E5-B6A3-4D03-BA3A-A61A2EFE4BC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D1A2986-C7DE-465A-B664-6AF44A53AA0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0F7E942-C5AB-4E40-B1EA-E095767529D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0709E21-F869-42CE-AD9A-DD2704158AC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63F8411-916D-48E4-AEF8-2F86AE60AAC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962196B-C140-4EBB-9C85-F526AB422AA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38e2881e5204d21" /><Relationship Type="http://schemas.openxmlformats.org/officeDocument/2006/relationships/slideLayout" Target="/ppt/slideLayouts/slideLayout1.xml" Id="R05ebd97459c44712" /><Relationship Type="http://schemas.openxmlformats.org/officeDocument/2006/relationships/slideLayout" Target="/ppt/slideLayouts/slideLayout2.xml" Id="Rfd2fff26ce05400b" /><Relationship Type="http://schemas.openxmlformats.org/officeDocument/2006/relationships/slideLayout" Target="/ppt/slideLayouts/slideLayout3.xml" Id="R2d2687c3a47b4e2e" /><Relationship Type="http://schemas.openxmlformats.org/officeDocument/2006/relationships/slideLayout" Target="/ppt/slideLayouts/slideLayout4.xml" Id="R6b80e87ca5cd45c4" /><Relationship Type="http://schemas.openxmlformats.org/officeDocument/2006/relationships/slideLayout" Target="/ppt/slideLayouts/slideLayout5.xml" Id="R3234cee2146f4511" /><Relationship Type="http://schemas.openxmlformats.org/officeDocument/2006/relationships/slideLayout" Target="/ppt/slideLayouts/slideLayout6.xml" Id="R510fed8b4f604d2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5ebd97459c44712"/>
    <p:sldLayoutId xmlns:r="http://schemas.openxmlformats.org/officeDocument/2006/relationships" id="2147483650" r:id="Rfd2fff26ce05400b"/>
    <p:sldLayoutId xmlns:r="http://schemas.openxmlformats.org/officeDocument/2006/relationships" id="2147483651" r:id="R2d2687c3a47b4e2e"/>
    <p:sldLayoutId xmlns:r="http://schemas.openxmlformats.org/officeDocument/2006/relationships" id="2147483652" r:id="R6b80e87ca5cd45c4"/>
    <p:sldLayoutId xmlns:r="http://schemas.openxmlformats.org/officeDocument/2006/relationships" id="2147483653" r:id="R3234cee2146f4511"/>
    <p:sldLayoutId xmlns:r="http://schemas.openxmlformats.org/officeDocument/2006/relationships" id="2147483654" r:id="R510fed8b4f604d2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HeatReady">
      <a:dk1>
        <a:srgbClr val="000000"/>
      </a:dk1>
      <a:lt1>
        <a:srgbClr val="FFFFFF"/>
      </a:lt1>
      <a:dk2>
        <a:srgbClr val="0D2A3A"/>
      </a:dk2>
      <a:lt2>
        <a:srgbClr val="DCE7E7"/>
      </a:lt2>
      <a:accent1>
        <a:srgbClr val="1AA58F"/>
      </a:accent1>
      <a:accent2>
        <a:srgbClr val="F06449"/>
      </a:accent2>
      <a:accent3>
        <a:srgbClr val="E2AD2B"/>
      </a:accent3>
      <a:accent4>
        <a:srgbClr val="6D5DD3"/>
      </a:accent4>
      <a:accent5>
        <a:srgbClr val="3183B8"/>
      </a:accent5>
      <a:accent6>
        <a:srgbClr val="D96787"/>
      </a:accent6>
      <a:hlink>
        <a:srgbClr val="1AA58F"/>
      </a:hlink>
      <a:folHlink>
        <a:srgbClr val="6D5DD3"/>
      </a:folHlink>
    </a:clrScheme>
    <a:fontScheme name="">
      <a:majorFont>
        <a:latin typeface="Aptos"/>
        <a:ea typeface=""/>
        <a:cs typeface=""/>
      </a:majorFont>
      <a:minorFont>
        <a:latin typeface="Aptos"/>
        <a:ea typeface=""/>
        <a:cs typeface=""/>
      </a:minorFont>
    </a:fontScheme>
    <a:fmtScheme name="HeatReady">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6f47227401a4d29" /><Relationship Type="http://schemas.openxmlformats.org/officeDocument/2006/relationships/image" Target="/ppt/media/image.png" Id="Rf44af974f2ed4cd2" /><Relationship Type="http://schemas.openxmlformats.org/officeDocument/2006/relationships/notesSlide" Target="/ppt/notesSlides/notesSlide1.xml" Id="R3eeb992a09de46f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251d3fa89dc4189" /><Relationship Type="http://schemas.openxmlformats.org/officeDocument/2006/relationships/notesSlide" Target="/ppt/notesSlides/notesSlide2.xml" Id="R73f354c58c98421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8d1f324ddeb441c" /><Relationship Type="http://schemas.openxmlformats.org/officeDocument/2006/relationships/notesSlide" Target="/ppt/notesSlides/notesSlide3.xml" Id="Reb95b9a01a854d5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ae66211b9e04f22" /><Relationship Type="http://schemas.openxmlformats.org/officeDocument/2006/relationships/image" Target="/ppt/media/image2.png" Id="Rf9ccac241e534905" /><Relationship Type="http://schemas.openxmlformats.org/officeDocument/2006/relationships/notesSlide" Target="/ppt/notesSlides/notesSlide4.xml" Id="R8401ed8278fc4a7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d5aca79db66446a" /><Relationship Type="http://schemas.openxmlformats.org/officeDocument/2006/relationships/image" Target="/ppt/media/image3.png" Id="R9798f66510954b59" /><Relationship Type="http://schemas.openxmlformats.org/officeDocument/2006/relationships/image" Target="/ppt/media/image4.png" Id="Rc29ec2ab93e04e55" /><Relationship Type="http://schemas.openxmlformats.org/officeDocument/2006/relationships/notesSlide" Target="/ppt/notesSlides/notesSlide5.xml" Id="Rbbafff7b337d4bc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81e2f61505546ba" /><Relationship Type="http://schemas.openxmlformats.org/officeDocument/2006/relationships/image" Target="/ppt/media/image5.png" Id="Ra2fc31181a8b472a" /><Relationship Type="http://schemas.openxmlformats.org/officeDocument/2006/relationships/notesSlide" Target="/ppt/notesSlides/notesSlide6.xml" Id="R73acdac4b6744de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35ebc88e6754273" /><Relationship Type="http://schemas.openxmlformats.org/officeDocument/2006/relationships/image" Target="/ppt/media/image6.png" Id="R929b12a74291486c" /><Relationship Type="http://schemas.openxmlformats.org/officeDocument/2006/relationships/notesSlide" Target="/ppt/notesSlides/notesSlide7.xml" Id="R6f28e2513cb6468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660581603764572" /><Relationship Type="http://schemas.openxmlformats.org/officeDocument/2006/relationships/notesSlide" Target="/ppt/notesSlides/notesSlide8.xml" Id="Ra52942a1bb91415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7a40b83635a4b5b" /><Relationship Type="http://schemas.openxmlformats.org/officeDocument/2006/relationships/notesSlide" Target="/ppt/notesSlides/notesSlide9.xml" Id="Rc195dcb8ecdb4eb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3ec071cedce49be" /><Relationship Type="http://schemas.openxmlformats.org/officeDocument/2006/relationships/image" Target="/ppt/media/image7.png" Id="R1c5467f358044d81" /><Relationship Type="http://schemas.openxmlformats.org/officeDocument/2006/relationships/notesSlide" Target="/ppt/notesSlides/notesSlide10.xml" Id="Rf89a6f1083b443f1" /></Relationships>
</file>

<file path=ppt/slides/slide1.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E5F16ECD-4EF1-44D5-96D0-505712B83703}"/>
              </a:ext>
            </a:extLst>
          </p:cNvPr>
          <p:cNvPicPr>
            <a:picLocks xmlns:a="http://schemas.openxmlformats.org/drawingml/2006/main" noChangeAspect="1"/>
          </p:cNvPicPr>
          <p:nvPr/>
        </p:nvPicPr>
        <p:blipFill>
          <a:blip xmlns:r="http://schemas.openxmlformats.org/officeDocument/2006/relationships" xmlns:a="http://schemas.openxmlformats.org/drawingml/2006/main" r:embed="Rf44af974f2ed4cd2"/>
          <a:srcRect xmlns:a="http://schemas.openxmlformats.org/drawingml/2006/main" l="4671" t="0" r="4671" b="0"/>
          <a:stretch xmlns:a="http://schemas.openxmlformats.org/drawingml/2006/main">
            <a:fillRect l="0" t="0" r="0" b="0"/>
          </a:stretch>
        </p:blipFill>
        <p:spPr>
          <a:xfrm xmlns:a="http://schemas.openxmlformats.org/drawingml/2006/main">
            <a:off x="6572250" y="0"/>
            <a:ext cx="56197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EA0A904-6CEC-444C-B9BB-82B139429FBB}"/>
              </a:ext>
            </a:extLst>
          </p:cNvPr>
          <p:cNvSpPr>
            <a:spLocks xmlns:a="http://schemas.openxmlformats.org/drawingml/2006/main" noGrp="1"/>
          </p:cNvSpPr>
          <p:nvPr/>
        </p:nvSpPr>
        <p:spPr>
          <a:xfrm xmlns:a="http://schemas.openxmlformats.org/drawingml/2006/main">
            <a:off x="6191250" y="0"/>
            <a:ext cx="762000" cy="6858000"/>
          </a:xfrm>
          <a:prstGeom xmlns:a="http://schemas.openxmlformats.org/drawingml/2006/main" prst="rect">
            <a:avLst/>
          </a:prstGeom>
          <a:solidFill xmlns:a="http://schemas.openxmlformats.org/drawingml/2006/main">
            <a:srgbClr val="071C2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7CED91B-33F0-4C72-9B82-91BF57F13B12}"/>
              </a:ext>
            </a:extLst>
          </p:cNvPr>
          <p:cNvSpPr>
            <a:spLocks xmlns:a="http://schemas.openxmlformats.org/drawingml/2006/main" noGrp="1"/>
          </p:cNvSpPr>
          <p:nvPr/>
        </p:nvSpPr>
        <p:spPr>
          <a:xfrm xmlns:a="http://schemas.openxmlformats.org/drawingml/2006/main">
            <a:off x="6572250" y="0"/>
            <a:ext cx="5619750" cy="609600"/>
          </a:xfrm>
          <a:prstGeom xmlns:a="http://schemas.openxmlformats.org/drawingml/2006/main" prst="rect">
            <a:avLst/>
          </a:prstGeom>
          <a:solidFill xmlns:a="http://schemas.openxmlformats.org/drawingml/2006/main">
            <a:srgbClr val="071C2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124B81F-1764-4A99-B9B6-53E7CFC97842}"/>
              </a:ext>
            </a:extLst>
          </p:cNvPr>
          <p:cNvSpPr>
            <a:spLocks xmlns:a="http://schemas.openxmlformats.org/drawingml/2006/main" noGrp="1"/>
          </p:cNvSpPr>
          <p:nvPr/>
        </p:nvSpPr>
        <p:spPr>
          <a:xfrm xmlns:a="http://schemas.openxmlformats.org/drawingml/2006/main">
            <a:off x="6819900" y="1524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1">
                <a:solidFill>
                  <a:srgbClr val="1AA58F"/>
                </a:solidFill>
                <a:latin typeface="Arial"/>
                <a:ea typeface="Arial"/>
                <a:cs typeface="Arial"/>
              </a:defRPr>
            </a:defPPr>
          </a:lstStyle>
          <a:p xmlns:a="http://schemas.openxmlformats.org/drawingml/2006/main">
            <a:pPr algn="ctr">
              <a:defRPr sz="1125" b="1">
                <a:solidFill>
                  <a:srgbClr val="1AA58F"/>
                </a:solidFill>
                <a:latin typeface="Arial"/>
                <a:ea typeface="Arial"/>
                <a:cs typeface="Arial"/>
              </a:defRPr>
            </a:pPr>
            <a:r>
              <a:rPr sz="1125" b="1">
                <a:solidFill>
                  <a:srgbClr val="1AA58F"/>
                </a:solidFill>
                <a:latin typeface="Arial"/>
                <a:ea typeface="Arial"/>
                <a:cs typeface="Arial"/>
              </a:rPr>
              <a:t>PRIORITY MAP</a:t>
            </a:r>
          </a:p>
        </p:txBody>
      </p:sp>
      <p:sp>
        <p:nvSpPr>
          <p:cNvPr id="5" name="">
            <a:extLst xmlns:a="http://schemas.openxmlformats.org/drawingml/2006/main">
              <a:ext uri="{FF2B5EF4-FFF2-40B4-BE49-F238E27FC236}">
                <a16:creationId xmlns:a16="http://schemas.microsoft.com/office/drawing/2014/main" id="{BCC56E50-0030-4101-90A5-E64155041FBC}"/>
              </a:ext>
            </a:extLst>
          </p:cNvPr>
          <p:cNvSpPr>
            <a:spLocks xmlns:a="http://schemas.openxmlformats.org/drawingml/2006/main" noGrp="1"/>
          </p:cNvSpPr>
          <p:nvPr/>
        </p:nvSpPr>
        <p:spPr>
          <a:xfrm xmlns:a="http://schemas.openxmlformats.org/drawingml/2006/main">
            <a:off x="647700" y="72390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75" b="1">
                <a:solidFill>
                  <a:srgbClr val="1AA58F"/>
                </a:solidFill>
                <a:latin typeface="Arial"/>
                <a:ea typeface="Arial"/>
                <a:cs typeface="Arial"/>
              </a:defRPr>
            </a:defPPr>
          </a:lstStyle>
          <a:p xmlns:a="http://schemas.openxmlformats.org/drawingml/2006/main">
            <a:pPr algn="l">
              <a:defRPr sz="1275" b="1">
                <a:solidFill>
                  <a:srgbClr val="1AA58F"/>
                </a:solidFill>
                <a:latin typeface="Arial"/>
                <a:ea typeface="Arial"/>
                <a:cs typeface="Arial"/>
              </a:defRPr>
            </a:pPr>
            <a:r>
              <a:rPr sz="1275" b="1">
                <a:solidFill>
                  <a:srgbClr val="1AA58F"/>
                </a:solidFill>
                <a:latin typeface="Arial"/>
                <a:ea typeface="Arial"/>
                <a:cs typeface="Arial"/>
              </a:rPr>
              <a:t>RIYADH HEATREADY</a:t>
            </a:r>
          </a:p>
        </p:txBody>
      </p:sp>
      <p:sp>
        <p:nvSpPr>
          <p:cNvPr id="6" name="">
            <a:extLst xmlns:a="http://schemas.openxmlformats.org/drawingml/2006/main">
              <a:ext uri="{FF2B5EF4-FFF2-40B4-BE49-F238E27FC236}">
                <a16:creationId xmlns:a16="http://schemas.microsoft.com/office/drawing/2014/main" id="{1DF66FA7-2AC7-4F43-AE7B-151C3361C1D3}"/>
              </a:ext>
            </a:extLst>
          </p:cNvPr>
          <p:cNvSpPr>
            <a:spLocks xmlns:a="http://schemas.openxmlformats.org/drawingml/2006/main" noGrp="1"/>
          </p:cNvSpPr>
          <p:nvPr/>
        </p:nvSpPr>
        <p:spPr>
          <a:xfrm xmlns:a="http://schemas.openxmlformats.org/drawingml/2006/main">
            <a:off x="647700" y="1123950"/>
            <a:ext cx="51435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225" b="1">
                <a:solidFill>
                  <a:srgbClr val="F3F6F2"/>
                </a:solidFill>
                <a:latin typeface="Arial"/>
                <a:ea typeface="Arial"/>
                <a:cs typeface="Arial"/>
              </a:defRPr>
            </a:defPPr>
          </a:lstStyle>
          <a:p xmlns:a="http://schemas.openxmlformats.org/drawingml/2006/main">
            <a:pPr algn="l">
              <a:defRPr sz="3225" b="1">
                <a:solidFill>
                  <a:srgbClr val="F3F6F2"/>
                </a:solidFill>
                <a:latin typeface="Arial"/>
                <a:ea typeface="Arial"/>
                <a:cs typeface="Arial"/>
              </a:defRPr>
            </a:pPr>
            <a:r>
              <a:rPr sz="3225" b="1">
                <a:solidFill>
                  <a:srgbClr val="F3F6F2"/>
                </a:solidFill>
                <a:latin typeface="Arial"/>
                <a:ea typeface="Arial"/>
                <a:cs typeface="Arial"/>
              </a:rPr>
              <a:t>Urban growth and</a:t>
            </a:r>
          </a:p>
          <a:p xmlns:a="http://schemas.openxmlformats.org/drawingml/2006/main">
            <a:pPr algn="l">
              <a:defRPr sz="3225" b="1">
                <a:solidFill>
                  <a:srgbClr val="F3F6F2"/>
                </a:solidFill>
                <a:latin typeface="Arial"/>
                <a:ea typeface="Arial"/>
                <a:cs typeface="Arial"/>
              </a:defRPr>
            </a:pPr>
            <a:r>
              <a:rPr sz="3225" b="1">
                <a:solidFill>
                  <a:srgbClr val="F3F6F2"/>
                </a:solidFill>
                <a:latin typeface="Arial"/>
                <a:ea typeface="Arial"/>
                <a:cs typeface="Arial"/>
              </a:rPr>
              <a:t>surface heat screening</a:t>
            </a:r>
          </a:p>
        </p:txBody>
      </p:sp>
      <p:sp>
        <p:nvSpPr>
          <p:cNvPr id="7" name="">
            <a:extLst xmlns:a="http://schemas.openxmlformats.org/drawingml/2006/main">
              <a:ext uri="{FF2B5EF4-FFF2-40B4-BE49-F238E27FC236}">
                <a16:creationId xmlns:a16="http://schemas.microsoft.com/office/drawing/2014/main" id="{5DF1C0D4-DAF9-42A3-9FE1-B5FBF1C66507}"/>
              </a:ext>
            </a:extLst>
          </p:cNvPr>
          <p:cNvSpPr>
            <a:spLocks xmlns:a="http://schemas.openxmlformats.org/drawingml/2006/main" noGrp="1"/>
          </p:cNvSpPr>
          <p:nvPr/>
        </p:nvSpPr>
        <p:spPr>
          <a:xfrm xmlns:a="http://schemas.openxmlformats.org/drawingml/2006/main">
            <a:off x="647700" y="2533650"/>
            <a:ext cx="495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a:solidFill>
                  <a:srgbClr val="AFC4C6"/>
                </a:solidFill>
                <a:latin typeface="Arial"/>
                <a:ea typeface="Arial"/>
                <a:cs typeface="Arial"/>
              </a:defRPr>
            </a:defPPr>
          </a:lstStyle>
          <a:p xmlns:a="http://schemas.openxmlformats.org/drawingml/2006/main">
            <a:pPr algn="l">
              <a:defRPr sz="1725">
                <a:solidFill>
                  <a:srgbClr val="AFC4C6"/>
                </a:solidFill>
                <a:latin typeface="Arial"/>
                <a:ea typeface="Arial"/>
                <a:cs typeface="Arial"/>
              </a:defRPr>
            </a:pPr>
            <a:r>
              <a:rPr sz="1725">
                <a:solidFill>
                  <a:srgbClr val="AFC4C6"/>
                </a:solidFill>
                <a:latin typeface="Arial"/>
                <a:ea typeface="Arial"/>
                <a:cs typeface="Arial"/>
              </a:rPr>
              <a:t>A satellite-based priority map for southeast Riyadh</a:t>
            </a:r>
          </a:p>
        </p:txBody>
      </p:sp>
      <p:sp>
        <p:nvSpPr>
          <p:cNvPr id="8" name="">
            <a:extLst xmlns:a="http://schemas.openxmlformats.org/drawingml/2006/main">
              <a:ext uri="{FF2B5EF4-FFF2-40B4-BE49-F238E27FC236}">
                <a16:creationId xmlns:a16="http://schemas.microsoft.com/office/drawing/2014/main" id="{2A94D58A-7E1B-4048-BB94-8AC906735233}"/>
              </a:ext>
            </a:extLst>
          </p:cNvPr>
          <p:cNvSpPr>
            <a:spLocks xmlns:a="http://schemas.openxmlformats.org/drawingml/2006/main" noGrp="1"/>
          </p:cNvSpPr>
          <p:nvPr/>
        </p:nvSpPr>
        <p:spPr>
          <a:xfrm xmlns:a="http://schemas.openxmlformats.org/drawingml/2006/main">
            <a:off x="647700" y="3086100"/>
            <a:ext cx="47625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9" name="">
            <a:extLst xmlns:a="http://schemas.openxmlformats.org/drawingml/2006/main">
              <a:ext uri="{FF2B5EF4-FFF2-40B4-BE49-F238E27FC236}">
                <a16:creationId xmlns:a16="http://schemas.microsoft.com/office/drawing/2014/main" id="{13C35D8E-99B0-4140-8957-352EB565DC97}"/>
              </a:ext>
            </a:extLst>
          </p:cNvPr>
          <p:cNvSpPr>
            <a:spLocks xmlns:a="http://schemas.openxmlformats.org/drawingml/2006/main" noGrp="1"/>
          </p:cNvSpPr>
          <p:nvPr/>
        </p:nvSpPr>
        <p:spPr>
          <a:xfrm xmlns:a="http://schemas.openxmlformats.org/drawingml/2006/main">
            <a:off x="647700" y="33147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E2AD2B"/>
                </a:solidFill>
                <a:latin typeface="Arial"/>
                <a:ea typeface="Arial"/>
                <a:cs typeface="Arial"/>
              </a:defRPr>
            </a:defPPr>
          </a:lstStyle>
          <a:p xmlns:a="http://schemas.openxmlformats.org/drawingml/2006/main">
            <a:pPr algn="l">
              <a:defRPr sz="975" b="1">
                <a:solidFill>
                  <a:srgbClr val="E2AD2B"/>
                </a:solidFill>
                <a:latin typeface="Arial"/>
                <a:ea typeface="Arial"/>
                <a:cs typeface="Arial"/>
              </a:defRPr>
            </a:pPr>
            <a:r>
              <a:rPr sz="975" b="1">
                <a:solidFill>
                  <a:srgbClr val="E2AD2B"/>
                </a:solidFill>
                <a:latin typeface="Arial"/>
                <a:ea typeface="Arial"/>
                <a:cs typeface="Arial"/>
              </a:rPr>
              <a:t>THE QUESTION</a:t>
            </a:r>
          </a:p>
        </p:txBody>
      </p:sp>
      <p:sp>
        <p:nvSpPr>
          <p:cNvPr id="10" name="">
            <a:extLst xmlns:a="http://schemas.openxmlformats.org/drawingml/2006/main">
              <a:ext uri="{FF2B5EF4-FFF2-40B4-BE49-F238E27FC236}">
                <a16:creationId xmlns:a16="http://schemas.microsoft.com/office/drawing/2014/main" id="{98F4C02F-8977-44B1-AE23-47B2EEA844EB}"/>
              </a:ext>
            </a:extLst>
          </p:cNvPr>
          <p:cNvSpPr>
            <a:spLocks xmlns:a="http://schemas.openxmlformats.org/drawingml/2006/main" noGrp="1"/>
          </p:cNvSpPr>
          <p:nvPr/>
        </p:nvSpPr>
        <p:spPr>
          <a:xfrm xmlns:a="http://schemas.openxmlformats.org/drawingml/2006/main">
            <a:off x="647700" y="3619500"/>
            <a:ext cx="4953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175" b="1">
                <a:solidFill>
                  <a:srgbClr val="F3F6F2"/>
                </a:solidFill>
                <a:latin typeface="Arial"/>
                <a:ea typeface="Arial"/>
                <a:cs typeface="Arial"/>
              </a:defRPr>
            </a:defPPr>
          </a:lstStyle>
          <a:p xmlns:a="http://schemas.openxmlformats.org/drawingml/2006/main">
            <a:pPr algn="l">
              <a:defRPr sz="2175" b="1">
                <a:solidFill>
                  <a:srgbClr val="F3F6F2"/>
                </a:solidFill>
                <a:latin typeface="Arial"/>
                <a:ea typeface="Arial"/>
                <a:cs typeface="Arial"/>
              </a:defRPr>
            </a:pPr>
            <a:r>
              <a:rPr sz="2175" b="1">
                <a:solidFill>
                  <a:srgbClr val="F3F6F2"/>
                </a:solidFill>
                <a:latin typeface="Arial"/>
                <a:ea typeface="Arial"/>
                <a:cs typeface="Arial"/>
              </a:rPr>
              <a:t>Where should a municipal planning team inspect first?</a:t>
            </a:r>
          </a:p>
        </p:txBody>
      </p:sp>
      <p:sp>
        <p:nvSpPr>
          <p:cNvPr id="11" name="">
            <a:extLst xmlns:a="http://schemas.openxmlformats.org/drawingml/2006/main">
              <a:ext uri="{FF2B5EF4-FFF2-40B4-BE49-F238E27FC236}">
                <a16:creationId xmlns:a16="http://schemas.microsoft.com/office/drawing/2014/main" id="{0508C8CC-6ACB-4645-9AD5-959811D59488}"/>
              </a:ext>
            </a:extLst>
          </p:cNvPr>
          <p:cNvSpPr>
            <a:spLocks xmlns:a="http://schemas.openxmlformats.org/drawingml/2006/main" noGrp="1"/>
          </p:cNvSpPr>
          <p:nvPr/>
        </p:nvSpPr>
        <p:spPr>
          <a:xfrm xmlns:a="http://schemas.openxmlformats.org/drawingml/2006/main">
            <a:off x="647700" y="58102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1">
                <a:solidFill>
                  <a:srgbClr val="F3F6F2"/>
                </a:solidFill>
                <a:latin typeface="Arial"/>
                <a:ea typeface="Arial"/>
                <a:cs typeface="Arial"/>
              </a:defRPr>
            </a:defPPr>
          </a:lstStyle>
          <a:p xmlns:a="http://schemas.openxmlformats.org/drawingml/2006/main">
            <a:pPr algn="l">
              <a:defRPr sz="1200" b="1">
                <a:solidFill>
                  <a:srgbClr val="F3F6F2"/>
                </a:solidFill>
                <a:latin typeface="Arial"/>
                <a:ea typeface="Arial"/>
                <a:cs typeface="Arial"/>
              </a:defRPr>
            </a:pPr>
            <a:r>
              <a:rPr sz="1200" b="1">
                <a:solidFill>
                  <a:srgbClr val="F3F6F2"/>
                </a:solidFill>
                <a:latin typeface="Arial"/>
                <a:ea typeface="Arial"/>
                <a:cs typeface="Arial"/>
              </a:rPr>
              <a:t>Team Milkaholics</a:t>
            </a:r>
          </a:p>
        </p:txBody>
      </p:sp>
      <p:sp>
        <p:nvSpPr>
          <p:cNvPr id="12" name="">
            <a:extLst xmlns:a="http://schemas.openxmlformats.org/drawingml/2006/main">
              <a:ext uri="{FF2B5EF4-FFF2-40B4-BE49-F238E27FC236}">
                <a16:creationId xmlns:a16="http://schemas.microsoft.com/office/drawing/2014/main" id="{64178D41-1FBC-4719-A63F-03493F2E0CF6}"/>
              </a:ext>
            </a:extLst>
          </p:cNvPr>
          <p:cNvSpPr>
            <a:spLocks xmlns:a="http://schemas.openxmlformats.org/drawingml/2006/main" noGrp="1"/>
          </p:cNvSpPr>
          <p:nvPr/>
        </p:nvSpPr>
        <p:spPr>
          <a:xfrm xmlns:a="http://schemas.openxmlformats.org/drawingml/2006/main">
            <a:off x="647700" y="6115050"/>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a:solidFill>
                  <a:srgbClr val="AFC4C6"/>
                </a:solidFill>
                <a:latin typeface="Arial"/>
                <a:ea typeface="Arial"/>
                <a:cs typeface="Arial"/>
              </a:defRPr>
            </a:defPPr>
          </a:lstStyle>
          <a:p xmlns:a="http://schemas.openxmlformats.org/drawingml/2006/main">
            <a:pPr algn="l">
              <a:defRPr sz="1050">
                <a:solidFill>
                  <a:srgbClr val="AFC4C6"/>
                </a:solidFill>
                <a:latin typeface="Arial"/>
                <a:ea typeface="Arial"/>
                <a:cs typeface="Arial"/>
              </a:defRPr>
            </a:pPr>
            <a:r>
              <a:rPr sz="1050">
                <a:solidFill>
                  <a:srgbClr val="AFC4C6"/>
                </a:solidFill>
                <a:latin typeface="Arial"/>
                <a:ea typeface="Arial"/>
                <a:cs typeface="Arial"/>
              </a:rPr>
              <a:t>Yusuf Karanib and Raed Mardoum</a:t>
            </a:r>
          </a:p>
        </p:txBody>
      </p:sp>
    </p:spTree>
    <p:extLst>
      <p:ext uri="{BB962C8B-B14F-4D97-AF65-F5344CB8AC3E}">
        <p14:creationId xmlns:p14="http://schemas.microsoft.com/office/powerpoint/2010/main" val="1820648128"/>
      </p:ext>
    </p:extLst>
  </p:cSld>
</p:sld>
</file>

<file path=ppt/slides/slide2.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8DE9E289-D59D-42BB-9475-5AC35E4043F8}"/>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stStyle>
          <a:p xmlns:a="http://schemas.openxmlformats.org/drawingml/2006/main">
            <a:pPr algn="l">
              <a:defRPr sz="1050" b="1">
                <a:solidFill>
                  <a:srgbClr val="1AA58F"/>
                </a:solidFill>
                <a:latin typeface="Arial"/>
                <a:ea typeface="Arial"/>
                <a:cs typeface="Arial"/>
              </a:defRPr>
            </a:pPr>
            <a:r>
              <a:rPr sz="1050" b="1">
                <a:solidFill>
                  <a:srgbClr val="1AA58F"/>
                </a:solidFill>
                <a:latin typeface="Arial"/>
                <a:ea typeface="Arial"/>
                <a:cs typeface="Arial"/>
              </a:rPr>
              <a:t>TEAM</a:t>
            </a:r>
          </a:p>
        </p:txBody>
      </p:sp>
      <p:sp>
        <p:nvSpPr>
          <p:cNvPr id="2" name="">
            <a:extLst xmlns:a="http://schemas.openxmlformats.org/drawingml/2006/main">
              <a:ext uri="{FF2B5EF4-FFF2-40B4-BE49-F238E27FC236}">
                <a16:creationId xmlns:a16="http://schemas.microsoft.com/office/drawing/2014/main" id="{C211EBC0-30F5-4FAE-A09B-300D3BB4FEF1}"/>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stStyle>
          <a:p xmlns:a="http://schemas.openxmlformats.org/drawingml/2006/main">
            <a:pPr algn="l">
              <a:defRPr sz="2700" b="1">
                <a:solidFill>
                  <a:srgbClr val="F3F6F2"/>
                </a:solidFill>
                <a:latin typeface="Arial"/>
                <a:ea typeface="Arial"/>
                <a:cs typeface="Arial"/>
              </a:defRPr>
            </a:pPr>
            <a:r>
              <a:rPr sz="2700" b="1">
                <a:solidFill>
                  <a:srgbClr val="F3F6F2"/>
                </a:solidFill>
                <a:latin typeface="Arial"/>
                <a:ea typeface="Arial"/>
                <a:cs typeface="Arial"/>
              </a:rPr>
              <a:t>Team roles</a:t>
            </a:r>
          </a:p>
        </p:txBody>
      </p:sp>
      <p:sp>
        <p:nvSpPr>
          <p:cNvPr id="3" name="">
            <a:extLst xmlns:a="http://schemas.openxmlformats.org/drawingml/2006/main">
              <a:ext uri="{FF2B5EF4-FFF2-40B4-BE49-F238E27FC236}">
                <a16:creationId xmlns:a16="http://schemas.microsoft.com/office/drawing/2014/main" id="{3A71736D-A5CE-4058-8DEA-B4EA9141BA37}"/>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stStyle>
          <a:p xmlns:a="http://schemas.openxmlformats.org/drawingml/2006/main">
            <a:pPr algn="r">
              <a:defRPr sz="1050" b="1">
                <a:solidFill>
                  <a:srgbClr val="AFC4C6"/>
                </a:solidFill>
                <a:latin typeface="Arial"/>
                <a:ea typeface="Arial"/>
                <a:cs typeface="Arial"/>
              </a:defRPr>
            </a:pPr>
            <a:r>
              <a:rPr sz="1050" b="1">
                <a:solidFill>
                  <a:srgbClr val="AFC4C6"/>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04FB4AA0-40CA-4384-B3AC-22EB9ED3D509}"/>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5" name="">
            <a:extLst xmlns:a="http://schemas.openxmlformats.org/drawingml/2006/main">
              <a:ext uri="{FF2B5EF4-FFF2-40B4-BE49-F238E27FC236}">
                <a16:creationId xmlns:a16="http://schemas.microsoft.com/office/drawing/2014/main" id="{7277E94A-5754-4B88-9783-6FD55DF4EEFD}"/>
              </a:ext>
            </a:extLst>
          </p:cNvPr>
          <p:cNvSpPr>
            <a:spLocks xmlns:a="http://schemas.openxmlformats.org/drawingml/2006/main" noGrp="1"/>
          </p:cNvSpPr>
          <p:nvPr/>
        </p:nvSpPr>
        <p:spPr>
          <a:xfrm xmlns:a="http://schemas.openxmlformats.org/drawingml/2006/main">
            <a:off x="6096000" y="1695450"/>
            <a:ext cx="9525" cy="3714750"/>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6" name="">
            <a:extLst xmlns:a="http://schemas.openxmlformats.org/drawingml/2006/main">
              <a:ext uri="{FF2B5EF4-FFF2-40B4-BE49-F238E27FC236}">
                <a16:creationId xmlns:a16="http://schemas.microsoft.com/office/drawing/2014/main" id="{0DF5EAFF-CD8D-4BF5-8F6D-400EE21156B8}"/>
              </a:ext>
            </a:extLst>
          </p:cNvPr>
          <p:cNvSpPr>
            <a:spLocks xmlns:a="http://schemas.openxmlformats.org/drawingml/2006/main" noGrp="1"/>
          </p:cNvSpPr>
          <p:nvPr/>
        </p:nvSpPr>
        <p:spPr>
          <a:xfrm xmlns:a="http://schemas.openxmlformats.org/drawingml/2006/main">
            <a:off x="742950" y="1752600"/>
            <a:ext cx="4667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325" b="1">
                <a:solidFill>
                  <a:srgbClr val="F3F6F2"/>
                </a:solidFill>
                <a:latin typeface="Arial"/>
                <a:ea typeface="Arial"/>
                <a:cs typeface="Arial"/>
              </a:defRPr>
            </a:defPPr>
          </a:lstStyle>
          <a:p xmlns:a="http://schemas.openxmlformats.org/drawingml/2006/main">
            <a:pPr algn="l">
              <a:defRPr sz="2325" b="1">
                <a:solidFill>
                  <a:srgbClr val="F3F6F2"/>
                </a:solidFill>
                <a:latin typeface="Arial"/>
                <a:ea typeface="Arial"/>
                <a:cs typeface="Arial"/>
              </a:defRPr>
            </a:pPr>
            <a:r>
              <a:rPr sz="2325" b="1">
                <a:solidFill>
                  <a:srgbClr val="F3F6F2"/>
                </a:solidFill>
                <a:latin typeface="Arial"/>
                <a:ea typeface="Arial"/>
                <a:cs typeface="Arial"/>
              </a:rPr>
              <a:t>Yusuf Karanib</a:t>
            </a:r>
          </a:p>
        </p:txBody>
      </p:sp>
      <p:sp>
        <p:nvSpPr>
          <p:cNvPr id="7" name="">
            <a:extLst xmlns:a="http://schemas.openxmlformats.org/drawingml/2006/main">
              <a:ext uri="{FF2B5EF4-FFF2-40B4-BE49-F238E27FC236}">
                <a16:creationId xmlns:a16="http://schemas.microsoft.com/office/drawing/2014/main" id="{FEF31D5D-03C9-4E11-95C6-6F3608FB21A8}"/>
              </a:ext>
            </a:extLst>
          </p:cNvPr>
          <p:cNvSpPr>
            <a:spLocks xmlns:a="http://schemas.openxmlformats.org/drawingml/2006/main" noGrp="1"/>
          </p:cNvSpPr>
          <p:nvPr/>
        </p:nvSpPr>
        <p:spPr>
          <a:xfrm xmlns:a="http://schemas.openxmlformats.org/drawingml/2006/main">
            <a:off x="742950" y="2247900"/>
            <a:ext cx="4667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425" b="1">
                <a:solidFill>
                  <a:srgbClr val="1AA58F"/>
                </a:solidFill>
                <a:latin typeface="Arial"/>
                <a:ea typeface="Arial"/>
                <a:cs typeface="Arial"/>
              </a:defRPr>
            </a:defPPr>
          </a:lstStyle>
          <a:p xmlns:a="http://schemas.openxmlformats.org/drawingml/2006/main">
            <a:pPr algn="l">
              <a:defRPr sz="1425" b="1">
                <a:solidFill>
                  <a:srgbClr val="1AA58F"/>
                </a:solidFill>
                <a:latin typeface="Arial"/>
                <a:ea typeface="Arial"/>
                <a:cs typeface="Arial"/>
              </a:defRPr>
            </a:pPr>
            <a:r>
              <a:rPr sz="1425" b="1">
                <a:solidFill>
                  <a:srgbClr val="1AA58F"/>
                </a:solidFill>
                <a:latin typeface="Arial"/>
                <a:ea typeface="Arial"/>
                <a:cs typeface="Arial"/>
              </a:rPr>
              <a:t>Project lead</a:t>
            </a:r>
          </a:p>
        </p:txBody>
      </p:sp>
      <p:sp>
        <p:nvSpPr>
          <p:cNvPr id="8" name="">
            <a:extLst xmlns:a="http://schemas.openxmlformats.org/drawingml/2006/main">
              <a:ext uri="{FF2B5EF4-FFF2-40B4-BE49-F238E27FC236}">
                <a16:creationId xmlns:a16="http://schemas.microsoft.com/office/drawing/2014/main" id="{2D468653-BC2B-4C3B-8FA4-4BD011C30905}"/>
              </a:ext>
            </a:extLst>
          </p:cNvPr>
          <p:cNvSpPr>
            <a:spLocks xmlns:a="http://schemas.openxmlformats.org/drawingml/2006/main" noGrp="1"/>
          </p:cNvSpPr>
          <p:nvPr/>
        </p:nvSpPr>
        <p:spPr>
          <a:xfrm xmlns:a="http://schemas.openxmlformats.org/drawingml/2006/main">
            <a:off x="742950" y="2895600"/>
            <a:ext cx="2095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725" b="1">
                <a:solidFill>
                  <a:srgbClr val="1AA58F"/>
                </a:solidFill>
                <a:latin typeface="Arial"/>
                <a:ea typeface="Arial"/>
                <a:cs typeface="Arial"/>
              </a:defRPr>
            </a:defPPr>
          </a:lstStyle>
          <a:p xmlns:a="http://schemas.openxmlformats.org/drawingml/2006/main">
            <a:pPr algn="l">
              <a:defRPr sz="1725" b="1">
                <a:solidFill>
                  <a:srgbClr val="1AA58F"/>
                </a:solidFill>
                <a:latin typeface="Arial"/>
                <a:ea typeface="Arial"/>
                <a:cs typeface="Arial"/>
              </a:defRPr>
            </a:pPr>
            <a:r>
              <a:rPr sz="1725" b="1">
                <a:solidFill>
                  <a:srgbClr val="1AA58F"/>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64C7ACA3-537A-489B-841E-57EAFCB6BFED}"/>
              </a:ext>
            </a:extLst>
          </p:cNvPr>
          <p:cNvSpPr>
            <a:spLocks xmlns:a="http://schemas.openxmlformats.org/drawingml/2006/main" noGrp="1"/>
          </p:cNvSpPr>
          <p:nvPr/>
        </p:nvSpPr>
        <p:spPr>
          <a:xfrm xmlns:a="http://schemas.openxmlformats.org/drawingml/2006/main">
            <a:off x="990600" y="2895600"/>
            <a:ext cx="4514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a:solidFill>
                  <a:srgbClr val="F3F6F2"/>
                </a:solidFill>
                <a:latin typeface="Arial"/>
                <a:ea typeface="Arial"/>
                <a:cs typeface="Arial"/>
              </a:defRPr>
            </a:defPPr>
          </a:lstStyle>
          <a:p xmlns:a="http://schemas.openxmlformats.org/drawingml/2006/main">
            <a:pPr algn="l">
              <a:defRPr sz="1425">
                <a:solidFill>
                  <a:srgbClr val="F3F6F2"/>
                </a:solidFill>
                <a:latin typeface="Arial"/>
                <a:ea typeface="Arial"/>
                <a:cs typeface="Arial"/>
              </a:defRPr>
            </a:pPr>
            <a:r>
              <a:rPr sz="1425">
                <a:solidFill>
                  <a:srgbClr val="F3F6F2"/>
                </a:solidFill>
                <a:latin typeface="Arial"/>
                <a:ea typeface="Arial"/>
                <a:cs typeface="Arial"/>
              </a:rPr>
              <a:t>Leads the project direction and final submission.</a:t>
            </a:r>
          </a:p>
        </p:txBody>
      </p:sp>
      <p:sp>
        <p:nvSpPr>
          <p:cNvPr id="10" name="">
            <a:extLst xmlns:a="http://schemas.openxmlformats.org/drawingml/2006/main">
              <a:ext uri="{FF2B5EF4-FFF2-40B4-BE49-F238E27FC236}">
                <a16:creationId xmlns:a16="http://schemas.microsoft.com/office/drawing/2014/main" id="{0FC28277-CB03-4434-8E17-2B1339D05AED}"/>
              </a:ext>
            </a:extLst>
          </p:cNvPr>
          <p:cNvSpPr>
            <a:spLocks xmlns:a="http://schemas.openxmlformats.org/drawingml/2006/main" noGrp="1"/>
          </p:cNvSpPr>
          <p:nvPr/>
        </p:nvSpPr>
        <p:spPr>
          <a:xfrm xmlns:a="http://schemas.openxmlformats.org/drawingml/2006/main">
            <a:off x="742950" y="3543300"/>
            <a:ext cx="209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725" b="1">
                <a:solidFill>
                  <a:srgbClr val="1AA58F"/>
                </a:solidFill>
                <a:latin typeface="Arial"/>
                <a:ea typeface="Arial"/>
                <a:cs typeface="Arial"/>
              </a:defRPr>
            </a:defPPr>
          </a:lstStyle>
          <a:p xmlns:a="http://schemas.openxmlformats.org/drawingml/2006/main">
            <a:pPr algn="l">
              <a:defRPr sz="1725" b="1">
                <a:solidFill>
                  <a:srgbClr val="1AA58F"/>
                </a:solidFill>
                <a:latin typeface="Arial"/>
                <a:ea typeface="Arial"/>
                <a:cs typeface="Arial"/>
              </a:defRPr>
            </a:pPr>
            <a:r>
              <a:rPr sz="1725" b="1">
                <a:solidFill>
                  <a:srgbClr val="1AA58F"/>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99336ACA-9CCE-479C-B9EE-CBDEE4F536B1}"/>
              </a:ext>
            </a:extLst>
          </p:cNvPr>
          <p:cNvSpPr>
            <a:spLocks xmlns:a="http://schemas.openxmlformats.org/drawingml/2006/main" noGrp="1"/>
          </p:cNvSpPr>
          <p:nvPr/>
        </p:nvSpPr>
        <p:spPr>
          <a:xfrm xmlns:a="http://schemas.openxmlformats.org/drawingml/2006/main">
            <a:off x="990600" y="3543300"/>
            <a:ext cx="4514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a:solidFill>
                  <a:srgbClr val="F3F6F2"/>
                </a:solidFill>
                <a:latin typeface="Arial"/>
                <a:ea typeface="Arial"/>
                <a:cs typeface="Arial"/>
              </a:defRPr>
            </a:defPPr>
          </a:lstStyle>
          <a:p xmlns:a="http://schemas.openxmlformats.org/drawingml/2006/main">
            <a:pPr algn="l">
              <a:defRPr sz="1425">
                <a:solidFill>
                  <a:srgbClr val="F3F6F2"/>
                </a:solidFill>
                <a:latin typeface="Arial"/>
                <a:ea typeface="Arial"/>
                <a:cs typeface="Arial"/>
              </a:defRPr>
            </a:pPr>
            <a:r>
              <a:rPr sz="1425">
                <a:solidFill>
                  <a:srgbClr val="F3F6F2"/>
                </a:solidFill>
                <a:latin typeface="Arial"/>
                <a:ea typeface="Arial"/>
                <a:cs typeface="Arial"/>
              </a:rPr>
              <a:t>Presents the data, analysis, score and demonstration.</a:t>
            </a:r>
          </a:p>
        </p:txBody>
      </p:sp>
      <p:sp>
        <p:nvSpPr>
          <p:cNvPr id="12" name="">
            <a:extLst xmlns:a="http://schemas.openxmlformats.org/drawingml/2006/main">
              <a:ext uri="{FF2B5EF4-FFF2-40B4-BE49-F238E27FC236}">
                <a16:creationId xmlns:a16="http://schemas.microsoft.com/office/drawing/2014/main" id="{7A032184-CE59-499A-872E-BFC6AD706A62}"/>
              </a:ext>
            </a:extLst>
          </p:cNvPr>
          <p:cNvSpPr>
            <a:spLocks xmlns:a="http://schemas.openxmlformats.org/drawingml/2006/main" noGrp="1"/>
          </p:cNvSpPr>
          <p:nvPr/>
        </p:nvSpPr>
        <p:spPr>
          <a:xfrm xmlns:a="http://schemas.openxmlformats.org/drawingml/2006/main">
            <a:off x="742950" y="4248150"/>
            <a:ext cx="209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725" b="1">
                <a:solidFill>
                  <a:srgbClr val="1AA58F"/>
                </a:solidFill>
                <a:latin typeface="Arial"/>
                <a:ea typeface="Arial"/>
                <a:cs typeface="Arial"/>
              </a:defRPr>
            </a:defPPr>
          </a:lstStyle>
          <a:p xmlns:a="http://schemas.openxmlformats.org/drawingml/2006/main">
            <a:pPr algn="l">
              <a:defRPr sz="1725" b="1">
                <a:solidFill>
                  <a:srgbClr val="1AA58F"/>
                </a:solidFill>
                <a:latin typeface="Arial"/>
                <a:ea typeface="Arial"/>
                <a:cs typeface="Arial"/>
              </a:defRPr>
            </a:pPr>
            <a:r>
              <a:rPr sz="1725" b="1">
                <a:solidFill>
                  <a:srgbClr val="1AA58F"/>
                </a:solidFill>
                <a:latin typeface="Arial"/>
                <a:ea typeface="Arial"/>
                <a:cs typeface="Arial"/>
              </a:rPr>
              <a:t>•</a:t>
            </a:r>
          </a:p>
        </p:txBody>
      </p:sp>
      <p:sp>
        <p:nvSpPr>
          <p:cNvPr id="13" name="">
            <a:extLst xmlns:a="http://schemas.openxmlformats.org/drawingml/2006/main">
              <a:ext uri="{FF2B5EF4-FFF2-40B4-BE49-F238E27FC236}">
                <a16:creationId xmlns:a16="http://schemas.microsoft.com/office/drawing/2014/main" id="{406D396B-FF01-4347-BD8A-8D94C4A2B43A}"/>
              </a:ext>
            </a:extLst>
          </p:cNvPr>
          <p:cNvSpPr>
            <a:spLocks xmlns:a="http://schemas.openxmlformats.org/drawingml/2006/main" noGrp="1"/>
          </p:cNvSpPr>
          <p:nvPr/>
        </p:nvSpPr>
        <p:spPr>
          <a:xfrm xmlns:a="http://schemas.openxmlformats.org/drawingml/2006/main">
            <a:off x="990600" y="4248150"/>
            <a:ext cx="4514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a:solidFill>
                  <a:srgbClr val="F3F6F2"/>
                </a:solidFill>
                <a:latin typeface="Arial"/>
                <a:ea typeface="Arial"/>
                <a:cs typeface="Arial"/>
              </a:defRPr>
            </a:defPPr>
          </a:lstStyle>
          <a:p xmlns:a="http://schemas.openxmlformats.org/drawingml/2006/main">
            <a:pPr algn="l">
              <a:defRPr sz="1425">
                <a:solidFill>
                  <a:srgbClr val="F3F6F2"/>
                </a:solidFill>
                <a:latin typeface="Arial"/>
                <a:ea typeface="Arial"/>
                <a:cs typeface="Arial"/>
              </a:defRPr>
            </a:pPr>
            <a:r>
              <a:rPr sz="1425">
                <a:solidFill>
                  <a:srgbClr val="F3F6F2"/>
                </a:solidFill>
                <a:latin typeface="Arial"/>
                <a:ea typeface="Arial"/>
                <a:cs typeface="Arial"/>
              </a:rPr>
              <a:t>Focuses on the data workflow and reproducibility.</a:t>
            </a:r>
          </a:p>
        </p:txBody>
      </p:sp>
      <p:sp>
        <p:nvSpPr>
          <p:cNvPr id="14" name="">
            <a:extLst xmlns:a="http://schemas.openxmlformats.org/drawingml/2006/main">
              <a:ext uri="{FF2B5EF4-FFF2-40B4-BE49-F238E27FC236}">
                <a16:creationId xmlns:a16="http://schemas.microsoft.com/office/drawing/2014/main" id="{D61305B9-7A61-4F75-8E56-F9D3EAEBE81C}"/>
              </a:ext>
            </a:extLst>
          </p:cNvPr>
          <p:cNvSpPr>
            <a:spLocks xmlns:a="http://schemas.openxmlformats.org/drawingml/2006/main" noGrp="1"/>
          </p:cNvSpPr>
          <p:nvPr/>
        </p:nvSpPr>
        <p:spPr>
          <a:xfrm xmlns:a="http://schemas.openxmlformats.org/drawingml/2006/main">
            <a:off x="6667500" y="1752600"/>
            <a:ext cx="4667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325" b="1">
                <a:solidFill>
                  <a:srgbClr val="F3F6F2"/>
                </a:solidFill>
                <a:latin typeface="Arial"/>
                <a:ea typeface="Arial"/>
                <a:cs typeface="Arial"/>
              </a:defRPr>
            </a:defPPr>
          </a:lstStyle>
          <a:p xmlns:a="http://schemas.openxmlformats.org/drawingml/2006/main">
            <a:pPr algn="l">
              <a:defRPr sz="2325" b="1">
                <a:solidFill>
                  <a:srgbClr val="F3F6F2"/>
                </a:solidFill>
                <a:latin typeface="Arial"/>
                <a:ea typeface="Arial"/>
                <a:cs typeface="Arial"/>
              </a:defRPr>
            </a:pPr>
            <a:r>
              <a:rPr sz="2325" b="1">
                <a:solidFill>
                  <a:srgbClr val="F3F6F2"/>
                </a:solidFill>
                <a:latin typeface="Arial"/>
                <a:ea typeface="Arial"/>
                <a:cs typeface="Arial"/>
              </a:rPr>
              <a:t>Raed Mardoum</a:t>
            </a:r>
          </a:p>
        </p:txBody>
      </p:sp>
      <p:sp>
        <p:nvSpPr>
          <p:cNvPr id="15" name="">
            <a:extLst xmlns:a="http://schemas.openxmlformats.org/drawingml/2006/main">
              <a:ext uri="{FF2B5EF4-FFF2-40B4-BE49-F238E27FC236}">
                <a16:creationId xmlns:a16="http://schemas.microsoft.com/office/drawing/2014/main" id="{81C72FC9-F933-4F25-AB6E-CA12032E01D6}"/>
              </a:ext>
            </a:extLst>
          </p:cNvPr>
          <p:cNvSpPr>
            <a:spLocks xmlns:a="http://schemas.openxmlformats.org/drawingml/2006/main" noGrp="1"/>
          </p:cNvSpPr>
          <p:nvPr/>
        </p:nvSpPr>
        <p:spPr>
          <a:xfrm xmlns:a="http://schemas.openxmlformats.org/drawingml/2006/main">
            <a:off x="6667500" y="2247900"/>
            <a:ext cx="4667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425" b="1">
                <a:solidFill>
                  <a:srgbClr val="6D5DD3"/>
                </a:solidFill>
                <a:latin typeface="Arial"/>
                <a:ea typeface="Arial"/>
                <a:cs typeface="Arial"/>
              </a:defRPr>
            </a:defPPr>
          </a:lstStyle>
          <a:p xmlns:a="http://schemas.openxmlformats.org/drawingml/2006/main">
            <a:pPr algn="l">
              <a:defRPr sz="1425" b="1">
                <a:solidFill>
                  <a:srgbClr val="6D5DD3"/>
                </a:solidFill>
                <a:latin typeface="Arial"/>
                <a:ea typeface="Arial"/>
                <a:cs typeface="Arial"/>
              </a:defRPr>
            </a:pPr>
            <a:r>
              <a:rPr sz="1425" b="1">
                <a:solidFill>
                  <a:srgbClr val="6D5DD3"/>
                </a:solidFill>
                <a:latin typeface="Arial"/>
                <a:ea typeface="Arial"/>
                <a:cs typeface="Arial"/>
              </a:rPr>
              <a:t>Validation and planning workflow</a:t>
            </a:r>
          </a:p>
        </p:txBody>
      </p:sp>
      <p:sp>
        <p:nvSpPr>
          <p:cNvPr id="16" name="">
            <a:extLst xmlns:a="http://schemas.openxmlformats.org/drawingml/2006/main">
              <a:ext uri="{FF2B5EF4-FFF2-40B4-BE49-F238E27FC236}">
                <a16:creationId xmlns:a16="http://schemas.microsoft.com/office/drawing/2014/main" id="{44A2F901-A9E1-4B67-8185-64E46F163DC2}"/>
              </a:ext>
            </a:extLst>
          </p:cNvPr>
          <p:cNvSpPr>
            <a:spLocks xmlns:a="http://schemas.openxmlformats.org/drawingml/2006/main" noGrp="1"/>
          </p:cNvSpPr>
          <p:nvPr/>
        </p:nvSpPr>
        <p:spPr>
          <a:xfrm xmlns:a="http://schemas.openxmlformats.org/drawingml/2006/main">
            <a:off x="6667500" y="2895600"/>
            <a:ext cx="2095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725" b="1">
                <a:solidFill>
                  <a:srgbClr val="1AA58F"/>
                </a:solidFill>
                <a:latin typeface="Arial"/>
                <a:ea typeface="Arial"/>
                <a:cs typeface="Arial"/>
              </a:defRPr>
            </a:defPPr>
          </a:lstStyle>
          <a:p xmlns:a="http://schemas.openxmlformats.org/drawingml/2006/main">
            <a:pPr algn="l">
              <a:defRPr sz="1725" b="1">
                <a:solidFill>
                  <a:srgbClr val="1AA58F"/>
                </a:solidFill>
                <a:latin typeface="Arial"/>
                <a:ea typeface="Arial"/>
                <a:cs typeface="Arial"/>
              </a:defRPr>
            </a:pPr>
            <a:r>
              <a:rPr sz="1725" b="1">
                <a:solidFill>
                  <a:srgbClr val="1AA58F"/>
                </a:solidFill>
                <a:latin typeface="Arial"/>
                <a:ea typeface="Arial"/>
                <a:cs typeface="Arial"/>
              </a:rPr>
              <a:t>•</a:t>
            </a:r>
          </a:p>
        </p:txBody>
      </p:sp>
      <p:sp>
        <p:nvSpPr>
          <p:cNvPr id="17" name="">
            <a:extLst xmlns:a="http://schemas.openxmlformats.org/drawingml/2006/main">
              <a:ext uri="{FF2B5EF4-FFF2-40B4-BE49-F238E27FC236}">
                <a16:creationId xmlns:a16="http://schemas.microsoft.com/office/drawing/2014/main" id="{1D4BEC0B-33B7-423C-AC1C-C03D8BAE7B52}"/>
              </a:ext>
            </a:extLst>
          </p:cNvPr>
          <p:cNvSpPr>
            <a:spLocks xmlns:a="http://schemas.openxmlformats.org/drawingml/2006/main" noGrp="1"/>
          </p:cNvSpPr>
          <p:nvPr/>
        </p:nvSpPr>
        <p:spPr>
          <a:xfrm xmlns:a="http://schemas.openxmlformats.org/drawingml/2006/main">
            <a:off x="6915150" y="2895600"/>
            <a:ext cx="4514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a:solidFill>
                  <a:srgbClr val="F3F6F2"/>
                </a:solidFill>
                <a:latin typeface="Arial"/>
                <a:ea typeface="Arial"/>
                <a:cs typeface="Arial"/>
              </a:defRPr>
            </a:defPPr>
          </a:lstStyle>
          <a:p xmlns:a="http://schemas.openxmlformats.org/drawingml/2006/main">
            <a:pPr algn="l">
              <a:defRPr sz="1425">
                <a:solidFill>
                  <a:srgbClr val="F3F6F2"/>
                </a:solidFill>
                <a:latin typeface="Arial"/>
                <a:ea typeface="Arial"/>
                <a:cs typeface="Arial"/>
              </a:defRPr>
            </a:pPr>
            <a:r>
              <a:rPr sz="1425">
                <a:solidFill>
                  <a:srgbClr val="F3F6F2"/>
                </a:solidFill>
                <a:latin typeface="Arial"/>
                <a:ea typeface="Arial"/>
                <a:cs typeface="Arial"/>
              </a:rPr>
              <a:t>Presents the validation results and limitations.</a:t>
            </a:r>
          </a:p>
        </p:txBody>
      </p:sp>
      <p:sp>
        <p:nvSpPr>
          <p:cNvPr id="18" name="">
            <a:extLst xmlns:a="http://schemas.openxmlformats.org/drawingml/2006/main">
              <a:ext uri="{FF2B5EF4-FFF2-40B4-BE49-F238E27FC236}">
                <a16:creationId xmlns:a16="http://schemas.microsoft.com/office/drawing/2014/main" id="{B9ADEF5E-97BC-49CD-8961-EC4ECD1D8325}"/>
              </a:ext>
            </a:extLst>
          </p:cNvPr>
          <p:cNvSpPr>
            <a:spLocks xmlns:a="http://schemas.openxmlformats.org/drawingml/2006/main" noGrp="1"/>
          </p:cNvSpPr>
          <p:nvPr/>
        </p:nvSpPr>
        <p:spPr>
          <a:xfrm xmlns:a="http://schemas.openxmlformats.org/drawingml/2006/main">
            <a:off x="6667500" y="3543300"/>
            <a:ext cx="209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725" b="1">
                <a:solidFill>
                  <a:srgbClr val="1AA58F"/>
                </a:solidFill>
                <a:latin typeface="Arial"/>
                <a:ea typeface="Arial"/>
                <a:cs typeface="Arial"/>
              </a:defRPr>
            </a:defPPr>
          </a:lstStyle>
          <a:p xmlns:a="http://schemas.openxmlformats.org/drawingml/2006/main">
            <a:pPr algn="l">
              <a:defRPr sz="1725" b="1">
                <a:solidFill>
                  <a:srgbClr val="1AA58F"/>
                </a:solidFill>
                <a:latin typeface="Arial"/>
                <a:ea typeface="Arial"/>
                <a:cs typeface="Arial"/>
              </a:defRPr>
            </a:pPr>
            <a:r>
              <a:rPr sz="1725" b="1">
                <a:solidFill>
                  <a:srgbClr val="1AA58F"/>
                </a:solidFill>
                <a:latin typeface="Arial"/>
                <a:ea typeface="Arial"/>
                <a:cs typeface="Arial"/>
              </a:rPr>
              <a:t>•</a:t>
            </a:r>
          </a:p>
        </p:txBody>
      </p:sp>
      <p:sp>
        <p:nvSpPr>
          <p:cNvPr id="19" name="">
            <a:extLst xmlns:a="http://schemas.openxmlformats.org/drawingml/2006/main">
              <a:ext uri="{FF2B5EF4-FFF2-40B4-BE49-F238E27FC236}">
                <a16:creationId xmlns:a16="http://schemas.microsoft.com/office/drawing/2014/main" id="{48F35584-124D-4006-9E6C-F81AF77CE9C0}"/>
              </a:ext>
            </a:extLst>
          </p:cNvPr>
          <p:cNvSpPr>
            <a:spLocks xmlns:a="http://schemas.openxmlformats.org/drawingml/2006/main" noGrp="1"/>
          </p:cNvSpPr>
          <p:nvPr/>
        </p:nvSpPr>
        <p:spPr>
          <a:xfrm xmlns:a="http://schemas.openxmlformats.org/drawingml/2006/main">
            <a:off x="6915150" y="3543300"/>
            <a:ext cx="4514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a:solidFill>
                  <a:srgbClr val="F3F6F2"/>
                </a:solidFill>
                <a:latin typeface="Arial"/>
                <a:ea typeface="Arial"/>
                <a:cs typeface="Arial"/>
              </a:defRPr>
            </a:defPPr>
          </a:lstStyle>
          <a:p xmlns:a="http://schemas.openxmlformats.org/drawingml/2006/main">
            <a:pPr algn="l">
              <a:defRPr sz="1425">
                <a:solidFill>
                  <a:srgbClr val="F3F6F2"/>
                </a:solidFill>
                <a:latin typeface="Arial"/>
                <a:ea typeface="Arial"/>
                <a:cs typeface="Arial"/>
              </a:defRPr>
            </a:pPr>
            <a:r>
              <a:rPr sz="1425">
                <a:solidFill>
                  <a:srgbClr val="F3F6F2"/>
                </a:solidFill>
                <a:latin typeface="Arial"/>
                <a:ea typeface="Arial"/>
                <a:cs typeface="Arial"/>
              </a:rPr>
              <a:t>Explains how planners should use the ranking.</a:t>
            </a:r>
          </a:p>
        </p:txBody>
      </p:sp>
      <p:sp>
        <p:nvSpPr>
          <p:cNvPr id="20" name="">
            <a:extLst xmlns:a="http://schemas.openxmlformats.org/drawingml/2006/main">
              <a:ext uri="{FF2B5EF4-FFF2-40B4-BE49-F238E27FC236}">
                <a16:creationId xmlns:a16="http://schemas.microsoft.com/office/drawing/2014/main" id="{E0EA34CE-2A4A-41BF-9FFE-5D14DB28A5D8}"/>
              </a:ext>
            </a:extLst>
          </p:cNvPr>
          <p:cNvSpPr>
            <a:spLocks xmlns:a="http://schemas.openxmlformats.org/drawingml/2006/main" noGrp="1"/>
          </p:cNvSpPr>
          <p:nvPr/>
        </p:nvSpPr>
        <p:spPr>
          <a:xfrm xmlns:a="http://schemas.openxmlformats.org/drawingml/2006/main">
            <a:off x="6667500" y="4248150"/>
            <a:ext cx="209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725" b="1">
                <a:solidFill>
                  <a:srgbClr val="1AA58F"/>
                </a:solidFill>
                <a:latin typeface="Arial"/>
                <a:ea typeface="Arial"/>
                <a:cs typeface="Arial"/>
              </a:defRPr>
            </a:defPPr>
          </a:lstStyle>
          <a:p xmlns:a="http://schemas.openxmlformats.org/drawingml/2006/main">
            <a:pPr algn="l">
              <a:defRPr sz="1725" b="1">
                <a:solidFill>
                  <a:srgbClr val="1AA58F"/>
                </a:solidFill>
                <a:latin typeface="Arial"/>
                <a:ea typeface="Arial"/>
                <a:cs typeface="Arial"/>
              </a:defRPr>
            </a:pPr>
            <a:r>
              <a:rPr sz="1725" b="1">
                <a:solidFill>
                  <a:srgbClr val="1AA58F"/>
                </a:solidFill>
                <a:latin typeface="Arial"/>
                <a:ea typeface="Arial"/>
                <a:cs typeface="Arial"/>
              </a:rPr>
              <a:t>•</a:t>
            </a:r>
          </a:p>
        </p:txBody>
      </p:sp>
      <p:sp>
        <p:nvSpPr>
          <p:cNvPr id="21" name="">
            <a:extLst xmlns:a="http://schemas.openxmlformats.org/drawingml/2006/main">
              <a:ext uri="{FF2B5EF4-FFF2-40B4-BE49-F238E27FC236}">
                <a16:creationId xmlns:a16="http://schemas.microsoft.com/office/drawing/2014/main" id="{A7983FCB-1244-456C-9C7A-571A2151FB03}"/>
              </a:ext>
            </a:extLst>
          </p:cNvPr>
          <p:cNvSpPr>
            <a:spLocks xmlns:a="http://schemas.openxmlformats.org/drawingml/2006/main" noGrp="1"/>
          </p:cNvSpPr>
          <p:nvPr/>
        </p:nvSpPr>
        <p:spPr>
          <a:xfrm xmlns:a="http://schemas.openxmlformats.org/drawingml/2006/main">
            <a:off x="6915150" y="4248150"/>
            <a:ext cx="4514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a:solidFill>
                  <a:srgbClr val="F3F6F2"/>
                </a:solidFill>
                <a:latin typeface="Arial"/>
                <a:ea typeface="Arial"/>
                <a:cs typeface="Arial"/>
              </a:defRPr>
            </a:defPPr>
          </a:lstStyle>
          <a:p xmlns:a="http://schemas.openxmlformats.org/drawingml/2006/main">
            <a:pPr algn="l">
              <a:defRPr sz="1425">
                <a:solidFill>
                  <a:srgbClr val="F3F6F2"/>
                </a:solidFill>
                <a:latin typeface="Arial"/>
                <a:ea typeface="Arial"/>
                <a:cs typeface="Arial"/>
              </a:defRPr>
            </a:pPr>
            <a:r>
              <a:rPr sz="1425">
                <a:solidFill>
                  <a:srgbClr val="F3F6F2"/>
                </a:solidFill>
                <a:latin typeface="Arial"/>
                <a:ea typeface="Arial"/>
                <a:cs typeface="Arial"/>
              </a:rPr>
              <a:t>Presents the expected impact and pilot plan.</a:t>
            </a:r>
          </a:p>
        </p:txBody>
      </p:sp>
    </p:spTree>
    <p:extLst>
      <p:ext uri="{BB962C8B-B14F-4D97-AF65-F5344CB8AC3E}">
        <p14:creationId xmlns:p14="http://schemas.microsoft.com/office/powerpoint/2010/main" val="1987206321"/>
      </p:ext>
    </p:extLst>
  </p:cSld>
</p:sld>
</file>

<file path=ppt/slides/slide3.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C69C42AD-471D-44E9-A5A8-91D259746D30}"/>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stStyle>
          <a:p xmlns:a="http://schemas.openxmlformats.org/drawingml/2006/main">
            <a:pPr algn="l">
              <a:defRPr sz="1050" b="1">
                <a:solidFill>
                  <a:srgbClr val="1AA58F"/>
                </a:solidFill>
                <a:latin typeface="Arial"/>
                <a:ea typeface="Arial"/>
                <a:cs typeface="Arial"/>
              </a:defRPr>
            </a:pPr>
            <a:r>
              <a:rPr sz="1050" b="1">
                <a:solidFill>
                  <a:srgbClr val="1AA58F"/>
                </a:solidFill>
                <a:latin typeface="Arial"/>
                <a:ea typeface="Arial"/>
                <a:cs typeface="Arial"/>
              </a:rPr>
              <a:t>USER NEED AND SCOPE</a:t>
            </a:r>
          </a:p>
        </p:txBody>
      </p:sp>
      <p:sp>
        <p:nvSpPr>
          <p:cNvPr id="2" name="">
            <a:extLst xmlns:a="http://schemas.openxmlformats.org/drawingml/2006/main">
              <a:ext uri="{FF2B5EF4-FFF2-40B4-BE49-F238E27FC236}">
                <a16:creationId xmlns:a16="http://schemas.microsoft.com/office/drawing/2014/main" id="{6C842A60-DDCA-48B5-87F9-40EA0B1A4FE0}"/>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stStyle>
          <a:p xmlns:a="http://schemas.openxmlformats.org/drawingml/2006/main">
            <a:pPr algn="l">
              <a:defRPr sz="2700" b="1">
                <a:solidFill>
                  <a:srgbClr val="F3F6F2"/>
                </a:solidFill>
                <a:latin typeface="Arial"/>
                <a:ea typeface="Arial"/>
                <a:cs typeface="Arial"/>
              </a:defRPr>
            </a:pPr>
            <a:r>
              <a:rPr sz="2700" b="1">
                <a:solidFill>
                  <a:srgbClr val="F3F6F2"/>
                </a:solidFill>
                <a:latin typeface="Arial"/>
                <a:ea typeface="Arial"/>
                <a:cs typeface="Arial"/>
              </a:rPr>
              <a:t>A faster way to choose areas for inspection</a:t>
            </a:r>
          </a:p>
        </p:txBody>
      </p:sp>
      <p:sp>
        <p:nvSpPr>
          <p:cNvPr id="3" name="">
            <a:extLst xmlns:a="http://schemas.openxmlformats.org/drawingml/2006/main">
              <a:ext uri="{FF2B5EF4-FFF2-40B4-BE49-F238E27FC236}">
                <a16:creationId xmlns:a16="http://schemas.microsoft.com/office/drawing/2014/main" id="{5D7DA975-AAFB-4C40-828F-2E99C352F87A}"/>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stStyle>
          <a:p xmlns:a="http://schemas.openxmlformats.org/drawingml/2006/main">
            <a:pPr algn="r">
              <a:defRPr sz="1050" b="1">
                <a:solidFill>
                  <a:srgbClr val="AFC4C6"/>
                </a:solidFill>
                <a:latin typeface="Arial"/>
                <a:ea typeface="Arial"/>
                <a:cs typeface="Arial"/>
              </a:defRPr>
            </a:pPr>
            <a:r>
              <a:rPr sz="1050" b="1">
                <a:solidFill>
                  <a:srgbClr val="AFC4C6"/>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3B313627-5E13-4AC0-9B4D-78DF9C8F18CC}"/>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5" name="">
            <a:extLst xmlns:a="http://schemas.openxmlformats.org/drawingml/2006/main">
              <a:ext uri="{FF2B5EF4-FFF2-40B4-BE49-F238E27FC236}">
                <a16:creationId xmlns:a16="http://schemas.microsoft.com/office/drawing/2014/main" id="{833600F5-885D-4CCD-8C4E-605B2D4538C0}"/>
              </a:ext>
            </a:extLst>
          </p:cNvPr>
          <p:cNvSpPr>
            <a:spLocks xmlns:a="http://schemas.openxmlformats.org/drawingml/2006/main" noGrp="1"/>
          </p:cNvSpPr>
          <p:nvPr/>
        </p:nvSpPr>
        <p:spPr>
          <a:xfrm xmlns:a="http://schemas.openxmlformats.org/drawingml/2006/main">
            <a:off x="590550" y="1619250"/>
            <a:ext cx="24765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6" name="">
            <a:extLst xmlns:a="http://schemas.openxmlformats.org/drawingml/2006/main">
              <a:ext uri="{FF2B5EF4-FFF2-40B4-BE49-F238E27FC236}">
                <a16:creationId xmlns:a16="http://schemas.microsoft.com/office/drawing/2014/main" id="{35B175AA-1FDA-4C57-B506-AB20F6F10B14}"/>
              </a:ext>
            </a:extLst>
          </p:cNvPr>
          <p:cNvSpPr>
            <a:spLocks xmlns:a="http://schemas.openxmlformats.org/drawingml/2006/main" noGrp="1"/>
          </p:cNvSpPr>
          <p:nvPr/>
        </p:nvSpPr>
        <p:spPr>
          <a:xfrm xmlns:a="http://schemas.openxmlformats.org/drawingml/2006/main">
            <a:off x="762000" y="1733550"/>
            <a:ext cx="2133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F06449"/>
                </a:solidFill>
                <a:latin typeface="Arial"/>
                <a:ea typeface="Arial"/>
                <a:cs typeface="Arial"/>
              </a:defRPr>
            </a:defPPr>
          </a:lstStyle>
          <a:p xmlns:a="http://schemas.openxmlformats.org/drawingml/2006/main">
            <a:pPr algn="l">
              <a:defRPr sz="2550" b="1">
                <a:solidFill>
                  <a:srgbClr val="F06449"/>
                </a:solidFill>
                <a:latin typeface="Arial"/>
                <a:ea typeface="Arial"/>
                <a:cs typeface="Arial"/>
              </a:defRPr>
            </a:pPr>
            <a:r>
              <a:rPr sz="2550" b="1">
                <a:solidFill>
                  <a:srgbClr val="F06449"/>
                </a:solidFill>
                <a:latin typeface="Arial"/>
                <a:ea typeface="Arial"/>
                <a:cs typeface="Arial"/>
              </a:rPr>
              <a:t>168.30 km²</a:t>
            </a:r>
          </a:p>
        </p:txBody>
      </p:sp>
      <p:sp>
        <p:nvSpPr>
          <p:cNvPr id="7" name="">
            <a:extLst xmlns:a="http://schemas.openxmlformats.org/drawingml/2006/main">
              <a:ext uri="{FF2B5EF4-FFF2-40B4-BE49-F238E27FC236}">
                <a16:creationId xmlns:a16="http://schemas.microsoft.com/office/drawing/2014/main" id="{0B47B60E-3C94-424A-AD55-277A72A8BA8E}"/>
              </a:ext>
            </a:extLst>
          </p:cNvPr>
          <p:cNvSpPr>
            <a:spLocks xmlns:a="http://schemas.openxmlformats.org/drawingml/2006/main" noGrp="1"/>
          </p:cNvSpPr>
          <p:nvPr/>
        </p:nvSpPr>
        <p:spPr>
          <a:xfrm xmlns:a="http://schemas.openxmlformats.org/drawingml/2006/main">
            <a:off x="762000" y="2247900"/>
            <a:ext cx="2133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stStyle>
          <a:p xmlns:a="http://schemas.openxmlformats.org/drawingml/2006/main">
            <a:pPr algn="l">
              <a:defRPr sz="1050" b="1">
                <a:solidFill>
                  <a:srgbClr val="AFC4C6"/>
                </a:solidFill>
                <a:latin typeface="Arial"/>
                <a:ea typeface="Arial"/>
                <a:cs typeface="Arial"/>
              </a:defRPr>
            </a:pPr>
            <a:r>
              <a:rPr sz="1050" b="1">
                <a:solidFill>
                  <a:srgbClr val="AFC4C6"/>
                </a:solidFill>
                <a:latin typeface="Arial"/>
                <a:ea typeface="Arial"/>
                <a:cs typeface="Arial"/>
              </a:rPr>
              <a:t>SOUTHEASTERN RIYADH STUDY AREA</a:t>
            </a:r>
          </a:p>
        </p:txBody>
      </p:sp>
      <p:sp>
        <p:nvSpPr>
          <p:cNvPr id="8" name="">
            <a:extLst xmlns:a="http://schemas.openxmlformats.org/drawingml/2006/main">
              <a:ext uri="{FF2B5EF4-FFF2-40B4-BE49-F238E27FC236}">
                <a16:creationId xmlns:a16="http://schemas.microsoft.com/office/drawing/2014/main" id="{C5B80757-6906-41DC-8C23-28E0C40BA44A}"/>
              </a:ext>
            </a:extLst>
          </p:cNvPr>
          <p:cNvSpPr>
            <a:spLocks xmlns:a="http://schemas.openxmlformats.org/drawingml/2006/main" noGrp="1"/>
          </p:cNvSpPr>
          <p:nvPr/>
        </p:nvSpPr>
        <p:spPr>
          <a:xfrm xmlns:a="http://schemas.openxmlformats.org/drawingml/2006/main">
            <a:off x="3219450" y="1619250"/>
            <a:ext cx="24765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9" name="">
            <a:extLst xmlns:a="http://schemas.openxmlformats.org/drawingml/2006/main">
              <a:ext uri="{FF2B5EF4-FFF2-40B4-BE49-F238E27FC236}">
                <a16:creationId xmlns:a16="http://schemas.microsoft.com/office/drawing/2014/main" id="{D2ABC152-B12C-409B-8C6A-8940DE1A6497}"/>
              </a:ext>
            </a:extLst>
          </p:cNvPr>
          <p:cNvSpPr>
            <a:spLocks xmlns:a="http://schemas.openxmlformats.org/drawingml/2006/main" noGrp="1"/>
          </p:cNvSpPr>
          <p:nvPr/>
        </p:nvSpPr>
        <p:spPr>
          <a:xfrm xmlns:a="http://schemas.openxmlformats.org/drawingml/2006/main">
            <a:off x="3390900" y="1733550"/>
            <a:ext cx="2133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E2AD2B"/>
                </a:solidFill>
                <a:latin typeface="Arial"/>
                <a:ea typeface="Arial"/>
                <a:cs typeface="Arial"/>
              </a:defRPr>
            </a:defPPr>
          </a:lstStyle>
          <a:p xmlns:a="http://schemas.openxmlformats.org/drawingml/2006/main">
            <a:pPr algn="l">
              <a:defRPr sz="2550" b="1">
                <a:solidFill>
                  <a:srgbClr val="E2AD2B"/>
                </a:solidFill>
                <a:latin typeface="Arial"/>
                <a:ea typeface="Arial"/>
                <a:cs typeface="Arial"/>
              </a:defRPr>
            </a:pPr>
            <a:r>
              <a:rPr sz="2550" b="1">
                <a:solidFill>
                  <a:srgbClr val="E2AD2B"/>
                </a:solidFill>
                <a:latin typeface="Arial"/>
                <a:ea typeface="Arial"/>
                <a:cs typeface="Arial"/>
              </a:rPr>
              <a:t>1 km</a:t>
            </a:r>
          </a:p>
        </p:txBody>
      </p:sp>
      <p:sp>
        <p:nvSpPr>
          <p:cNvPr id="10" name="">
            <a:extLst xmlns:a="http://schemas.openxmlformats.org/drawingml/2006/main">
              <a:ext uri="{FF2B5EF4-FFF2-40B4-BE49-F238E27FC236}">
                <a16:creationId xmlns:a16="http://schemas.microsoft.com/office/drawing/2014/main" id="{5A09B0F2-0B80-4B19-BBC8-2FC5A163BDC2}"/>
              </a:ext>
            </a:extLst>
          </p:cNvPr>
          <p:cNvSpPr>
            <a:spLocks xmlns:a="http://schemas.openxmlformats.org/drawingml/2006/main" noGrp="1"/>
          </p:cNvSpPr>
          <p:nvPr/>
        </p:nvSpPr>
        <p:spPr>
          <a:xfrm xmlns:a="http://schemas.openxmlformats.org/drawingml/2006/main">
            <a:off x="3390900" y="2247900"/>
            <a:ext cx="2133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stStyle>
          <a:p xmlns:a="http://schemas.openxmlformats.org/drawingml/2006/main">
            <a:pPr algn="l">
              <a:defRPr sz="1050" b="1">
                <a:solidFill>
                  <a:srgbClr val="AFC4C6"/>
                </a:solidFill>
                <a:latin typeface="Arial"/>
                <a:ea typeface="Arial"/>
                <a:cs typeface="Arial"/>
              </a:defRPr>
            </a:pPr>
            <a:r>
              <a:rPr sz="1050" b="1">
                <a:solidFill>
                  <a:srgbClr val="AFC4C6"/>
                </a:solidFill>
                <a:latin typeface="Arial"/>
                <a:ea typeface="Arial"/>
                <a:cs typeface="Arial"/>
              </a:rPr>
              <a:t>TRANSPARENT SCREENING CELLS</a:t>
            </a:r>
          </a:p>
        </p:txBody>
      </p:sp>
      <p:sp>
        <p:nvSpPr>
          <p:cNvPr id="11" name="">
            <a:extLst xmlns:a="http://schemas.openxmlformats.org/drawingml/2006/main">
              <a:ext uri="{FF2B5EF4-FFF2-40B4-BE49-F238E27FC236}">
                <a16:creationId xmlns:a16="http://schemas.microsoft.com/office/drawing/2014/main" id="{A5C56795-B9D4-4A5C-AABD-1F71574F4E54}"/>
              </a:ext>
            </a:extLst>
          </p:cNvPr>
          <p:cNvSpPr>
            <a:spLocks xmlns:a="http://schemas.openxmlformats.org/drawingml/2006/main" noGrp="1"/>
          </p:cNvSpPr>
          <p:nvPr/>
        </p:nvSpPr>
        <p:spPr>
          <a:xfrm xmlns:a="http://schemas.openxmlformats.org/drawingml/2006/main">
            <a:off x="5848350" y="1619250"/>
            <a:ext cx="24765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12" name="">
            <a:extLst xmlns:a="http://schemas.openxmlformats.org/drawingml/2006/main">
              <a:ext uri="{FF2B5EF4-FFF2-40B4-BE49-F238E27FC236}">
                <a16:creationId xmlns:a16="http://schemas.microsoft.com/office/drawing/2014/main" id="{1EC83387-6008-4590-8CE2-BEC55EBB2349}"/>
              </a:ext>
            </a:extLst>
          </p:cNvPr>
          <p:cNvSpPr>
            <a:spLocks xmlns:a="http://schemas.openxmlformats.org/drawingml/2006/main" noGrp="1"/>
          </p:cNvSpPr>
          <p:nvPr/>
        </p:nvSpPr>
        <p:spPr>
          <a:xfrm xmlns:a="http://schemas.openxmlformats.org/drawingml/2006/main">
            <a:off x="6019800" y="1733550"/>
            <a:ext cx="2133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1AA58F"/>
                </a:solidFill>
                <a:latin typeface="Arial"/>
                <a:ea typeface="Arial"/>
                <a:cs typeface="Arial"/>
              </a:defRPr>
            </a:defPPr>
          </a:lstStyle>
          <a:p xmlns:a="http://schemas.openxmlformats.org/drawingml/2006/main">
            <a:pPr algn="l">
              <a:defRPr sz="2550" b="1">
                <a:solidFill>
                  <a:srgbClr val="1AA58F"/>
                </a:solidFill>
                <a:latin typeface="Arial"/>
                <a:ea typeface="Arial"/>
                <a:cs typeface="Arial"/>
              </a:defRPr>
            </a:pPr>
            <a:r>
              <a:rPr sz="2550" b="1">
                <a:solidFill>
                  <a:srgbClr val="1AA58F"/>
                </a:solidFill>
                <a:latin typeface="Arial"/>
                <a:ea typeface="Arial"/>
                <a:cs typeface="Arial"/>
              </a:rPr>
              <a:t>1 user</a:t>
            </a:r>
          </a:p>
        </p:txBody>
      </p:sp>
      <p:sp>
        <p:nvSpPr>
          <p:cNvPr id="13" name="">
            <a:extLst xmlns:a="http://schemas.openxmlformats.org/drawingml/2006/main">
              <a:ext uri="{FF2B5EF4-FFF2-40B4-BE49-F238E27FC236}">
                <a16:creationId xmlns:a16="http://schemas.microsoft.com/office/drawing/2014/main" id="{CB3AE951-A7F4-4755-A63E-900428D82A96}"/>
              </a:ext>
            </a:extLst>
          </p:cNvPr>
          <p:cNvSpPr>
            <a:spLocks xmlns:a="http://schemas.openxmlformats.org/drawingml/2006/main" noGrp="1"/>
          </p:cNvSpPr>
          <p:nvPr/>
        </p:nvSpPr>
        <p:spPr>
          <a:xfrm xmlns:a="http://schemas.openxmlformats.org/drawingml/2006/main">
            <a:off x="6019800" y="2247900"/>
            <a:ext cx="2133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stStyle>
          <a:p xmlns:a="http://schemas.openxmlformats.org/drawingml/2006/main">
            <a:pPr algn="l">
              <a:defRPr sz="1050" b="1">
                <a:solidFill>
                  <a:srgbClr val="AFC4C6"/>
                </a:solidFill>
                <a:latin typeface="Arial"/>
                <a:ea typeface="Arial"/>
                <a:cs typeface="Arial"/>
              </a:defRPr>
            </a:pPr>
            <a:r>
              <a:rPr sz="1050" b="1">
                <a:solidFill>
                  <a:srgbClr val="AFC4C6"/>
                </a:solidFill>
                <a:latin typeface="Arial"/>
                <a:ea typeface="Arial"/>
                <a:cs typeface="Arial"/>
              </a:rPr>
              <a:t>MUNICIPAL PLANNING + HEAT TEAM</a:t>
            </a:r>
          </a:p>
        </p:txBody>
      </p:sp>
      <p:sp>
        <p:nvSpPr>
          <p:cNvPr id="14" name="">
            <a:extLst xmlns:a="http://schemas.openxmlformats.org/drawingml/2006/main">
              <a:ext uri="{FF2B5EF4-FFF2-40B4-BE49-F238E27FC236}">
                <a16:creationId xmlns:a16="http://schemas.microsoft.com/office/drawing/2014/main" id="{917303AC-1AA5-4995-B2D2-82A93BFC831F}"/>
              </a:ext>
            </a:extLst>
          </p:cNvPr>
          <p:cNvSpPr>
            <a:spLocks xmlns:a="http://schemas.openxmlformats.org/drawingml/2006/main" noGrp="1"/>
          </p:cNvSpPr>
          <p:nvPr/>
        </p:nvSpPr>
        <p:spPr>
          <a:xfrm xmlns:a="http://schemas.openxmlformats.org/drawingml/2006/main">
            <a:off x="8477250" y="1619250"/>
            <a:ext cx="31242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15" name="">
            <a:extLst xmlns:a="http://schemas.openxmlformats.org/drawingml/2006/main">
              <a:ext uri="{FF2B5EF4-FFF2-40B4-BE49-F238E27FC236}">
                <a16:creationId xmlns:a16="http://schemas.microsoft.com/office/drawing/2014/main" id="{BF551A5A-BA32-410C-B158-B5B172654648}"/>
              </a:ext>
            </a:extLst>
          </p:cNvPr>
          <p:cNvSpPr>
            <a:spLocks xmlns:a="http://schemas.openxmlformats.org/drawingml/2006/main" noGrp="1"/>
          </p:cNvSpPr>
          <p:nvPr/>
        </p:nvSpPr>
        <p:spPr>
          <a:xfrm xmlns:a="http://schemas.openxmlformats.org/drawingml/2006/main">
            <a:off x="8648700" y="1733550"/>
            <a:ext cx="2781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6D5DD3"/>
                </a:solidFill>
                <a:latin typeface="Arial"/>
                <a:ea typeface="Arial"/>
                <a:cs typeface="Arial"/>
              </a:defRPr>
            </a:defPPr>
          </a:lstStyle>
          <a:p xmlns:a="http://schemas.openxmlformats.org/drawingml/2006/main">
            <a:pPr algn="l">
              <a:defRPr sz="2550" b="1">
                <a:solidFill>
                  <a:srgbClr val="6D5DD3"/>
                </a:solidFill>
                <a:latin typeface="Arial"/>
                <a:ea typeface="Arial"/>
                <a:cs typeface="Arial"/>
              </a:defRPr>
            </a:pPr>
            <a:r>
              <a:rPr sz="2550" b="1">
                <a:solidFill>
                  <a:srgbClr val="6D5DD3"/>
                </a:solidFill>
                <a:latin typeface="Arial"/>
                <a:ea typeface="Arial"/>
                <a:cs typeface="Arial"/>
              </a:rPr>
              <a:t>1 action</a:t>
            </a:r>
          </a:p>
        </p:txBody>
      </p:sp>
      <p:sp>
        <p:nvSpPr>
          <p:cNvPr id="16" name="">
            <a:extLst xmlns:a="http://schemas.openxmlformats.org/drawingml/2006/main">
              <a:ext uri="{FF2B5EF4-FFF2-40B4-BE49-F238E27FC236}">
                <a16:creationId xmlns:a16="http://schemas.microsoft.com/office/drawing/2014/main" id="{F3AD281D-ED84-4039-9A6A-93A1C20170CC}"/>
              </a:ext>
            </a:extLst>
          </p:cNvPr>
          <p:cNvSpPr>
            <a:spLocks xmlns:a="http://schemas.openxmlformats.org/drawingml/2006/main" noGrp="1"/>
          </p:cNvSpPr>
          <p:nvPr/>
        </p:nvSpPr>
        <p:spPr>
          <a:xfrm xmlns:a="http://schemas.openxmlformats.org/drawingml/2006/main">
            <a:off x="8648700" y="2247900"/>
            <a:ext cx="2781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stStyle>
          <a:p xmlns:a="http://schemas.openxmlformats.org/drawingml/2006/main">
            <a:pPr algn="l">
              <a:defRPr sz="1050" b="1">
                <a:solidFill>
                  <a:srgbClr val="AFC4C6"/>
                </a:solidFill>
                <a:latin typeface="Arial"/>
                <a:ea typeface="Arial"/>
                <a:cs typeface="Arial"/>
              </a:defRPr>
            </a:pPr>
            <a:r>
              <a:rPr sz="1050" b="1">
                <a:solidFill>
                  <a:srgbClr val="AFC4C6"/>
                </a:solidFill>
                <a:latin typeface="Arial"/>
                <a:ea typeface="Arial"/>
                <a:cs typeface="Arial"/>
              </a:rPr>
              <a:t>INSPECT LOCALLY BEFORE INTERVENTION</a:t>
            </a:r>
          </a:p>
        </p:txBody>
      </p:sp>
      <p:sp>
        <p:nvSpPr>
          <p:cNvPr id="17" name="">
            <a:extLst xmlns:a="http://schemas.openxmlformats.org/drawingml/2006/main">
              <a:ext uri="{FF2B5EF4-FFF2-40B4-BE49-F238E27FC236}">
                <a16:creationId xmlns:a16="http://schemas.microsoft.com/office/drawing/2014/main" id="{ADC9208E-0C5B-4389-BD15-07A3E2C7D7A8}"/>
              </a:ext>
            </a:extLst>
          </p:cNvPr>
          <p:cNvSpPr>
            <a:spLocks xmlns:a="http://schemas.openxmlformats.org/drawingml/2006/main" noGrp="1"/>
          </p:cNvSpPr>
          <p:nvPr/>
        </p:nvSpPr>
        <p:spPr>
          <a:xfrm xmlns:a="http://schemas.openxmlformats.org/drawingml/2006/main">
            <a:off x="590550" y="3048000"/>
            <a:ext cx="11010900" cy="2647950"/>
          </a:xfrm>
          <a:prstGeom xmlns:a="http://schemas.openxmlformats.org/drawingml/2006/main" prst="roundRect">
            <a:avLst>
              <a:gd name="adj" fmla="val 5755"/>
            </a:avLst>
          </a:prstGeom>
          <a:solidFill xmlns:a="http://schemas.openxmlformats.org/drawingml/2006/main">
            <a:srgbClr val="113646"/>
          </a:solidFill>
          <a:ln xmlns:a="http://schemas.openxmlformats.org/drawingml/2006/main" w="9525">
            <a:solidFill>
              <a:srgbClr val="31505F"/>
            </a:solidFill>
            <a:prstDash val="solid"/>
          </a:ln>
        </p:spPr>
      </p:sp>
      <p:sp>
        <p:nvSpPr>
          <p:cNvPr id="18" name="">
            <a:extLst xmlns:a="http://schemas.openxmlformats.org/drawingml/2006/main">
              <a:ext uri="{FF2B5EF4-FFF2-40B4-BE49-F238E27FC236}">
                <a16:creationId xmlns:a16="http://schemas.microsoft.com/office/drawing/2014/main" id="{D4FE2F07-CF94-459A-9F0F-B82AD756261B}"/>
              </a:ext>
            </a:extLst>
          </p:cNvPr>
          <p:cNvSpPr>
            <a:spLocks xmlns:a="http://schemas.openxmlformats.org/drawingml/2006/main" noGrp="1"/>
          </p:cNvSpPr>
          <p:nvPr/>
        </p:nvSpPr>
        <p:spPr>
          <a:xfrm xmlns:a="http://schemas.openxmlformats.org/drawingml/2006/main">
            <a:off x="876300" y="333375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F06449"/>
                </a:solidFill>
                <a:latin typeface="Arial"/>
                <a:ea typeface="Arial"/>
                <a:cs typeface="Arial"/>
              </a:defRPr>
            </a:defPPr>
          </a:lstStyle>
          <a:p xmlns:a="http://schemas.openxmlformats.org/drawingml/2006/main">
            <a:pPr algn="l">
              <a:defRPr sz="975" b="1">
                <a:solidFill>
                  <a:srgbClr val="F06449"/>
                </a:solidFill>
                <a:latin typeface="Arial"/>
                <a:ea typeface="Arial"/>
                <a:cs typeface="Arial"/>
              </a:defRPr>
            </a:pPr>
            <a:r>
              <a:rPr sz="975" b="1">
                <a:solidFill>
                  <a:srgbClr val="F06449"/>
                </a:solidFill>
                <a:latin typeface="Arial"/>
                <a:ea typeface="Arial"/>
                <a:cs typeface="Arial"/>
              </a:rPr>
              <a:t>PROBLEM</a:t>
            </a:r>
          </a:p>
        </p:txBody>
      </p:sp>
      <p:sp>
        <p:nvSpPr>
          <p:cNvPr id="19" name="">
            <a:extLst xmlns:a="http://schemas.openxmlformats.org/drawingml/2006/main">
              <a:ext uri="{FF2B5EF4-FFF2-40B4-BE49-F238E27FC236}">
                <a16:creationId xmlns:a16="http://schemas.microsoft.com/office/drawing/2014/main" id="{B0159096-9B48-4A9A-A15E-8B5628F37662}"/>
              </a:ext>
            </a:extLst>
          </p:cNvPr>
          <p:cNvSpPr>
            <a:spLocks xmlns:a="http://schemas.openxmlformats.org/drawingml/2006/main" noGrp="1"/>
          </p:cNvSpPr>
          <p:nvPr/>
        </p:nvSpPr>
        <p:spPr>
          <a:xfrm xmlns:a="http://schemas.openxmlformats.org/drawingml/2006/main">
            <a:off x="876300" y="3657600"/>
            <a:ext cx="47625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1">
                <a:solidFill>
                  <a:srgbClr val="F3F6F2"/>
                </a:solidFill>
                <a:latin typeface="Arial"/>
                <a:ea typeface="Arial"/>
                <a:cs typeface="Arial"/>
              </a:defRPr>
            </a:defPPr>
          </a:lstStyle>
          <a:p xmlns:a="http://schemas.openxmlformats.org/drawingml/2006/main">
            <a:pPr algn="l">
              <a:defRPr sz="1800" b="1">
                <a:solidFill>
                  <a:srgbClr val="F3F6F2"/>
                </a:solidFill>
                <a:latin typeface="Arial"/>
                <a:ea typeface="Arial"/>
                <a:cs typeface="Arial"/>
              </a:defRPr>
            </a:pPr>
            <a:r>
              <a:rPr sz="1800" b="1">
                <a:solidFill>
                  <a:srgbClr val="F3F6F2"/>
                </a:solidFill>
                <a:latin typeface="Arial"/>
                <a:ea typeface="Arial"/>
                <a:cs typeface="Arial"/>
              </a:rPr>
              <a:t>Growth, heat, population and vegetation sit in separate layers. A planner still needs a short, explainable list of places to inspect.</a:t>
            </a:r>
          </a:p>
        </p:txBody>
      </p:sp>
      <p:sp>
        <p:nvSpPr>
          <p:cNvPr id="20" name="">
            <a:extLst xmlns:a="http://schemas.openxmlformats.org/drawingml/2006/main">
              <a:ext uri="{FF2B5EF4-FFF2-40B4-BE49-F238E27FC236}">
                <a16:creationId xmlns:a16="http://schemas.microsoft.com/office/drawing/2014/main" id="{97E02C68-C4E6-4532-9312-B611DC8F798A}"/>
              </a:ext>
            </a:extLst>
          </p:cNvPr>
          <p:cNvSpPr>
            <a:spLocks xmlns:a="http://schemas.openxmlformats.org/drawingml/2006/main" noGrp="1"/>
          </p:cNvSpPr>
          <p:nvPr/>
        </p:nvSpPr>
        <p:spPr>
          <a:xfrm xmlns:a="http://schemas.openxmlformats.org/drawingml/2006/main">
            <a:off x="5981700" y="3333750"/>
            <a:ext cx="9525" cy="1981200"/>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21" name="">
            <a:extLst xmlns:a="http://schemas.openxmlformats.org/drawingml/2006/main">
              <a:ext uri="{FF2B5EF4-FFF2-40B4-BE49-F238E27FC236}">
                <a16:creationId xmlns:a16="http://schemas.microsoft.com/office/drawing/2014/main" id="{A1197E80-CF75-4CE4-BC9A-B66B0086D487}"/>
              </a:ext>
            </a:extLst>
          </p:cNvPr>
          <p:cNvSpPr>
            <a:spLocks xmlns:a="http://schemas.openxmlformats.org/drawingml/2006/main" noGrp="1"/>
          </p:cNvSpPr>
          <p:nvPr/>
        </p:nvSpPr>
        <p:spPr>
          <a:xfrm xmlns:a="http://schemas.openxmlformats.org/drawingml/2006/main">
            <a:off x="6324600" y="333375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1AA58F"/>
                </a:solidFill>
                <a:latin typeface="Arial"/>
                <a:ea typeface="Arial"/>
                <a:cs typeface="Arial"/>
              </a:defRPr>
            </a:defPPr>
          </a:lstStyle>
          <a:p xmlns:a="http://schemas.openxmlformats.org/drawingml/2006/main">
            <a:pPr algn="l">
              <a:defRPr sz="975" b="1">
                <a:solidFill>
                  <a:srgbClr val="1AA58F"/>
                </a:solidFill>
                <a:latin typeface="Arial"/>
                <a:ea typeface="Arial"/>
                <a:cs typeface="Arial"/>
              </a:defRPr>
            </a:pPr>
            <a:r>
              <a:rPr sz="975" b="1">
                <a:solidFill>
                  <a:srgbClr val="1AA58F"/>
                </a:solidFill>
                <a:latin typeface="Arial"/>
                <a:ea typeface="Arial"/>
                <a:cs typeface="Arial"/>
              </a:rPr>
              <a:t>OUTPUT</a:t>
            </a:r>
          </a:p>
        </p:txBody>
      </p:sp>
      <p:sp>
        <p:nvSpPr>
          <p:cNvPr id="22" name="">
            <a:extLst xmlns:a="http://schemas.openxmlformats.org/drawingml/2006/main">
              <a:ext uri="{FF2B5EF4-FFF2-40B4-BE49-F238E27FC236}">
                <a16:creationId xmlns:a16="http://schemas.microsoft.com/office/drawing/2014/main" id="{164AF1D7-F1BA-4C81-AEE5-0A220714C563}"/>
              </a:ext>
            </a:extLst>
          </p:cNvPr>
          <p:cNvSpPr>
            <a:spLocks xmlns:a="http://schemas.openxmlformats.org/drawingml/2006/main" noGrp="1"/>
          </p:cNvSpPr>
          <p:nvPr/>
        </p:nvSpPr>
        <p:spPr>
          <a:xfrm xmlns:a="http://schemas.openxmlformats.org/drawingml/2006/main">
            <a:off x="6324600" y="3657600"/>
            <a:ext cx="47625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1">
                <a:solidFill>
                  <a:srgbClr val="F3F6F2"/>
                </a:solidFill>
                <a:latin typeface="Arial"/>
                <a:ea typeface="Arial"/>
                <a:cs typeface="Arial"/>
              </a:defRPr>
            </a:defPPr>
          </a:lstStyle>
          <a:p xmlns:a="http://schemas.openxmlformats.org/drawingml/2006/main">
            <a:pPr algn="l">
              <a:defRPr sz="1800" b="1">
                <a:solidFill>
                  <a:srgbClr val="F3F6F2"/>
                </a:solidFill>
                <a:latin typeface="Arial"/>
                <a:ea typeface="Arial"/>
                <a:cs typeface="Arial"/>
              </a:defRPr>
            </a:pPr>
            <a:r>
              <a:rPr sz="1800" b="1">
                <a:solidFill>
                  <a:srgbClr val="F3F6F2"/>
                </a:solidFill>
                <a:latin typeface="Arial"/>
                <a:ea typeface="Arial"/>
                <a:cs typeface="Arial"/>
              </a:rPr>
              <a:t>HeatReady combines the layers into a ranked list of 1 km cells for local review. It does not choose an intervention.</a:t>
            </a:r>
          </a:p>
        </p:txBody>
      </p:sp>
      <p:sp>
        <p:nvSpPr>
          <p:cNvPr id="23" name="">
            <a:extLst xmlns:a="http://schemas.openxmlformats.org/drawingml/2006/main">
              <a:ext uri="{FF2B5EF4-FFF2-40B4-BE49-F238E27FC236}">
                <a16:creationId xmlns:a16="http://schemas.microsoft.com/office/drawing/2014/main" id="{84350D8A-3E33-441F-BA6C-160AC4298E69}"/>
              </a:ext>
            </a:extLst>
          </p:cNvPr>
          <p:cNvSpPr>
            <a:spLocks xmlns:a="http://schemas.openxmlformats.org/drawingml/2006/main" noGrp="1"/>
          </p:cNvSpPr>
          <p:nvPr/>
        </p:nvSpPr>
        <p:spPr>
          <a:xfrm xmlns:a="http://schemas.openxmlformats.org/drawingml/2006/main">
            <a:off x="876300" y="5191125"/>
            <a:ext cx="1019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1">
                <a:solidFill>
                  <a:srgbClr val="E2AD2B"/>
                </a:solidFill>
                <a:latin typeface="Arial"/>
                <a:ea typeface="Arial"/>
                <a:cs typeface="Arial"/>
              </a:defRPr>
            </a:defPPr>
          </a:lstStyle>
          <a:p xmlns:a="http://schemas.openxmlformats.org/drawingml/2006/main">
            <a:pPr algn="l">
              <a:defRPr sz="1200" b="1">
                <a:solidFill>
                  <a:srgbClr val="E2AD2B"/>
                </a:solidFill>
                <a:latin typeface="Arial"/>
                <a:ea typeface="Arial"/>
                <a:cs typeface="Arial"/>
              </a:defRPr>
            </a:pPr>
            <a:r>
              <a:rPr sz="1200" b="1">
                <a:solidFill>
                  <a:srgbClr val="E2AD2B"/>
                </a:solidFill>
                <a:latin typeface="Arial"/>
                <a:ea typeface="Arial"/>
                <a:cs typeface="Arial"/>
              </a:rPr>
              <a:t>Current limitation: we have not interviewed municipal users. A pilot must test whether this fits their workflow.</a:t>
            </a:r>
          </a:p>
        </p:txBody>
      </p:sp>
    </p:spTree>
    <p:extLst>
      <p:ext uri="{BB962C8B-B14F-4D97-AF65-F5344CB8AC3E}">
        <p14:creationId xmlns:p14="http://schemas.microsoft.com/office/powerpoint/2010/main" val="1877001193"/>
      </p:ext>
    </p:extLst>
  </p:cSld>
</p:sld>
</file>

<file path=ppt/slides/slide4.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4980E3C1-327F-4A6A-BF6D-999A84ACFA69}"/>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stStyle>
          <a:p xmlns:a="http://schemas.openxmlformats.org/drawingml/2006/main">
            <a:pPr algn="l">
              <a:defRPr sz="1050" b="1">
                <a:solidFill>
                  <a:srgbClr val="1AA58F"/>
                </a:solidFill>
                <a:latin typeface="Arial"/>
                <a:ea typeface="Arial"/>
                <a:cs typeface="Arial"/>
              </a:defRPr>
            </a:pPr>
            <a:r>
              <a:rPr sz="1050" b="1">
                <a:solidFill>
                  <a:srgbClr val="1AA58F"/>
                </a:solidFill>
                <a:latin typeface="Arial"/>
                <a:ea typeface="Arial"/>
                <a:cs typeface="Arial"/>
              </a:rPr>
              <a:t>DATA AND METHOD</a:t>
            </a:r>
          </a:p>
        </p:txBody>
      </p:sp>
      <p:sp>
        <p:nvSpPr>
          <p:cNvPr id="2" name="">
            <a:extLst xmlns:a="http://schemas.openxmlformats.org/drawingml/2006/main">
              <a:ext uri="{FF2B5EF4-FFF2-40B4-BE49-F238E27FC236}">
                <a16:creationId xmlns:a16="http://schemas.microsoft.com/office/drawing/2014/main" id="{32B56CC2-C468-4138-A703-378F653DB77A}"/>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stStyle>
          <a:p xmlns:a="http://schemas.openxmlformats.org/drawingml/2006/main">
            <a:pPr algn="l">
              <a:defRPr sz="2700" b="1">
                <a:solidFill>
                  <a:srgbClr val="F3F6F2"/>
                </a:solidFill>
                <a:latin typeface="Arial"/>
                <a:ea typeface="Arial"/>
                <a:cs typeface="Arial"/>
              </a:defRPr>
            </a:pPr>
            <a:r>
              <a:rPr sz="2700" b="1">
                <a:solidFill>
                  <a:srgbClr val="F3F6F2"/>
                </a:solidFill>
                <a:latin typeface="Arial"/>
                <a:ea typeface="Arial"/>
                <a:cs typeface="Arial"/>
              </a:rPr>
              <a:t>Data used in the analysis</a:t>
            </a:r>
          </a:p>
        </p:txBody>
      </p:sp>
      <p:sp>
        <p:nvSpPr>
          <p:cNvPr id="3" name="">
            <a:extLst xmlns:a="http://schemas.openxmlformats.org/drawingml/2006/main">
              <a:ext uri="{FF2B5EF4-FFF2-40B4-BE49-F238E27FC236}">
                <a16:creationId xmlns:a16="http://schemas.microsoft.com/office/drawing/2014/main" id="{DA18C2DD-6BF8-44D7-A9A8-ADA2D9BCBB0C}"/>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stStyle>
          <a:p xmlns:a="http://schemas.openxmlformats.org/drawingml/2006/main">
            <a:pPr algn="r">
              <a:defRPr sz="1050" b="1">
                <a:solidFill>
                  <a:srgbClr val="AFC4C6"/>
                </a:solidFill>
                <a:latin typeface="Arial"/>
                <a:ea typeface="Arial"/>
                <a:cs typeface="Arial"/>
              </a:defRPr>
            </a:pPr>
            <a:r>
              <a:rPr sz="1050" b="1">
                <a:solidFill>
                  <a:srgbClr val="AFC4C6"/>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E8C0C0EB-BCE7-4C17-8E2D-65DB3934A569}"/>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5" name="">
            <a:extLst xmlns:a="http://schemas.openxmlformats.org/drawingml/2006/main">
              <a:ext uri="{FF2B5EF4-FFF2-40B4-BE49-F238E27FC236}">
                <a16:creationId xmlns:a16="http://schemas.microsoft.com/office/drawing/2014/main" id="{BD6B29E6-6BAF-4ECB-A3F7-298E744B89D5}"/>
              </a:ext>
            </a:extLst>
          </p:cNvPr>
          <p:cNvSpPr>
            <a:spLocks xmlns:a="http://schemas.openxmlformats.org/drawingml/2006/main" noGrp="1"/>
          </p:cNvSpPr>
          <p:nvPr/>
        </p:nvSpPr>
        <p:spPr>
          <a:xfrm xmlns:a="http://schemas.openxmlformats.org/drawingml/2006/main">
            <a:off x="590550" y="1562100"/>
            <a:ext cx="4953000" cy="514350"/>
          </a:xfrm>
          <a:prstGeom xmlns:a="http://schemas.openxmlformats.org/drawingml/2006/main" prst="roundRect">
            <a:avLst>
              <a:gd name="adj" fmla="val 14815"/>
            </a:avLst>
          </a:prstGeom>
          <a:solidFill xmlns:a="http://schemas.openxmlformats.org/drawingml/2006/main">
            <a:srgbClr val="113646"/>
          </a:solidFill>
          <a:ln xmlns:a="http://schemas.openxmlformats.org/drawingml/2006/main" w="9525">
            <a:solidFill>
              <a:srgbClr val="31505F"/>
            </a:solidFill>
            <a:prstDash val="solid"/>
          </a:ln>
        </p:spPr>
      </p:sp>
      <p:sp>
        <p:nvSpPr>
          <p:cNvPr id="6" name="">
            <a:extLst xmlns:a="http://schemas.openxmlformats.org/drawingml/2006/main">
              <a:ext uri="{FF2B5EF4-FFF2-40B4-BE49-F238E27FC236}">
                <a16:creationId xmlns:a16="http://schemas.microsoft.com/office/drawing/2014/main" id="{0DAB3175-50E5-4743-B3FF-58FED5DE0E96}"/>
              </a:ext>
            </a:extLst>
          </p:cNvPr>
          <p:cNvSpPr>
            <a:spLocks xmlns:a="http://schemas.openxmlformats.org/drawingml/2006/main" noGrp="1"/>
          </p:cNvSpPr>
          <p:nvPr/>
        </p:nvSpPr>
        <p:spPr>
          <a:xfrm xmlns:a="http://schemas.openxmlformats.org/drawingml/2006/main">
            <a:off x="590550" y="1562100"/>
            <a:ext cx="76200" cy="514350"/>
          </a:xfrm>
          <a:prstGeom xmlns:a="http://schemas.openxmlformats.org/drawingml/2006/main" prst="rect">
            <a:avLst/>
          </a:prstGeom>
          <a:solidFill xmlns:a="http://schemas.openxmlformats.org/drawingml/2006/main">
            <a:srgbClr val="1AA58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549022C-4FC6-4A4F-8777-8FD63D698326}"/>
              </a:ext>
            </a:extLst>
          </p:cNvPr>
          <p:cNvSpPr>
            <a:spLocks xmlns:a="http://schemas.openxmlformats.org/drawingml/2006/main" noGrp="1"/>
          </p:cNvSpPr>
          <p:nvPr/>
        </p:nvSpPr>
        <p:spPr>
          <a:xfrm xmlns:a="http://schemas.openxmlformats.org/drawingml/2006/main">
            <a:off x="800100" y="163830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1AA58F"/>
                </a:solidFill>
                <a:latin typeface="Arial"/>
                <a:ea typeface="Arial"/>
                <a:cs typeface="Arial"/>
              </a:defRPr>
            </a:defPPr>
          </a:lstStyle>
          <a:p xmlns:a="http://schemas.openxmlformats.org/drawingml/2006/main">
            <a:pPr algn="l">
              <a:defRPr sz="1350" b="1">
                <a:solidFill>
                  <a:srgbClr val="1AA58F"/>
                </a:solidFill>
                <a:latin typeface="Arial"/>
                <a:ea typeface="Arial"/>
                <a:cs typeface="Arial"/>
              </a:defRPr>
            </a:pPr>
            <a:r>
              <a:rPr sz="1350" b="1">
                <a:solidFill>
                  <a:srgbClr val="1AA58F"/>
                </a:solidFill>
                <a:latin typeface="Arial"/>
                <a:ea typeface="Arial"/>
                <a:cs typeface="Arial"/>
              </a:rPr>
              <a:t>Sentinel-2</a:t>
            </a:r>
          </a:p>
        </p:txBody>
      </p:sp>
      <p:sp>
        <p:nvSpPr>
          <p:cNvPr id="8" name="">
            <a:extLst xmlns:a="http://schemas.openxmlformats.org/drawingml/2006/main">
              <a:ext uri="{FF2B5EF4-FFF2-40B4-BE49-F238E27FC236}">
                <a16:creationId xmlns:a16="http://schemas.microsoft.com/office/drawing/2014/main" id="{3332151A-762D-4887-A9D4-4F6902ADA0F4}"/>
              </a:ext>
            </a:extLst>
          </p:cNvPr>
          <p:cNvSpPr>
            <a:spLocks xmlns:a="http://schemas.openxmlformats.org/drawingml/2006/main" noGrp="1"/>
          </p:cNvSpPr>
          <p:nvPr/>
        </p:nvSpPr>
        <p:spPr>
          <a:xfrm xmlns:a="http://schemas.openxmlformats.org/drawingml/2006/main">
            <a:off x="2266950" y="1638300"/>
            <a:ext cx="3105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a:solidFill>
                  <a:srgbClr val="F3F6F2"/>
                </a:solidFill>
                <a:latin typeface="Arial"/>
                <a:ea typeface="Arial"/>
                <a:cs typeface="Arial"/>
              </a:defRPr>
            </a:defPPr>
          </a:lstStyle>
          <a:p xmlns:a="http://schemas.openxmlformats.org/drawingml/2006/main">
            <a:pPr algn="l">
              <a:defRPr sz="1050">
                <a:solidFill>
                  <a:srgbClr val="F3F6F2"/>
                </a:solidFill>
                <a:latin typeface="Arial"/>
                <a:ea typeface="Arial"/>
                <a:cs typeface="Arial"/>
              </a:defRPr>
            </a:pPr>
            <a:r>
              <a:rPr sz="1050">
                <a:solidFill>
                  <a:srgbClr val="F3F6F2"/>
                </a:solidFill>
                <a:latin typeface="Arial"/>
                <a:ea typeface="Arial"/>
                <a:cs typeface="Arial"/>
              </a:rPr>
              <a:t>Optical reflectance, vegetation and built features</a:t>
            </a:r>
          </a:p>
        </p:txBody>
      </p:sp>
      <p:sp>
        <p:nvSpPr>
          <p:cNvPr id="9" name="">
            <a:extLst xmlns:a="http://schemas.openxmlformats.org/drawingml/2006/main">
              <a:ext uri="{FF2B5EF4-FFF2-40B4-BE49-F238E27FC236}">
                <a16:creationId xmlns:a16="http://schemas.microsoft.com/office/drawing/2014/main" id="{F7D27EFF-FBC9-4E7F-BBFA-EC66FC912059}"/>
              </a:ext>
            </a:extLst>
          </p:cNvPr>
          <p:cNvSpPr>
            <a:spLocks xmlns:a="http://schemas.openxmlformats.org/drawingml/2006/main" noGrp="1"/>
          </p:cNvSpPr>
          <p:nvPr/>
        </p:nvSpPr>
        <p:spPr>
          <a:xfrm xmlns:a="http://schemas.openxmlformats.org/drawingml/2006/main">
            <a:off x="590550" y="2228850"/>
            <a:ext cx="4953000" cy="514350"/>
          </a:xfrm>
          <a:prstGeom xmlns:a="http://schemas.openxmlformats.org/drawingml/2006/main" prst="roundRect">
            <a:avLst>
              <a:gd name="adj" fmla="val 14815"/>
            </a:avLst>
          </a:prstGeom>
          <a:solidFill xmlns:a="http://schemas.openxmlformats.org/drawingml/2006/main">
            <a:srgbClr val="113646"/>
          </a:solidFill>
          <a:ln xmlns:a="http://schemas.openxmlformats.org/drawingml/2006/main" w="9525">
            <a:solidFill>
              <a:srgbClr val="31505F"/>
            </a:solidFill>
            <a:prstDash val="solid"/>
          </a:ln>
        </p:spPr>
      </p:sp>
      <p:sp>
        <p:nvSpPr>
          <p:cNvPr id="10" name="">
            <a:extLst xmlns:a="http://schemas.openxmlformats.org/drawingml/2006/main">
              <a:ext uri="{FF2B5EF4-FFF2-40B4-BE49-F238E27FC236}">
                <a16:creationId xmlns:a16="http://schemas.microsoft.com/office/drawing/2014/main" id="{9C29269A-2985-45B1-B536-3895A9C19DFE}"/>
              </a:ext>
            </a:extLst>
          </p:cNvPr>
          <p:cNvSpPr>
            <a:spLocks xmlns:a="http://schemas.openxmlformats.org/drawingml/2006/main" noGrp="1"/>
          </p:cNvSpPr>
          <p:nvPr/>
        </p:nvSpPr>
        <p:spPr>
          <a:xfrm xmlns:a="http://schemas.openxmlformats.org/drawingml/2006/main">
            <a:off x="590550" y="2228850"/>
            <a:ext cx="76200" cy="514350"/>
          </a:xfrm>
          <a:prstGeom xmlns:a="http://schemas.openxmlformats.org/drawingml/2006/main" prst="rect">
            <a:avLst/>
          </a:prstGeom>
          <a:solidFill xmlns:a="http://schemas.openxmlformats.org/drawingml/2006/main">
            <a:srgbClr val="3183B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6036C16-75A5-48E0-AF21-B441432D4129}"/>
              </a:ext>
            </a:extLst>
          </p:cNvPr>
          <p:cNvSpPr>
            <a:spLocks xmlns:a="http://schemas.openxmlformats.org/drawingml/2006/main" noGrp="1"/>
          </p:cNvSpPr>
          <p:nvPr/>
        </p:nvSpPr>
        <p:spPr>
          <a:xfrm xmlns:a="http://schemas.openxmlformats.org/drawingml/2006/main">
            <a:off x="800100" y="230505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3183B8"/>
                </a:solidFill>
                <a:latin typeface="Arial"/>
                <a:ea typeface="Arial"/>
                <a:cs typeface="Arial"/>
              </a:defRPr>
            </a:defPPr>
          </a:lstStyle>
          <a:p xmlns:a="http://schemas.openxmlformats.org/drawingml/2006/main">
            <a:pPr algn="l">
              <a:defRPr sz="1350" b="1">
                <a:solidFill>
                  <a:srgbClr val="3183B8"/>
                </a:solidFill>
                <a:latin typeface="Arial"/>
                <a:ea typeface="Arial"/>
                <a:cs typeface="Arial"/>
              </a:defRPr>
            </a:pPr>
            <a:r>
              <a:rPr sz="1350" b="1">
                <a:solidFill>
                  <a:srgbClr val="3183B8"/>
                </a:solidFill>
                <a:latin typeface="Arial"/>
                <a:ea typeface="Arial"/>
                <a:cs typeface="Arial"/>
              </a:rPr>
              <a:t>Sentinel-1</a:t>
            </a:r>
          </a:p>
        </p:txBody>
      </p:sp>
      <p:sp>
        <p:nvSpPr>
          <p:cNvPr id="12" name="">
            <a:extLst xmlns:a="http://schemas.openxmlformats.org/drawingml/2006/main">
              <a:ext uri="{FF2B5EF4-FFF2-40B4-BE49-F238E27FC236}">
                <a16:creationId xmlns:a16="http://schemas.microsoft.com/office/drawing/2014/main" id="{9988366F-9CCC-435B-9E50-83716A26A205}"/>
              </a:ext>
            </a:extLst>
          </p:cNvPr>
          <p:cNvSpPr>
            <a:spLocks xmlns:a="http://schemas.openxmlformats.org/drawingml/2006/main" noGrp="1"/>
          </p:cNvSpPr>
          <p:nvPr/>
        </p:nvSpPr>
        <p:spPr>
          <a:xfrm xmlns:a="http://schemas.openxmlformats.org/drawingml/2006/main">
            <a:off x="2266950" y="2305050"/>
            <a:ext cx="3105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a:solidFill>
                  <a:srgbClr val="F3F6F2"/>
                </a:solidFill>
                <a:latin typeface="Arial"/>
                <a:ea typeface="Arial"/>
                <a:cs typeface="Arial"/>
              </a:defRPr>
            </a:defPPr>
          </a:lstStyle>
          <a:p xmlns:a="http://schemas.openxmlformats.org/drawingml/2006/main">
            <a:pPr algn="l">
              <a:defRPr sz="1050">
                <a:solidFill>
                  <a:srgbClr val="F3F6F2"/>
                </a:solidFill>
                <a:latin typeface="Arial"/>
                <a:ea typeface="Arial"/>
                <a:cs typeface="Arial"/>
              </a:defRPr>
            </a:pPr>
            <a:r>
              <a:rPr sz="1050">
                <a:solidFill>
                  <a:srgbClr val="F3F6F2"/>
                </a:solidFill>
                <a:latin typeface="Arial"/>
                <a:ea typeface="Arial"/>
                <a:cs typeface="Arial"/>
              </a:rPr>
              <a:t>Radar structure to reduce bright-desert confusion</a:t>
            </a:r>
          </a:p>
        </p:txBody>
      </p:sp>
      <p:sp>
        <p:nvSpPr>
          <p:cNvPr id="13" name="">
            <a:extLst xmlns:a="http://schemas.openxmlformats.org/drawingml/2006/main">
              <a:ext uri="{FF2B5EF4-FFF2-40B4-BE49-F238E27FC236}">
                <a16:creationId xmlns:a16="http://schemas.microsoft.com/office/drawing/2014/main" id="{26510438-7818-4CF6-9F01-CFC5919DF1C4}"/>
              </a:ext>
            </a:extLst>
          </p:cNvPr>
          <p:cNvSpPr>
            <a:spLocks xmlns:a="http://schemas.openxmlformats.org/drawingml/2006/main" noGrp="1"/>
          </p:cNvSpPr>
          <p:nvPr/>
        </p:nvSpPr>
        <p:spPr>
          <a:xfrm xmlns:a="http://schemas.openxmlformats.org/drawingml/2006/main">
            <a:off x="590550" y="2895600"/>
            <a:ext cx="4953000" cy="514350"/>
          </a:xfrm>
          <a:prstGeom xmlns:a="http://schemas.openxmlformats.org/drawingml/2006/main" prst="roundRect">
            <a:avLst>
              <a:gd name="adj" fmla="val 14815"/>
            </a:avLst>
          </a:prstGeom>
          <a:solidFill xmlns:a="http://schemas.openxmlformats.org/drawingml/2006/main">
            <a:srgbClr val="113646"/>
          </a:solidFill>
          <a:ln xmlns:a="http://schemas.openxmlformats.org/drawingml/2006/main" w="9525">
            <a:solidFill>
              <a:srgbClr val="31505F"/>
            </a:solidFill>
            <a:prstDash val="solid"/>
          </a:ln>
        </p:spPr>
      </p:sp>
      <p:sp>
        <p:nvSpPr>
          <p:cNvPr id="14" name="">
            <a:extLst xmlns:a="http://schemas.openxmlformats.org/drawingml/2006/main">
              <a:ext uri="{FF2B5EF4-FFF2-40B4-BE49-F238E27FC236}">
                <a16:creationId xmlns:a16="http://schemas.microsoft.com/office/drawing/2014/main" id="{68252CBF-C3BB-4D29-880F-6160C68726C7}"/>
              </a:ext>
            </a:extLst>
          </p:cNvPr>
          <p:cNvSpPr>
            <a:spLocks xmlns:a="http://schemas.openxmlformats.org/drawingml/2006/main" noGrp="1"/>
          </p:cNvSpPr>
          <p:nvPr/>
        </p:nvSpPr>
        <p:spPr>
          <a:xfrm xmlns:a="http://schemas.openxmlformats.org/drawingml/2006/main">
            <a:off x="590550" y="2895600"/>
            <a:ext cx="76200" cy="514350"/>
          </a:xfrm>
          <a:prstGeom xmlns:a="http://schemas.openxmlformats.org/drawingml/2006/main" prst="rect">
            <a:avLst/>
          </a:prstGeom>
          <a:solidFill xmlns:a="http://schemas.openxmlformats.org/drawingml/2006/main">
            <a:srgbClr val="E2AD2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6113F9A-442A-4EBE-81AE-8DC38CDBB3A9}"/>
              </a:ext>
            </a:extLst>
          </p:cNvPr>
          <p:cNvSpPr>
            <a:spLocks xmlns:a="http://schemas.openxmlformats.org/drawingml/2006/main" noGrp="1"/>
          </p:cNvSpPr>
          <p:nvPr/>
        </p:nvSpPr>
        <p:spPr>
          <a:xfrm xmlns:a="http://schemas.openxmlformats.org/drawingml/2006/main">
            <a:off x="800100" y="297180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E2AD2B"/>
                </a:solidFill>
                <a:latin typeface="Arial"/>
                <a:ea typeface="Arial"/>
                <a:cs typeface="Arial"/>
              </a:defRPr>
            </a:defPPr>
          </a:lstStyle>
          <a:p xmlns:a="http://schemas.openxmlformats.org/drawingml/2006/main">
            <a:pPr algn="l">
              <a:defRPr sz="1350" b="1">
                <a:solidFill>
                  <a:srgbClr val="E2AD2B"/>
                </a:solidFill>
                <a:latin typeface="Arial"/>
                <a:ea typeface="Arial"/>
                <a:cs typeface="Arial"/>
              </a:defRPr>
            </a:pPr>
            <a:r>
              <a:rPr sz="1350" b="1">
                <a:solidFill>
                  <a:srgbClr val="E2AD2B"/>
                </a:solidFill>
                <a:latin typeface="Arial"/>
                <a:ea typeface="Arial"/>
                <a:cs typeface="Arial"/>
              </a:rPr>
              <a:t>Annual LULC</a:t>
            </a:r>
          </a:p>
        </p:txBody>
      </p:sp>
      <p:sp>
        <p:nvSpPr>
          <p:cNvPr id="16" name="">
            <a:extLst xmlns:a="http://schemas.openxmlformats.org/drawingml/2006/main">
              <a:ext uri="{FF2B5EF4-FFF2-40B4-BE49-F238E27FC236}">
                <a16:creationId xmlns:a16="http://schemas.microsoft.com/office/drawing/2014/main" id="{7AF7C011-1635-4079-A8F4-8859E552DD26}"/>
              </a:ext>
            </a:extLst>
          </p:cNvPr>
          <p:cNvSpPr>
            <a:spLocks xmlns:a="http://schemas.openxmlformats.org/drawingml/2006/main" noGrp="1"/>
          </p:cNvSpPr>
          <p:nvPr/>
        </p:nvSpPr>
        <p:spPr>
          <a:xfrm xmlns:a="http://schemas.openxmlformats.org/drawingml/2006/main">
            <a:off x="2266950" y="2971800"/>
            <a:ext cx="3105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a:solidFill>
                  <a:srgbClr val="F3F6F2"/>
                </a:solidFill>
                <a:latin typeface="Arial"/>
                <a:ea typeface="Arial"/>
                <a:cs typeface="Arial"/>
              </a:defRPr>
            </a:defPPr>
          </a:lstStyle>
          <a:p xmlns:a="http://schemas.openxmlformats.org/drawingml/2006/main">
            <a:pPr algn="l">
              <a:defRPr sz="1050">
                <a:solidFill>
                  <a:srgbClr val="F3F6F2"/>
                </a:solidFill>
                <a:latin typeface="Arial"/>
                <a:ea typeface="Arial"/>
                <a:cs typeface="Arial"/>
              </a:defRPr>
            </a:pPr>
            <a:r>
              <a:rPr sz="1050">
                <a:solidFill>
                  <a:srgbClr val="F3F6F2"/>
                </a:solidFill>
                <a:latin typeface="Arial"/>
                <a:ea typeface="Arial"/>
                <a:cs typeface="Arial"/>
              </a:rPr>
              <a:t>Six maps propose 2018–2023 built-up change</a:t>
            </a:r>
          </a:p>
        </p:txBody>
      </p:sp>
      <p:sp>
        <p:nvSpPr>
          <p:cNvPr id="17" name="">
            <a:extLst xmlns:a="http://schemas.openxmlformats.org/drawingml/2006/main">
              <a:ext uri="{FF2B5EF4-FFF2-40B4-BE49-F238E27FC236}">
                <a16:creationId xmlns:a16="http://schemas.microsoft.com/office/drawing/2014/main" id="{7CB3882B-7F4B-45B2-8D45-605B3DC62367}"/>
              </a:ext>
            </a:extLst>
          </p:cNvPr>
          <p:cNvSpPr>
            <a:spLocks xmlns:a="http://schemas.openxmlformats.org/drawingml/2006/main" noGrp="1"/>
          </p:cNvSpPr>
          <p:nvPr/>
        </p:nvSpPr>
        <p:spPr>
          <a:xfrm xmlns:a="http://schemas.openxmlformats.org/drawingml/2006/main">
            <a:off x="590550" y="3562350"/>
            <a:ext cx="4953000" cy="514350"/>
          </a:xfrm>
          <a:prstGeom xmlns:a="http://schemas.openxmlformats.org/drawingml/2006/main" prst="roundRect">
            <a:avLst>
              <a:gd name="adj" fmla="val 14815"/>
            </a:avLst>
          </a:prstGeom>
          <a:solidFill xmlns:a="http://schemas.openxmlformats.org/drawingml/2006/main">
            <a:srgbClr val="113646"/>
          </a:solidFill>
          <a:ln xmlns:a="http://schemas.openxmlformats.org/drawingml/2006/main" w="9525">
            <a:solidFill>
              <a:srgbClr val="31505F"/>
            </a:solidFill>
            <a:prstDash val="solid"/>
          </a:ln>
        </p:spPr>
      </p:sp>
      <p:sp>
        <p:nvSpPr>
          <p:cNvPr id="18" name="">
            <a:extLst xmlns:a="http://schemas.openxmlformats.org/drawingml/2006/main">
              <a:ext uri="{FF2B5EF4-FFF2-40B4-BE49-F238E27FC236}">
                <a16:creationId xmlns:a16="http://schemas.microsoft.com/office/drawing/2014/main" id="{F7AEFB71-FC71-4E08-A9E4-9DEEE37F7791}"/>
              </a:ext>
            </a:extLst>
          </p:cNvPr>
          <p:cNvSpPr>
            <a:spLocks xmlns:a="http://schemas.openxmlformats.org/drawingml/2006/main" noGrp="1"/>
          </p:cNvSpPr>
          <p:nvPr/>
        </p:nvSpPr>
        <p:spPr>
          <a:xfrm xmlns:a="http://schemas.openxmlformats.org/drawingml/2006/main">
            <a:off x="590550" y="3562350"/>
            <a:ext cx="76200" cy="514350"/>
          </a:xfrm>
          <a:prstGeom xmlns:a="http://schemas.openxmlformats.org/drawingml/2006/main" prst="rect">
            <a:avLst/>
          </a:prstGeom>
          <a:solidFill xmlns:a="http://schemas.openxmlformats.org/drawingml/2006/main">
            <a:srgbClr val="F06449"/>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73B118B2-9027-4935-B1B9-4FF45FC509C6}"/>
              </a:ext>
            </a:extLst>
          </p:cNvPr>
          <p:cNvSpPr>
            <a:spLocks xmlns:a="http://schemas.openxmlformats.org/drawingml/2006/main" noGrp="1"/>
          </p:cNvSpPr>
          <p:nvPr/>
        </p:nvSpPr>
        <p:spPr>
          <a:xfrm xmlns:a="http://schemas.openxmlformats.org/drawingml/2006/main">
            <a:off x="800100" y="363855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F06449"/>
                </a:solidFill>
                <a:latin typeface="Arial"/>
                <a:ea typeface="Arial"/>
                <a:cs typeface="Arial"/>
              </a:defRPr>
            </a:defPPr>
          </a:lstStyle>
          <a:p xmlns:a="http://schemas.openxmlformats.org/drawingml/2006/main">
            <a:pPr algn="l">
              <a:defRPr sz="1350" b="1">
                <a:solidFill>
                  <a:srgbClr val="F06449"/>
                </a:solidFill>
                <a:latin typeface="Arial"/>
                <a:ea typeface="Arial"/>
                <a:cs typeface="Arial"/>
              </a:defRPr>
            </a:pPr>
            <a:r>
              <a:rPr sz="1350" b="1">
                <a:solidFill>
                  <a:srgbClr val="F06449"/>
                </a:solidFill>
                <a:latin typeface="Arial"/>
                <a:ea typeface="Arial"/>
                <a:cs typeface="Arial"/>
              </a:rPr>
              <a:t>Landsat 8</a:t>
            </a:r>
          </a:p>
        </p:txBody>
      </p:sp>
      <p:sp>
        <p:nvSpPr>
          <p:cNvPr id="20" name="">
            <a:extLst xmlns:a="http://schemas.openxmlformats.org/drawingml/2006/main">
              <a:ext uri="{FF2B5EF4-FFF2-40B4-BE49-F238E27FC236}">
                <a16:creationId xmlns:a16="http://schemas.microsoft.com/office/drawing/2014/main" id="{0BD23286-73EA-42CB-8A71-923C7D9C9DD3}"/>
              </a:ext>
            </a:extLst>
          </p:cNvPr>
          <p:cNvSpPr>
            <a:spLocks xmlns:a="http://schemas.openxmlformats.org/drawingml/2006/main" noGrp="1"/>
          </p:cNvSpPr>
          <p:nvPr/>
        </p:nvSpPr>
        <p:spPr>
          <a:xfrm xmlns:a="http://schemas.openxmlformats.org/drawingml/2006/main">
            <a:off x="2266950" y="3638550"/>
            <a:ext cx="3105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a:solidFill>
                  <a:srgbClr val="F3F6F2"/>
                </a:solidFill>
                <a:latin typeface="Arial"/>
                <a:ea typeface="Arial"/>
                <a:cs typeface="Arial"/>
              </a:defRPr>
            </a:defPPr>
          </a:lstStyle>
          <a:p xmlns:a="http://schemas.openxmlformats.org/drawingml/2006/main">
            <a:pPr algn="l">
              <a:defRPr sz="1050">
                <a:solidFill>
                  <a:srgbClr val="F3F6F2"/>
                </a:solidFill>
                <a:latin typeface="Arial"/>
                <a:ea typeface="Arial"/>
                <a:cs typeface="Arial"/>
              </a:defRPr>
            </a:pPr>
            <a:r>
              <a:rPr sz="1050">
                <a:solidFill>
                  <a:srgbClr val="F3F6F2"/>
                </a:solidFill>
                <a:latin typeface="Arial"/>
                <a:ea typeface="Arial"/>
                <a:cs typeface="Arial"/>
              </a:rPr>
              <a:t>Quality-masked 2025 land-surface temperature</a:t>
            </a:r>
          </a:p>
        </p:txBody>
      </p:sp>
      <p:sp>
        <p:nvSpPr>
          <p:cNvPr id="21" name="">
            <a:extLst xmlns:a="http://schemas.openxmlformats.org/drawingml/2006/main">
              <a:ext uri="{FF2B5EF4-FFF2-40B4-BE49-F238E27FC236}">
                <a16:creationId xmlns:a16="http://schemas.microsoft.com/office/drawing/2014/main" id="{A29A2D7B-44B0-4F6C-811E-4FA6415A8330}"/>
              </a:ext>
            </a:extLst>
          </p:cNvPr>
          <p:cNvSpPr>
            <a:spLocks xmlns:a="http://schemas.openxmlformats.org/drawingml/2006/main" noGrp="1"/>
          </p:cNvSpPr>
          <p:nvPr/>
        </p:nvSpPr>
        <p:spPr>
          <a:xfrm xmlns:a="http://schemas.openxmlformats.org/drawingml/2006/main">
            <a:off x="590550" y="4229100"/>
            <a:ext cx="4953000" cy="514350"/>
          </a:xfrm>
          <a:prstGeom xmlns:a="http://schemas.openxmlformats.org/drawingml/2006/main" prst="roundRect">
            <a:avLst>
              <a:gd name="adj" fmla="val 14815"/>
            </a:avLst>
          </a:prstGeom>
          <a:solidFill xmlns:a="http://schemas.openxmlformats.org/drawingml/2006/main">
            <a:srgbClr val="113646"/>
          </a:solidFill>
          <a:ln xmlns:a="http://schemas.openxmlformats.org/drawingml/2006/main" w="9525">
            <a:solidFill>
              <a:srgbClr val="31505F"/>
            </a:solidFill>
            <a:prstDash val="solid"/>
          </a:ln>
        </p:spPr>
      </p:sp>
      <p:sp>
        <p:nvSpPr>
          <p:cNvPr id="22" name="">
            <a:extLst xmlns:a="http://schemas.openxmlformats.org/drawingml/2006/main">
              <a:ext uri="{FF2B5EF4-FFF2-40B4-BE49-F238E27FC236}">
                <a16:creationId xmlns:a16="http://schemas.microsoft.com/office/drawing/2014/main" id="{DA351239-6492-497A-BA16-8A933A0BF198}"/>
              </a:ext>
            </a:extLst>
          </p:cNvPr>
          <p:cNvSpPr>
            <a:spLocks xmlns:a="http://schemas.openxmlformats.org/drawingml/2006/main" noGrp="1"/>
          </p:cNvSpPr>
          <p:nvPr/>
        </p:nvSpPr>
        <p:spPr>
          <a:xfrm xmlns:a="http://schemas.openxmlformats.org/drawingml/2006/main">
            <a:off x="590550" y="4229100"/>
            <a:ext cx="76200" cy="514350"/>
          </a:xfrm>
          <a:prstGeom xmlns:a="http://schemas.openxmlformats.org/drawingml/2006/main" prst="rect">
            <a:avLst/>
          </a:prstGeom>
          <a:solidFill xmlns:a="http://schemas.openxmlformats.org/drawingml/2006/main">
            <a:srgbClr val="6D5DD3"/>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761A41D1-8C1F-4C88-A2FD-CA08630EA57C}"/>
              </a:ext>
            </a:extLst>
          </p:cNvPr>
          <p:cNvSpPr>
            <a:spLocks xmlns:a="http://schemas.openxmlformats.org/drawingml/2006/main" noGrp="1"/>
          </p:cNvSpPr>
          <p:nvPr/>
        </p:nvSpPr>
        <p:spPr>
          <a:xfrm xmlns:a="http://schemas.openxmlformats.org/drawingml/2006/main">
            <a:off x="800100" y="430530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6D5DD3"/>
                </a:solidFill>
                <a:latin typeface="Arial"/>
                <a:ea typeface="Arial"/>
                <a:cs typeface="Arial"/>
              </a:defRPr>
            </a:defPPr>
          </a:lstStyle>
          <a:p xmlns:a="http://schemas.openxmlformats.org/drawingml/2006/main">
            <a:pPr algn="l">
              <a:defRPr sz="1350" b="1">
                <a:solidFill>
                  <a:srgbClr val="6D5DD3"/>
                </a:solidFill>
                <a:latin typeface="Arial"/>
                <a:ea typeface="Arial"/>
                <a:cs typeface="Arial"/>
              </a:defRPr>
            </a:pPr>
            <a:r>
              <a:rPr sz="1350" b="1">
                <a:solidFill>
                  <a:srgbClr val="6D5DD3"/>
                </a:solidFill>
                <a:latin typeface="Arial"/>
                <a:ea typeface="Arial"/>
                <a:cs typeface="Arial"/>
              </a:rPr>
              <a:t>WorldPop</a:t>
            </a:r>
          </a:p>
        </p:txBody>
      </p:sp>
      <p:sp>
        <p:nvSpPr>
          <p:cNvPr id="24" name="">
            <a:extLst xmlns:a="http://schemas.openxmlformats.org/drawingml/2006/main">
              <a:ext uri="{FF2B5EF4-FFF2-40B4-BE49-F238E27FC236}">
                <a16:creationId xmlns:a16="http://schemas.microsoft.com/office/drawing/2014/main" id="{EEE275C9-C16E-4C25-AF2D-4433A1C4C9D6}"/>
              </a:ext>
            </a:extLst>
          </p:cNvPr>
          <p:cNvSpPr>
            <a:spLocks xmlns:a="http://schemas.openxmlformats.org/drawingml/2006/main" noGrp="1"/>
          </p:cNvSpPr>
          <p:nvPr/>
        </p:nvSpPr>
        <p:spPr>
          <a:xfrm xmlns:a="http://schemas.openxmlformats.org/drawingml/2006/main">
            <a:off x="2266950" y="4305300"/>
            <a:ext cx="3105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a:solidFill>
                  <a:srgbClr val="F3F6F2"/>
                </a:solidFill>
                <a:latin typeface="Arial"/>
                <a:ea typeface="Arial"/>
                <a:cs typeface="Arial"/>
              </a:defRPr>
            </a:defPPr>
          </a:lstStyle>
          <a:p xmlns:a="http://schemas.openxmlformats.org/drawingml/2006/main">
            <a:pPr algn="l">
              <a:defRPr sz="1050">
                <a:solidFill>
                  <a:srgbClr val="F3F6F2"/>
                </a:solidFill>
                <a:latin typeface="Arial"/>
                <a:ea typeface="Arial"/>
                <a:cs typeface="Arial"/>
              </a:defRPr>
            </a:pPr>
            <a:r>
              <a:rPr sz="1050">
                <a:solidFill>
                  <a:srgbClr val="F3F6F2"/>
                </a:solidFill>
                <a:latin typeface="Arial"/>
                <a:ea typeface="Arial"/>
                <a:cs typeface="Arial"/>
              </a:rPr>
              <a:t>Modelled 2025 population exposure</a:t>
            </a:r>
          </a:p>
        </p:txBody>
      </p:sp>
      <p:sp>
        <p:nvSpPr>
          <p:cNvPr id="25" name="">
            <a:extLst xmlns:a="http://schemas.openxmlformats.org/drawingml/2006/main">
              <a:ext uri="{FF2B5EF4-FFF2-40B4-BE49-F238E27FC236}">
                <a16:creationId xmlns:a16="http://schemas.microsoft.com/office/drawing/2014/main" id="{BAD7F5D5-E746-4720-AA5D-93A0D8BBE0D0}"/>
              </a:ext>
            </a:extLst>
          </p:cNvPr>
          <p:cNvSpPr>
            <a:spLocks xmlns:a="http://schemas.openxmlformats.org/drawingml/2006/main" noGrp="1"/>
          </p:cNvSpPr>
          <p:nvPr/>
        </p:nvSpPr>
        <p:spPr>
          <a:xfrm xmlns:a="http://schemas.openxmlformats.org/drawingml/2006/main">
            <a:off x="590550" y="4895850"/>
            <a:ext cx="4953000" cy="514350"/>
          </a:xfrm>
          <a:prstGeom xmlns:a="http://schemas.openxmlformats.org/drawingml/2006/main" prst="roundRect">
            <a:avLst>
              <a:gd name="adj" fmla="val 14815"/>
            </a:avLst>
          </a:prstGeom>
          <a:solidFill xmlns:a="http://schemas.openxmlformats.org/drawingml/2006/main">
            <a:srgbClr val="113646"/>
          </a:solidFill>
          <a:ln xmlns:a="http://schemas.openxmlformats.org/drawingml/2006/main" w="9525">
            <a:solidFill>
              <a:srgbClr val="31505F"/>
            </a:solidFill>
            <a:prstDash val="solid"/>
          </a:ln>
        </p:spPr>
      </p:sp>
      <p:sp>
        <p:nvSpPr>
          <p:cNvPr id="26" name="">
            <a:extLst xmlns:a="http://schemas.openxmlformats.org/drawingml/2006/main">
              <a:ext uri="{FF2B5EF4-FFF2-40B4-BE49-F238E27FC236}">
                <a16:creationId xmlns:a16="http://schemas.microsoft.com/office/drawing/2014/main" id="{AA1F23FC-9A4C-4511-8F0C-7C2A16844288}"/>
              </a:ext>
            </a:extLst>
          </p:cNvPr>
          <p:cNvSpPr>
            <a:spLocks xmlns:a="http://schemas.openxmlformats.org/drawingml/2006/main" noGrp="1"/>
          </p:cNvSpPr>
          <p:nvPr/>
        </p:nvSpPr>
        <p:spPr>
          <a:xfrm xmlns:a="http://schemas.openxmlformats.org/drawingml/2006/main">
            <a:off x="590550" y="4895850"/>
            <a:ext cx="76200" cy="514350"/>
          </a:xfrm>
          <a:prstGeom xmlns:a="http://schemas.openxmlformats.org/drawingml/2006/main" prst="rect">
            <a:avLst/>
          </a:prstGeom>
          <a:solidFill xmlns:a="http://schemas.openxmlformats.org/drawingml/2006/main">
            <a:srgbClr val="D96787"/>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ADCD40EA-E913-4806-88E2-A667E9F68F5D}"/>
              </a:ext>
            </a:extLst>
          </p:cNvPr>
          <p:cNvSpPr>
            <a:spLocks xmlns:a="http://schemas.openxmlformats.org/drawingml/2006/main" noGrp="1"/>
          </p:cNvSpPr>
          <p:nvPr/>
        </p:nvSpPr>
        <p:spPr>
          <a:xfrm xmlns:a="http://schemas.openxmlformats.org/drawingml/2006/main">
            <a:off x="800100" y="497205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D96787"/>
                </a:solidFill>
                <a:latin typeface="Arial"/>
                <a:ea typeface="Arial"/>
                <a:cs typeface="Arial"/>
              </a:defRPr>
            </a:defPPr>
          </a:lstStyle>
          <a:p xmlns:a="http://schemas.openxmlformats.org/drawingml/2006/main">
            <a:pPr algn="l">
              <a:defRPr sz="1350" b="1">
                <a:solidFill>
                  <a:srgbClr val="D96787"/>
                </a:solidFill>
                <a:latin typeface="Arial"/>
                <a:ea typeface="Arial"/>
                <a:cs typeface="Arial"/>
              </a:defRPr>
            </a:pPr>
            <a:r>
              <a:rPr sz="1350" b="1">
                <a:solidFill>
                  <a:srgbClr val="D96787"/>
                </a:solidFill>
                <a:latin typeface="Arial"/>
                <a:ea typeface="Arial"/>
                <a:cs typeface="Arial"/>
              </a:rPr>
              <a:t>Planet Tanager</a:t>
            </a:r>
          </a:p>
        </p:txBody>
      </p:sp>
      <p:sp>
        <p:nvSpPr>
          <p:cNvPr id="28" name="">
            <a:extLst xmlns:a="http://schemas.openxmlformats.org/drawingml/2006/main">
              <a:ext uri="{FF2B5EF4-FFF2-40B4-BE49-F238E27FC236}">
                <a16:creationId xmlns:a16="http://schemas.microsoft.com/office/drawing/2014/main" id="{D3509A89-0C28-4A8B-B45B-FE68056E3052}"/>
              </a:ext>
            </a:extLst>
          </p:cNvPr>
          <p:cNvSpPr>
            <a:spLocks xmlns:a="http://schemas.openxmlformats.org/drawingml/2006/main" noGrp="1"/>
          </p:cNvSpPr>
          <p:nvPr/>
        </p:nvSpPr>
        <p:spPr>
          <a:xfrm xmlns:a="http://schemas.openxmlformats.org/drawingml/2006/main">
            <a:off x="2266950" y="4972050"/>
            <a:ext cx="3105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a:solidFill>
                  <a:srgbClr val="F3F6F2"/>
                </a:solidFill>
                <a:latin typeface="Arial"/>
                <a:ea typeface="Arial"/>
                <a:cs typeface="Arial"/>
              </a:defRPr>
            </a:defPPr>
          </a:lstStyle>
          <a:p xmlns:a="http://schemas.openxmlformats.org/drawingml/2006/main">
            <a:pPr algn="l">
              <a:defRPr sz="1050">
                <a:solidFill>
                  <a:srgbClr val="F3F6F2"/>
                </a:solidFill>
                <a:latin typeface="Arial"/>
                <a:ea typeface="Arial"/>
                <a:cs typeface="Arial"/>
              </a:defRPr>
            </a:pPr>
            <a:r>
              <a:rPr sz="1050">
                <a:solidFill>
                  <a:srgbClr val="F3F6F2"/>
                </a:solidFill>
                <a:latin typeface="Arial"/>
                <a:ea typeface="Arial"/>
                <a:cs typeface="Arial"/>
              </a:rPr>
              <a:t>426-band material context and failure-mode test</a:t>
            </a:r>
          </a:p>
        </p:txBody>
      </p:sp>
      <p:pic>
        <p:nvPicPr>
          <p:cNvPr id="29" name="">
            <a:extLst xmlns:a="http://schemas.openxmlformats.org/drawingml/2006/main">
              <a:ext uri="{FF2B5EF4-FFF2-40B4-BE49-F238E27FC236}">
                <a16:creationId xmlns:a16="http://schemas.microsoft.com/office/drawing/2014/main" id="{A49F4735-1437-46AB-A06B-BA1CC9BA7C4C}"/>
              </a:ext>
            </a:extLst>
          </p:cNvPr>
          <p:cNvPicPr>
            <a:picLocks xmlns:a="http://schemas.openxmlformats.org/drawingml/2006/main" noChangeAspect="1"/>
          </p:cNvPicPr>
          <p:nvPr/>
        </p:nvPicPr>
        <p:blipFill>
          <a:blip xmlns:r="http://schemas.openxmlformats.org/officeDocument/2006/relationships" xmlns:a="http://schemas.openxmlformats.org/drawingml/2006/main" r:embed="Rf9ccac241e534905"/>
          <a:stretch xmlns:a="http://schemas.openxmlformats.org/drawingml/2006/main"/>
        </p:blipFill>
        <p:spPr>
          <a:xfrm xmlns:a="http://schemas.openxmlformats.org/drawingml/2006/main">
            <a:off x="6527807" y="1562100"/>
            <a:ext cx="4451336" cy="4038600"/>
          </a:xfrm>
          <a:prstGeom xmlns:a="http://schemas.openxmlformats.org/drawingml/2006/main" prst="roundRect">
            <a:avLst>
              <a:gd name="adj" fmla="val 2358"/>
            </a:avLst>
          </a:prstGeom>
        </p:spPr>
      </p:pic>
      <p:sp>
        <p:nvSpPr>
          <p:cNvPr id="30" name="">
            <a:extLst xmlns:a="http://schemas.openxmlformats.org/drawingml/2006/main">
              <a:ext uri="{FF2B5EF4-FFF2-40B4-BE49-F238E27FC236}">
                <a16:creationId xmlns:a16="http://schemas.microsoft.com/office/drawing/2014/main" id="{EC442AF7-CF6A-4104-8A02-C43CBD3E0601}"/>
              </a:ext>
            </a:extLst>
          </p:cNvPr>
          <p:cNvSpPr>
            <a:spLocks xmlns:a="http://schemas.openxmlformats.org/drawingml/2006/main" noGrp="1"/>
          </p:cNvSpPr>
          <p:nvPr/>
        </p:nvSpPr>
        <p:spPr>
          <a:xfrm xmlns:a="http://schemas.openxmlformats.org/drawingml/2006/main">
            <a:off x="5905500" y="5715000"/>
            <a:ext cx="5695950" cy="514350"/>
          </a:xfrm>
          <a:prstGeom xmlns:a="http://schemas.openxmlformats.org/drawingml/2006/main" prst="roundRect">
            <a:avLst>
              <a:gd name="adj" fmla="val 18519"/>
            </a:avLst>
          </a:prstGeom>
          <a:solidFill xmlns:a="http://schemas.openxmlformats.org/drawingml/2006/main">
            <a:srgbClr val="113646"/>
          </a:solidFill>
          <a:ln xmlns:a="http://schemas.openxmlformats.org/drawingml/2006/main" w="9525">
            <a:solidFill>
              <a:srgbClr val="31505F"/>
            </a:solidFill>
            <a:prstDash val="solid"/>
          </a:ln>
        </p:spPr>
      </p:sp>
      <p:sp>
        <p:nvSpPr>
          <p:cNvPr id="31" name="">
            <a:extLst xmlns:a="http://schemas.openxmlformats.org/drawingml/2006/main">
              <a:ext uri="{FF2B5EF4-FFF2-40B4-BE49-F238E27FC236}">
                <a16:creationId xmlns:a16="http://schemas.microsoft.com/office/drawing/2014/main" id="{7270BE3E-4DFE-4392-93AC-DCA18464ECAE}"/>
              </a:ext>
            </a:extLst>
          </p:cNvPr>
          <p:cNvSpPr>
            <a:spLocks xmlns:a="http://schemas.openxmlformats.org/drawingml/2006/main" noGrp="1"/>
          </p:cNvSpPr>
          <p:nvPr/>
        </p:nvSpPr>
        <p:spPr>
          <a:xfrm xmlns:a="http://schemas.openxmlformats.org/drawingml/2006/main">
            <a:off x="6115050" y="5772150"/>
            <a:ext cx="5276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F3F6F2"/>
                </a:solidFill>
                <a:latin typeface="Arial"/>
                <a:ea typeface="Arial"/>
                <a:cs typeface="Arial"/>
              </a:defRPr>
            </a:defPPr>
          </a:lstStyle>
          <a:p xmlns:a="http://schemas.openxmlformats.org/drawingml/2006/main">
            <a:pPr algn="l">
              <a:defRPr sz="1050" b="1">
                <a:solidFill>
                  <a:srgbClr val="F3F6F2"/>
                </a:solidFill>
                <a:latin typeface="Arial"/>
                <a:ea typeface="Arial"/>
                <a:cs typeface="Arial"/>
              </a:defRPr>
            </a:pPr>
            <a:r>
              <a:rPr sz="1050" b="1">
                <a:solidFill>
                  <a:srgbClr val="F3F6F2"/>
                </a:solidFill>
                <a:latin typeface="Arial"/>
                <a:ea typeface="Arial"/>
                <a:cs typeface="Arial"/>
              </a:rPr>
              <a:t>1. Annual maps flag possible growth.  2. Sentinel-1 and Sentinel-2 check the built-up evidence.  3. Heat, population and vegetation produce the ranking.</a:t>
            </a:r>
          </a:p>
        </p:txBody>
      </p:sp>
    </p:spTree>
    <p:extLst>
      <p:ext uri="{BB962C8B-B14F-4D97-AF65-F5344CB8AC3E}">
        <p14:creationId xmlns:p14="http://schemas.microsoft.com/office/powerpoint/2010/main" val="54976565"/>
      </p:ext>
    </p:extLst>
  </p:cSld>
</p:sld>
</file>

<file path=ppt/slides/slide5.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23A648B-EDF0-4DD0-9B7C-5218510EF04D}"/>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stStyle>
          <a:p xmlns:a="http://schemas.openxmlformats.org/drawingml/2006/main">
            <a:pPr algn="l">
              <a:defRPr sz="1050" b="1">
                <a:solidFill>
                  <a:srgbClr val="1AA58F"/>
                </a:solidFill>
                <a:latin typeface="Arial"/>
                <a:ea typeface="Arial"/>
                <a:cs typeface="Arial"/>
              </a:defRPr>
            </a:pPr>
            <a:r>
              <a:rPr sz="1050" b="1">
                <a:solidFill>
                  <a:srgbClr val="1AA58F"/>
                </a:solidFill>
                <a:latin typeface="Arial"/>
                <a:ea typeface="Arial"/>
                <a:cs typeface="Arial"/>
              </a:rPr>
              <a:t>WORKING OUTPUT</a:t>
            </a:r>
          </a:p>
        </p:txBody>
      </p:sp>
      <p:sp>
        <p:nvSpPr>
          <p:cNvPr id="2" name="">
            <a:extLst xmlns:a="http://schemas.openxmlformats.org/drawingml/2006/main">
              <a:ext uri="{FF2B5EF4-FFF2-40B4-BE49-F238E27FC236}">
                <a16:creationId xmlns:a16="http://schemas.microsoft.com/office/drawing/2014/main" id="{65710D42-88F7-4293-BD09-306ED91524D1}"/>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stStyle>
          <a:p xmlns:a="http://schemas.openxmlformats.org/drawingml/2006/main">
            <a:pPr algn="l">
              <a:defRPr sz="2700" b="1">
                <a:solidFill>
                  <a:srgbClr val="F3F6F2"/>
                </a:solidFill>
                <a:latin typeface="Arial"/>
                <a:ea typeface="Arial"/>
                <a:cs typeface="Arial"/>
              </a:defRPr>
            </a:pPr>
            <a:r>
              <a:rPr sz="2700" b="1">
                <a:solidFill>
                  <a:srgbClr val="F3F6F2"/>
                </a:solidFill>
                <a:latin typeface="Arial"/>
                <a:ea typeface="Arial"/>
                <a:cs typeface="Arial"/>
              </a:rPr>
              <a:t>Priority map and supporting files</a:t>
            </a:r>
          </a:p>
        </p:txBody>
      </p:sp>
      <p:sp>
        <p:nvSpPr>
          <p:cNvPr id="3" name="">
            <a:extLst xmlns:a="http://schemas.openxmlformats.org/drawingml/2006/main">
              <a:ext uri="{FF2B5EF4-FFF2-40B4-BE49-F238E27FC236}">
                <a16:creationId xmlns:a16="http://schemas.microsoft.com/office/drawing/2014/main" id="{7B2ED22E-24D1-4226-A01A-3D5B11FA2456}"/>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stStyle>
          <a:p xmlns:a="http://schemas.openxmlformats.org/drawingml/2006/main">
            <a:pPr algn="r">
              <a:defRPr sz="1050" b="1">
                <a:solidFill>
                  <a:srgbClr val="AFC4C6"/>
                </a:solidFill>
                <a:latin typeface="Arial"/>
                <a:ea typeface="Arial"/>
                <a:cs typeface="Arial"/>
              </a:defRPr>
            </a:pPr>
            <a:r>
              <a:rPr sz="1050" b="1">
                <a:solidFill>
                  <a:srgbClr val="AFC4C6"/>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32A52D3F-8238-4D10-B356-681BF4DAA9FB}"/>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pic>
        <p:nvPicPr>
          <p:cNvPr id="5" name="">
            <a:extLst xmlns:a="http://schemas.openxmlformats.org/drawingml/2006/main">
              <a:ext uri="{FF2B5EF4-FFF2-40B4-BE49-F238E27FC236}">
                <a16:creationId xmlns:a16="http://schemas.microsoft.com/office/drawing/2014/main" id="{AB4A1648-D0AB-4F6E-BC93-C83BC6FE2BC3}"/>
              </a:ext>
            </a:extLst>
          </p:cNvPr>
          <p:cNvPicPr>
            <a:picLocks xmlns:a="http://schemas.openxmlformats.org/drawingml/2006/main" noChangeAspect="1"/>
          </p:cNvPicPr>
          <p:nvPr/>
        </p:nvPicPr>
        <p:blipFill>
          <a:blip xmlns:r="http://schemas.openxmlformats.org/officeDocument/2006/relationships" xmlns:a="http://schemas.openxmlformats.org/drawingml/2006/main" r:embed="R9798f66510954b59"/>
          <a:stretch xmlns:a="http://schemas.openxmlformats.org/drawingml/2006/main"/>
        </p:blipFill>
        <p:spPr>
          <a:xfrm xmlns:a="http://schemas.openxmlformats.org/drawingml/2006/main">
            <a:off x="1128967" y="1485900"/>
            <a:ext cx="4304790" cy="4762500"/>
          </a:xfrm>
          <a:prstGeom xmlns:a="http://schemas.openxmlformats.org/drawingml/2006/main" prst="roundRect">
            <a:avLst>
              <a:gd name="adj" fmla="val 2000"/>
            </a:avLst>
          </a:prstGeom>
        </p:spPr>
      </p:pic>
      <p:pic>
        <p:nvPicPr>
          <p:cNvPr id="6" name="">
            <a:extLst xmlns:a="http://schemas.openxmlformats.org/drawingml/2006/main">
              <a:ext uri="{FF2B5EF4-FFF2-40B4-BE49-F238E27FC236}">
                <a16:creationId xmlns:a16="http://schemas.microsoft.com/office/drawing/2014/main" id="{790A8AF2-1936-46EA-B58A-7DB78B83BC66}"/>
              </a:ext>
            </a:extLst>
          </p:cNvPr>
          <p:cNvPicPr>
            <a:picLocks xmlns:a="http://schemas.openxmlformats.org/drawingml/2006/main" noChangeAspect="1"/>
          </p:cNvPicPr>
          <p:nvPr/>
        </p:nvPicPr>
        <p:blipFill>
          <a:blip xmlns:r="http://schemas.openxmlformats.org/officeDocument/2006/relationships" xmlns:a="http://schemas.openxmlformats.org/drawingml/2006/main" r:embed="Rc29ec2ab93e04e55"/>
          <a:stretch xmlns:a="http://schemas.openxmlformats.org/drawingml/2006/main"/>
        </p:blipFill>
        <p:spPr>
          <a:xfrm xmlns:a="http://schemas.openxmlformats.org/drawingml/2006/main">
            <a:off x="6535680" y="1562100"/>
            <a:ext cx="4759439" cy="2571750"/>
          </a:xfrm>
          <a:prstGeom xmlns:a="http://schemas.openxmlformats.org/drawingml/2006/main" prst="roundRect">
            <a:avLst>
              <a:gd name="adj" fmla="val 3704"/>
            </a:avLst>
          </a:prstGeom>
        </p:spPr>
      </p:pic>
      <p:sp>
        <p:nvSpPr>
          <p:cNvPr id="7" name="">
            <a:extLst xmlns:a="http://schemas.openxmlformats.org/drawingml/2006/main">
              <a:ext uri="{FF2B5EF4-FFF2-40B4-BE49-F238E27FC236}">
                <a16:creationId xmlns:a16="http://schemas.microsoft.com/office/drawing/2014/main" id="{2BD2EF24-B0C1-4D90-B83E-B240F9A2EA0B}"/>
              </a:ext>
            </a:extLst>
          </p:cNvPr>
          <p:cNvSpPr>
            <a:spLocks xmlns:a="http://schemas.openxmlformats.org/drawingml/2006/main" noGrp="1"/>
          </p:cNvSpPr>
          <p:nvPr/>
        </p:nvSpPr>
        <p:spPr>
          <a:xfrm xmlns:a="http://schemas.openxmlformats.org/drawingml/2006/main">
            <a:off x="6229350" y="4324350"/>
            <a:ext cx="165735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8" name="">
            <a:extLst xmlns:a="http://schemas.openxmlformats.org/drawingml/2006/main">
              <a:ext uri="{FF2B5EF4-FFF2-40B4-BE49-F238E27FC236}">
                <a16:creationId xmlns:a16="http://schemas.microsoft.com/office/drawing/2014/main" id="{93ACC083-DD7C-428C-8FA8-FB4F230A1D91}"/>
              </a:ext>
            </a:extLst>
          </p:cNvPr>
          <p:cNvSpPr>
            <a:spLocks xmlns:a="http://schemas.openxmlformats.org/drawingml/2006/main" noGrp="1"/>
          </p:cNvSpPr>
          <p:nvPr/>
        </p:nvSpPr>
        <p:spPr>
          <a:xfrm xmlns:a="http://schemas.openxmlformats.org/drawingml/2006/main">
            <a:off x="6400800" y="4438650"/>
            <a:ext cx="1314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F06449"/>
                </a:solidFill>
                <a:latin typeface="Arial"/>
                <a:ea typeface="Arial"/>
                <a:cs typeface="Arial"/>
              </a:defRPr>
            </a:defPPr>
          </a:lstStyle>
          <a:p xmlns:a="http://schemas.openxmlformats.org/drawingml/2006/main">
            <a:pPr algn="l">
              <a:defRPr sz="2550" b="1">
                <a:solidFill>
                  <a:srgbClr val="F06449"/>
                </a:solidFill>
                <a:latin typeface="Arial"/>
                <a:ea typeface="Arial"/>
                <a:cs typeface="Arial"/>
              </a:defRPr>
            </a:pPr>
            <a:r>
              <a:rPr sz="2550" b="1">
                <a:solidFill>
                  <a:srgbClr val="F06449"/>
                </a:solidFill>
                <a:latin typeface="Arial"/>
                <a:ea typeface="Arial"/>
                <a:cs typeface="Arial"/>
              </a:rPr>
              <a:t>3.74 km²</a:t>
            </a:r>
          </a:p>
        </p:txBody>
      </p:sp>
      <p:sp>
        <p:nvSpPr>
          <p:cNvPr id="9" name="">
            <a:extLst xmlns:a="http://schemas.openxmlformats.org/drawingml/2006/main">
              <a:ext uri="{FF2B5EF4-FFF2-40B4-BE49-F238E27FC236}">
                <a16:creationId xmlns:a16="http://schemas.microsoft.com/office/drawing/2014/main" id="{74575BA5-FA58-46E1-BB49-D954916A4800}"/>
              </a:ext>
            </a:extLst>
          </p:cNvPr>
          <p:cNvSpPr>
            <a:spLocks xmlns:a="http://schemas.openxmlformats.org/drawingml/2006/main" noGrp="1"/>
          </p:cNvSpPr>
          <p:nvPr/>
        </p:nvSpPr>
        <p:spPr>
          <a:xfrm xmlns:a="http://schemas.openxmlformats.org/drawingml/2006/main">
            <a:off x="6400800" y="4953000"/>
            <a:ext cx="1314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stStyle>
          <a:p xmlns:a="http://schemas.openxmlformats.org/drawingml/2006/main">
            <a:pPr algn="l">
              <a:defRPr sz="1050" b="1">
                <a:solidFill>
                  <a:srgbClr val="AFC4C6"/>
                </a:solidFill>
                <a:latin typeface="Arial"/>
                <a:ea typeface="Arial"/>
                <a:cs typeface="Arial"/>
              </a:defRPr>
            </a:pPr>
            <a:r>
              <a:rPr sz="1050" b="1">
                <a:solidFill>
                  <a:srgbClr val="AFC4C6"/>
                </a:solidFill>
                <a:latin typeface="Arial"/>
                <a:ea typeface="Arial"/>
                <a:cs typeface="Arial"/>
              </a:rPr>
              <a:t>CONFIRMED GROWTH SIGNAL</a:t>
            </a:r>
          </a:p>
        </p:txBody>
      </p:sp>
      <p:sp>
        <p:nvSpPr>
          <p:cNvPr id="10" name="">
            <a:extLst xmlns:a="http://schemas.openxmlformats.org/drawingml/2006/main">
              <a:ext uri="{FF2B5EF4-FFF2-40B4-BE49-F238E27FC236}">
                <a16:creationId xmlns:a16="http://schemas.microsoft.com/office/drawing/2014/main" id="{73405A72-6143-4002-BE79-57D9ACC68790}"/>
              </a:ext>
            </a:extLst>
          </p:cNvPr>
          <p:cNvSpPr>
            <a:spLocks xmlns:a="http://schemas.openxmlformats.org/drawingml/2006/main" noGrp="1"/>
          </p:cNvSpPr>
          <p:nvPr/>
        </p:nvSpPr>
        <p:spPr>
          <a:xfrm xmlns:a="http://schemas.openxmlformats.org/drawingml/2006/main">
            <a:off x="8020050" y="4324350"/>
            <a:ext cx="165735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11" name="">
            <a:extLst xmlns:a="http://schemas.openxmlformats.org/drawingml/2006/main">
              <a:ext uri="{FF2B5EF4-FFF2-40B4-BE49-F238E27FC236}">
                <a16:creationId xmlns:a16="http://schemas.microsoft.com/office/drawing/2014/main" id="{FC165CE7-3593-49D9-8E5C-2AF74C38F376}"/>
              </a:ext>
            </a:extLst>
          </p:cNvPr>
          <p:cNvSpPr>
            <a:spLocks xmlns:a="http://schemas.openxmlformats.org/drawingml/2006/main" noGrp="1"/>
          </p:cNvSpPr>
          <p:nvPr/>
        </p:nvSpPr>
        <p:spPr>
          <a:xfrm xmlns:a="http://schemas.openxmlformats.org/drawingml/2006/main">
            <a:off x="8191500" y="4438650"/>
            <a:ext cx="1314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1AA58F"/>
                </a:solidFill>
                <a:latin typeface="Arial"/>
                <a:ea typeface="Arial"/>
                <a:cs typeface="Arial"/>
              </a:defRPr>
            </a:defPPr>
          </a:lstStyle>
          <a:p xmlns:a="http://schemas.openxmlformats.org/drawingml/2006/main">
            <a:pPr algn="l">
              <a:defRPr sz="2550" b="1">
                <a:solidFill>
                  <a:srgbClr val="1AA58F"/>
                </a:solidFill>
                <a:latin typeface="Arial"/>
                <a:ea typeface="Arial"/>
                <a:cs typeface="Arial"/>
              </a:defRPr>
            </a:pPr>
            <a:r>
              <a:rPr sz="2550" b="1">
                <a:solidFill>
                  <a:srgbClr val="1AA58F"/>
                </a:solidFill>
                <a:latin typeface="Arial"/>
                <a:ea typeface="Arial"/>
                <a:cs typeface="Arial"/>
              </a:rPr>
              <a:t>14 / 67</a:t>
            </a:r>
          </a:p>
        </p:txBody>
      </p:sp>
      <p:sp>
        <p:nvSpPr>
          <p:cNvPr id="12" name="">
            <a:extLst xmlns:a="http://schemas.openxmlformats.org/drawingml/2006/main">
              <a:ext uri="{FF2B5EF4-FFF2-40B4-BE49-F238E27FC236}">
                <a16:creationId xmlns:a16="http://schemas.microsoft.com/office/drawing/2014/main" id="{044BD5B2-9069-4B5B-AE21-44D336DF7BC5}"/>
              </a:ext>
            </a:extLst>
          </p:cNvPr>
          <p:cNvSpPr>
            <a:spLocks xmlns:a="http://schemas.openxmlformats.org/drawingml/2006/main" noGrp="1"/>
          </p:cNvSpPr>
          <p:nvPr/>
        </p:nvSpPr>
        <p:spPr>
          <a:xfrm xmlns:a="http://schemas.openxmlformats.org/drawingml/2006/main">
            <a:off x="8191500" y="4953000"/>
            <a:ext cx="1314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stStyle>
          <a:p xmlns:a="http://schemas.openxmlformats.org/drawingml/2006/main">
            <a:pPr algn="l">
              <a:defRPr sz="1050" b="1">
                <a:solidFill>
                  <a:srgbClr val="AFC4C6"/>
                </a:solidFill>
                <a:latin typeface="Arial"/>
                <a:ea typeface="Arial"/>
                <a:cs typeface="Arial"/>
              </a:defRPr>
            </a:pPr>
            <a:r>
              <a:rPr sz="1050" b="1">
                <a:solidFill>
                  <a:srgbClr val="AFC4C6"/>
                </a:solidFill>
                <a:latin typeface="Arial"/>
                <a:ea typeface="Arial"/>
                <a:cs typeface="Arial"/>
              </a:rPr>
              <a:t>HIGH / ELIGIBLE CELLS</a:t>
            </a:r>
          </a:p>
        </p:txBody>
      </p:sp>
      <p:sp>
        <p:nvSpPr>
          <p:cNvPr id="13" name="">
            <a:extLst xmlns:a="http://schemas.openxmlformats.org/drawingml/2006/main">
              <a:ext uri="{FF2B5EF4-FFF2-40B4-BE49-F238E27FC236}">
                <a16:creationId xmlns:a16="http://schemas.microsoft.com/office/drawing/2014/main" id="{E30FFFA5-0BD3-47DA-8596-405E3605621C}"/>
              </a:ext>
            </a:extLst>
          </p:cNvPr>
          <p:cNvSpPr>
            <a:spLocks xmlns:a="http://schemas.openxmlformats.org/drawingml/2006/main" noGrp="1"/>
          </p:cNvSpPr>
          <p:nvPr/>
        </p:nvSpPr>
        <p:spPr>
          <a:xfrm xmlns:a="http://schemas.openxmlformats.org/drawingml/2006/main">
            <a:off x="9810750" y="4324350"/>
            <a:ext cx="17907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14" name="">
            <a:extLst xmlns:a="http://schemas.openxmlformats.org/drawingml/2006/main">
              <a:ext uri="{FF2B5EF4-FFF2-40B4-BE49-F238E27FC236}">
                <a16:creationId xmlns:a16="http://schemas.microsoft.com/office/drawing/2014/main" id="{1B038467-BFE8-4D9E-AD6C-D666C2216839}"/>
              </a:ext>
            </a:extLst>
          </p:cNvPr>
          <p:cNvSpPr>
            <a:spLocks xmlns:a="http://schemas.openxmlformats.org/drawingml/2006/main" noGrp="1"/>
          </p:cNvSpPr>
          <p:nvPr/>
        </p:nvSpPr>
        <p:spPr>
          <a:xfrm xmlns:a="http://schemas.openxmlformats.org/drawingml/2006/main">
            <a:off x="9982200" y="4438650"/>
            <a:ext cx="1447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E2AD2B"/>
                </a:solidFill>
                <a:latin typeface="Arial"/>
                <a:ea typeface="Arial"/>
                <a:cs typeface="Arial"/>
              </a:defRPr>
            </a:defPPr>
          </a:lstStyle>
          <a:p xmlns:a="http://schemas.openxmlformats.org/drawingml/2006/main">
            <a:pPr algn="l">
              <a:defRPr sz="2550" b="1">
                <a:solidFill>
                  <a:srgbClr val="E2AD2B"/>
                </a:solidFill>
                <a:latin typeface="Arial"/>
                <a:ea typeface="Arial"/>
                <a:cs typeface="Arial"/>
              </a:defRPr>
            </a:pPr>
            <a:r>
              <a:rPr sz="2550" b="1">
                <a:solidFill>
                  <a:srgbClr val="E2AD2B"/>
                </a:solidFill>
                <a:latin typeface="Arial"/>
                <a:ea typeface="Arial"/>
                <a:cs typeface="Arial"/>
              </a:rPr>
              <a:t>78.7</a:t>
            </a:r>
          </a:p>
        </p:txBody>
      </p:sp>
      <p:sp>
        <p:nvSpPr>
          <p:cNvPr id="15" name="">
            <a:extLst xmlns:a="http://schemas.openxmlformats.org/drawingml/2006/main">
              <a:ext uri="{FF2B5EF4-FFF2-40B4-BE49-F238E27FC236}">
                <a16:creationId xmlns:a16="http://schemas.microsoft.com/office/drawing/2014/main" id="{B4277412-F3F5-4DF2-A75B-7E4FA7798505}"/>
              </a:ext>
            </a:extLst>
          </p:cNvPr>
          <p:cNvSpPr>
            <a:spLocks xmlns:a="http://schemas.openxmlformats.org/drawingml/2006/main" noGrp="1"/>
          </p:cNvSpPr>
          <p:nvPr/>
        </p:nvSpPr>
        <p:spPr>
          <a:xfrm xmlns:a="http://schemas.openxmlformats.org/drawingml/2006/main">
            <a:off x="9982200" y="4953000"/>
            <a:ext cx="1447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stStyle>
          <a:p xmlns:a="http://schemas.openxmlformats.org/drawingml/2006/main">
            <a:pPr algn="l">
              <a:defRPr sz="1050" b="1">
                <a:solidFill>
                  <a:srgbClr val="AFC4C6"/>
                </a:solidFill>
                <a:latin typeface="Arial"/>
                <a:ea typeface="Arial"/>
                <a:cs typeface="Arial"/>
              </a:defRPr>
            </a:pPr>
            <a:r>
              <a:rPr sz="1050" b="1">
                <a:solidFill>
                  <a:srgbClr val="AFC4C6"/>
                </a:solidFill>
                <a:latin typeface="Arial"/>
                <a:ea typeface="Arial"/>
                <a:cs typeface="Arial"/>
              </a:rPr>
              <a:t>TOP SCORE: R05C10</a:t>
            </a:r>
          </a:p>
        </p:txBody>
      </p:sp>
      <p:sp>
        <p:nvSpPr>
          <p:cNvPr id="16" name="">
            <a:extLst xmlns:a="http://schemas.openxmlformats.org/drawingml/2006/main">
              <a:ext uri="{FF2B5EF4-FFF2-40B4-BE49-F238E27FC236}">
                <a16:creationId xmlns:a16="http://schemas.microsoft.com/office/drawing/2014/main" id="{ADC48232-A62C-4319-94B9-667D0964ACF9}"/>
              </a:ext>
            </a:extLst>
          </p:cNvPr>
          <p:cNvSpPr>
            <a:spLocks xmlns:a="http://schemas.openxmlformats.org/drawingml/2006/main" noGrp="1"/>
          </p:cNvSpPr>
          <p:nvPr/>
        </p:nvSpPr>
        <p:spPr>
          <a:xfrm xmlns:a="http://schemas.openxmlformats.org/drawingml/2006/main">
            <a:off x="6229350" y="5543550"/>
            <a:ext cx="5372100" cy="704850"/>
          </a:xfrm>
          <a:prstGeom xmlns:a="http://schemas.openxmlformats.org/drawingml/2006/main" prst="roundRect">
            <a:avLst>
              <a:gd name="adj" fmla="val 13514"/>
            </a:avLst>
          </a:prstGeom>
          <a:solidFill xmlns:a="http://schemas.openxmlformats.org/drawingml/2006/main">
            <a:srgbClr val="113646"/>
          </a:solidFill>
          <a:ln xmlns:a="http://schemas.openxmlformats.org/drawingml/2006/main" w="9525">
            <a:solidFill>
              <a:srgbClr val="31505F"/>
            </a:solidFill>
            <a:prstDash val="solid"/>
          </a:ln>
        </p:spPr>
      </p:sp>
      <p:sp>
        <p:nvSpPr>
          <p:cNvPr id="17" name="">
            <a:extLst xmlns:a="http://schemas.openxmlformats.org/drawingml/2006/main">
              <a:ext uri="{FF2B5EF4-FFF2-40B4-BE49-F238E27FC236}">
                <a16:creationId xmlns:a16="http://schemas.microsoft.com/office/drawing/2014/main" id="{655D2ECC-7A56-4B70-B00F-421B23EA6A62}"/>
              </a:ext>
            </a:extLst>
          </p:cNvPr>
          <p:cNvSpPr>
            <a:spLocks xmlns:a="http://schemas.openxmlformats.org/drawingml/2006/main" noGrp="1"/>
          </p:cNvSpPr>
          <p:nvPr/>
        </p:nvSpPr>
        <p:spPr>
          <a:xfrm xmlns:a="http://schemas.openxmlformats.org/drawingml/2006/main">
            <a:off x="6438900" y="5648325"/>
            <a:ext cx="4953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1">
                <a:solidFill>
                  <a:srgbClr val="F3F6F2"/>
                </a:solidFill>
                <a:latin typeface="Arial"/>
                <a:ea typeface="Arial"/>
                <a:cs typeface="Arial"/>
              </a:defRPr>
            </a:defPPr>
          </a:lstStyle>
          <a:p xmlns:a="http://schemas.openxmlformats.org/drawingml/2006/main">
            <a:pPr algn="l">
              <a:defRPr sz="1200" b="1">
                <a:solidFill>
                  <a:srgbClr val="F3F6F2"/>
                </a:solidFill>
                <a:latin typeface="Arial"/>
                <a:ea typeface="Arial"/>
                <a:cs typeface="Arial"/>
              </a:defRPr>
            </a:pPr>
            <a:r>
              <a:rPr sz="1200" b="1">
                <a:solidFill>
                  <a:srgbClr val="F3F6F2"/>
                </a:solidFill>
                <a:latin typeface="Arial"/>
                <a:ea typeface="Arial"/>
                <a:cs typeface="Arial"/>
              </a:rPr>
              <a:t>The HTML report shows the map and top-five table. CSV, GeoJSON and GeoTIFF files are included separately.</a:t>
            </a:r>
          </a:p>
        </p:txBody>
      </p:sp>
    </p:spTree>
    <p:extLst>
      <p:ext uri="{BB962C8B-B14F-4D97-AF65-F5344CB8AC3E}">
        <p14:creationId xmlns:p14="http://schemas.microsoft.com/office/powerpoint/2010/main" val="38373853"/>
      </p:ext>
    </p:extLst>
  </p:cSld>
</p:sld>
</file>

<file path=ppt/slides/slide6.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A2B3C425-560E-47BB-9D2A-550DD6C8F7A5}"/>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stStyle>
          <a:p xmlns:a="http://schemas.openxmlformats.org/drawingml/2006/main">
            <a:pPr algn="l">
              <a:defRPr sz="1050" b="1">
                <a:solidFill>
                  <a:srgbClr val="1AA58F"/>
                </a:solidFill>
                <a:latin typeface="Arial"/>
                <a:ea typeface="Arial"/>
                <a:cs typeface="Arial"/>
              </a:defRPr>
            </a:pPr>
            <a:r>
              <a:rPr sz="1050" b="1">
                <a:solidFill>
                  <a:srgbClr val="1AA58F"/>
                </a:solidFill>
                <a:latin typeface="Arial"/>
                <a:ea typeface="Arial"/>
                <a:cs typeface="Arial"/>
              </a:rPr>
              <a:t>VALIDATION</a:t>
            </a:r>
          </a:p>
        </p:txBody>
      </p:sp>
      <p:sp>
        <p:nvSpPr>
          <p:cNvPr id="2" name="">
            <a:extLst xmlns:a="http://schemas.openxmlformats.org/drawingml/2006/main">
              <a:ext uri="{FF2B5EF4-FFF2-40B4-BE49-F238E27FC236}">
                <a16:creationId xmlns:a16="http://schemas.microsoft.com/office/drawing/2014/main" id="{8623D9C6-F304-464E-A291-241ACA46BB2A}"/>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stStyle>
          <a:p xmlns:a="http://schemas.openxmlformats.org/drawingml/2006/main">
            <a:pPr algn="l">
              <a:defRPr sz="2700" b="1">
                <a:solidFill>
                  <a:srgbClr val="F3F6F2"/>
                </a:solidFill>
                <a:latin typeface="Arial"/>
                <a:ea typeface="Arial"/>
                <a:cs typeface="Arial"/>
              </a:defRPr>
            </a:pPr>
            <a:r>
              <a:rPr sz="2700" b="1">
                <a:solidFill>
                  <a:srgbClr val="F3F6F2"/>
                </a:solidFill>
                <a:latin typeface="Arial"/>
                <a:ea typeface="Arial"/>
                <a:cs typeface="Arial"/>
              </a:rPr>
              <a:t>Validation results and main limitations</a:t>
            </a:r>
          </a:p>
        </p:txBody>
      </p:sp>
      <p:sp>
        <p:nvSpPr>
          <p:cNvPr id="3" name="">
            <a:extLst xmlns:a="http://schemas.openxmlformats.org/drawingml/2006/main">
              <a:ext uri="{FF2B5EF4-FFF2-40B4-BE49-F238E27FC236}">
                <a16:creationId xmlns:a16="http://schemas.microsoft.com/office/drawing/2014/main" id="{D58F2BB7-F1EB-4FB5-8947-8D7B7A255717}"/>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stStyle>
          <a:p xmlns:a="http://schemas.openxmlformats.org/drawingml/2006/main">
            <a:pPr algn="r">
              <a:defRPr sz="1050" b="1">
                <a:solidFill>
                  <a:srgbClr val="AFC4C6"/>
                </a:solidFill>
                <a:latin typeface="Arial"/>
                <a:ea typeface="Arial"/>
                <a:cs typeface="Arial"/>
              </a:defRPr>
            </a:pPr>
            <a:r>
              <a:rPr sz="1050" b="1">
                <a:solidFill>
                  <a:srgbClr val="AFC4C6"/>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9EB751AE-497E-4024-86AC-ABB7347F9B23}"/>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5" name="">
            <a:extLst xmlns:a="http://schemas.openxmlformats.org/drawingml/2006/main">
              <a:ext uri="{FF2B5EF4-FFF2-40B4-BE49-F238E27FC236}">
                <a16:creationId xmlns:a16="http://schemas.microsoft.com/office/drawing/2014/main" id="{49CF611C-9C54-4567-92B0-D4C2DD3F1C1F}"/>
              </a:ext>
            </a:extLst>
          </p:cNvPr>
          <p:cNvSpPr>
            <a:spLocks xmlns:a="http://schemas.openxmlformats.org/drawingml/2006/main" noGrp="1"/>
          </p:cNvSpPr>
          <p:nvPr/>
        </p:nvSpPr>
        <p:spPr>
          <a:xfrm xmlns:a="http://schemas.openxmlformats.org/drawingml/2006/main">
            <a:off x="590550" y="1504950"/>
            <a:ext cx="17907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6" name="">
            <a:extLst xmlns:a="http://schemas.openxmlformats.org/drawingml/2006/main">
              <a:ext uri="{FF2B5EF4-FFF2-40B4-BE49-F238E27FC236}">
                <a16:creationId xmlns:a16="http://schemas.microsoft.com/office/drawing/2014/main" id="{CFB3865C-7177-4A76-A20E-804637C62487}"/>
              </a:ext>
            </a:extLst>
          </p:cNvPr>
          <p:cNvSpPr>
            <a:spLocks xmlns:a="http://schemas.openxmlformats.org/drawingml/2006/main" noGrp="1"/>
          </p:cNvSpPr>
          <p:nvPr/>
        </p:nvSpPr>
        <p:spPr>
          <a:xfrm xmlns:a="http://schemas.openxmlformats.org/drawingml/2006/main">
            <a:off x="762000" y="1619250"/>
            <a:ext cx="1447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1AA58F"/>
                </a:solidFill>
                <a:latin typeface="Arial"/>
                <a:ea typeface="Arial"/>
                <a:cs typeface="Arial"/>
              </a:defRPr>
            </a:defPPr>
          </a:lstStyle>
          <a:p xmlns:a="http://schemas.openxmlformats.org/drawingml/2006/main">
            <a:pPr algn="l">
              <a:defRPr sz="2550" b="1">
                <a:solidFill>
                  <a:srgbClr val="1AA58F"/>
                </a:solidFill>
                <a:latin typeface="Arial"/>
                <a:ea typeface="Arial"/>
                <a:cs typeface="Arial"/>
              </a:defRPr>
            </a:pPr>
            <a:r>
              <a:rPr sz="2550" b="1">
                <a:solidFill>
                  <a:srgbClr val="1AA58F"/>
                </a:solidFill>
                <a:latin typeface="Arial"/>
                <a:ea typeface="Arial"/>
                <a:cs typeface="Arial"/>
              </a:rPr>
              <a:t>0.88</a:t>
            </a:r>
          </a:p>
        </p:txBody>
      </p:sp>
      <p:sp>
        <p:nvSpPr>
          <p:cNvPr id="7" name="">
            <a:extLst xmlns:a="http://schemas.openxmlformats.org/drawingml/2006/main">
              <a:ext uri="{FF2B5EF4-FFF2-40B4-BE49-F238E27FC236}">
                <a16:creationId xmlns:a16="http://schemas.microsoft.com/office/drawing/2014/main" id="{26AA3897-063C-471A-82C6-FD6A9121C486}"/>
              </a:ext>
            </a:extLst>
          </p:cNvPr>
          <p:cNvSpPr>
            <a:spLocks xmlns:a="http://schemas.openxmlformats.org/drawingml/2006/main" noGrp="1"/>
          </p:cNvSpPr>
          <p:nvPr/>
        </p:nvSpPr>
        <p:spPr>
          <a:xfrm xmlns:a="http://schemas.openxmlformats.org/drawingml/2006/main">
            <a:off x="762000" y="2133600"/>
            <a:ext cx="1447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stStyle>
          <a:p xmlns:a="http://schemas.openxmlformats.org/drawingml/2006/main">
            <a:pPr algn="l">
              <a:defRPr sz="1050" b="1">
                <a:solidFill>
                  <a:srgbClr val="AFC4C6"/>
                </a:solidFill>
                <a:latin typeface="Arial"/>
                <a:ea typeface="Arial"/>
                <a:cs typeface="Arial"/>
              </a:defRPr>
            </a:pPr>
            <a:r>
              <a:rPr sz="1050" b="1">
                <a:solidFill>
                  <a:srgbClr val="AFC4C6"/>
                </a:solidFill>
                <a:latin typeface="Arial"/>
                <a:ea typeface="Arial"/>
                <a:cs typeface="Arial"/>
              </a:rPr>
              <a:t>F1 AGREEMENT</a:t>
            </a:r>
          </a:p>
        </p:txBody>
      </p:sp>
      <p:sp>
        <p:nvSpPr>
          <p:cNvPr id="8" name="">
            <a:extLst xmlns:a="http://schemas.openxmlformats.org/drawingml/2006/main">
              <a:ext uri="{FF2B5EF4-FFF2-40B4-BE49-F238E27FC236}">
                <a16:creationId xmlns:a16="http://schemas.microsoft.com/office/drawing/2014/main" id="{FE85A3AC-8514-4AEA-9F12-909162A2BF76}"/>
              </a:ext>
            </a:extLst>
          </p:cNvPr>
          <p:cNvSpPr>
            <a:spLocks xmlns:a="http://schemas.openxmlformats.org/drawingml/2006/main" noGrp="1"/>
          </p:cNvSpPr>
          <p:nvPr/>
        </p:nvSpPr>
        <p:spPr>
          <a:xfrm xmlns:a="http://schemas.openxmlformats.org/drawingml/2006/main">
            <a:off x="2514600" y="1504950"/>
            <a:ext cx="20955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9" name="">
            <a:extLst xmlns:a="http://schemas.openxmlformats.org/drawingml/2006/main">
              <a:ext uri="{FF2B5EF4-FFF2-40B4-BE49-F238E27FC236}">
                <a16:creationId xmlns:a16="http://schemas.microsoft.com/office/drawing/2014/main" id="{23919975-F91C-4B8C-A55F-84D40F9A51E9}"/>
              </a:ext>
            </a:extLst>
          </p:cNvPr>
          <p:cNvSpPr>
            <a:spLocks xmlns:a="http://schemas.openxmlformats.org/drawingml/2006/main" noGrp="1"/>
          </p:cNvSpPr>
          <p:nvPr/>
        </p:nvSpPr>
        <p:spPr>
          <a:xfrm xmlns:a="http://schemas.openxmlformats.org/drawingml/2006/main">
            <a:off x="2686050" y="1619250"/>
            <a:ext cx="1752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6D5DD3"/>
                </a:solidFill>
                <a:latin typeface="Arial"/>
                <a:ea typeface="Arial"/>
                <a:cs typeface="Arial"/>
              </a:defRPr>
            </a:defPPr>
          </a:lstStyle>
          <a:p xmlns:a="http://schemas.openxmlformats.org/drawingml/2006/main">
            <a:pPr algn="l">
              <a:defRPr sz="2550" b="1">
                <a:solidFill>
                  <a:srgbClr val="6D5DD3"/>
                </a:solidFill>
                <a:latin typeface="Arial"/>
                <a:ea typeface="Arial"/>
                <a:cs typeface="Arial"/>
              </a:defRPr>
            </a:pPr>
            <a:r>
              <a:rPr sz="2550" b="1">
                <a:solidFill>
                  <a:srgbClr val="6D5DD3"/>
                </a:solidFill>
                <a:latin typeface="Arial"/>
                <a:ea typeface="Arial"/>
                <a:cs typeface="Arial"/>
              </a:rPr>
              <a:t>0.78</a:t>
            </a:r>
          </a:p>
        </p:txBody>
      </p:sp>
      <p:sp>
        <p:nvSpPr>
          <p:cNvPr id="10" name="">
            <a:extLst xmlns:a="http://schemas.openxmlformats.org/drawingml/2006/main">
              <a:ext uri="{FF2B5EF4-FFF2-40B4-BE49-F238E27FC236}">
                <a16:creationId xmlns:a16="http://schemas.microsoft.com/office/drawing/2014/main" id="{86C8E735-AE35-4DAE-B182-FCC7D4460E13}"/>
              </a:ext>
            </a:extLst>
          </p:cNvPr>
          <p:cNvSpPr>
            <a:spLocks xmlns:a="http://schemas.openxmlformats.org/drawingml/2006/main" noGrp="1"/>
          </p:cNvSpPr>
          <p:nvPr/>
        </p:nvSpPr>
        <p:spPr>
          <a:xfrm xmlns:a="http://schemas.openxmlformats.org/drawingml/2006/main">
            <a:off x="2686050" y="2133600"/>
            <a:ext cx="1752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stStyle>
          <a:p xmlns:a="http://schemas.openxmlformats.org/drawingml/2006/main">
            <a:pPr algn="l">
              <a:defRPr sz="1050" b="1">
                <a:solidFill>
                  <a:srgbClr val="AFC4C6"/>
                </a:solidFill>
                <a:latin typeface="Arial"/>
                <a:ea typeface="Arial"/>
                <a:cs typeface="Arial"/>
              </a:defRPr>
            </a:pPr>
            <a:r>
              <a:rPr sz="1050" b="1">
                <a:solidFill>
                  <a:srgbClr val="AFC4C6"/>
                </a:solidFill>
                <a:latin typeface="Arial"/>
                <a:ea typeface="Arial"/>
                <a:cs typeface="Arial"/>
              </a:rPr>
              <a:t>INTERSECTION OVER UNION</a:t>
            </a:r>
          </a:p>
        </p:txBody>
      </p:sp>
      <p:sp>
        <p:nvSpPr>
          <p:cNvPr id="11" name="">
            <a:extLst xmlns:a="http://schemas.openxmlformats.org/drawingml/2006/main">
              <a:ext uri="{FF2B5EF4-FFF2-40B4-BE49-F238E27FC236}">
                <a16:creationId xmlns:a16="http://schemas.microsoft.com/office/drawing/2014/main" id="{86842C9A-93CA-4605-88AA-A850DF7D17D2}"/>
              </a:ext>
            </a:extLst>
          </p:cNvPr>
          <p:cNvSpPr>
            <a:spLocks xmlns:a="http://schemas.openxmlformats.org/drawingml/2006/main" noGrp="1"/>
          </p:cNvSpPr>
          <p:nvPr/>
        </p:nvSpPr>
        <p:spPr>
          <a:xfrm xmlns:a="http://schemas.openxmlformats.org/drawingml/2006/main">
            <a:off x="4743450" y="1504950"/>
            <a:ext cx="20955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12" name="">
            <a:extLst xmlns:a="http://schemas.openxmlformats.org/drawingml/2006/main">
              <a:ext uri="{FF2B5EF4-FFF2-40B4-BE49-F238E27FC236}">
                <a16:creationId xmlns:a16="http://schemas.microsoft.com/office/drawing/2014/main" id="{ADBFE458-24AE-44FC-9818-D071ED5A987F}"/>
              </a:ext>
            </a:extLst>
          </p:cNvPr>
          <p:cNvSpPr>
            <a:spLocks xmlns:a="http://schemas.openxmlformats.org/drawingml/2006/main" noGrp="1"/>
          </p:cNvSpPr>
          <p:nvPr/>
        </p:nvSpPr>
        <p:spPr>
          <a:xfrm xmlns:a="http://schemas.openxmlformats.org/drawingml/2006/main">
            <a:off x="4914900" y="1619250"/>
            <a:ext cx="1752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E2AD2B"/>
                </a:solidFill>
                <a:latin typeface="Arial"/>
                <a:ea typeface="Arial"/>
                <a:cs typeface="Arial"/>
              </a:defRPr>
            </a:defPPr>
          </a:lstStyle>
          <a:p xmlns:a="http://schemas.openxmlformats.org/drawingml/2006/main">
            <a:pPr algn="l">
              <a:defRPr sz="2550" b="1">
                <a:solidFill>
                  <a:srgbClr val="E2AD2B"/>
                </a:solidFill>
                <a:latin typeface="Arial"/>
                <a:ea typeface="Arial"/>
                <a:cs typeface="Arial"/>
              </a:defRPr>
            </a:pPr>
            <a:r>
              <a:rPr sz="2550" b="1">
                <a:solidFill>
                  <a:srgbClr val="E2AD2B"/>
                </a:solidFill>
                <a:latin typeface="Arial"/>
                <a:ea typeface="Arial"/>
                <a:cs typeface="Arial"/>
              </a:rPr>
              <a:t>0.89</a:t>
            </a:r>
          </a:p>
        </p:txBody>
      </p:sp>
      <p:sp>
        <p:nvSpPr>
          <p:cNvPr id="13" name="">
            <a:extLst xmlns:a="http://schemas.openxmlformats.org/drawingml/2006/main">
              <a:ext uri="{FF2B5EF4-FFF2-40B4-BE49-F238E27FC236}">
                <a16:creationId xmlns:a16="http://schemas.microsoft.com/office/drawing/2014/main" id="{9890973F-6BD2-4F5F-A14F-5409DB410928}"/>
              </a:ext>
            </a:extLst>
          </p:cNvPr>
          <p:cNvSpPr>
            <a:spLocks xmlns:a="http://schemas.openxmlformats.org/drawingml/2006/main" noGrp="1"/>
          </p:cNvSpPr>
          <p:nvPr/>
        </p:nvSpPr>
        <p:spPr>
          <a:xfrm xmlns:a="http://schemas.openxmlformats.org/drawingml/2006/main">
            <a:off x="4914900" y="2133600"/>
            <a:ext cx="1752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stStyle>
          <a:p xmlns:a="http://schemas.openxmlformats.org/drawingml/2006/main">
            <a:pPr algn="l">
              <a:defRPr sz="1050" b="1">
                <a:solidFill>
                  <a:srgbClr val="AFC4C6"/>
                </a:solidFill>
                <a:latin typeface="Arial"/>
                <a:ea typeface="Arial"/>
                <a:cs typeface="Arial"/>
              </a:defRPr>
            </a:pPr>
            <a:r>
              <a:rPr sz="1050" b="1">
                <a:solidFill>
                  <a:srgbClr val="AFC4C6"/>
                </a:solidFill>
                <a:latin typeface="Arial"/>
                <a:ea typeface="Arial"/>
                <a:cs typeface="Arial"/>
              </a:rPr>
              <a:t>BALANCED ACCURACY</a:t>
            </a:r>
          </a:p>
        </p:txBody>
      </p:sp>
      <p:sp>
        <p:nvSpPr>
          <p:cNvPr id="14" name="">
            <a:extLst xmlns:a="http://schemas.openxmlformats.org/drawingml/2006/main">
              <a:ext uri="{FF2B5EF4-FFF2-40B4-BE49-F238E27FC236}">
                <a16:creationId xmlns:a16="http://schemas.microsoft.com/office/drawing/2014/main" id="{CD84D621-1EB8-4C91-A555-22E82C2728B1}"/>
              </a:ext>
            </a:extLst>
          </p:cNvPr>
          <p:cNvSpPr>
            <a:spLocks xmlns:a="http://schemas.openxmlformats.org/drawingml/2006/main" noGrp="1"/>
          </p:cNvSpPr>
          <p:nvPr/>
        </p:nvSpPr>
        <p:spPr>
          <a:xfrm xmlns:a="http://schemas.openxmlformats.org/drawingml/2006/main">
            <a:off x="7029450" y="1504950"/>
            <a:ext cx="45720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F06449"/>
            </a:solidFill>
            <a:prstDash val="solid"/>
          </a:ln>
        </p:spPr>
      </p:sp>
      <p:sp>
        <p:nvSpPr>
          <p:cNvPr id="15" name="">
            <a:extLst xmlns:a="http://schemas.openxmlformats.org/drawingml/2006/main">
              <a:ext uri="{FF2B5EF4-FFF2-40B4-BE49-F238E27FC236}">
                <a16:creationId xmlns:a16="http://schemas.microsoft.com/office/drawing/2014/main" id="{EAB6949D-0C95-4C99-A944-1706BDD183E2}"/>
              </a:ext>
            </a:extLst>
          </p:cNvPr>
          <p:cNvSpPr>
            <a:spLocks xmlns:a="http://schemas.openxmlformats.org/drawingml/2006/main" noGrp="1"/>
          </p:cNvSpPr>
          <p:nvPr/>
        </p:nvSpPr>
        <p:spPr>
          <a:xfrm xmlns:a="http://schemas.openxmlformats.org/drawingml/2006/main">
            <a:off x="7239000" y="1685925"/>
            <a:ext cx="4152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425" b="1">
                <a:solidFill>
                  <a:srgbClr val="F3F6F2"/>
                </a:solidFill>
                <a:latin typeface="Arial"/>
                <a:ea typeface="Arial"/>
                <a:cs typeface="Arial"/>
              </a:defRPr>
            </a:defPPr>
          </a:lstStyle>
          <a:p xmlns:a="http://schemas.openxmlformats.org/drawingml/2006/main">
            <a:pPr algn="l">
              <a:defRPr sz="1425" b="1">
                <a:solidFill>
                  <a:srgbClr val="F3F6F2"/>
                </a:solidFill>
                <a:latin typeface="Arial"/>
                <a:ea typeface="Arial"/>
                <a:cs typeface="Arial"/>
              </a:defRPr>
            </a:pPr>
            <a:r>
              <a:rPr sz="1425" b="1">
                <a:solidFill>
                  <a:srgbClr val="F3F6F2"/>
                </a:solidFill>
                <a:latin typeface="Arial"/>
                <a:ea typeface="Arial"/>
                <a:cs typeface="Arial"/>
              </a:rPr>
              <a:t>These compare the model with a spatially separate WorldCover reference. They are not field accuracy.</a:t>
            </a:r>
          </a:p>
        </p:txBody>
      </p:sp>
      <p:pic>
        <p:nvPicPr>
          <p:cNvPr id="16" name="">
            <a:extLst xmlns:a="http://schemas.openxmlformats.org/drawingml/2006/main">
              <a:ext uri="{FF2B5EF4-FFF2-40B4-BE49-F238E27FC236}">
                <a16:creationId xmlns:a16="http://schemas.microsoft.com/office/drawing/2014/main" id="{4F5CA36C-5E9B-4C3A-94E4-735A217EB28A}"/>
              </a:ext>
            </a:extLst>
          </p:cNvPr>
          <p:cNvPicPr>
            <a:picLocks xmlns:a="http://schemas.openxmlformats.org/drawingml/2006/main" noChangeAspect="1"/>
          </p:cNvPicPr>
          <p:nvPr/>
        </p:nvPicPr>
        <p:blipFill>
          <a:blip xmlns:r="http://schemas.openxmlformats.org/officeDocument/2006/relationships" xmlns:a="http://schemas.openxmlformats.org/drawingml/2006/main" r:embed="Ra2fc31181a8b472a"/>
          <a:stretch xmlns:a="http://schemas.openxmlformats.org/drawingml/2006/main"/>
        </p:blipFill>
        <p:spPr>
          <a:xfrm xmlns:a="http://schemas.openxmlformats.org/drawingml/2006/main">
            <a:off x="590550" y="2913104"/>
            <a:ext cx="7010400" cy="2974893"/>
          </a:xfrm>
          <a:prstGeom xmlns:a="http://schemas.openxmlformats.org/drawingml/2006/main" prst="roundRect">
            <a:avLst>
              <a:gd name="adj" fmla="val 2941"/>
            </a:avLst>
          </a:prstGeom>
        </p:spPr>
      </p:pic>
      <p:sp>
        <p:nvSpPr>
          <p:cNvPr id="17" name="">
            <a:extLst xmlns:a="http://schemas.openxmlformats.org/drawingml/2006/main">
              <a:ext uri="{FF2B5EF4-FFF2-40B4-BE49-F238E27FC236}">
                <a16:creationId xmlns:a16="http://schemas.microsoft.com/office/drawing/2014/main" id="{9F0A3869-EBE1-4A84-9750-A7FCDAF18867}"/>
              </a:ext>
            </a:extLst>
          </p:cNvPr>
          <p:cNvSpPr>
            <a:spLocks xmlns:a="http://schemas.openxmlformats.org/drawingml/2006/main" noGrp="1"/>
          </p:cNvSpPr>
          <p:nvPr/>
        </p:nvSpPr>
        <p:spPr>
          <a:xfrm xmlns:a="http://schemas.openxmlformats.org/drawingml/2006/main">
            <a:off x="7886700" y="2781300"/>
            <a:ext cx="3714750" cy="3238500"/>
          </a:xfrm>
          <a:prstGeom xmlns:a="http://schemas.openxmlformats.org/drawingml/2006/main" prst="roundRect">
            <a:avLst>
              <a:gd name="adj" fmla="val 4118"/>
            </a:avLst>
          </a:prstGeom>
          <a:solidFill xmlns:a="http://schemas.openxmlformats.org/drawingml/2006/main">
            <a:srgbClr val="113646"/>
          </a:solidFill>
          <a:ln xmlns:a="http://schemas.openxmlformats.org/drawingml/2006/main" w="9525">
            <a:solidFill>
              <a:srgbClr val="31505F"/>
            </a:solidFill>
            <a:prstDash val="solid"/>
          </a:ln>
        </p:spPr>
      </p:sp>
      <p:sp>
        <p:nvSpPr>
          <p:cNvPr id="18" name="">
            <a:extLst xmlns:a="http://schemas.openxmlformats.org/drawingml/2006/main">
              <a:ext uri="{FF2B5EF4-FFF2-40B4-BE49-F238E27FC236}">
                <a16:creationId xmlns:a16="http://schemas.microsoft.com/office/drawing/2014/main" id="{46326ADF-19B5-41A3-B235-2110CBE260B9}"/>
              </a:ext>
            </a:extLst>
          </p:cNvPr>
          <p:cNvSpPr>
            <a:spLocks xmlns:a="http://schemas.openxmlformats.org/drawingml/2006/main" noGrp="1"/>
          </p:cNvSpPr>
          <p:nvPr/>
        </p:nvSpPr>
        <p:spPr>
          <a:xfrm xmlns:a="http://schemas.openxmlformats.org/drawingml/2006/main">
            <a:off x="8115300" y="3009900"/>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F06449"/>
                </a:solidFill>
                <a:latin typeface="Arial"/>
                <a:ea typeface="Arial"/>
                <a:cs typeface="Arial"/>
              </a:defRPr>
            </a:defPPr>
          </a:lstStyle>
          <a:p xmlns:a="http://schemas.openxmlformats.org/drawingml/2006/main">
            <a:pPr algn="l">
              <a:defRPr sz="975" b="1">
                <a:solidFill>
                  <a:srgbClr val="F06449"/>
                </a:solidFill>
                <a:latin typeface="Arial"/>
                <a:ea typeface="Arial"/>
                <a:cs typeface="Arial"/>
              </a:defRPr>
            </a:pPr>
            <a:r>
              <a:rPr sz="975" b="1">
                <a:solidFill>
                  <a:srgbClr val="F06449"/>
                </a:solidFill>
                <a:latin typeface="Arial"/>
                <a:ea typeface="Arial"/>
                <a:cs typeface="Arial"/>
              </a:rPr>
              <a:t>MAIN LIMITATIONS</a:t>
            </a:r>
          </a:p>
        </p:txBody>
      </p:sp>
      <p:sp>
        <p:nvSpPr>
          <p:cNvPr id="19" name="">
            <a:extLst xmlns:a="http://schemas.openxmlformats.org/drawingml/2006/main">
              <a:ext uri="{FF2B5EF4-FFF2-40B4-BE49-F238E27FC236}">
                <a16:creationId xmlns:a16="http://schemas.microsoft.com/office/drawing/2014/main" id="{BC3A6972-A046-4E78-AC0F-43CFCA2F3464}"/>
              </a:ext>
            </a:extLst>
          </p:cNvPr>
          <p:cNvSpPr>
            <a:spLocks xmlns:a="http://schemas.openxmlformats.org/drawingml/2006/main" noGrp="1"/>
          </p:cNvSpPr>
          <p:nvPr/>
        </p:nvSpPr>
        <p:spPr>
          <a:xfrm xmlns:a="http://schemas.openxmlformats.org/drawingml/2006/main">
            <a:off x="8115300" y="3390900"/>
            <a:ext cx="2095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1">
                <a:solidFill>
                  <a:srgbClr val="1AA58F"/>
                </a:solidFill>
                <a:latin typeface="Arial"/>
                <a:ea typeface="Arial"/>
                <a:cs typeface="Arial"/>
              </a:defRPr>
            </a:defPPr>
          </a:lstStyle>
          <a:p xmlns:a="http://schemas.openxmlformats.org/drawingml/2006/main">
            <a:pPr algn="l">
              <a:defRPr sz="1500" b="1">
                <a:solidFill>
                  <a:srgbClr val="1AA58F"/>
                </a:solidFill>
                <a:latin typeface="Arial"/>
                <a:ea typeface="Arial"/>
                <a:cs typeface="Arial"/>
              </a:defRPr>
            </a:pPr>
            <a:r>
              <a:rPr sz="1500" b="1">
                <a:solidFill>
                  <a:srgbClr val="1AA58F"/>
                </a:solidFill>
                <a:latin typeface="Arial"/>
                <a:ea typeface="Arial"/>
                <a:cs typeface="Arial"/>
              </a:rPr>
              <a:t>•</a:t>
            </a:r>
          </a:p>
        </p:txBody>
      </p:sp>
      <p:sp>
        <p:nvSpPr>
          <p:cNvPr id="20" name="">
            <a:extLst xmlns:a="http://schemas.openxmlformats.org/drawingml/2006/main">
              <a:ext uri="{FF2B5EF4-FFF2-40B4-BE49-F238E27FC236}">
                <a16:creationId xmlns:a16="http://schemas.microsoft.com/office/drawing/2014/main" id="{DCD338AB-B6F1-47B8-ACA8-01F0E2FC9D7D}"/>
              </a:ext>
            </a:extLst>
          </p:cNvPr>
          <p:cNvSpPr>
            <a:spLocks xmlns:a="http://schemas.openxmlformats.org/drawingml/2006/main" noGrp="1"/>
          </p:cNvSpPr>
          <p:nvPr/>
        </p:nvSpPr>
        <p:spPr>
          <a:xfrm xmlns:a="http://schemas.openxmlformats.org/drawingml/2006/main">
            <a:off x="8362950" y="3390900"/>
            <a:ext cx="2895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stStyle>
          <a:p xmlns:a="http://schemas.openxmlformats.org/drawingml/2006/main">
            <a:pPr algn="l">
              <a:defRPr sz="1200">
                <a:solidFill>
                  <a:srgbClr val="F3F6F2"/>
                </a:solidFill>
                <a:latin typeface="Arial"/>
                <a:ea typeface="Arial"/>
                <a:cs typeface="Arial"/>
              </a:defRPr>
            </a:pPr>
            <a:r>
              <a:rPr sz="1200">
                <a:solidFill>
                  <a:srgbClr val="F3F6F2"/>
                </a:solidFill>
                <a:latin typeface="Arial"/>
                <a:ea typeface="Arial"/>
                <a:cs typeface="Arial"/>
              </a:rPr>
              <a:t>Land-surface temperature is not air temperature or personal heat exposure.</a:t>
            </a:r>
          </a:p>
        </p:txBody>
      </p:sp>
      <p:sp>
        <p:nvSpPr>
          <p:cNvPr id="21" name="">
            <a:extLst xmlns:a="http://schemas.openxmlformats.org/drawingml/2006/main">
              <a:ext uri="{FF2B5EF4-FFF2-40B4-BE49-F238E27FC236}">
                <a16:creationId xmlns:a16="http://schemas.microsoft.com/office/drawing/2014/main" id="{FB3EF725-C58E-4A22-839F-D2538DE5B0DD}"/>
              </a:ext>
            </a:extLst>
          </p:cNvPr>
          <p:cNvSpPr>
            <a:spLocks xmlns:a="http://schemas.openxmlformats.org/drawingml/2006/main" noGrp="1"/>
          </p:cNvSpPr>
          <p:nvPr/>
        </p:nvSpPr>
        <p:spPr>
          <a:xfrm xmlns:a="http://schemas.openxmlformats.org/drawingml/2006/main">
            <a:off x="8115300" y="4095750"/>
            <a:ext cx="2095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1">
                <a:solidFill>
                  <a:srgbClr val="1AA58F"/>
                </a:solidFill>
                <a:latin typeface="Arial"/>
                <a:ea typeface="Arial"/>
                <a:cs typeface="Arial"/>
              </a:defRPr>
            </a:defPPr>
          </a:lstStyle>
          <a:p xmlns:a="http://schemas.openxmlformats.org/drawingml/2006/main">
            <a:pPr algn="l">
              <a:defRPr sz="1500" b="1">
                <a:solidFill>
                  <a:srgbClr val="1AA58F"/>
                </a:solidFill>
                <a:latin typeface="Arial"/>
                <a:ea typeface="Arial"/>
                <a:cs typeface="Arial"/>
              </a:defRPr>
            </a:pPr>
            <a:r>
              <a:rPr sz="1500" b="1">
                <a:solidFill>
                  <a:srgbClr val="1AA58F"/>
                </a:solidFill>
                <a:latin typeface="Arial"/>
                <a:ea typeface="Arial"/>
                <a:cs typeface="Arial"/>
              </a:rPr>
              <a:t>•</a:t>
            </a:r>
          </a:p>
        </p:txBody>
      </p:sp>
      <p:sp>
        <p:nvSpPr>
          <p:cNvPr id="22" name="">
            <a:extLst xmlns:a="http://schemas.openxmlformats.org/drawingml/2006/main">
              <a:ext uri="{FF2B5EF4-FFF2-40B4-BE49-F238E27FC236}">
                <a16:creationId xmlns:a16="http://schemas.microsoft.com/office/drawing/2014/main" id="{C3B3A737-02AB-4DBF-B23A-13C4D8BF258B}"/>
              </a:ext>
            </a:extLst>
          </p:cNvPr>
          <p:cNvSpPr>
            <a:spLocks xmlns:a="http://schemas.openxmlformats.org/drawingml/2006/main" noGrp="1"/>
          </p:cNvSpPr>
          <p:nvPr/>
        </p:nvSpPr>
        <p:spPr>
          <a:xfrm xmlns:a="http://schemas.openxmlformats.org/drawingml/2006/main">
            <a:off x="8362950" y="4095750"/>
            <a:ext cx="28956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stStyle>
          <a:p xmlns:a="http://schemas.openxmlformats.org/drawingml/2006/main">
            <a:pPr algn="l">
              <a:defRPr sz="1200">
                <a:solidFill>
                  <a:srgbClr val="F3F6F2"/>
                </a:solidFill>
                <a:latin typeface="Arial"/>
                <a:ea typeface="Arial"/>
                <a:cs typeface="Arial"/>
              </a:defRPr>
            </a:pPr>
            <a:r>
              <a:rPr sz="1200">
                <a:solidFill>
                  <a:srgbClr val="F3F6F2"/>
                </a:solidFill>
                <a:latin typeface="Arial"/>
                <a:ea typeface="Arial"/>
                <a:cs typeface="Arial"/>
              </a:rPr>
              <a:t>WorldPop is modelled; it is not a live census or worker count.</a:t>
            </a:r>
          </a:p>
        </p:txBody>
      </p:sp>
      <p:sp>
        <p:nvSpPr>
          <p:cNvPr id="23" name="">
            <a:extLst xmlns:a="http://schemas.openxmlformats.org/drawingml/2006/main">
              <a:ext uri="{FF2B5EF4-FFF2-40B4-BE49-F238E27FC236}">
                <a16:creationId xmlns:a16="http://schemas.microsoft.com/office/drawing/2014/main" id="{589FA60E-AE59-42CD-AE22-249B7D5B1CBE}"/>
              </a:ext>
            </a:extLst>
          </p:cNvPr>
          <p:cNvSpPr>
            <a:spLocks xmlns:a="http://schemas.openxmlformats.org/drawingml/2006/main" noGrp="1"/>
          </p:cNvSpPr>
          <p:nvPr/>
        </p:nvSpPr>
        <p:spPr>
          <a:xfrm xmlns:a="http://schemas.openxmlformats.org/drawingml/2006/main">
            <a:off x="8115300" y="4705350"/>
            <a:ext cx="2095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1">
                <a:solidFill>
                  <a:srgbClr val="1AA58F"/>
                </a:solidFill>
                <a:latin typeface="Arial"/>
                <a:ea typeface="Arial"/>
                <a:cs typeface="Arial"/>
              </a:defRPr>
            </a:defPPr>
          </a:lstStyle>
          <a:p xmlns:a="http://schemas.openxmlformats.org/drawingml/2006/main">
            <a:pPr algn="l">
              <a:defRPr sz="1500" b="1">
                <a:solidFill>
                  <a:srgbClr val="1AA58F"/>
                </a:solidFill>
                <a:latin typeface="Arial"/>
                <a:ea typeface="Arial"/>
                <a:cs typeface="Arial"/>
              </a:defRPr>
            </a:pPr>
            <a:r>
              <a:rPr sz="1500" b="1">
                <a:solidFill>
                  <a:srgbClr val="1AA58F"/>
                </a:solidFill>
                <a:latin typeface="Arial"/>
                <a:ea typeface="Arial"/>
                <a:cs typeface="Arial"/>
              </a:rPr>
              <a:t>•</a:t>
            </a:r>
          </a:p>
        </p:txBody>
      </p:sp>
      <p:sp>
        <p:nvSpPr>
          <p:cNvPr id="24" name="">
            <a:extLst xmlns:a="http://schemas.openxmlformats.org/drawingml/2006/main">
              <a:ext uri="{FF2B5EF4-FFF2-40B4-BE49-F238E27FC236}">
                <a16:creationId xmlns:a16="http://schemas.microsoft.com/office/drawing/2014/main" id="{C995C4D7-FD63-4BE2-90C7-3A1D727BE59A}"/>
              </a:ext>
            </a:extLst>
          </p:cNvPr>
          <p:cNvSpPr>
            <a:spLocks xmlns:a="http://schemas.openxmlformats.org/drawingml/2006/main" noGrp="1"/>
          </p:cNvSpPr>
          <p:nvPr/>
        </p:nvSpPr>
        <p:spPr>
          <a:xfrm xmlns:a="http://schemas.openxmlformats.org/drawingml/2006/main">
            <a:off x="8362950" y="4705350"/>
            <a:ext cx="28956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stStyle>
          <a:p xmlns:a="http://schemas.openxmlformats.org/drawingml/2006/main">
            <a:pPr algn="l">
              <a:defRPr sz="1200">
                <a:solidFill>
                  <a:srgbClr val="F3F6F2"/>
                </a:solidFill>
                <a:latin typeface="Arial"/>
                <a:ea typeface="Arial"/>
                <a:cs typeface="Arial"/>
              </a:defRPr>
            </a:pPr>
            <a:r>
              <a:rPr sz="1200">
                <a:solidFill>
                  <a:srgbClr val="F3F6F2"/>
                </a:solidFill>
                <a:latin typeface="Arial"/>
                <a:ea typeface="Arial"/>
                <a:cs typeface="Arial"/>
              </a:rPr>
              <a:t>Bright desert and roofs can still confuse classification.</a:t>
            </a:r>
          </a:p>
        </p:txBody>
      </p:sp>
      <p:sp>
        <p:nvSpPr>
          <p:cNvPr id="25" name="">
            <a:extLst xmlns:a="http://schemas.openxmlformats.org/drawingml/2006/main">
              <a:ext uri="{FF2B5EF4-FFF2-40B4-BE49-F238E27FC236}">
                <a16:creationId xmlns:a16="http://schemas.microsoft.com/office/drawing/2014/main" id="{B108783E-6FBE-4F26-B762-08B5657063FE}"/>
              </a:ext>
            </a:extLst>
          </p:cNvPr>
          <p:cNvSpPr>
            <a:spLocks xmlns:a="http://schemas.openxmlformats.org/drawingml/2006/main" noGrp="1"/>
          </p:cNvSpPr>
          <p:nvPr/>
        </p:nvSpPr>
        <p:spPr>
          <a:xfrm xmlns:a="http://schemas.openxmlformats.org/drawingml/2006/main">
            <a:off x="8115300" y="5276850"/>
            <a:ext cx="209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1">
                <a:solidFill>
                  <a:srgbClr val="1AA58F"/>
                </a:solidFill>
                <a:latin typeface="Arial"/>
                <a:ea typeface="Arial"/>
                <a:cs typeface="Arial"/>
              </a:defRPr>
            </a:defPPr>
          </a:lstStyle>
          <a:p xmlns:a="http://schemas.openxmlformats.org/drawingml/2006/main">
            <a:pPr algn="l">
              <a:defRPr sz="1500" b="1">
                <a:solidFill>
                  <a:srgbClr val="1AA58F"/>
                </a:solidFill>
                <a:latin typeface="Arial"/>
                <a:ea typeface="Arial"/>
                <a:cs typeface="Arial"/>
              </a:defRPr>
            </a:pPr>
            <a:r>
              <a:rPr sz="1500" b="1">
                <a:solidFill>
                  <a:srgbClr val="1AA58F"/>
                </a:solidFill>
                <a:latin typeface="Arial"/>
                <a:ea typeface="Arial"/>
                <a:cs typeface="Arial"/>
              </a:rPr>
              <a:t>•</a:t>
            </a:r>
          </a:p>
        </p:txBody>
      </p:sp>
      <p:sp>
        <p:nvSpPr>
          <p:cNvPr id="26" name="">
            <a:extLst xmlns:a="http://schemas.openxmlformats.org/drawingml/2006/main">
              <a:ext uri="{FF2B5EF4-FFF2-40B4-BE49-F238E27FC236}">
                <a16:creationId xmlns:a16="http://schemas.microsoft.com/office/drawing/2014/main" id="{A679DEFA-AFEB-4879-8F6E-9913FACC2411}"/>
              </a:ext>
            </a:extLst>
          </p:cNvPr>
          <p:cNvSpPr>
            <a:spLocks xmlns:a="http://schemas.openxmlformats.org/drawingml/2006/main" noGrp="1"/>
          </p:cNvSpPr>
          <p:nvPr/>
        </p:nvSpPr>
        <p:spPr>
          <a:xfrm xmlns:a="http://schemas.openxmlformats.org/drawingml/2006/main">
            <a:off x="8362950" y="5276850"/>
            <a:ext cx="2895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stStyle>
          <a:p xmlns:a="http://schemas.openxmlformats.org/drawingml/2006/main">
            <a:pPr algn="l">
              <a:defRPr sz="1200">
                <a:solidFill>
                  <a:srgbClr val="F3F6F2"/>
                </a:solidFill>
                <a:latin typeface="Arial"/>
                <a:ea typeface="Arial"/>
                <a:cs typeface="Arial"/>
              </a:defRPr>
            </a:pPr>
            <a:r>
              <a:rPr sz="1200">
                <a:solidFill>
                  <a:srgbClr val="F3F6F2"/>
                </a:solidFill>
                <a:latin typeface="Arial"/>
                <a:ea typeface="Arial"/>
                <a:cs typeface="Arial"/>
              </a:rPr>
              <a:t>Score weights are PoC assumptions that a real user must review.</a:t>
            </a:r>
          </a:p>
        </p:txBody>
      </p:sp>
    </p:spTree>
    <p:extLst>
      <p:ext uri="{BB962C8B-B14F-4D97-AF65-F5344CB8AC3E}">
        <p14:creationId xmlns:p14="http://schemas.microsoft.com/office/powerpoint/2010/main" val="911625326"/>
      </p:ext>
    </p:extLst>
  </p:cSld>
</p:sld>
</file>

<file path=ppt/slides/slide7.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6916157F-19A2-436F-BD74-0D185A92A9BA}"/>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stStyle>
          <a:p xmlns:a="http://schemas.openxmlformats.org/drawingml/2006/main">
            <a:pPr algn="l">
              <a:defRPr sz="1050" b="1">
                <a:solidFill>
                  <a:srgbClr val="1AA58F"/>
                </a:solidFill>
                <a:latin typeface="Arial"/>
                <a:ea typeface="Arial"/>
                <a:cs typeface="Arial"/>
              </a:defRPr>
            </a:pPr>
            <a:r>
              <a:rPr sz="1050" b="1">
                <a:solidFill>
                  <a:srgbClr val="1AA58F"/>
                </a:solidFill>
                <a:latin typeface="Arial"/>
                <a:ea typeface="Arial"/>
                <a:cs typeface="Arial"/>
              </a:rPr>
              <a:t>APPROACH</a:t>
            </a:r>
          </a:p>
        </p:txBody>
      </p:sp>
      <p:sp>
        <p:nvSpPr>
          <p:cNvPr id="2" name="">
            <a:extLst xmlns:a="http://schemas.openxmlformats.org/drawingml/2006/main">
              <a:ext uri="{FF2B5EF4-FFF2-40B4-BE49-F238E27FC236}">
                <a16:creationId xmlns:a16="http://schemas.microsoft.com/office/drawing/2014/main" id="{6A69485C-3706-4638-BCBF-FDAB49552C14}"/>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stStyle>
          <a:p xmlns:a="http://schemas.openxmlformats.org/drawingml/2006/main">
            <a:pPr algn="l">
              <a:defRPr sz="2700" b="1">
                <a:solidFill>
                  <a:srgbClr val="F3F6F2"/>
                </a:solidFill>
                <a:latin typeface="Arial"/>
                <a:ea typeface="Arial"/>
                <a:cs typeface="Arial"/>
              </a:defRPr>
            </a:pPr>
            <a:r>
              <a:rPr sz="2700" b="1">
                <a:solidFill>
                  <a:srgbClr val="F3F6F2"/>
                </a:solidFill>
                <a:latin typeface="Arial"/>
                <a:ea typeface="Arial"/>
                <a:cs typeface="Arial"/>
              </a:rPr>
              <a:t>How HeatReady differs from a single-index map</a:t>
            </a:r>
          </a:p>
        </p:txBody>
      </p:sp>
      <p:sp>
        <p:nvSpPr>
          <p:cNvPr id="3" name="">
            <a:extLst xmlns:a="http://schemas.openxmlformats.org/drawingml/2006/main">
              <a:ext uri="{FF2B5EF4-FFF2-40B4-BE49-F238E27FC236}">
                <a16:creationId xmlns:a16="http://schemas.microsoft.com/office/drawing/2014/main" id="{12D27534-E661-451B-B91A-A124B544BBBA}"/>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stStyle>
          <a:p xmlns:a="http://schemas.openxmlformats.org/drawingml/2006/main">
            <a:pPr algn="r">
              <a:defRPr sz="1050" b="1">
                <a:solidFill>
                  <a:srgbClr val="AFC4C6"/>
                </a:solidFill>
                <a:latin typeface="Arial"/>
                <a:ea typeface="Arial"/>
                <a:cs typeface="Arial"/>
              </a:defRPr>
            </a:pPr>
            <a:r>
              <a:rPr sz="1050" b="1">
                <a:solidFill>
                  <a:srgbClr val="AFC4C6"/>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31147659-579D-4DEC-BAF7-9E5E499A6DF0}"/>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pic>
        <p:nvPicPr>
          <p:cNvPr id="5" name="">
            <a:extLst xmlns:a="http://schemas.openxmlformats.org/drawingml/2006/main">
              <a:ext uri="{FF2B5EF4-FFF2-40B4-BE49-F238E27FC236}">
                <a16:creationId xmlns:a16="http://schemas.microsoft.com/office/drawing/2014/main" id="{E8A4A67C-44FE-42FE-B0CF-1EEA457768B8}"/>
              </a:ext>
            </a:extLst>
          </p:cNvPr>
          <p:cNvPicPr>
            <a:picLocks xmlns:a="http://schemas.openxmlformats.org/drawingml/2006/main" noChangeAspect="1"/>
          </p:cNvPicPr>
          <p:nvPr/>
        </p:nvPicPr>
        <p:blipFill>
          <a:blip xmlns:r="http://schemas.openxmlformats.org/officeDocument/2006/relationships" xmlns:a="http://schemas.openxmlformats.org/drawingml/2006/main" r:embed="R929b12a74291486c"/>
          <a:stretch xmlns:a="http://schemas.openxmlformats.org/drawingml/2006/main"/>
        </p:blipFill>
        <p:spPr>
          <a:xfrm xmlns:a="http://schemas.openxmlformats.org/drawingml/2006/main">
            <a:off x="590550" y="1964391"/>
            <a:ext cx="6477000" cy="2576793"/>
          </a:xfrm>
          <a:prstGeom xmlns:a="http://schemas.openxmlformats.org/drawingml/2006/main" prst="roundRect">
            <a:avLst>
              <a:gd name="adj" fmla="val 2817"/>
            </a:avLst>
          </a:prstGeom>
        </p:spPr>
      </p:pic>
      <p:sp>
        <p:nvSpPr>
          <p:cNvPr id="6" name="">
            <a:extLst xmlns:a="http://schemas.openxmlformats.org/drawingml/2006/main">
              <a:ext uri="{FF2B5EF4-FFF2-40B4-BE49-F238E27FC236}">
                <a16:creationId xmlns:a16="http://schemas.microsoft.com/office/drawing/2014/main" id="{83F1B5A3-1A13-4A4E-9916-7A4F5B5962D4}"/>
              </a:ext>
            </a:extLst>
          </p:cNvPr>
          <p:cNvSpPr>
            <a:spLocks xmlns:a="http://schemas.openxmlformats.org/drawingml/2006/main" noGrp="1"/>
          </p:cNvSpPr>
          <p:nvPr/>
        </p:nvSpPr>
        <p:spPr>
          <a:xfrm xmlns:a="http://schemas.openxmlformats.org/drawingml/2006/main">
            <a:off x="7334250" y="1562100"/>
            <a:ext cx="4267200" cy="3381375"/>
          </a:xfrm>
          <a:prstGeom xmlns:a="http://schemas.openxmlformats.org/drawingml/2006/main" prst="roundRect">
            <a:avLst>
              <a:gd name="adj" fmla="val 3944"/>
            </a:avLst>
          </a:prstGeom>
          <a:solidFill xmlns:a="http://schemas.openxmlformats.org/drawingml/2006/main">
            <a:srgbClr val="113646"/>
          </a:solidFill>
          <a:ln xmlns:a="http://schemas.openxmlformats.org/drawingml/2006/main" w="9525">
            <a:solidFill>
              <a:srgbClr val="31505F"/>
            </a:solidFill>
            <a:prstDash val="solid"/>
          </a:ln>
        </p:spPr>
      </p:sp>
      <p:sp>
        <p:nvSpPr>
          <p:cNvPr id="7" name="">
            <a:extLst xmlns:a="http://schemas.openxmlformats.org/drawingml/2006/main">
              <a:ext uri="{FF2B5EF4-FFF2-40B4-BE49-F238E27FC236}">
                <a16:creationId xmlns:a16="http://schemas.microsoft.com/office/drawing/2014/main" id="{CADC5953-601A-48E2-9E92-592EB6C2A129}"/>
              </a:ext>
            </a:extLst>
          </p:cNvPr>
          <p:cNvSpPr>
            <a:spLocks xmlns:a="http://schemas.openxmlformats.org/drawingml/2006/main" noGrp="1"/>
          </p:cNvSpPr>
          <p:nvPr/>
        </p:nvSpPr>
        <p:spPr>
          <a:xfrm xmlns:a="http://schemas.openxmlformats.org/drawingml/2006/main">
            <a:off x="7581900" y="18097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1AA58F"/>
                </a:solidFill>
                <a:latin typeface="Arial"/>
                <a:ea typeface="Arial"/>
                <a:cs typeface="Arial"/>
              </a:defRPr>
            </a:defPPr>
          </a:lstStyle>
          <a:p xmlns:a="http://schemas.openxmlformats.org/drawingml/2006/main">
            <a:pPr algn="l">
              <a:defRPr sz="975" b="1">
                <a:solidFill>
                  <a:srgbClr val="1AA58F"/>
                </a:solidFill>
                <a:latin typeface="Arial"/>
                <a:ea typeface="Arial"/>
                <a:cs typeface="Arial"/>
              </a:defRPr>
            </a:pPr>
            <a:r>
              <a:rPr sz="975" b="1">
                <a:solidFill>
                  <a:srgbClr val="1AA58F"/>
                </a:solidFill>
                <a:latin typeface="Arial"/>
                <a:ea typeface="Arial"/>
                <a:cs typeface="Arial"/>
              </a:rPr>
              <a:t>METHOD</a:t>
            </a:r>
          </a:p>
        </p:txBody>
      </p:sp>
      <p:sp>
        <p:nvSpPr>
          <p:cNvPr id="8" name="">
            <a:extLst xmlns:a="http://schemas.openxmlformats.org/drawingml/2006/main">
              <a:ext uri="{FF2B5EF4-FFF2-40B4-BE49-F238E27FC236}">
                <a16:creationId xmlns:a16="http://schemas.microsoft.com/office/drawing/2014/main" id="{02B69913-5CBA-45BA-BDFE-344B229B25AD}"/>
              </a:ext>
            </a:extLst>
          </p:cNvPr>
          <p:cNvSpPr>
            <a:spLocks xmlns:a="http://schemas.openxmlformats.org/drawingml/2006/main" noGrp="1"/>
          </p:cNvSpPr>
          <p:nvPr/>
        </p:nvSpPr>
        <p:spPr>
          <a:xfrm xmlns:a="http://schemas.openxmlformats.org/drawingml/2006/main">
            <a:off x="7581900" y="2209800"/>
            <a:ext cx="2095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650" b="1">
                <a:solidFill>
                  <a:srgbClr val="1AA58F"/>
                </a:solidFill>
                <a:latin typeface="Arial"/>
                <a:ea typeface="Arial"/>
                <a:cs typeface="Arial"/>
              </a:defRPr>
            </a:defPPr>
          </a:lstStyle>
          <a:p xmlns:a="http://schemas.openxmlformats.org/drawingml/2006/main">
            <a:pPr algn="l">
              <a:defRPr sz="1650" b="1">
                <a:solidFill>
                  <a:srgbClr val="1AA58F"/>
                </a:solidFill>
                <a:latin typeface="Arial"/>
                <a:ea typeface="Arial"/>
                <a:cs typeface="Arial"/>
              </a:defRPr>
            </a:pPr>
            <a:r>
              <a:rPr sz="1650" b="1">
                <a:solidFill>
                  <a:srgbClr val="1AA58F"/>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B28AACFA-AA10-4185-81C2-87C82CEB8C58}"/>
              </a:ext>
            </a:extLst>
          </p:cNvPr>
          <p:cNvSpPr>
            <a:spLocks xmlns:a="http://schemas.openxmlformats.org/drawingml/2006/main" noGrp="1"/>
          </p:cNvSpPr>
          <p:nvPr/>
        </p:nvSpPr>
        <p:spPr>
          <a:xfrm xmlns:a="http://schemas.openxmlformats.org/drawingml/2006/main">
            <a:off x="7829550" y="2209800"/>
            <a:ext cx="33718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a:solidFill>
                  <a:srgbClr val="F3F6F2"/>
                </a:solidFill>
                <a:latin typeface="Arial"/>
                <a:ea typeface="Arial"/>
                <a:cs typeface="Arial"/>
              </a:defRPr>
            </a:defPPr>
          </a:lstStyle>
          <a:p xmlns:a="http://schemas.openxmlformats.org/drawingml/2006/main">
            <a:pPr algn="l">
              <a:defRPr sz="1350">
                <a:solidFill>
                  <a:srgbClr val="F3F6F2"/>
                </a:solidFill>
                <a:latin typeface="Arial"/>
                <a:ea typeface="Arial"/>
                <a:cs typeface="Arial"/>
              </a:defRPr>
            </a:pPr>
            <a:r>
              <a:rPr sz="1350">
                <a:solidFill>
                  <a:srgbClr val="F3F6F2"/>
                </a:solidFill>
                <a:latin typeface="Arial"/>
                <a:ea typeface="Arial"/>
                <a:cs typeface="Arial"/>
              </a:rPr>
              <a:t>Annual land-cover maps flag possible growth.</a:t>
            </a:r>
          </a:p>
        </p:txBody>
      </p:sp>
      <p:sp>
        <p:nvSpPr>
          <p:cNvPr id="10" name="">
            <a:extLst xmlns:a="http://schemas.openxmlformats.org/drawingml/2006/main">
              <a:ext uri="{FF2B5EF4-FFF2-40B4-BE49-F238E27FC236}">
                <a16:creationId xmlns:a16="http://schemas.microsoft.com/office/drawing/2014/main" id="{59F5D951-51CB-4828-927B-02ECF655AB2B}"/>
              </a:ext>
            </a:extLst>
          </p:cNvPr>
          <p:cNvSpPr>
            <a:spLocks xmlns:a="http://schemas.openxmlformats.org/drawingml/2006/main" noGrp="1"/>
          </p:cNvSpPr>
          <p:nvPr/>
        </p:nvSpPr>
        <p:spPr>
          <a:xfrm xmlns:a="http://schemas.openxmlformats.org/drawingml/2006/main">
            <a:off x="7581900" y="2876550"/>
            <a:ext cx="2095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650" b="1">
                <a:solidFill>
                  <a:srgbClr val="1AA58F"/>
                </a:solidFill>
                <a:latin typeface="Arial"/>
                <a:ea typeface="Arial"/>
                <a:cs typeface="Arial"/>
              </a:defRPr>
            </a:defPPr>
          </a:lstStyle>
          <a:p xmlns:a="http://schemas.openxmlformats.org/drawingml/2006/main">
            <a:pPr algn="l">
              <a:defRPr sz="1650" b="1">
                <a:solidFill>
                  <a:srgbClr val="1AA58F"/>
                </a:solidFill>
                <a:latin typeface="Arial"/>
                <a:ea typeface="Arial"/>
                <a:cs typeface="Arial"/>
              </a:defRPr>
            </a:pPr>
            <a:r>
              <a:rPr sz="1650" b="1">
                <a:solidFill>
                  <a:srgbClr val="1AA58F"/>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FD028DE8-5128-48FE-A97C-4883EC651A27}"/>
              </a:ext>
            </a:extLst>
          </p:cNvPr>
          <p:cNvSpPr>
            <a:spLocks xmlns:a="http://schemas.openxmlformats.org/drawingml/2006/main" noGrp="1"/>
          </p:cNvSpPr>
          <p:nvPr/>
        </p:nvSpPr>
        <p:spPr>
          <a:xfrm xmlns:a="http://schemas.openxmlformats.org/drawingml/2006/main">
            <a:off x="7829550" y="2876550"/>
            <a:ext cx="3371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a:solidFill>
                  <a:srgbClr val="F3F6F2"/>
                </a:solidFill>
                <a:latin typeface="Arial"/>
                <a:ea typeface="Arial"/>
                <a:cs typeface="Arial"/>
              </a:defRPr>
            </a:defPPr>
          </a:lstStyle>
          <a:p xmlns:a="http://schemas.openxmlformats.org/drawingml/2006/main">
            <a:pPr algn="l">
              <a:defRPr sz="1350">
                <a:solidFill>
                  <a:srgbClr val="F3F6F2"/>
                </a:solidFill>
                <a:latin typeface="Arial"/>
                <a:ea typeface="Arial"/>
                <a:cs typeface="Arial"/>
              </a:defRPr>
            </a:pPr>
            <a:r>
              <a:rPr sz="1350">
                <a:solidFill>
                  <a:srgbClr val="F3F6F2"/>
                </a:solidFill>
                <a:latin typeface="Arial"/>
                <a:ea typeface="Arial"/>
                <a:cs typeface="Arial"/>
              </a:rPr>
              <a:t>Optical and radar evidence check whether it still looks built-up.</a:t>
            </a:r>
          </a:p>
        </p:txBody>
      </p:sp>
      <p:sp>
        <p:nvSpPr>
          <p:cNvPr id="12" name="">
            <a:extLst xmlns:a="http://schemas.openxmlformats.org/drawingml/2006/main">
              <a:ext uri="{FF2B5EF4-FFF2-40B4-BE49-F238E27FC236}">
                <a16:creationId xmlns:a16="http://schemas.microsoft.com/office/drawing/2014/main" id="{D2F3DDE5-1D10-4672-97EA-5A68CAAC0800}"/>
              </a:ext>
            </a:extLst>
          </p:cNvPr>
          <p:cNvSpPr>
            <a:spLocks xmlns:a="http://schemas.openxmlformats.org/drawingml/2006/main" noGrp="1"/>
          </p:cNvSpPr>
          <p:nvPr/>
        </p:nvSpPr>
        <p:spPr>
          <a:xfrm xmlns:a="http://schemas.openxmlformats.org/drawingml/2006/main">
            <a:off x="7581900" y="3657600"/>
            <a:ext cx="2095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650" b="1">
                <a:solidFill>
                  <a:srgbClr val="1AA58F"/>
                </a:solidFill>
                <a:latin typeface="Arial"/>
                <a:ea typeface="Arial"/>
                <a:cs typeface="Arial"/>
              </a:defRPr>
            </a:defPPr>
          </a:lstStyle>
          <a:p xmlns:a="http://schemas.openxmlformats.org/drawingml/2006/main">
            <a:pPr algn="l">
              <a:defRPr sz="1650" b="1">
                <a:solidFill>
                  <a:srgbClr val="1AA58F"/>
                </a:solidFill>
                <a:latin typeface="Arial"/>
                <a:ea typeface="Arial"/>
                <a:cs typeface="Arial"/>
              </a:defRPr>
            </a:pPr>
            <a:r>
              <a:rPr sz="1650" b="1">
                <a:solidFill>
                  <a:srgbClr val="1AA58F"/>
                </a:solidFill>
                <a:latin typeface="Arial"/>
                <a:ea typeface="Arial"/>
                <a:cs typeface="Arial"/>
              </a:rPr>
              <a:t>•</a:t>
            </a:r>
          </a:p>
        </p:txBody>
      </p:sp>
      <p:sp>
        <p:nvSpPr>
          <p:cNvPr id="13" name="">
            <a:extLst xmlns:a="http://schemas.openxmlformats.org/drawingml/2006/main">
              <a:ext uri="{FF2B5EF4-FFF2-40B4-BE49-F238E27FC236}">
                <a16:creationId xmlns:a16="http://schemas.microsoft.com/office/drawing/2014/main" id="{276A23CA-63CF-459F-BDFD-174DA05E0189}"/>
              </a:ext>
            </a:extLst>
          </p:cNvPr>
          <p:cNvSpPr>
            <a:spLocks xmlns:a="http://schemas.openxmlformats.org/drawingml/2006/main" noGrp="1"/>
          </p:cNvSpPr>
          <p:nvPr/>
        </p:nvSpPr>
        <p:spPr>
          <a:xfrm xmlns:a="http://schemas.openxmlformats.org/drawingml/2006/main">
            <a:off x="7829550" y="3657600"/>
            <a:ext cx="33718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a:solidFill>
                  <a:srgbClr val="F3F6F2"/>
                </a:solidFill>
                <a:latin typeface="Arial"/>
                <a:ea typeface="Arial"/>
                <a:cs typeface="Arial"/>
              </a:defRPr>
            </a:defPPr>
          </a:lstStyle>
          <a:p xmlns:a="http://schemas.openxmlformats.org/drawingml/2006/main">
            <a:pPr algn="l">
              <a:defRPr sz="1350">
                <a:solidFill>
                  <a:srgbClr val="F3F6F2"/>
                </a:solidFill>
                <a:latin typeface="Arial"/>
                <a:ea typeface="Arial"/>
                <a:cs typeface="Arial"/>
              </a:defRPr>
            </a:pPr>
            <a:r>
              <a:rPr sz="1350">
                <a:solidFill>
                  <a:srgbClr val="F3F6F2"/>
                </a:solidFill>
                <a:latin typeface="Arial"/>
                <a:ea typeface="Arial"/>
                <a:cs typeface="Arial"/>
              </a:rPr>
              <a:t>Each priority score keeps its visible components and GIS evidence.</a:t>
            </a:r>
          </a:p>
        </p:txBody>
      </p:sp>
      <p:sp>
        <p:nvSpPr>
          <p:cNvPr id="14" name="">
            <a:extLst xmlns:a="http://schemas.openxmlformats.org/drawingml/2006/main">
              <a:ext uri="{FF2B5EF4-FFF2-40B4-BE49-F238E27FC236}">
                <a16:creationId xmlns:a16="http://schemas.microsoft.com/office/drawing/2014/main" id="{F948554B-288F-4F72-8914-6D6B5490C0AD}"/>
              </a:ext>
            </a:extLst>
          </p:cNvPr>
          <p:cNvSpPr>
            <a:spLocks xmlns:a="http://schemas.openxmlformats.org/drawingml/2006/main" noGrp="1"/>
          </p:cNvSpPr>
          <p:nvPr/>
        </p:nvSpPr>
        <p:spPr>
          <a:xfrm xmlns:a="http://schemas.openxmlformats.org/drawingml/2006/main">
            <a:off x="7581900" y="4438650"/>
            <a:ext cx="3619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E2AD2B"/>
                </a:solidFill>
                <a:latin typeface="Arial"/>
                <a:ea typeface="Arial"/>
                <a:cs typeface="Arial"/>
              </a:defRPr>
            </a:defPPr>
          </a:lstStyle>
          <a:p xmlns:a="http://schemas.openxmlformats.org/drawingml/2006/main">
            <a:pPr algn="l">
              <a:defRPr sz="1050" b="1">
                <a:solidFill>
                  <a:srgbClr val="E2AD2B"/>
                </a:solidFill>
                <a:latin typeface="Arial"/>
                <a:ea typeface="Arial"/>
                <a:cs typeface="Arial"/>
              </a:defRPr>
            </a:pPr>
            <a:r>
              <a:rPr sz="1050" b="1">
                <a:solidFill>
                  <a:srgbClr val="E2AD2B"/>
                </a:solidFill>
                <a:latin typeface="Arial"/>
                <a:ea typeface="Arial"/>
                <a:cs typeface="Arial"/>
              </a:rPr>
              <a:t>Limit: one Tanager scene adds spectral context. It cannot prove change or identify a material.</a:t>
            </a:r>
          </a:p>
        </p:txBody>
      </p:sp>
      <p:sp>
        <p:nvSpPr>
          <p:cNvPr id="15" name="">
            <a:extLst xmlns:a="http://schemas.openxmlformats.org/drawingml/2006/main">
              <a:ext uri="{FF2B5EF4-FFF2-40B4-BE49-F238E27FC236}">
                <a16:creationId xmlns:a16="http://schemas.microsoft.com/office/drawing/2014/main" id="{930535BF-98CF-4928-A63A-3C9064B3915D}"/>
              </a:ext>
            </a:extLst>
          </p:cNvPr>
          <p:cNvSpPr>
            <a:spLocks xmlns:a="http://schemas.openxmlformats.org/drawingml/2006/main" noGrp="1"/>
          </p:cNvSpPr>
          <p:nvPr/>
        </p:nvSpPr>
        <p:spPr>
          <a:xfrm xmlns:a="http://schemas.openxmlformats.org/drawingml/2006/main">
            <a:off x="590550" y="5219700"/>
            <a:ext cx="11010900" cy="990600"/>
          </a:xfrm>
          <a:prstGeom xmlns:a="http://schemas.openxmlformats.org/drawingml/2006/main" prst="roundRect">
            <a:avLst>
              <a:gd name="adj" fmla="val 13462"/>
            </a:avLst>
          </a:prstGeom>
          <a:solidFill xmlns:a="http://schemas.openxmlformats.org/drawingml/2006/main">
            <a:srgbClr val="113646"/>
          </a:solidFill>
          <a:ln xmlns:a="http://schemas.openxmlformats.org/drawingml/2006/main" w="9525">
            <a:solidFill>
              <a:srgbClr val="31505F"/>
            </a:solidFill>
            <a:prstDash val="solid"/>
          </a:ln>
        </p:spPr>
      </p:sp>
      <p:sp>
        <p:nvSpPr>
          <p:cNvPr id="16" name="">
            <a:extLst xmlns:a="http://schemas.openxmlformats.org/drawingml/2006/main">
              <a:ext uri="{FF2B5EF4-FFF2-40B4-BE49-F238E27FC236}">
                <a16:creationId xmlns:a16="http://schemas.microsoft.com/office/drawing/2014/main" id="{B2BCEED5-B047-4681-93E5-7CD82102DA4A}"/>
              </a:ext>
            </a:extLst>
          </p:cNvPr>
          <p:cNvSpPr>
            <a:spLocks xmlns:a="http://schemas.openxmlformats.org/drawingml/2006/main" noGrp="1"/>
          </p:cNvSpPr>
          <p:nvPr/>
        </p:nvSpPr>
        <p:spPr>
          <a:xfrm xmlns:a="http://schemas.openxmlformats.org/drawingml/2006/main">
            <a:off x="838200" y="54292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F06449"/>
                </a:solidFill>
                <a:latin typeface="Arial"/>
                <a:ea typeface="Arial"/>
                <a:cs typeface="Arial"/>
              </a:defRPr>
            </a:defPPr>
          </a:lstStyle>
          <a:p xmlns:a="http://schemas.openxmlformats.org/drawingml/2006/main">
            <a:pPr algn="l">
              <a:defRPr sz="975" b="1">
                <a:solidFill>
                  <a:srgbClr val="F06449"/>
                </a:solidFill>
                <a:latin typeface="Arial"/>
                <a:ea typeface="Arial"/>
                <a:cs typeface="Arial"/>
              </a:defRPr>
            </a:pPr>
            <a:r>
              <a:rPr sz="975" b="1">
                <a:solidFill>
                  <a:srgbClr val="F06449"/>
                </a:solidFill>
                <a:latin typeface="Arial"/>
                <a:ea typeface="Arial"/>
                <a:cs typeface="Arial"/>
              </a:rPr>
              <a:t>POSSIBLE BENEFIT</a:t>
            </a:r>
          </a:p>
        </p:txBody>
      </p:sp>
      <p:sp>
        <p:nvSpPr>
          <p:cNvPr id="17" name="">
            <a:extLst xmlns:a="http://schemas.openxmlformats.org/drawingml/2006/main">
              <a:ext uri="{FF2B5EF4-FFF2-40B4-BE49-F238E27FC236}">
                <a16:creationId xmlns:a16="http://schemas.microsoft.com/office/drawing/2014/main" id="{6625F928-39B7-4483-AEE3-3EF7C17BEFA5}"/>
              </a:ext>
            </a:extLst>
          </p:cNvPr>
          <p:cNvSpPr>
            <a:spLocks xmlns:a="http://schemas.openxmlformats.org/drawingml/2006/main" noGrp="1"/>
          </p:cNvSpPr>
          <p:nvPr/>
        </p:nvSpPr>
        <p:spPr>
          <a:xfrm xmlns:a="http://schemas.openxmlformats.org/drawingml/2006/main">
            <a:off x="2571750" y="5372100"/>
            <a:ext cx="8667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75" b="1">
                <a:solidFill>
                  <a:srgbClr val="F3F6F2"/>
                </a:solidFill>
                <a:latin typeface="Arial"/>
                <a:ea typeface="Arial"/>
                <a:cs typeface="Arial"/>
              </a:defRPr>
            </a:defPPr>
          </a:lstStyle>
          <a:p xmlns:a="http://schemas.openxmlformats.org/drawingml/2006/main">
            <a:pPr algn="l">
              <a:defRPr sz="1575" b="1">
                <a:solidFill>
                  <a:srgbClr val="F3F6F2"/>
                </a:solidFill>
                <a:latin typeface="Arial"/>
                <a:ea typeface="Arial"/>
                <a:cs typeface="Arial"/>
              </a:defRPr>
            </a:pPr>
            <a:r>
              <a:rPr sz="1575" b="1">
                <a:solidFill>
                  <a:srgbClr val="F3F6F2"/>
                </a:solidFill>
                <a:latin typeface="Arial"/>
                <a:ea typeface="Arial"/>
                <a:cs typeface="Arial"/>
              </a:rPr>
              <a:t>A planner can review one ranked list instead of comparing several separate layers. This still needs user testing.</a:t>
            </a:r>
          </a:p>
        </p:txBody>
      </p:sp>
    </p:spTree>
    <p:extLst>
      <p:ext uri="{BB962C8B-B14F-4D97-AF65-F5344CB8AC3E}">
        <p14:creationId xmlns:p14="http://schemas.microsoft.com/office/powerpoint/2010/main" val="547996457"/>
      </p:ext>
    </p:extLst>
  </p:cSld>
</p:sld>
</file>

<file path=ppt/slides/slide8.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0B820BC0-317D-492F-8C24-4A6919B54E13}"/>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stStyle>
          <a:p xmlns:a="http://schemas.openxmlformats.org/drawingml/2006/main">
            <a:pPr algn="l">
              <a:defRPr sz="1050" b="1">
                <a:solidFill>
                  <a:srgbClr val="1AA58F"/>
                </a:solidFill>
                <a:latin typeface="Arial"/>
                <a:ea typeface="Arial"/>
                <a:cs typeface="Arial"/>
              </a:defRPr>
            </a:pPr>
            <a:r>
              <a:rPr sz="1050" b="1">
                <a:solidFill>
                  <a:srgbClr val="1AA58F"/>
                </a:solidFill>
                <a:latin typeface="Arial"/>
                <a:ea typeface="Arial"/>
                <a:cs typeface="Arial"/>
              </a:rPr>
              <a:t>NEXT STEP</a:t>
            </a:r>
          </a:p>
        </p:txBody>
      </p:sp>
      <p:sp>
        <p:nvSpPr>
          <p:cNvPr id="2" name="">
            <a:extLst xmlns:a="http://schemas.openxmlformats.org/drawingml/2006/main">
              <a:ext uri="{FF2B5EF4-FFF2-40B4-BE49-F238E27FC236}">
                <a16:creationId xmlns:a16="http://schemas.microsoft.com/office/drawing/2014/main" id="{85A8D323-11CD-4F67-BB54-828C1B2A270D}"/>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stStyle>
          <a:p xmlns:a="http://schemas.openxmlformats.org/drawingml/2006/main">
            <a:pPr algn="l">
              <a:defRPr sz="2700" b="1">
                <a:solidFill>
                  <a:srgbClr val="F3F6F2"/>
                </a:solidFill>
                <a:latin typeface="Arial"/>
                <a:ea typeface="Arial"/>
                <a:cs typeface="Arial"/>
              </a:defRPr>
            </a:pPr>
            <a:r>
              <a:rPr sz="2700" b="1">
                <a:solidFill>
                  <a:srgbClr val="F3F6F2"/>
                </a:solidFill>
                <a:latin typeface="Arial"/>
                <a:ea typeface="Arial"/>
                <a:cs typeface="Arial"/>
              </a:rPr>
              <a:t>Proposed municipal pilot</a:t>
            </a:r>
          </a:p>
        </p:txBody>
      </p:sp>
      <p:sp>
        <p:nvSpPr>
          <p:cNvPr id="3" name="">
            <a:extLst xmlns:a="http://schemas.openxmlformats.org/drawingml/2006/main">
              <a:ext uri="{FF2B5EF4-FFF2-40B4-BE49-F238E27FC236}">
                <a16:creationId xmlns:a16="http://schemas.microsoft.com/office/drawing/2014/main" id="{2CAF65B9-B985-4A22-84C4-5F69C910072C}"/>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stStyle>
          <a:p xmlns:a="http://schemas.openxmlformats.org/drawingml/2006/main">
            <a:pPr algn="r">
              <a:defRPr sz="1050" b="1">
                <a:solidFill>
                  <a:srgbClr val="AFC4C6"/>
                </a:solidFill>
                <a:latin typeface="Arial"/>
                <a:ea typeface="Arial"/>
                <a:cs typeface="Arial"/>
              </a:defRPr>
            </a:pPr>
            <a:r>
              <a:rPr sz="1050" b="1">
                <a:solidFill>
                  <a:srgbClr val="AFC4C6"/>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B3475E2E-2C72-4BD4-B876-5B9F266A4E23}"/>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5" name="">
            <a:extLst xmlns:a="http://schemas.openxmlformats.org/drawingml/2006/main">
              <a:ext uri="{FF2B5EF4-FFF2-40B4-BE49-F238E27FC236}">
                <a16:creationId xmlns:a16="http://schemas.microsoft.com/office/drawing/2014/main" id="{923602B1-E863-491D-B04A-B145EEAD5358}"/>
              </a:ext>
            </a:extLst>
          </p:cNvPr>
          <p:cNvSpPr>
            <a:spLocks xmlns:a="http://schemas.openxmlformats.org/drawingml/2006/main" noGrp="1"/>
          </p:cNvSpPr>
          <p:nvPr/>
        </p:nvSpPr>
        <p:spPr>
          <a:xfrm xmlns:a="http://schemas.openxmlformats.org/drawingml/2006/main">
            <a:off x="590550" y="1676400"/>
            <a:ext cx="2533650" cy="2762250"/>
          </a:xfrm>
          <a:prstGeom xmlns:a="http://schemas.openxmlformats.org/drawingml/2006/main" prst="roundRect">
            <a:avLst>
              <a:gd name="adj" fmla="val 5263"/>
            </a:avLst>
          </a:prstGeom>
          <a:solidFill xmlns:a="http://schemas.openxmlformats.org/drawingml/2006/main">
            <a:srgbClr val="113646"/>
          </a:solidFill>
          <a:ln xmlns:a="http://schemas.openxmlformats.org/drawingml/2006/main" w="9525">
            <a:solidFill>
              <a:srgbClr val="31505F"/>
            </a:solidFill>
            <a:prstDash val="solid"/>
          </a:ln>
        </p:spPr>
      </p:sp>
      <p:sp>
        <p:nvSpPr>
          <p:cNvPr id="6" name="">
            <a:extLst xmlns:a="http://schemas.openxmlformats.org/drawingml/2006/main">
              <a:ext uri="{FF2B5EF4-FFF2-40B4-BE49-F238E27FC236}">
                <a16:creationId xmlns:a16="http://schemas.microsoft.com/office/drawing/2014/main" id="{F82AAB0B-813E-4F63-B355-CF5A21F2BCB3}"/>
              </a:ext>
            </a:extLst>
          </p:cNvPr>
          <p:cNvSpPr>
            <a:spLocks xmlns:a="http://schemas.openxmlformats.org/drawingml/2006/main" noGrp="1"/>
          </p:cNvSpPr>
          <p:nvPr/>
        </p:nvSpPr>
        <p:spPr>
          <a:xfrm xmlns:a="http://schemas.openxmlformats.org/drawingml/2006/main">
            <a:off x="800100" y="1885950"/>
            <a:ext cx="495300" cy="495300"/>
          </a:xfrm>
          <a:prstGeom xmlns:a="http://schemas.openxmlformats.org/drawingml/2006/main" prst="ellipse">
            <a:avLst/>
          </a:prstGeom>
          <a:solidFill xmlns:a="http://schemas.openxmlformats.org/drawingml/2006/main">
            <a:srgbClr val="1AA58F"/>
          </a:solidFill>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F3F6F2"/>
                </a:solidFill>
              </a:defRPr>
            </a:defPPr>
          </a:lstStyle>
          <a:p xmlns:a="http://schemas.openxmlformats.org/drawingml/2006/main">
            <a:pPr algn="ctr">
              <a:defRPr sz="1650" b="1">
                <a:solidFill>
                  <a:srgbClr val="F3F6F2"/>
                </a:solidFill>
              </a:defRPr>
            </a:pPr>
            <a:r>
              <a:rPr sz="1650" b="1">
                <a:solidFill>
                  <a:srgbClr val="F3F6F2"/>
                </a:solidFill>
              </a:rPr>
              <a:t>1</a:t>
            </a:r>
          </a:p>
        </p:txBody>
      </p:sp>
      <p:sp>
        <p:nvSpPr>
          <p:cNvPr id="7" name="">
            <a:extLst xmlns:a="http://schemas.openxmlformats.org/drawingml/2006/main">
              <a:ext uri="{FF2B5EF4-FFF2-40B4-BE49-F238E27FC236}">
                <a16:creationId xmlns:a16="http://schemas.microsoft.com/office/drawing/2014/main" id="{179052A4-3F03-42A7-AB02-C92832583FF4}"/>
              </a:ext>
            </a:extLst>
          </p:cNvPr>
          <p:cNvSpPr>
            <a:spLocks xmlns:a="http://schemas.openxmlformats.org/drawingml/2006/main" noGrp="1"/>
          </p:cNvSpPr>
          <p:nvPr/>
        </p:nvSpPr>
        <p:spPr>
          <a:xfrm xmlns:a="http://schemas.openxmlformats.org/drawingml/2006/main">
            <a:off x="800100" y="2609850"/>
            <a:ext cx="2114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950" b="1">
                <a:solidFill>
                  <a:srgbClr val="F3F6F2"/>
                </a:solidFill>
                <a:latin typeface="Arial"/>
                <a:ea typeface="Arial"/>
                <a:cs typeface="Arial"/>
              </a:defRPr>
            </a:defPPr>
          </a:lstStyle>
          <a:p xmlns:a="http://schemas.openxmlformats.org/drawingml/2006/main">
            <a:pPr algn="l">
              <a:defRPr sz="1950" b="1">
                <a:solidFill>
                  <a:srgbClr val="F3F6F2"/>
                </a:solidFill>
                <a:latin typeface="Arial"/>
                <a:ea typeface="Arial"/>
                <a:cs typeface="Arial"/>
              </a:defRPr>
            </a:pPr>
            <a:r>
              <a:rPr sz="1950" b="1">
                <a:solidFill>
                  <a:srgbClr val="F3F6F2"/>
                </a:solidFill>
                <a:latin typeface="Arial"/>
                <a:ea typeface="Arial"/>
                <a:cs typeface="Arial"/>
              </a:rPr>
              <a:t>Interview</a:t>
            </a:r>
          </a:p>
        </p:txBody>
      </p:sp>
      <p:sp>
        <p:nvSpPr>
          <p:cNvPr id="8" name="">
            <a:extLst xmlns:a="http://schemas.openxmlformats.org/drawingml/2006/main">
              <a:ext uri="{FF2B5EF4-FFF2-40B4-BE49-F238E27FC236}">
                <a16:creationId xmlns:a16="http://schemas.microsoft.com/office/drawing/2014/main" id="{AF59DBFB-EDA9-406E-8576-A87478482D9A}"/>
              </a:ext>
            </a:extLst>
          </p:cNvPr>
          <p:cNvSpPr>
            <a:spLocks xmlns:a="http://schemas.openxmlformats.org/drawingml/2006/main" noGrp="1"/>
          </p:cNvSpPr>
          <p:nvPr/>
        </p:nvSpPr>
        <p:spPr>
          <a:xfrm xmlns:a="http://schemas.openxmlformats.org/drawingml/2006/main">
            <a:off x="800100" y="3143250"/>
            <a:ext cx="21145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AFC4C6"/>
                </a:solidFill>
                <a:latin typeface="Arial"/>
                <a:ea typeface="Arial"/>
                <a:cs typeface="Arial"/>
              </a:defRPr>
            </a:defPPr>
          </a:lstStyle>
          <a:p xmlns:a="http://schemas.openxmlformats.org/drawingml/2006/main">
            <a:pPr algn="l">
              <a:defRPr sz="1200">
                <a:solidFill>
                  <a:srgbClr val="AFC4C6"/>
                </a:solidFill>
                <a:latin typeface="Arial"/>
                <a:ea typeface="Arial"/>
                <a:cs typeface="Arial"/>
              </a:defRPr>
            </a:pPr>
            <a:r>
              <a:rPr sz="1200">
                <a:solidFill>
                  <a:srgbClr val="AFC4C6"/>
                </a:solidFill>
                <a:latin typeface="Arial"/>
                <a:ea typeface="Arial"/>
                <a:cs typeface="Arial"/>
              </a:rPr>
              <a:t>Confirm the decision, current workflow and acceptable false alarms with at least three real users.</a:t>
            </a:r>
          </a:p>
        </p:txBody>
      </p:sp>
      <p:sp>
        <p:nvSpPr>
          <p:cNvPr id="9" name="">
            <a:extLst xmlns:a="http://schemas.openxmlformats.org/drawingml/2006/main">
              <a:ext uri="{FF2B5EF4-FFF2-40B4-BE49-F238E27FC236}">
                <a16:creationId xmlns:a16="http://schemas.microsoft.com/office/drawing/2014/main" id="{008F6B9B-CB15-458D-88F8-0814A7966813}"/>
              </a:ext>
            </a:extLst>
          </p:cNvPr>
          <p:cNvSpPr>
            <a:spLocks xmlns:a="http://schemas.openxmlformats.org/drawingml/2006/main" noGrp="1"/>
          </p:cNvSpPr>
          <p:nvPr/>
        </p:nvSpPr>
        <p:spPr>
          <a:xfrm xmlns:a="http://schemas.openxmlformats.org/drawingml/2006/main">
            <a:off x="3343275" y="1676400"/>
            <a:ext cx="2533650" cy="2762250"/>
          </a:xfrm>
          <a:prstGeom xmlns:a="http://schemas.openxmlformats.org/drawingml/2006/main" prst="roundRect">
            <a:avLst>
              <a:gd name="adj" fmla="val 5263"/>
            </a:avLst>
          </a:prstGeom>
          <a:solidFill xmlns:a="http://schemas.openxmlformats.org/drawingml/2006/main">
            <a:srgbClr val="113646"/>
          </a:solidFill>
          <a:ln xmlns:a="http://schemas.openxmlformats.org/drawingml/2006/main" w="9525">
            <a:solidFill>
              <a:srgbClr val="31505F"/>
            </a:solidFill>
            <a:prstDash val="solid"/>
          </a:ln>
        </p:spPr>
      </p:sp>
      <p:sp>
        <p:nvSpPr>
          <p:cNvPr id="10" name="">
            <a:extLst xmlns:a="http://schemas.openxmlformats.org/drawingml/2006/main">
              <a:ext uri="{FF2B5EF4-FFF2-40B4-BE49-F238E27FC236}">
                <a16:creationId xmlns:a16="http://schemas.microsoft.com/office/drawing/2014/main" id="{9CD12136-8674-48AC-A79D-841649153482}"/>
              </a:ext>
            </a:extLst>
          </p:cNvPr>
          <p:cNvSpPr>
            <a:spLocks xmlns:a="http://schemas.openxmlformats.org/drawingml/2006/main" noGrp="1"/>
          </p:cNvSpPr>
          <p:nvPr/>
        </p:nvSpPr>
        <p:spPr>
          <a:xfrm xmlns:a="http://schemas.openxmlformats.org/drawingml/2006/main">
            <a:off x="3552825" y="1885950"/>
            <a:ext cx="495300" cy="495300"/>
          </a:xfrm>
          <a:prstGeom xmlns:a="http://schemas.openxmlformats.org/drawingml/2006/main" prst="ellipse">
            <a:avLst/>
          </a:prstGeom>
          <a:solidFill xmlns:a="http://schemas.openxmlformats.org/drawingml/2006/main">
            <a:srgbClr val="E2AD2B"/>
          </a:solidFill>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F3F6F2"/>
                </a:solidFill>
              </a:defRPr>
            </a:defPPr>
          </a:lstStyle>
          <a:p xmlns:a="http://schemas.openxmlformats.org/drawingml/2006/main">
            <a:pPr algn="ctr">
              <a:defRPr sz="1650" b="1">
                <a:solidFill>
                  <a:srgbClr val="F3F6F2"/>
                </a:solidFill>
              </a:defRPr>
            </a:pPr>
            <a:r>
              <a:rPr sz="1650" b="1">
                <a:solidFill>
                  <a:srgbClr val="F3F6F2"/>
                </a:solidFill>
              </a:rPr>
              <a:t>2</a:t>
            </a:r>
          </a:p>
        </p:txBody>
      </p:sp>
      <p:sp>
        <p:nvSpPr>
          <p:cNvPr id="11" name="">
            <a:extLst xmlns:a="http://schemas.openxmlformats.org/drawingml/2006/main">
              <a:ext uri="{FF2B5EF4-FFF2-40B4-BE49-F238E27FC236}">
                <a16:creationId xmlns:a16="http://schemas.microsoft.com/office/drawing/2014/main" id="{6764CDA7-04FA-43D3-A748-E6DB5290C25D}"/>
              </a:ext>
            </a:extLst>
          </p:cNvPr>
          <p:cNvSpPr>
            <a:spLocks xmlns:a="http://schemas.openxmlformats.org/drawingml/2006/main" noGrp="1"/>
          </p:cNvSpPr>
          <p:nvPr/>
        </p:nvSpPr>
        <p:spPr>
          <a:xfrm xmlns:a="http://schemas.openxmlformats.org/drawingml/2006/main">
            <a:off x="3552825" y="2609850"/>
            <a:ext cx="2114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950" b="1">
                <a:solidFill>
                  <a:srgbClr val="F3F6F2"/>
                </a:solidFill>
                <a:latin typeface="Arial"/>
                <a:ea typeface="Arial"/>
                <a:cs typeface="Arial"/>
              </a:defRPr>
            </a:defPPr>
          </a:lstStyle>
          <a:p xmlns:a="http://schemas.openxmlformats.org/drawingml/2006/main">
            <a:pPr algn="l">
              <a:defRPr sz="1950" b="1">
                <a:solidFill>
                  <a:srgbClr val="F3F6F2"/>
                </a:solidFill>
                <a:latin typeface="Arial"/>
                <a:ea typeface="Arial"/>
                <a:cs typeface="Arial"/>
              </a:defRPr>
            </a:pPr>
            <a:r>
              <a:rPr sz="1950" b="1">
                <a:solidFill>
                  <a:srgbClr val="F3F6F2"/>
                </a:solidFill>
                <a:latin typeface="Arial"/>
                <a:ea typeface="Arial"/>
                <a:cs typeface="Arial"/>
              </a:rPr>
              <a:t>Field check</a:t>
            </a:r>
          </a:p>
        </p:txBody>
      </p:sp>
      <p:sp>
        <p:nvSpPr>
          <p:cNvPr id="12" name="">
            <a:extLst xmlns:a="http://schemas.openxmlformats.org/drawingml/2006/main">
              <a:ext uri="{FF2B5EF4-FFF2-40B4-BE49-F238E27FC236}">
                <a16:creationId xmlns:a16="http://schemas.microsoft.com/office/drawing/2014/main" id="{922F4080-E658-4C9E-9F42-79FDA32EB2DD}"/>
              </a:ext>
            </a:extLst>
          </p:cNvPr>
          <p:cNvSpPr>
            <a:spLocks xmlns:a="http://schemas.openxmlformats.org/drawingml/2006/main" noGrp="1"/>
          </p:cNvSpPr>
          <p:nvPr/>
        </p:nvSpPr>
        <p:spPr>
          <a:xfrm xmlns:a="http://schemas.openxmlformats.org/drawingml/2006/main">
            <a:off x="3552825" y="3143250"/>
            <a:ext cx="21145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AFC4C6"/>
                </a:solidFill>
                <a:latin typeface="Arial"/>
                <a:ea typeface="Arial"/>
                <a:cs typeface="Arial"/>
              </a:defRPr>
            </a:defPPr>
          </a:lstStyle>
          <a:p xmlns:a="http://schemas.openxmlformats.org/drawingml/2006/main">
            <a:pPr algn="l">
              <a:defRPr sz="1200">
                <a:solidFill>
                  <a:srgbClr val="AFC4C6"/>
                </a:solidFill>
                <a:latin typeface="Arial"/>
                <a:ea typeface="Arial"/>
                <a:cs typeface="Arial"/>
              </a:defRPr>
            </a:pPr>
            <a:r>
              <a:rPr sz="1200">
                <a:solidFill>
                  <a:srgbClr val="AFC4C6"/>
                </a:solidFill>
                <a:latin typeface="Arial"/>
                <a:ea typeface="Arial"/>
                <a:cs typeface="Arial"/>
              </a:rPr>
              <a:t>Inspect the top five zones, record useful results and false alarms, and compare with local plans.</a:t>
            </a:r>
          </a:p>
        </p:txBody>
      </p:sp>
      <p:sp>
        <p:nvSpPr>
          <p:cNvPr id="13" name="">
            <a:extLst xmlns:a="http://schemas.openxmlformats.org/drawingml/2006/main">
              <a:ext uri="{FF2B5EF4-FFF2-40B4-BE49-F238E27FC236}">
                <a16:creationId xmlns:a16="http://schemas.microsoft.com/office/drawing/2014/main" id="{92856ED9-CB37-4186-8765-FEA12BBF9D28}"/>
              </a:ext>
            </a:extLst>
          </p:cNvPr>
          <p:cNvSpPr>
            <a:spLocks xmlns:a="http://schemas.openxmlformats.org/drawingml/2006/main" noGrp="1"/>
          </p:cNvSpPr>
          <p:nvPr/>
        </p:nvSpPr>
        <p:spPr>
          <a:xfrm xmlns:a="http://schemas.openxmlformats.org/drawingml/2006/main">
            <a:off x="6096000" y="1676400"/>
            <a:ext cx="2533650" cy="2762250"/>
          </a:xfrm>
          <a:prstGeom xmlns:a="http://schemas.openxmlformats.org/drawingml/2006/main" prst="roundRect">
            <a:avLst>
              <a:gd name="adj" fmla="val 5263"/>
            </a:avLst>
          </a:prstGeom>
          <a:solidFill xmlns:a="http://schemas.openxmlformats.org/drawingml/2006/main">
            <a:srgbClr val="113646"/>
          </a:solidFill>
          <a:ln xmlns:a="http://schemas.openxmlformats.org/drawingml/2006/main" w="9525">
            <a:solidFill>
              <a:srgbClr val="31505F"/>
            </a:solidFill>
            <a:prstDash val="solid"/>
          </a:ln>
        </p:spPr>
      </p:sp>
      <p:sp>
        <p:nvSpPr>
          <p:cNvPr id="14" name="">
            <a:extLst xmlns:a="http://schemas.openxmlformats.org/drawingml/2006/main">
              <a:ext uri="{FF2B5EF4-FFF2-40B4-BE49-F238E27FC236}">
                <a16:creationId xmlns:a16="http://schemas.microsoft.com/office/drawing/2014/main" id="{1BDC0098-8769-40C9-A215-AC2786F5545F}"/>
              </a:ext>
            </a:extLst>
          </p:cNvPr>
          <p:cNvSpPr>
            <a:spLocks xmlns:a="http://schemas.openxmlformats.org/drawingml/2006/main" noGrp="1"/>
          </p:cNvSpPr>
          <p:nvPr/>
        </p:nvSpPr>
        <p:spPr>
          <a:xfrm xmlns:a="http://schemas.openxmlformats.org/drawingml/2006/main">
            <a:off x="6305550" y="1885950"/>
            <a:ext cx="495300" cy="495300"/>
          </a:xfrm>
          <a:prstGeom xmlns:a="http://schemas.openxmlformats.org/drawingml/2006/main" prst="ellipse">
            <a:avLst/>
          </a:prstGeom>
          <a:solidFill xmlns:a="http://schemas.openxmlformats.org/drawingml/2006/main">
            <a:srgbClr val="F06449"/>
          </a:solidFill>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F3F6F2"/>
                </a:solidFill>
              </a:defRPr>
            </a:defPPr>
          </a:lstStyle>
          <a:p xmlns:a="http://schemas.openxmlformats.org/drawingml/2006/main">
            <a:pPr algn="ctr">
              <a:defRPr sz="1650" b="1">
                <a:solidFill>
                  <a:srgbClr val="F3F6F2"/>
                </a:solidFill>
              </a:defRPr>
            </a:pPr>
            <a:r>
              <a:rPr sz="1650" b="1">
                <a:solidFill>
                  <a:srgbClr val="F3F6F2"/>
                </a:solidFill>
              </a:rPr>
              <a:t>3</a:t>
            </a:r>
          </a:p>
        </p:txBody>
      </p:sp>
      <p:sp>
        <p:nvSpPr>
          <p:cNvPr id="15" name="">
            <a:extLst xmlns:a="http://schemas.openxmlformats.org/drawingml/2006/main">
              <a:ext uri="{FF2B5EF4-FFF2-40B4-BE49-F238E27FC236}">
                <a16:creationId xmlns:a16="http://schemas.microsoft.com/office/drawing/2014/main" id="{ED98E7D8-3A24-41FA-9D4C-F97577038DFC}"/>
              </a:ext>
            </a:extLst>
          </p:cNvPr>
          <p:cNvSpPr>
            <a:spLocks xmlns:a="http://schemas.openxmlformats.org/drawingml/2006/main" noGrp="1"/>
          </p:cNvSpPr>
          <p:nvPr/>
        </p:nvSpPr>
        <p:spPr>
          <a:xfrm xmlns:a="http://schemas.openxmlformats.org/drawingml/2006/main">
            <a:off x="6305550" y="2609850"/>
            <a:ext cx="2114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950" b="1">
                <a:solidFill>
                  <a:srgbClr val="F3F6F2"/>
                </a:solidFill>
                <a:latin typeface="Arial"/>
                <a:ea typeface="Arial"/>
                <a:cs typeface="Arial"/>
              </a:defRPr>
            </a:defPPr>
          </a:lstStyle>
          <a:p xmlns:a="http://schemas.openxmlformats.org/drawingml/2006/main">
            <a:pPr algn="l">
              <a:defRPr sz="1950" b="1">
                <a:solidFill>
                  <a:srgbClr val="F3F6F2"/>
                </a:solidFill>
                <a:latin typeface="Arial"/>
                <a:ea typeface="Arial"/>
                <a:cs typeface="Arial"/>
              </a:defRPr>
            </a:pPr>
            <a:r>
              <a:rPr sz="1950" b="1">
                <a:solidFill>
                  <a:srgbClr val="F3F6F2"/>
                </a:solidFill>
                <a:latin typeface="Arial"/>
                <a:ea typeface="Arial"/>
                <a:cs typeface="Arial"/>
              </a:rPr>
              <a:t>Adjust</a:t>
            </a:r>
          </a:p>
        </p:txBody>
      </p:sp>
      <p:sp>
        <p:nvSpPr>
          <p:cNvPr id="16" name="">
            <a:extLst xmlns:a="http://schemas.openxmlformats.org/drawingml/2006/main">
              <a:ext uri="{FF2B5EF4-FFF2-40B4-BE49-F238E27FC236}">
                <a16:creationId xmlns:a16="http://schemas.microsoft.com/office/drawing/2014/main" id="{7C761BA1-E5C1-4513-8824-91A143ABFB6A}"/>
              </a:ext>
            </a:extLst>
          </p:cNvPr>
          <p:cNvSpPr>
            <a:spLocks xmlns:a="http://schemas.openxmlformats.org/drawingml/2006/main" noGrp="1"/>
          </p:cNvSpPr>
          <p:nvPr/>
        </p:nvSpPr>
        <p:spPr>
          <a:xfrm xmlns:a="http://schemas.openxmlformats.org/drawingml/2006/main">
            <a:off x="6305550" y="3143250"/>
            <a:ext cx="21145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AFC4C6"/>
                </a:solidFill>
                <a:latin typeface="Arial"/>
                <a:ea typeface="Arial"/>
                <a:cs typeface="Arial"/>
              </a:defRPr>
            </a:defPPr>
          </a:lstStyle>
          <a:p xmlns:a="http://schemas.openxmlformats.org/drawingml/2006/main">
            <a:pPr algn="l">
              <a:defRPr sz="1200">
                <a:solidFill>
                  <a:srgbClr val="AFC4C6"/>
                </a:solidFill>
                <a:latin typeface="Arial"/>
                <a:ea typeface="Arial"/>
                <a:cs typeface="Arial"/>
              </a:defRPr>
            </a:pPr>
            <a:r>
              <a:rPr sz="1200">
                <a:solidFill>
                  <a:srgbClr val="AFC4C6"/>
                </a:solidFill>
                <a:latin typeface="Arial"/>
                <a:ea typeface="Arial"/>
                <a:cs typeface="Arial"/>
              </a:rPr>
              <a:t>Agree on weights, add worker exposure and city-plan constraints, then rerun the ranking.</a:t>
            </a:r>
          </a:p>
        </p:txBody>
      </p:sp>
      <p:sp>
        <p:nvSpPr>
          <p:cNvPr id="17" name="">
            <a:extLst xmlns:a="http://schemas.openxmlformats.org/drawingml/2006/main">
              <a:ext uri="{FF2B5EF4-FFF2-40B4-BE49-F238E27FC236}">
                <a16:creationId xmlns:a16="http://schemas.microsoft.com/office/drawing/2014/main" id="{D3B23C9F-FE5F-4A32-BB71-121B67E50671}"/>
              </a:ext>
            </a:extLst>
          </p:cNvPr>
          <p:cNvSpPr>
            <a:spLocks xmlns:a="http://schemas.openxmlformats.org/drawingml/2006/main" noGrp="1"/>
          </p:cNvSpPr>
          <p:nvPr/>
        </p:nvSpPr>
        <p:spPr>
          <a:xfrm xmlns:a="http://schemas.openxmlformats.org/drawingml/2006/main">
            <a:off x="8848725" y="1676400"/>
            <a:ext cx="2533650" cy="2762250"/>
          </a:xfrm>
          <a:prstGeom xmlns:a="http://schemas.openxmlformats.org/drawingml/2006/main" prst="roundRect">
            <a:avLst>
              <a:gd name="adj" fmla="val 5263"/>
            </a:avLst>
          </a:prstGeom>
          <a:solidFill xmlns:a="http://schemas.openxmlformats.org/drawingml/2006/main">
            <a:srgbClr val="113646"/>
          </a:solidFill>
          <a:ln xmlns:a="http://schemas.openxmlformats.org/drawingml/2006/main" w="9525">
            <a:solidFill>
              <a:srgbClr val="31505F"/>
            </a:solidFill>
            <a:prstDash val="solid"/>
          </a:ln>
        </p:spPr>
      </p:sp>
      <p:sp>
        <p:nvSpPr>
          <p:cNvPr id="18" name="">
            <a:extLst xmlns:a="http://schemas.openxmlformats.org/drawingml/2006/main">
              <a:ext uri="{FF2B5EF4-FFF2-40B4-BE49-F238E27FC236}">
                <a16:creationId xmlns:a16="http://schemas.microsoft.com/office/drawing/2014/main" id="{FA66C452-55B8-4C34-83EA-46270D574694}"/>
              </a:ext>
            </a:extLst>
          </p:cNvPr>
          <p:cNvSpPr>
            <a:spLocks xmlns:a="http://schemas.openxmlformats.org/drawingml/2006/main" noGrp="1"/>
          </p:cNvSpPr>
          <p:nvPr/>
        </p:nvSpPr>
        <p:spPr>
          <a:xfrm xmlns:a="http://schemas.openxmlformats.org/drawingml/2006/main">
            <a:off x="9058275" y="1885950"/>
            <a:ext cx="495300" cy="495300"/>
          </a:xfrm>
          <a:prstGeom xmlns:a="http://schemas.openxmlformats.org/drawingml/2006/main" prst="ellipse">
            <a:avLst/>
          </a:prstGeom>
          <a:solidFill xmlns:a="http://schemas.openxmlformats.org/drawingml/2006/main">
            <a:srgbClr val="6D5DD3"/>
          </a:solidFill>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F3F6F2"/>
                </a:solidFill>
              </a:defRPr>
            </a:defPPr>
          </a:lstStyle>
          <a:p xmlns:a="http://schemas.openxmlformats.org/drawingml/2006/main">
            <a:pPr algn="ctr">
              <a:defRPr sz="1650" b="1">
                <a:solidFill>
                  <a:srgbClr val="F3F6F2"/>
                </a:solidFill>
              </a:defRPr>
            </a:pPr>
            <a:r>
              <a:rPr sz="1650" b="1">
                <a:solidFill>
                  <a:srgbClr val="F3F6F2"/>
                </a:solidFill>
              </a:rPr>
              <a:t>4</a:t>
            </a:r>
          </a:p>
        </p:txBody>
      </p:sp>
      <p:sp>
        <p:nvSpPr>
          <p:cNvPr id="19" name="">
            <a:extLst xmlns:a="http://schemas.openxmlformats.org/drawingml/2006/main">
              <a:ext uri="{FF2B5EF4-FFF2-40B4-BE49-F238E27FC236}">
                <a16:creationId xmlns:a16="http://schemas.microsoft.com/office/drawing/2014/main" id="{9D691F1C-2D92-4317-824A-BFFC8115CCB6}"/>
              </a:ext>
            </a:extLst>
          </p:cNvPr>
          <p:cNvSpPr>
            <a:spLocks xmlns:a="http://schemas.openxmlformats.org/drawingml/2006/main" noGrp="1"/>
          </p:cNvSpPr>
          <p:nvPr/>
        </p:nvSpPr>
        <p:spPr>
          <a:xfrm xmlns:a="http://schemas.openxmlformats.org/drawingml/2006/main">
            <a:off x="9058275" y="2609850"/>
            <a:ext cx="2114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950" b="1">
                <a:solidFill>
                  <a:srgbClr val="F3F6F2"/>
                </a:solidFill>
                <a:latin typeface="Arial"/>
                <a:ea typeface="Arial"/>
                <a:cs typeface="Arial"/>
              </a:defRPr>
            </a:defPPr>
          </a:lstStyle>
          <a:p xmlns:a="http://schemas.openxmlformats.org/drawingml/2006/main">
            <a:pPr algn="l">
              <a:defRPr sz="1950" b="1">
                <a:solidFill>
                  <a:srgbClr val="F3F6F2"/>
                </a:solidFill>
                <a:latin typeface="Arial"/>
                <a:ea typeface="Arial"/>
                <a:cs typeface="Arial"/>
              </a:defRPr>
            </a:pPr>
            <a:r>
              <a:rPr sz="1950" b="1">
                <a:solidFill>
                  <a:srgbClr val="F3F6F2"/>
                </a:solidFill>
                <a:latin typeface="Arial"/>
                <a:ea typeface="Arial"/>
                <a:cs typeface="Arial"/>
              </a:rPr>
              <a:t>Repeat</a:t>
            </a:r>
          </a:p>
        </p:txBody>
      </p:sp>
      <p:sp>
        <p:nvSpPr>
          <p:cNvPr id="20" name="">
            <a:extLst xmlns:a="http://schemas.openxmlformats.org/drawingml/2006/main">
              <a:ext uri="{FF2B5EF4-FFF2-40B4-BE49-F238E27FC236}">
                <a16:creationId xmlns:a16="http://schemas.microsoft.com/office/drawing/2014/main" id="{094FB435-EC02-4ACF-8C93-E0E8824A121A}"/>
              </a:ext>
            </a:extLst>
          </p:cNvPr>
          <p:cNvSpPr>
            <a:spLocks xmlns:a="http://schemas.openxmlformats.org/drawingml/2006/main" noGrp="1"/>
          </p:cNvSpPr>
          <p:nvPr/>
        </p:nvSpPr>
        <p:spPr>
          <a:xfrm xmlns:a="http://schemas.openxmlformats.org/drawingml/2006/main">
            <a:off x="9058275" y="3143250"/>
            <a:ext cx="21145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AFC4C6"/>
                </a:solidFill>
                <a:latin typeface="Arial"/>
                <a:ea typeface="Arial"/>
                <a:cs typeface="Arial"/>
              </a:defRPr>
            </a:defPPr>
          </a:lstStyle>
          <a:p xmlns:a="http://schemas.openxmlformats.org/drawingml/2006/main">
            <a:pPr algn="l">
              <a:defRPr sz="1200">
                <a:solidFill>
                  <a:srgbClr val="AFC4C6"/>
                </a:solidFill>
                <a:latin typeface="Arial"/>
                <a:ea typeface="Arial"/>
                <a:cs typeface="Arial"/>
              </a:defRPr>
            </a:pPr>
            <a:r>
              <a:rPr sz="1200">
                <a:solidFill>
                  <a:srgbClr val="AFC4C6"/>
                </a:solidFill>
                <a:latin typeface="Arial"/>
                <a:ea typeface="Arial"/>
                <a:cs typeface="Arial"/>
              </a:rPr>
              <a:t>Test the same process in another Riyadh area before making an operational claim.</a:t>
            </a:r>
          </a:p>
        </p:txBody>
      </p:sp>
      <p:sp>
        <p:nvSpPr>
          <p:cNvPr id="21" name="">
            <a:extLst xmlns:a="http://schemas.openxmlformats.org/drawingml/2006/main">
              <a:ext uri="{FF2B5EF4-FFF2-40B4-BE49-F238E27FC236}">
                <a16:creationId xmlns:a16="http://schemas.microsoft.com/office/drawing/2014/main" id="{524A602C-A12E-4BD4-9B25-E85EE03C434F}"/>
              </a:ext>
            </a:extLst>
          </p:cNvPr>
          <p:cNvSpPr>
            <a:spLocks xmlns:a="http://schemas.openxmlformats.org/drawingml/2006/main" noGrp="1"/>
          </p:cNvSpPr>
          <p:nvPr/>
        </p:nvSpPr>
        <p:spPr>
          <a:xfrm xmlns:a="http://schemas.openxmlformats.org/drawingml/2006/main">
            <a:off x="590550" y="4762500"/>
            <a:ext cx="11010900" cy="1352550"/>
          </a:xfrm>
          <a:prstGeom xmlns:a="http://schemas.openxmlformats.org/drawingml/2006/main" prst="roundRect">
            <a:avLst>
              <a:gd name="adj" fmla="val 11268"/>
            </a:avLst>
          </a:prstGeom>
          <a:solidFill xmlns:a="http://schemas.openxmlformats.org/drawingml/2006/main">
            <a:srgbClr val="0D2A3A"/>
          </a:solidFill>
          <a:ln xmlns:a="http://schemas.openxmlformats.org/drawingml/2006/main" w="9525">
            <a:solidFill>
              <a:srgbClr val="1AA58F"/>
            </a:solidFill>
            <a:prstDash val="solid"/>
          </a:ln>
        </p:spPr>
      </p:sp>
      <p:sp>
        <p:nvSpPr>
          <p:cNvPr id="22" name="">
            <a:extLst xmlns:a="http://schemas.openxmlformats.org/drawingml/2006/main">
              <a:ext uri="{FF2B5EF4-FFF2-40B4-BE49-F238E27FC236}">
                <a16:creationId xmlns:a16="http://schemas.microsoft.com/office/drawing/2014/main" id="{4FD699C7-99E8-4888-835F-908384AEEB57}"/>
              </a:ext>
            </a:extLst>
          </p:cNvPr>
          <p:cNvSpPr>
            <a:spLocks xmlns:a="http://schemas.openxmlformats.org/drawingml/2006/main" noGrp="1"/>
          </p:cNvSpPr>
          <p:nvPr/>
        </p:nvSpPr>
        <p:spPr>
          <a:xfrm xmlns:a="http://schemas.openxmlformats.org/drawingml/2006/main">
            <a:off x="838200" y="50101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1AA58F"/>
                </a:solidFill>
                <a:latin typeface="Arial"/>
                <a:ea typeface="Arial"/>
                <a:cs typeface="Arial"/>
              </a:defRPr>
            </a:defPPr>
          </a:lstStyle>
          <a:p xmlns:a="http://schemas.openxmlformats.org/drawingml/2006/main">
            <a:pPr algn="l">
              <a:defRPr sz="975" b="1">
                <a:solidFill>
                  <a:srgbClr val="1AA58F"/>
                </a:solidFill>
                <a:latin typeface="Arial"/>
                <a:ea typeface="Arial"/>
                <a:cs typeface="Arial"/>
              </a:defRPr>
            </a:pPr>
            <a:r>
              <a:rPr sz="975" b="1">
                <a:solidFill>
                  <a:srgbClr val="1AA58F"/>
                </a:solidFill>
                <a:latin typeface="Arial"/>
                <a:ea typeface="Arial"/>
                <a:cs typeface="Arial"/>
              </a:rPr>
              <a:t>PILOT REQUEST</a:t>
            </a:r>
          </a:p>
        </p:txBody>
      </p:sp>
      <p:sp>
        <p:nvSpPr>
          <p:cNvPr id="23" name="">
            <a:extLst xmlns:a="http://schemas.openxmlformats.org/drawingml/2006/main">
              <a:ext uri="{FF2B5EF4-FFF2-40B4-BE49-F238E27FC236}">
                <a16:creationId xmlns:a16="http://schemas.microsoft.com/office/drawing/2014/main" id="{D80E4723-87C4-4AAA-B377-0B0080528BF0}"/>
              </a:ext>
            </a:extLst>
          </p:cNvPr>
          <p:cNvSpPr>
            <a:spLocks xmlns:a="http://schemas.openxmlformats.org/drawingml/2006/main" noGrp="1"/>
          </p:cNvSpPr>
          <p:nvPr/>
        </p:nvSpPr>
        <p:spPr>
          <a:xfrm xmlns:a="http://schemas.openxmlformats.org/drawingml/2006/main">
            <a:off x="838200" y="5334000"/>
            <a:ext cx="10382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025" b="1">
                <a:solidFill>
                  <a:srgbClr val="F3F6F2"/>
                </a:solidFill>
                <a:latin typeface="Arial"/>
                <a:ea typeface="Arial"/>
                <a:cs typeface="Arial"/>
              </a:defRPr>
            </a:defPPr>
          </a:lstStyle>
          <a:p xmlns:a="http://schemas.openxmlformats.org/drawingml/2006/main">
            <a:pPr algn="l">
              <a:defRPr sz="2025" b="1">
                <a:solidFill>
                  <a:srgbClr val="F3F6F2"/>
                </a:solidFill>
                <a:latin typeface="Arial"/>
                <a:ea typeface="Arial"/>
                <a:cs typeface="Arial"/>
              </a:defRPr>
            </a:pPr>
            <a:r>
              <a:rPr sz="2025" b="1">
                <a:solidFill>
                  <a:srgbClr val="F3F6F2"/>
                </a:solidFill>
                <a:latin typeface="Arial"/>
                <a:ea typeface="Arial"/>
                <a:cs typeface="Arial"/>
              </a:rPr>
              <a:t>Test HeatReady with one municipal team and measure useful findings, false alarms and time spent.</a:t>
            </a:r>
          </a:p>
        </p:txBody>
      </p:sp>
    </p:spTree>
    <p:extLst>
      <p:ext uri="{BB962C8B-B14F-4D97-AF65-F5344CB8AC3E}">
        <p14:creationId xmlns:p14="http://schemas.microsoft.com/office/powerpoint/2010/main" val="1987905984"/>
      </p:ext>
    </p:extLst>
  </p:cSld>
</p:sld>
</file>

<file path=ppt/slides/slide9.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2A7E771-19FC-4090-8525-C56F8C6E5247}"/>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stStyle>
          <a:p xmlns:a="http://schemas.openxmlformats.org/drawingml/2006/main">
            <a:pPr algn="l">
              <a:defRPr sz="1050" b="1">
                <a:solidFill>
                  <a:srgbClr val="1AA58F"/>
                </a:solidFill>
                <a:latin typeface="Arial"/>
                <a:ea typeface="Arial"/>
                <a:cs typeface="Arial"/>
              </a:defRPr>
            </a:pPr>
            <a:r>
              <a:rPr sz="1050" b="1">
                <a:solidFill>
                  <a:srgbClr val="1AA58F"/>
                </a:solidFill>
                <a:latin typeface="Arial"/>
                <a:ea typeface="Arial"/>
                <a:cs typeface="Arial"/>
              </a:rPr>
              <a:t>APPENDIX</a:t>
            </a:r>
          </a:p>
        </p:txBody>
      </p:sp>
      <p:sp>
        <p:nvSpPr>
          <p:cNvPr id="2" name="">
            <a:extLst xmlns:a="http://schemas.openxmlformats.org/drawingml/2006/main">
              <a:ext uri="{FF2B5EF4-FFF2-40B4-BE49-F238E27FC236}">
                <a16:creationId xmlns:a16="http://schemas.microsoft.com/office/drawing/2014/main" id="{0E194A1F-FC58-40A6-9A63-2DD82C30C032}"/>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stStyle>
          <a:p xmlns:a="http://schemas.openxmlformats.org/drawingml/2006/main">
            <a:pPr algn="l">
              <a:defRPr sz="2700" b="1">
                <a:solidFill>
                  <a:srgbClr val="F3F6F2"/>
                </a:solidFill>
                <a:latin typeface="Arial"/>
                <a:ea typeface="Arial"/>
                <a:cs typeface="Arial"/>
              </a:defRPr>
            </a:pPr>
            <a:r>
              <a:rPr sz="2700" b="1">
                <a:solidFill>
                  <a:srgbClr val="F3F6F2"/>
                </a:solidFill>
                <a:latin typeface="Arial"/>
                <a:ea typeface="Arial"/>
                <a:cs typeface="Arial"/>
              </a:rPr>
              <a:t>Data sources and dates</a:t>
            </a:r>
          </a:p>
        </p:txBody>
      </p:sp>
      <p:sp>
        <p:nvSpPr>
          <p:cNvPr id="3" name="">
            <a:extLst xmlns:a="http://schemas.openxmlformats.org/drawingml/2006/main">
              <a:ext uri="{FF2B5EF4-FFF2-40B4-BE49-F238E27FC236}">
                <a16:creationId xmlns:a16="http://schemas.microsoft.com/office/drawing/2014/main" id="{6D802BFD-2B01-433B-A459-85620AA05C89}"/>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stStyle>
          <a:p xmlns:a="http://schemas.openxmlformats.org/drawingml/2006/main">
            <a:pPr algn="r">
              <a:defRPr sz="1050" b="1">
                <a:solidFill>
                  <a:srgbClr val="AFC4C6"/>
                </a:solidFill>
                <a:latin typeface="Arial"/>
                <a:ea typeface="Arial"/>
                <a:cs typeface="Arial"/>
              </a:defRPr>
            </a:pPr>
            <a:r>
              <a:rPr sz="1050" b="1">
                <a:solidFill>
                  <a:srgbClr val="AFC4C6"/>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5C570A37-2690-475F-A210-2C9BB7495422}"/>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graphicFrame>
        <p:nvGraphicFramePr>
          <p:cNvPr id="5" name="">
            <a:extLst xmlns:a="http://schemas.openxmlformats.org/drawingml/2006/main">
              <a:ext uri="{FF2B5EF4-FFF2-40B4-BE49-F238E27FC236}">
                <a16:creationId xmlns:a16="http://schemas.microsoft.com/office/drawing/2014/main" id="{8F5726DA-5093-42F3-9B82-D795CB45764A}"/>
              </a:ext>
            </a:extLst>
          </p:cNvPr>
          <p:cNvGraphicFramePr/>
          <p:nvPr/>
        </p:nvGraphicFramePr>
        <p:xfrm>
          <a:off xmlns:a="http://schemas.openxmlformats.org/drawingml/2006/main" x="590550" y="1562100"/>
          <a:ext xmlns:a="http://schemas.openxmlformats.org/drawingml/2006/main" cx="11010900" cy="4191000"/>
        </p:xfrm>
        <a:graphic xmlns:a="http://schemas.openxmlformats.org/drawingml/2006/main">
          <a:graphicData uri="http://schemas.openxmlformats.org/drawingml/2006/table">
            <a:tbl>
              <a:tblPr/>
              <a:tblGrid>
                <a:gridCol w="2095500"/>
                <a:gridCol w="2476500"/>
                <a:gridCol w="3905250"/>
                <a:gridCol w="2533650"/>
              </a:tblGrid>
              <a:tr h="523875">
                <a:tc>
                  <a:txBody>
                    <a:bodyPr/>
                    <a:lstStyle/>
                    <a:p>
                      <a:r>
                        <a:rPr sz="1050" b="1">
                          <a:solidFill>
                            <a:srgbClr val="F3F6F2"/>
                          </a:solidFill>
                        </a:rPr>
                        <a:t>Source</a:t>
                      </a:r>
                    </a:p>
                  </a:txBody>
                  <a:tcPr marL="95250" marR="95250" marT="76200" marB="76200">
                    <a:lnL w="9525">
                      <a:solidFill>
                        <a:srgbClr val="31505F"/>
                      </a:solidFill>
                      <a:prstDash val="solid"/>
                    </a:lnL>
                    <a:lnR w="9525">
                      <a:solidFill>
                        <a:srgbClr val="31505F"/>
                      </a:solidFill>
                      <a:prstDash val="solid"/>
                    </a:lnR>
                    <a:lnT w="9525">
                      <a:solidFill>
                        <a:srgbClr val="31505F"/>
                      </a:solidFill>
                      <a:prstDash val="solid"/>
                    </a:lnT>
                    <a:lnB w="9525">
                      <a:solidFill>
                        <a:srgbClr val="31505F"/>
                      </a:solidFill>
                      <a:prstDash val="solid"/>
                    </a:lnB>
                    <a:solidFill>
                      <a:srgbClr val="1AA58F"/>
                    </a:solidFill>
                  </a:tcPr>
                </a:tc>
                <a:tc>
                  <a:txBody>
                    <a:bodyPr/>
                    <a:lstStyle/>
                    <a:p>
                      <a:r>
                        <a:rPr sz="1050" b="1">
                          <a:solidFill>
                            <a:srgbClr val="F3F6F2"/>
                          </a:solidFill>
                        </a:rPr>
                        <a:t>Dates used</a:t>
                      </a:r>
                    </a:p>
                  </a:txBody>
                  <a:tcPr marL="95250" marR="95250" marT="76200" marB="76200">
                    <a:lnR w="9525">
                      <a:solidFill>
                        <a:srgbClr val="31505F"/>
                      </a:solidFill>
                      <a:prstDash val="solid"/>
                    </a:lnR>
                    <a:lnT w="9525">
                      <a:solidFill>
                        <a:srgbClr val="31505F"/>
                      </a:solidFill>
                      <a:prstDash val="solid"/>
                    </a:lnT>
                    <a:lnB w="9525">
                      <a:solidFill>
                        <a:srgbClr val="31505F"/>
                      </a:solidFill>
                      <a:prstDash val="solid"/>
                    </a:lnB>
                    <a:solidFill>
                      <a:srgbClr val="1AA58F"/>
                    </a:solidFill>
                  </a:tcPr>
                </a:tc>
                <a:tc>
                  <a:txBody>
                    <a:bodyPr/>
                    <a:lstStyle/>
                    <a:p>
                      <a:r>
                        <a:rPr sz="1050" b="1">
                          <a:solidFill>
                            <a:srgbClr val="F3F6F2"/>
                          </a:solidFill>
                        </a:rPr>
                        <a:t>Role</a:t>
                      </a:r>
                    </a:p>
                  </a:txBody>
                  <a:tcPr marL="95250" marR="95250" marT="76200" marB="76200">
                    <a:lnR w="9525">
                      <a:solidFill>
                        <a:srgbClr val="31505F"/>
                      </a:solidFill>
                      <a:prstDash val="solid"/>
                    </a:lnR>
                    <a:lnT w="9525">
                      <a:solidFill>
                        <a:srgbClr val="31505F"/>
                      </a:solidFill>
                      <a:prstDash val="solid"/>
                    </a:lnT>
                    <a:lnB w="9525">
                      <a:solidFill>
                        <a:srgbClr val="31505F"/>
                      </a:solidFill>
                      <a:prstDash val="solid"/>
                    </a:lnB>
                    <a:solidFill>
                      <a:srgbClr val="1AA58F"/>
                    </a:solidFill>
                  </a:tcPr>
                </a:tc>
                <a:tc>
                  <a:txBody>
                    <a:bodyPr/>
                    <a:lstStyle/>
                    <a:p>
                      <a:r>
                        <a:rPr sz="1050" b="1">
                          <a:solidFill>
                            <a:srgbClr val="F3F6F2"/>
                          </a:solidFill>
                        </a:rPr>
                        <a:t>Access / licence</a:t>
                      </a:r>
                    </a:p>
                  </a:txBody>
                  <a:tcPr marL="95250" marR="95250" marT="76200" marB="76200">
                    <a:lnR w="9525">
                      <a:solidFill>
                        <a:srgbClr val="31505F"/>
                      </a:solidFill>
                      <a:prstDash val="solid"/>
                    </a:lnR>
                    <a:lnT w="9525">
                      <a:solidFill>
                        <a:srgbClr val="31505F"/>
                      </a:solidFill>
                      <a:prstDash val="solid"/>
                    </a:lnT>
                    <a:lnB w="9525">
                      <a:solidFill>
                        <a:srgbClr val="31505F"/>
                      </a:solidFill>
                      <a:prstDash val="solid"/>
                    </a:lnB>
                    <a:solidFill>
                      <a:srgbClr val="1AA58F"/>
                    </a:solidFill>
                  </a:tcPr>
                </a:tc>
              </a:tr>
              <a:tr h="523875">
                <a:tc>
                  <a:txBody>
                    <a:bodyPr/>
                    <a:lstStyle/>
                    <a:p>
                      <a:r>
                        <a:rPr sz="900">
                          <a:solidFill>
                            <a:srgbClr val="F3F6F2"/>
                          </a:solidFill>
                        </a:rPr>
                        <a:t>Sentinel-2 L2A</a:t>
                      </a:r>
                    </a:p>
                  </a:txBody>
                  <a:tcPr marL="95250" marR="95250" marT="57150" marB="57150">
                    <a:lnL w="9525">
                      <a:solidFill>
                        <a:srgbClr val="31505F"/>
                      </a:solidFill>
                      <a:prstDash val="solid"/>
                    </a:lnL>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11 May 2018; 10 May 2021; 9 May 2025</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Optical features, masks, vegetation</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Copernicus open access</a:t>
                      </a:r>
                    </a:p>
                  </a:txBody>
                  <a:tcPr marL="95250" marR="95250" marT="57150" marB="57150">
                    <a:lnR w="9525">
                      <a:solidFill>
                        <a:srgbClr val="31505F"/>
                      </a:solidFill>
                      <a:prstDash val="solid"/>
                    </a:lnR>
                    <a:lnB w="9525">
                      <a:solidFill>
                        <a:srgbClr val="31505F"/>
                      </a:solidFill>
                      <a:prstDash val="solid"/>
                    </a:lnB>
                    <a:solidFill>
                      <a:srgbClr val="113646"/>
                    </a:solidFill>
                  </a:tcPr>
                </a:tc>
              </a:tr>
              <a:tr h="523875">
                <a:tc>
                  <a:txBody>
                    <a:bodyPr/>
                    <a:lstStyle/>
                    <a:p>
                      <a:r>
                        <a:rPr sz="900">
                          <a:solidFill>
                            <a:srgbClr val="F3F6F2"/>
                          </a:solidFill>
                        </a:rPr>
                        <a:t>Sentinel-1 RTC</a:t>
                      </a:r>
                    </a:p>
                  </a:txBody>
                  <a:tcPr marL="95250" marR="95250" marT="57150" marB="57150">
                    <a:lnL w="9525">
                      <a:solidFill>
                        <a:srgbClr val="31505F"/>
                      </a:solidFill>
                      <a:prstDash val="solid"/>
                    </a:lnL>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10 May 2018; 6 May 2021; 9 May 2025</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Radar structure</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Microsoft PC; CC BY 4.0</a:t>
                      </a:r>
                    </a:p>
                  </a:txBody>
                  <a:tcPr marL="95250" marR="95250" marT="57150" marB="57150">
                    <a:lnR w="9525">
                      <a:solidFill>
                        <a:srgbClr val="31505F"/>
                      </a:solidFill>
                      <a:prstDash val="solid"/>
                    </a:lnR>
                    <a:lnB w="9525">
                      <a:solidFill>
                        <a:srgbClr val="31505F"/>
                      </a:solidFill>
                      <a:prstDash val="solid"/>
                    </a:lnB>
                    <a:solidFill>
                      <a:srgbClr val="113646"/>
                    </a:solidFill>
                  </a:tcPr>
                </a:tc>
              </a:tr>
              <a:tr h="523875">
                <a:tc>
                  <a:txBody>
                    <a:bodyPr/>
                    <a:lstStyle/>
                    <a:p>
                      <a:r>
                        <a:rPr sz="900">
                          <a:solidFill>
                            <a:srgbClr val="F3F6F2"/>
                          </a:solidFill>
                        </a:rPr>
                        <a:t>IO/Esri annual LULC</a:t>
                      </a:r>
                    </a:p>
                  </a:txBody>
                  <a:tcPr marL="95250" marR="95250" marT="57150" marB="57150">
                    <a:lnL w="9525">
                      <a:solidFill>
                        <a:srgbClr val="31505F"/>
                      </a:solidFill>
                      <a:prstDash val="solid"/>
                    </a:lnL>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2018–2023</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Trend + candidate endpoint change</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CC BY 4.0</a:t>
                      </a:r>
                    </a:p>
                  </a:txBody>
                  <a:tcPr marL="95250" marR="95250" marT="57150" marB="57150">
                    <a:lnR w="9525">
                      <a:solidFill>
                        <a:srgbClr val="31505F"/>
                      </a:solidFill>
                      <a:prstDash val="solid"/>
                    </a:lnR>
                    <a:lnB w="9525">
                      <a:solidFill>
                        <a:srgbClr val="31505F"/>
                      </a:solidFill>
                      <a:prstDash val="solid"/>
                    </a:lnB>
                    <a:solidFill>
                      <a:srgbClr val="113646"/>
                    </a:solidFill>
                  </a:tcPr>
                </a:tc>
              </a:tr>
              <a:tr h="523875">
                <a:tc>
                  <a:txBody>
                    <a:bodyPr/>
                    <a:lstStyle/>
                    <a:p>
                      <a:r>
                        <a:rPr sz="900">
                          <a:solidFill>
                            <a:srgbClr val="F3F6F2"/>
                          </a:solidFill>
                        </a:rPr>
                        <a:t>Landsat 8 C2 L2</a:t>
                      </a:r>
                    </a:p>
                  </a:txBody>
                  <a:tcPr marL="95250" marR="95250" marT="57150" marB="57150">
                    <a:lnL w="9525">
                      <a:solidFill>
                        <a:srgbClr val="31505F"/>
                      </a:solidFill>
                      <a:prstDash val="solid"/>
                    </a:lnL>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10 May 2025</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Land-surface temperature</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US public domain</a:t>
                      </a:r>
                    </a:p>
                  </a:txBody>
                  <a:tcPr marL="95250" marR="95250" marT="57150" marB="57150">
                    <a:lnR w="9525">
                      <a:solidFill>
                        <a:srgbClr val="31505F"/>
                      </a:solidFill>
                      <a:prstDash val="solid"/>
                    </a:lnR>
                    <a:lnB w="9525">
                      <a:solidFill>
                        <a:srgbClr val="31505F"/>
                      </a:solidFill>
                      <a:prstDash val="solid"/>
                    </a:lnB>
                    <a:solidFill>
                      <a:srgbClr val="113646"/>
                    </a:solidFill>
                  </a:tcPr>
                </a:tc>
              </a:tr>
              <a:tr h="523875">
                <a:tc>
                  <a:txBody>
                    <a:bodyPr/>
                    <a:lstStyle/>
                    <a:p>
                      <a:r>
                        <a:rPr sz="900">
                          <a:solidFill>
                            <a:srgbClr val="F3F6F2"/>
                          </a:solidFill>
                        </a:rPr>
                        <a:t>ESA WorldCover</a:t>
                      </a:r>
                    </a:p>
                  </a:txBody>
                  <a:tcPr marL="95250" marR="95250" marT="57150" marB="57150">
                    <a:lnL w="9525">
                      <a:solidFill>
                        <a:srgbClr val="31505F"/>
                      </a:solidFill>
                      <a:prstDash val="solid"/>
                    </a:lnL>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2021</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Spatial holdout reference</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CC BY 4.0</a:t>
                      </a:r>
                    </a:p>
                  </a:txBody>
                  <a:tcPr marL="95250" marR="95250" marT="57150" marB="57150">
                    <a:lnR w="9525">
                      <a:solidFill>
                        <a:srgbClr val="31505F"/>
                      </a:solidFill>
                      <a:prstDash val="solid"/>
                    </a:lnR>
                    <a:lnB w="9525">
                      <a:solidFill>
                        <a:srgbClr val="31505F"/>
                      </a:solidFill>
                      <a:prstDash val="solid"/>
                    </a:lnB>
                    <a:solidFill>
                      <a:srgbClr val="113646"/>
                    </a:solidFill>
                  </a:tcPr>
                </a:tc>
              </a:tr>
              <a:tr h="523875">
                <a:tc>
                  <a:txBody>
                    <a:bodyPr/>
                    <a:lstStyle/>
                    <a:p>
                      <a:r>
                        <a:rPr sz="900">
                          <a:solidFill>
                            <a:srgbClr val="F3F6F2"/>
                          </a:solidFill>
                        </a:rPr>
                        <a:t>WorldPop Global2</a:t>
                      </a:r>
                    </a:p>
                  </a:txBody>
                  <a:tcPr marL="95250" marR="95250" marT="57150" marB="57150">
                    <a:lnL w="9525">
                      <a:solidFill>
                        <a:srgbClr val="31505F"/>
                      </a:solidFill>
                      <a:prstDash val="solid"/>
                    </a:lnL>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2025</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Modelled population</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CC BY 4.0</a:t>
                      </a:r>
                    </a:p>
                  </a:txBody>
                  <a:tcPr marL="95250" marR="95250" marT="57150" marB="57150">
                    <a:lnR w="9525">
                      <a:solidFill>
                        <a:srgbClr val="31505F"/>
                      </a:solidFill>
                      <a:prstDash val="solid"/>
                    </a:lnR>
                    <a:lnB w="9525">
                      <a:solidFill>
                        <a:srgbClr val="31505F"/>
                      </a:solidFill>
                      <a:prstDash val="solid"/>
                    </a:lnB>
                    <a:solidFill>
                      <a:srgbClr val="113646"/>
                    </a:solidFill>
                  </a:tcPr>
                </a:tc>
              </a:tr>
              <a:tr h="523875">
                <a:tc>
                  <a:txBody>
                    <a:bodyPr/>
                    <a:lstStyle/>
                    <a:p>
                      <a:r>
                        <a:rPr sz="900">
                          <a:solidFill>
                            <a:srgbClr val="F3F6F2"/>
                          </a:solidFill>
                        </a:rPr>
                        <a:t>Planet Tanager</a:t>
                      </a:r>
                    </a:p>
                  </a:txBody>
                  <a:tcPr marL="95250" marR="95250" marT="57150" marB="57150">
                    <a:lnL w="9525">
                      <a:solidFill>
                        <a:srgbClr val="31505F"/>
                      </a:solidFill>
                      <a:prstDash val="solid"/>
                    </a:lnL>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15 May 2025</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Spectral context + sensitivity test</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Open urban archive; CC BY 4.0</a:t>
                      </a:r>
                    </a:p>
                  </a:txBody>
                  <a:tcPr marL="95250" marR="95250" marT="57150" marB="57150">
                    <a:lnR w="9525">
                      <a:solidFill>
                        <a:srgbClr val="31505F"/>
                      </a:solidFill>
                      <a:prstDash val="solid"/>
                    </a:lnR>
                    <a:lnB w="9525">
                      <a:solidFill>
                        <a:srgbClr val="31505F"/>
                      </a:solidFill>
                      <a:prstDash val="solid"/>
                    </a:lnB>
                    <a:solidFill>
                      <a:srgbClr val="113646"/>
                    </a:solidFill>
                  </a:tcPr>
                </a:tc>
              </a:tr>
            </a:tbl>
          </a:graphicData>
        </a:graphic>
      </p:graphicFrame>
      <p:sp>
        <p:nvSpPr>
          <p:cNvPr id="6" name="">
            <a:extLst xmlns:a="http://schemas.openxmlformats.org/drawingml/2006/main">
              <a:ext uri="{FF2B5EF4-FFF2-40B4-BE49-F238E27FC236}">
                <a16:creationId xmlns:a16="http://schemas.microsoft.com/office/drawing/2014/main" id="{E7387C9D-7AB8-4C1A-8BDD-2D707FE6F3B4}"/>
              </a:ext>
            </a:extLst>
          </p:cNvPr>
          <p:cNvSpPr>
            <a:spLocks xmlns:a="http://schemas.openxmlformats.org/drawingml/2006/main" noGrp="1"/>
          </p:cNvSpPr>
          <p:nvPr/>
        </p:nvSpPr>
        <p:spPr>
          <a:xfrm xmlns:a="http://schemas.openxmlformats.org/drawingml/2006/main">
            <a:off x="590550" y="5924550"/>
            <a:ext cx="11010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125" b="1">
                <a:solidFill>
                  <a:srgbClr val="E2AD2B"/>
                </a:solidFill>
                <a:latin typeface="Arial"/>
                <a:ea typeface="Arial"/>
                <a:cs typeface="Arial"/>
              </a:defRPr>
            </a:defPPr>
          </a:lstStyle>
          <a:p xmlns:a="http://schemas.openxmlformats.org/drawingml/2006/main">
            <a:pPr algn="l">
              <a:defRPr sz="1125" b="1">
                <a:solidFill>
                  <a:srgbClr val="E2AD2B"/>
                </a:solidFill>
                <a:latin typeface="Arial"/>
                <a:ea typeface="Arial"/>
                <a:cs typeface="Arial"/>
              </a:defRPr>
            </a:pPr>
            <a:r>
              <a:rPr sz="1125" b="1">
                <a:solidFill>
                  <a:srgbClr val="E2AD2B"/>
                </a:solidFill>
                <a:latin typeface="Arial"/>
                <a:ea typeface="Arial"/>
                <a:cs typeface="Arial"/>
              </a:rPr>
              <a:t>Item IDs, processing steps and licences are documented in the repository. Satellite 813 imagery was not used.</a:t>
            </a:r>
          </a:p>
        </p:txBody>
      </p:sp>
    </p:spTree>
    <p:extLst>
      <p:ext uri="{BB962C8B-B14F-4D97-AF65-F5344CB8AC3E}">
        <p14:creationId xmlns:p14="http://schemas.microsoft.com/office/powerpoint/2010/main" val="1098257966"/>
      </p:ext>
    </p:extLst>
  </p:cSld>
</p:sld>
</file>

<file path=ppt/slides/slide10.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8C262C4C-7F7C-4C4B-ABB2-20D1C2958CF9}"/>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stStyle>
          <a:p xmlns:a="http://schemas.openxmlformats.org/drawingml/2006/main">
            <a:pPr algn="l">
              <a:defRPr sz="2700" b="1">
                <a:solidFill>
                  <a:srgbClr val="F3F6F2"/>
                </a:solidFill>
                <a:latin typeface="Arial"/>
                <a:ea typeface="Arial"/>
                <a:cs typeface="Arial"/>
              </a:defRPr>
            </a:pPr>
            <a:r>
              <a:rPr sz="2700" b="1">
                <a:solidFill>
                  <a:srgbClr val="F3F6F2"/>
                </a:solidFill>
                <a:latin typeface="Arial"/>
                <a:ea typeface="Arial"/>
                <a:cs typeface="Arial"/>
              </a:rPr>
              <a:t>Validation evidence and limits</a:t>
            </a:r>
          </a:p>
        </p:txBody>
      </p:sp>
      <p:sp>
        <p:nvSpPr>
          <p:cNvPr id="2" name="">
            <a:extLst xmlns:a="http://schemas.openxmlformats.org/drawingml/2006/main">
              <a:ext uri="{FF2B5EF4-FFF2-40B4-BE49-F238E27FC236}">
                <a16:creationId xmlns:a16="http://schemas.microsoft.com/office/drawing/2014/main" id="{F6DB2D09-BF41-4CD9-B48E-6EA6FFE5371D}"/>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pic>
        <p:nvPicPr>
          <p:cNvPr id="3" name="">
            <a:extLst xmlns:a="http://schemas.openxmlformats.org/drawingml/2006/main">
              <a:ext uri="{FF2B5EF4-FFF2-40B4-BE49-F238E27FC236}">
                <a16:creationId xmlns:a16="http://schemas.microsoft.com/office/drawing/2014/main" id="{FDAAE964-4FB5-4C15-8E85-69FFDE2A32F4}"/>
              </a:ext>
            </a:extLst>
          </p:cNvPr>
          <p:cNvPicPr>
            <a:picLocks xmlns:a="http://schemas.openxmlformats.org/drawingml/2006/main" noChangeAspect="1"/>
          </p:cNvPicPr>
          <p:nvPr/>
        </p:nvPicPr>
        <p:blipFill>
          <a:blip xmlns:r="http://schemas.openxmlformats.org/officeDocument/2006/relationships" xmlns:a="http://schemas.openxmlformats.org/drawingml/2006/main" r:embed="R1c5467f358044d81"/>
          <a:stretch xmlns:a="http://schemas.openxmlformats.org/drawingml/2006/main"/>
        </p:blipFill>
        <p:spPr>
          <a:xfrm xmlns:a="http://schemas.openxmlformats.org/drawingml/2006/main">
            <a:off x="590550" y="2361849"/>
            <a:ext cx="6286500" cy="2667703"/>
          </a:xfrm>
          <a:prstGeom xmlns:a="http://schemas.openxmlformats.org/drawingml/2006/main" prst="roundRect">
            <a:avLst>
              <a:gd name="adj" fmla="val 2232"/>
            </a:avLst>
          </a:prstGeom>
        </p:spPr>
      </p:pic>
      <p:sp>
        <p:nvSpPr>
          <p:cNvPr id="4" name="">
            <a:extLst xmlns:a="http://schemas.openxmlformats.org/drawingml/2006/main">
              <a:ext uri="{FF2B5EF4-FFF2-40B4-BE49-F238E27FC236}">
                <a16:creationId xmlns:a16="http://schemas.microsoft.com/office/drawing/2014/main" id="{BFE439EE-1930-41FB-9CD0-A4DCF182BFFA}"/>
              </a:ext>
            </a:extLst>
          </p:cNvPr>
          <p:cNvSpPr>
            <a:spLocks xmlns:a="http://schemas.openxmlformats.org/drawingml/2006/main" noGrp="1"/>
          </p:cNvSpPr>
          <p:nvPr/>
        </p:nvSpPr>
        <p:spPr>
          <a:xfrm xmlns:a="http://schemas.openxmlformats.org/drawingml/2006/main">
            <a:off x="590550" y="5924550"/>
            <a:ext cx="628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1">
                <a:solidFill>
                  <a:srgbClr val="AFC4C6"/>
                </a:solidFill>
                <a:latin typeface="Arial"/>
                <a:ea typeface="Arial"/>
                <a:cs typeface="Arial"/>
              </a:defRPr>
            </a:defPPr>
          </a:lstStyle>
          <a:p xmlns:a="http://schemas.openxmlformats.org/drawingml/2006/main">
            <a:pPr algn="ctr">
              <a:defRPr sz="1125" b="1">
                <a:solidFill>
                  <a:srgbClr val="AFC4C6"/>
                </a:solidFill>
                <a:latin typeface="Arial"/>
                <a:ea typeface="Arial"/>
                <a:cs typeface="Arial"/>
              </a:defRPr>
            </a:pPr>
            <a:r>
              <a:rPr sz="1125" b="1">
                <a:solidFill>
                  <a:srgbClr val="AFC4C6"/>
                </a:solidFill>
                <a:latin typeface="Arial"/>
                <a:ea typeface="Arial"/>
                <a:cs typeface="Arial"/>
              </a:rPr>
              <a:t>Training area: west    Tuning area: middle    Test area: east</a:t>
            </a:r>
          </a:p>
        </p:txBody>
      </p:sp>
      <p:sp>
        <p:nvSpPr>
          <p:cNvPr id="5" name="">
            <a:extLst xmlns:a="http://schemas.openxmlformats.org/drawingml/2006/main">
              <a:ext uri="{FF2B5EF4-FFF2-40B4-BE49-F238E27FC236}">
                <a16:creationId xmlns:a16="http://schemas.microsoft.com/office/drawing/2014/main" id="{573FE4FF-9FC7-475E-8BC0-FED40F8CF3A7}"/>
              </a:ext>
            </a:extLst>
          </p:cNvPr>
          <p:cNvSpPr>
            <a:spLocks xmlns:a="http://schemas.openxmlformats.org/drawingml/2006/main" noGrp="1"/>
          </p:cNvSpPr>
          <p:nvPr/>
        </p:nvSpPr>
        <p:spPr>
          <a:xfrm xmlns:a="http://schemas.openxmlformats.org/drawingml/2006/main">
            <a:off x="7181850" y="1562100"/>
            <a:ext cx="9525" cy="4705350"/>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6" name="">
            <a:extLst xmlns:a="http://schemas.openxmlformats.org/drawingml/2006/main">
              <a:ext uri="{FF2B5EF4-FFF2-40B4-BE49-F238E27FC236}">
                <a16:creationId xmlns:a16="http://schemas.microsoft.com/office/drawing/2014/main" id="{1ABC1508-E7DA-479F-A5E7-19FA53166E7E}"/>
              </a:ext>
            </a:extLst>
          </p:cNvPr>
          <p:cNvSpPr>
            <a:spLocks xmlns:a="http://schemas.openxmlformats.org/drawingml/2006/main" noGrp="1"/>
          </p:cNvSpPr>
          <p:nvPr/>
        </p:nvSpPr>
        <p:spPr>
          <a:xfrm xmlns:a="http://schemas.openxmlformats.org/drawingml/2006/main">
            <a:off x="7524750" y="163830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1AA58F"/>
                </a:solidFill>
                <a:latin typeface="Arial"/>
                <a:ea typeface="Arial"/>
                <a:cs typeface="Arial"/>
              </a:defRPr>
            </a:defPPr>
          </a:lstStyle>
          <a:p xmlns:a="http://schemas.openxmlformats.org/drawingml/2006/main">
            <a:pPr algn="l">
              <a:defRPr sz="975" b="1">
                <a:solidFill>
                  <a:srgbClr val="1AA58F"/>
                </a:solidFill>
                <a:latin typeface="Arial"/>
                <a:ea typeface="Arial"/>
                <a:cs typeface="Arial"/>
              </a:defRPr>
            </a:pPr>
            <a:r>
              <a:rPr sz="975" b="1">
                <a:solidFill>
                  <a:srgbClr val="1AA58F"/>
                </a:solidFill>
                <a:latin typeface="Arial"/>
                <a:ea typeface="Arial"/>
                <a:cs typeface="Arial"/>
              </a:rPr>
              <a:t>WHAT THE TEST SHOWS</a:t>
            </a:r>
          </a:p>
        </p:txBody>
      </p:sp>
      <p:sp>
        <p:nvSpPr>
          <p:cNvPr id="7" name="">
            <a:extLst xmlns:a="http://schemas.openxmlformats.org/drawingml/2006/main">
              <a:ext uri="{FF2B5EF4-FFF2-40B4-BE49-F238E27FC236}">
                <a16:creationId xmlns:a16="http://schemas.microsoft.com/office/drawing/2014/main" id="{3FCCD7E2-81B0-40E3-9C10-C9177F7BD2D4}"/>
              </a:ext>
            </a:extLst>
          </p:cNvPr>
          <p:cNvSpPr>
            <a:spLocks xmlns:a="http://schemas.openxmlformats.org/drawingml/2006/main" noGrp="1"/>
          </p:cNvSpPr>
          <p:nvPr/>
        </p:nvSpPr>
        <p:spPr>
          <a:xfrm xmlns:a="http://schemas.openxmlformats.org/drawingml/2006/main">
            <a:off x="7524750" y="1981200"/>
            <a:ext cx="2095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1">
                <a:solidFill>
                  <a:srgbClr val="1AA58F"/>
                </a:solidFill>
                <a:latin typeface="Arial"/>
                <a:ea typeface="Arial"/>
                <a:cs typeface="Arial"/>
              </a:defRPr>
            </a:defPPr>
          </a:lstStyle>
          <a:p xmlns:a="http://schemas.openxmlformats.org/drawingml/2006/main">
            <a:pPr algn="l">
              <a:defRPr sz="1500" b="1">
                <a:solidFill>
                  <a:srgbClr val="1AA58F"/>
                </a:solidFill>
                <a:latin typeface="Arial"/>
                <a:ea typeface="Arial"/>
                <a:cs typeface="Arial"/>
              </a:defRPr>
            </a:pPr>
            <a:r>
              <a:rPr sz="1500" b="1">
                <a:solidFill>
                  <a:srgbClr val="1AA58F"/>
                </a:solidFill>
                <a:latin typeface="Arial"/>
                <a:ea typeface="Arial"/>
                <a:cs typeface="Arial"/>
              </a:rPr>
              <a:t>•</a:t>
            </a:r>
          </a:p>
        </p:txBody>
      </p:sp>
      <p:sp>
        <p:nvSpPr>
          <p:cNvPr id="8" name="">
            <a:extLst xmlns:a="http://schemas.openxmlformats.org/drawingml/2006/main">
              <a:ext uri="{FF2B5EF4-FFF2-40B4-BE49-F238E27FC236}">
                <a16:creationId xmlns:a16="http://schemas.microsoft.com/office/drawing/2014/main" id="{B209B2C8-A1EF-45D7-ACB1-23CA2EB1E7BC}"/>
              </a:ext>
            </a:extLst>
          </p:cNvPr>
          <p:cNvSpPr>
            <a:spLocks xmlns:a="http://schemas.openxmlformats.org/drawingml/2006/main" noGrp="1"/>
          </p:cNvSpPr>
          <p:nvPr/>
        </p:nvSpPr>
        <p:spPr>
          <a:xfrm xmlns:a="http://schemas.openxmlformats.org/drawingml/2006/main">
            <a:off x="7772400" y="1981200"/>
            <a:ext cx="3448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stStyle>
          <a:p xmlns:a="http://schemas.openxmlformats.org/drawingml/2006/main">
            <a:pPr algn="l">
              <a:defRPr sz="1200">
                <a:solidFill>
                  <a:srgbClr val="F3F6F2"/>
                </a:solidFill>
                <a:latin typeface="Arial"/>
                <a:ea typeface="Arial"/>
                <a:cs typeface="Arial"/>
              </a:defRPr>
            </a:pPr>
            <a:r>
              <a:rPr sz="1200">
                <a:solidFill>
                  <a:srgbClr val="F3F6F2"/>
                </a:solidFill>
                <a:latin typeface="Arial"/>
                <a:ea typeface="Arial"/>
                <a:cs typeface="Arial"/>
              </a:rPr>
              <a:t>The east-side holdout was compared with WorldCover.</a:t>
            </a:r>
          </a:p>
        </p:txBody>
      </p:sp>
      <p:sp>
        <p:nvSpPr>
          <p:cNvPr id="9" name="">
            <a:extLst xmlns:a="http://schemas.openxmlformats.org/drawingml/2006/main">
              <a:ext uri="{FF2B5EF4-FFF2-40B4-BE49-F238E27FC236}">
                <a16:creationId xmlns:a16="http://schemas.microsoft.com/office/drawing/2014/main" id="{96A32879-47B4-4F51-B3F9-6AA2CC99B348}"/>
              </a:ext>
            </a:extLst>
          </p:cNvPr>
          <p:cNvSpPr>
            <a:spLocks xmlns:a="http://schemas.openxmlformats.org/drawingml/2006/main" noGrp="1"/>
          </p:cNvSpPr>
          <p:nvPr/>
        </p:nvSpPr>
        <p:spPr>
          <a:xfrm xmlns:a="http://schemas.openxmlformats.org/drawingml/2006/main">
            <a:off x="7524750" y="2552700"/>
            <a:ext cx="2095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1">
                <a:solidFill>
                  <a:srgbClr val="1AA58F"/>
                </a:solidFill>
                <a:latin typeface="Arial"/>
                <a:ea typeface="Arial"/>
                <a:cs typeface="Arial"/>
              </a:defRPr>
            </a:defPPr>
          </a:lstStyle>
          <a:p xmlns:a="http://schemas.openxmlformats.org/drawingml/2006/main">
            <a:pPr algn="l">
              <a:defRPr sz="1500" b="1">
                <a:solidFill>
                  <a:srgbClr val="1AA58F"/>
                </a:solidFill>
                <a:latin typeface="Arial"/>
                <a:ea typeface="Arial"/>
                <a:cs typeface="Arial"/>
              </a:defRPr>
            </a:pPr>
            <a:r>
              <a:rPr sz="1500" b="1">
                <a:solidFill>
                  <a:srgbClr val="1AA58F"/>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F2071F53-3A1B-418E-A5BA-816B05B36A2E}"/>
              </a:ext>
            </a:extLst>
          </p:cNvPr>
          <p:cNvSpPr>
            <a:spLocks xmlns:a="http://schemas.openxmlformats.org/drawingml/2006/main" noGrp="1"/>
          </p:cNvSpPr>
          <p:nvPr/>
        </p:nvSpPr>
        <p:spPr>
          <a:xfrm xmlns:a="http://schemas.openxmlformats.org/drawingml/2006/main">
            <a:off x="7772400" y="2552700"/>
            <a:ext cx="3448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stStyle>
          <a:p xmlns:a="http://schemas.openxmlformats.org/drawingml/2006/main">
            <a:pPr algn="l">
              <a:defRPr sz="1200">
                <a:solidFill>
                  <a:srgbClr val="F3F6F2"/>
                </a:solidFill>
                <a:latin typeface="Arial"/>
                <a:ea typeface="Arial"/>
                <a:cs typeface="Arial"/>
              </a:defRPr>
            </a:pPr>
            <a:r>
              <a:rPr sz="1200">
                <a:solidFill>
                  <a:srgbClr val="F3F6F2"/>
                </a:solidFill>
                <a:latin typeface="Arial"/>
                <a:ea typeface="Arial"/>
                <a:cs typeface="Arial"/>
              </a:rPr>
              <a:t>F1 0.88, IoU 0.78 and balanced accuracy 0.89.</a:t>
            </a:r>
          </a:p>
        </p:txBody>
      </p:sp>
      <p:sp>
        <p:nvSpPr>
          <p:cNvPr id="11" name="">
            <a:extLst xmlns:a="http://schemas.openxmlformats.org/drawingml/2006/main">
              <a:ext uri="{FF2B5EF4-FFF2-40B4-BE49-F238E27FC236}">
                <a16:creationId xmlns:a16="http://schemas.microsoft.com/office/drawing/2014/main" id="{3C5EA5A3-D7DA-4EE5-93F6-6D499985960F}"/>
              </a:ext>
            </a:extLst>
          </p:cNvPr>
          <p:cNvSpPr>
            <a:spLocks xmlns:a="http://schemas.openxmlformats.org/drawingml/2006/main" noGrp="1"/>
          </p:cNvSpPr>
          <p:nvPr/>
        </p:nvSpPr>
        <p:spPr>
          <a:xfrm xmlns:a="http://schemas.openxmlformats.org/drawingml/2006/main">
            <a:off x="7524750" y="3124200"/>
            <a:ext cx="209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1">
                <a:solidFill>
                  <a:srgbClr val="1AA58F"/>
                </a:solidFill>
                <a:latin typeface="Arial"/>
                <a:ea typeface="Arial"/>
                <a:cs typeface="Arial"/>
              </a:defRPr>
            </a:defPPr>
          </a:lstStyle>
          <a:p xmlns:a="http://schemas.openxmlformats.org/drawingml/2006/main">
            <a:pPr algn="l">
              <a:defRPr sz="1500" b="1">
                <a:solidFill>
                  <a:srgbClr val="1AA58F"/>
                </a:solidFill>
                <a:latin typeface="Arial"/>
                <a:ea typeface="Arial"/>
                <a:cs typeface="Arial"/>
              </a:defRPr>
            </a:pPr>
            <a:r>
              <a:rPr sz="1500" b="1">
                <a:solidFill>
                  <a:srgbClr val="1AA58F"/>
                </a:solidFill>
                <a:latin typeface="Arial"/>
                <a:ea typeface="Arial"/>
                <a:cs typeface="Arial"/>
              </a:rPr>
              <a:t>•</a:t>
            </a:r>
          </a:p>
        </p:txBody>
      </p:sp>
      <p:sp>
        <p:nvSpPr>
          <p:cNvPr id="12" name="">
            <a:extLst xmlns:a="http://schemas.openxmlformats.org/drawingml/2006/main">
              <a:ext uri="{FF2B5EF4-FFF2-40B4-BE49-F238E27FC236}">
                <a16:creationId xmlns:a16="http://schemas.microsoft.com/office/drawing/2014/main" id="{6283A1DD-D7BD-40B5-9B4B-3555E980254C}"/>
              </a:ext>
            </a:extLst>
          </p:cNvPr>
          <p:cNvSpPr>
            <a:spLocks xmlns:a="http://schemas.openxmlformats.org/drawingml/2006/main" noGrp="1"/>
          </p:cNvSpPr>
          <p:nvPr/>
        </p:nvSpPr>
        <p:spPr>
          <a:xfrm xmlns:a="http://schemas.openxmlformats.org/drawingml/2006/main">
            <a:off x="7772400" y="3124200"/>
            <a:ext cx="3448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stStyle>
          <a:p xmlns:a="http://schemas.openxmlformats.org/drawingml/2006/main">
            <a:pPr algn="l">
              <a:defRPr sz="1200">
                <a:solidFill>
                  <a:srgbClr val="F3F6F2"/>
                </a:solidFill>
                <a:latin typeface="Arial"/>
                <a:ea typeface="Arial"/>
                <a:cs typeface="Arial"/>
              </a:defRPr>
            </a:pPr>
            <a:r>
              <a:rPr sz="1200">
                <a:solidFill>
                  <a:srgbClr val="F3F6F2"/>
                </a:solidFill>
                <a:latin typeface="Arial"/>
                <a:ea typeface="Arial"/>
                <a:cs typeface="Arial"/>
              </a:rPr>
              <a:t>The test contains 36,156 reference pixels.</a:t>
            </a:r>
          </a:p>
        </p:txBody>
      </p:sp>
      <p:sp>
        <p:nvSpPr>
          <p:cNvPr id="13" name="">
            <a:extLst xmlns:a="http://schemas.openxmlformats.org/drawingml/2006/main">
              <a:ext uri="{FF2B5EF4-FFF2-40B4-BE49-F238E27FC236}">
                <a16:creationId xmlns:a16="http://schemas.microsoft.com/office/drawing/2014/main" id="{7EAA08BF-9144-4D04-8C2D-DBA70CC5713E}"/>
              </a:ext>
            </a:extLst>
          </p:cNvPr>
          <p:cNvSpPr>
            <a:spLocks xmlns:a="http://schemas.openxmlformats.org/drawingml/2006/main" noGrp="1"/>
          </p:cNvSpPr>
          <p:nvPr/>
        </p:nvSpPr>
        <p:spPr>
          <a:xfrm xmlns:a="http://schemas.openxmlformats.org/drawingml/2006/main">
            <a:off x="7524750" y="381000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F06449"/>
                </a:solidFill>
                <a:latin typeface="Arial"/>
                <a:ea typeface="Arial"/>
                <a:cs typeface="Arial"/>
              </a:defRPr>
            </a:defPPr>
          </a:lstStyle>
          <a:p xmlns:a="http://schemas.openxmlformats.org/drawingml/2006/main">
            <a:pPr algn="l">
              <a:defRPr sz="975" b="1">
                <a:solidFill>
                  <a:srgbClr val="F06449"/>
                </a:solidFill>
                <a:latin typeface="Arial"/>
                <a:ea typeface="Arial"/>
                <a:cs typeface="Arial"/>
              </a:defRPr>
            </a:pPr>
            <a:r>
              <a:rPr sz="975" b="1">
                <a:solidFill>
                  <a:srgbClr val="F06449"/>
                </a:solidFill>
                <a:latin typeface="Arial"/>
                <a:ea typeface="Arial"/>
                <a:cs typeface="Arial"/>
              </a:rPr>
              <a:t>WHAT IT DOES NOT SHOW</a:t>
            </a:r>
          </a:p>
        </p:txBody>
      </p:sp>
      <p:sp>
        <p:nvSpPr>
          <p:cNvPr id="14" name="">
            <a:extLst xmlns:a="http://schemas.openxmlformats.org/drawingml/2006/main">
              <a:ext uri="{FF2B5EF4-FFF2-40B4-BE49-F238E27FC236}">
                <a16:creationId xmlns:a16="http://schemas.microsoft.com/office/drawing/2014/main" id="{1F894B52-98F7-4AE1-9E01-57A9D6065F3F}"/>
              </a:ext>
            </a:extLst>
          </p:cNvPr>
          <p:cNvSpPr>
            <a:spLocks xmlns:a="http://schemas.openxmlformats.org/drawingml/2006/main" noGrp="1"/>
          </p:cNvSpPr>
          <p:nvPr/>
        </p:nvSpPr>
        <p:spPr>
          <a:xfrm xmlns:a="http://schemas.openxmlformats.org/drawingml/2006/main">
            <a:off x="7524750" y="4171950"/>
            <a:ext cx="209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1">
                <a:solidFill>
                  <a:srgbClr val="1AA58F"/>
                </a:solidFill>
                <a:latin typeface="Arial"/>
                <a:ea typeface="Arial"/>
                <a:cs typeface="Arial"/>
              </a:defRPr>
            </a:defPPr>
          </a:lstStyle>
          <a:p xmlns:a="http://schemas.openxmlformats.org/drawingml/2006/main">
            <a:pPr algn="l">
              <a:defRPr sz="1500" b="1">
                <a:solidFill>
                  <a:srgbClr val="1AA58F"/>
                </a:solidFill>
                <a:latin typeface="Arial"/>
                <a:ea typeface="Arial"/>
                <a:cs typeface="Arial"/>
              </a:defRPr>
            </a:pPr>
            <a:r>
              <a:rPr sz="1500" b="1">
                <a:solidFill>
                  <a:srgbClr val="1AA58F"/>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6AE68F52-7B83-40A9-8162-0CB4CF23EB3F}"/>
              </a:ext>
            </a:extLst>
          </p:cNvPr>
          <p:cNvSpPr>
            <a:spLocks xmlns:a="http://schemas.openxmlformats.org/drawingml/2006/main" noGrp="1"/>
          </p:cNvSpPr>
          <p:nvPr/>
        </p:nvSpPr>
        <p:spPr>
          <a:xfrm xmlns:a="http://schemas.openxmlformats.org/drawingml/2006/main">
            <a:off x="7772400" y="4171950"/>
            <a:ext cx="3448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stStyle>
          <a:p xmlns:a="http://schemas.openxmlformats.org/drawingml/2006/main">
            <a:pPr algn="l">
              <a:defRPr sz="1200">
                <a:solidFill>
                  <a:srgbClr val="F3F6F2"/>
                </a:solidFill>
                <a:latin typeface="Arial"/>
                <a:ea typeface="Arial"/>
                <a:cs typeface="Arial"/>
              </a:defRPr>
            </a:pPr>
            <a:r>
              <a:rPr sz="1200">
                <a:solidFill>
                  <a:srgbClr val="F3F6F2"/>
                </a:solidFill>
                <a:latin typeface="Arial"/>
                <a:ea typeface="Arial"/>
                <a:cs typeface="Arial"/>
              </a:rPr>
              <a:t>Field accuracy.</a:t>
            </a:r>
          </a:p>
        </p:txBody>
      </p:sp>
      <p:sp>
        <p:nvSpPr>
          <p:cNvPr id="16" name="">
            <a:extLst xmlns:a="http://schemas.openxmlformats.org/drawingml/2006/main">
              <a:ext uri="{FF2B5EF4-FFF2-40B4-BE49-F238E27FC236}">
                <a16:creationId xmlns:a16="http://schemas.microsoft.com/office/drawing/2014/main" id="{6C02D342-E42C-41E8-B2B8-CF6F871B0B60}"/>
              </a:ext>
            </a:extLst>
          </p:cNvPr>
          <p:cNvSpPr>
            <a:spLocks xmlns:a="http://schemas.openxmlformats.org/drawingml/2006/main" noGrp="1"/>
          </p:cNvSpPr>
          <p:nvPr/>
        </p:nvSpPr>
        <p:spPr>
          <a:xfrm xmlns:a="http://schemas.openxmlformats.org/drawingml/2006/main">
            <a:off x="7524750" y="4629150"/>
            <a:ext cx="209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1">
                <a:solidFill>
                  <a:srgbClr val="1AA58F"/>
                </a:solidFill>
                <a:latin typeface="Arial"/>
                <a:ea typeface="Arial"/>
                <a:cs typeface="Arial"/>
              </a:defRPr>
            </a:defPPr>
          </a:lstStyle>
          <a:p xmlns:a="http://schemas.openxmlformats.org/drawingml/2006/main">
            <a:pPr algn="l">
              <a:defRPr sz="1500" b="1">
                <a:solidFill>
                  <a:srgbClr val="1AA58F"/>
                </a:solidFill>
                <a:latin typeface="Arial"/>
                <a:ea typeface="Arial"/>
                <a:cs typeface="Arial"/>
              </a:defRPr>
            </a:pPr>
            <a:r>
              <a:rPr sz="1500" b="1">
                <a:solidFill>
                  <a:srgbClr val="1AA58F"/>
                </a:solidFill>
                <a:latin typeface="Arial"/>
                <a:ea typeface="Arial"/>
                <a:cs typeface="Arial"/>
              </a:rPr>
              <a:t>•</a:t>
            </a:r>
          </a:p>
        </p:txBody>
      </p:sp>
      <p:sp>
        <p:nvSpPr>
          <p:cNvPr id="17" name="">
            <a:extLst xmlns:a="http://schemas.openxmlformats.org/drawingml/2006/main">
              <a:ext uri="{FF2B5EF4-FFF2-40B4-BE49-F238E27FC236}">
                <a16:creationId xmlns:a16="http://schemas.microsoft.com/office/drawing/2014/main" id="{AF3AAF74-9B95-4FF3-B85E-EBE3C5B5AD97}"/>
              </a:ext>
            </a:extLst>
          </p:cNvPr>
          <p:cNvSpPr>
            <a:spLocks xmlns:a="http://schemas.openxmlformats.org/drawingml/2006/main" noGrp="1"/>
          </p:cNvSpPr>
          <p:nvPr/>
        </p:nvSpPr>
        <p:spPr>
          <a:xfrm xmlns:a="http://schemas.openxmlformats.org/drawingml/2006/main">
            <a:off x="7772400" y="4629150"/>
            <a:ext cx="3448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stStyle>
          <a:p xmlns:a="http://schemas.openxmlformats.org/drawingml/2006/main">
            <a:pPr algn="l">
              <a:defRPr sz="1200">
                <a:solidFill>
                  <a:srgbClr val="F3F6F2"/>
                </a:solidFill>
                <a:latin typeface="Arial"/>
                <a:ea typeface="Arial"/>
                <a:cs typeface="Arial"/>
              </a:defRPr>
            </a:pPr>
            <a:r>
              <a:rPr sz="1200">
                <a:solidFill>
                  <a:srgbClr val="F3F6F2"/>
                </a:solidFill>
                <a:latin typeface="Arial"/>
                <a:ea typeface="Arial"/>
                <a:cs typeface="Arial"/>
              </a:rPr>
              <a:t>Air temperature or health outcomes.</a:t>
            </a:r>
          </a:p>
        </p:txBody>
      </p:sp>
      <p:sp>
        <p:nvSpPr>
          <p:cNvPr id="18" name="">
            <a:extLst xmlns:a="http://schemas.openxmlformats.org/drawingml/2006/main">
              <a:ext uri="{FF2B5EF4-FFF2-40B4-BE49-F238E27FC236}">
                <a16:creationId xmlns:a16="http://schemas.microsoft.com/office/drawing/2014/main" id="{DA61483C-8707-44B8-869D-101394460114}"/>
              </a:ext>
            </a:extLst>
          </p:cNvPr>
          <p:cNvSpPr>
            <a:spLocks xmlns:a="http://schemas.openxmlformats.org/drawingml/2006/main" noGrp="1"/>
          </p:cNvSpPr>
          <p:nvPr/>
        </p:nvSpPr>
        <p:spPr>
          <a:xfrm xmlns:a="http://schemas.openxmlformats.org/drawingml/2006/main">
            <a:off x="7524750" y="5086350"/>
            <a:ext cx="209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1">
                <a:solidFill>
                  <a:srgbClr val="1AA58F"/>
                </a:solidFill>
                <a:latin typeface="Arial"/>
                <a:ea typeface="Arial"/>
                <a:cs typeface="Arial"/>
              </a:defRPr>
            </a:defPPr>
          </a:lstStyle>
          <a:p xmlns:a="http://schemas.openxmlformats.org/drawingml/2006/main">
            <a:pPr algn="l">
              <a:defRPr sz="1500" b="1">
                <a:solidFill>
                  <a:srgbClr val="1AA58F"/>
                </a:solidFill>
                <a:latin typeface="Arial"/>
                <a:ea typeface="Arial"/>
                <a:cs typeface="Arial"/>
              </a:defRPr>
            </a:pPr>
            <a:r>
              <a:rPr sz="1500" b="1">
                <a:solidFill>
                  <a:srgbClr val="1AA58F"/>
                </a:solidFill>
                <a:latin typeface="Arial"/>
                <a:ea typeface="Arial"/>
                <a:cs typeface="Arial"/>
              </a:rPr>
              <a:t>•</a:t>
            </a:r>
          </a:p>
        </p:txBody>
      </p:sp>
      <p:sp>
        <p:nvSpPr>
          <p:cNvPr id="19" name="">
            <a:extLst xmlns:a="http://schemas.openxmlformats.org/drawingml/2006/main">
              <a:ext uri="{FF2B5EF4-FFF2-40B4-BE49-F238E27FC236}">
                <a16:creationId xmlns:a16="http://schemas.microsoft.com/office/drawing/2014/main" id="{66E0540F-7CF2-4764-A79A-C2782A3B02A4}"/>
              </a:ext>
            </a:extLst>
          </p:cNvPr>
          <p:cNvSpPr>
            <a:spLocks xmlns:a="http://schemas.openxmlformats.org/drawingml/2006/main" noGrp="1"/>
          </p:cNvSpPr>
          <p:nvPr/>
        </p:nvSpPr>
        <p:spPr>
          <a:xfrm xmlns:a="http://schemas.openxmlformats.org/drawingml/2006/main">
            <a:off x="7772400" y="5086350"/>
            <a:ext cx="34480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stStyle>
          <a:p xmlns:a="http://schemas.openxmlformats.org/drawingml/2006/main">
            <a:pPr algn="l">
              <a:defRPr sz="1200">
                <a:solidFill>
                  <a:srgbClr val="F3F6F2"/>
                </a:solidFill>
                <a:latin typeface="Arial"/>
                <a:ea typeface="Arial"/>
                <a:cs typeface="Arial"/>
              </a:defRPr>
            </a:pPr>
            <a:r>
              <a:rPr sz="1200">
                <a:solidFill>
                  <a:srgbClr val="F3F6F2"/>
                </a:solidFill>
                <a:latin typeface="Arial"/>
                <a:ea typeface="Arial"/>
                <a:cs typeface="Arial"/>
              </a:rPr>
              <a:t>Municipal approval or user acceptance.</a:t>
            </a:r>
          </a:p>
        </p:txBody>
      </p:sp>
      <p:sp>
        <p:nvSpPr>
          <p:cNvPr id="20" name="">
            <a:extLst xmlns:a="http://schemas.openxmlformats.org/drawingml/2006/main">
              <a:ext uri="{FF2B5EF4-FFF2-40B4-BE49-F238E27FC236}">
                <a16:creationId xmlns:a16="http://schemas.microsoft.com/office/drawing/2014/main" id="{09B2866F-4736-4C66-8453-574E0DD029D2}"/>
              </a:ext>
            </a:extLst>
          </p:cNvPr>
          <p:cNvSpPr>
            <a:spLocks xmlns:a="http://schemas.openxmlformats.org/drawingml/2006/main" noGrp="1"/>
          </p:cNvSpPr>
          <p:nvPr/>
        </p:nvSpPr>
        <p:spPr>
          <a:xfrm xmlns:a="http://schemas.openxmlformats.org/drawingml/2006/main">
            <a:off x="7524750" y="5753100"/>
            <a:ext cx="3695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E2AD2B"/>
                </a:solidFill>
                <a:latin typeface="Arial"/>
                <a:ea typeface="Arial"/>
                <a:cs typeface="Arial"/>
              </a:defRPr>
            </a:defPPr>
          </a:lstStyle>
          <a:p xmlns:a="http://schemas.openxmlformats.org/drawingml/2006/main">
            <a:pPr algn="l">
              <a:defRPr sz="1350" b="1">
                <a:solidFill>
                  <a:srgbClr val="E2AD2B"/>
                </a:solidFill>
                <a:latin typeface="Arial"/>
                <a:ea typeface="Arial"/>
                <a:cs typeface="Arial"/>
              </a:defRPr>
            </a:pPr>
            <a:r>
              <a:rPr sz="1350" b="1">
                <a:solidFill>
                  <a:srgbClr val="E2AD2B"/>
                </a:solidFill>
                <a:latin typeface="Arial"/>
                <a:ea typeface="Arial"/>
                <a:cs typeface="Arial"/>
              </a:rPr>
              <a:t>Next: field and user review of the top-ranked cells.</a:t>
            </a:r>
          </a:p>
        </p:txBody>
      </p:sp>
      <p:sp>
        <p:nvSpPr>
          <p:cNvPr id="21" name="">
            <a:extLst xmlns:a="http://schemas.openxmlformats.org/drawingml/2006/main">
              <a:ext uri="{FF2B5EF4-FFF2-40B4-BE49-F238E27FC236}">
                <a16:creationId xmlns:a16="http://schemas.microsoft.com/office/drawing/2014/main" id="{7402827F-B070-49B4-BF24-ED3C2C00F201}"/>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stStyle>
          <a:p xmlns:a="http://schemas.openxmlformats.org/drawingml/2006/main">
            <a:pPr algn="l">
              <a:defRPr sz="1050" b="1">
                <a:solidFill>
                  <a:srgbClr val="1AA58F"/>
                </a:solidFill>
                <a:latin typeface="Arial"/>
                <a:ea typeface="Arial"/>
                <a:cs typeface="Arial"/>
              </a:defRPr>
            </a:pPr>
            <a:r>
              <a:rPr sz="1050" b="1">
                <a:solidFill>
                  <a:srgbClr val="1AA58F"/>
                </a:solidFill>
                <a:latin typeface="Arial"/>
                <a:ea typeface="Arial"/>
                <a:cs typeface="Arial"/>
              </a:rPr>
              <a:t>APPENDIX</a:t>
            </a:r>
          </a:p>
        </p:txBody>
      </p:sp>
      <p:sp>
        <p:nvSpPr>
          <p:cNvPr id="22" name="">
            <a:extLst xmlns:a="http://schemas.openxmlformats.org/drawingml/2006/main">
              <a:ext uri="{FF2B5EF4-FFF2-40B4-BE49-F238E27FC236}">
                <a16:creationId xmlns:a16="http://schemas.microsoft.com/office/drawing/2014/main" id="{A3A1217D-2F36-47CB-A363-971F15310EB3}"/>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stStyle>
          <a:p xmlns:a="http://schemas.openxmlformats.org/drawingml/2006/main">
            <a:pPr algn="r">
              <a:defRPr sz="1050" b="1">
                <a:solidFill>
                  <a:srgbClr val="AFC4C6"/>
                </a:solidFill>
                <a:latin typeface="Arial"/>
                <a:ea typeface="Arial"/>
                <a:cs typeface="Arial"/>
              </a:defRPr>
            </a:pPr>
            <a:r>
              <a:rPr sz="1050" b="1">
                <a:solidFill>
                  <a:srgbClr val="AFC4C6"/>
                </a:solidFill>
                <a:latin typeface="Arial"/>
                <a:ea typeface="Arial"/>
                <a:cs typeface="Arial"/>
              </a:rPr>
              <a:t>10</a:t>
            </a:r>
          </a:p>
        </p:txBody>
      </p:sp>
    </p:spTree>
    <p:extLst>
      <p:ext uri="{BB962C8B-B14F-4D97-AF65-F5344CB8AC3E}">
        <p14:creationId xmlns:p14="http://schemas.microsoft.com/office/powerpoint/2010/main" val="992035351"/>
      </p:ext>
    </p:extLst>
  </p:cSld>
</p:sld>
</file>

<file path=ppt/theme/theme1.xml><?xml version="1.0" encoding="utf-8"?>
<a:theme xmlns:a="http://schemas.openxmlformats.org/drawingml/2006/main" name="ChatGPT">
  <a:themeElements>
    <a:clrScheme name="HeatReady">
      <a:dk1>
        <a:srgbClr val="000000"/>
      </a:dk1>
      <a:lt1>
        <a:srgbClr val="FFFFFF"/>
      </a:lt1>
      <a:dk2>
        <a:srgbClr val="0D2A3A"/>
      </a:dk2>
      <a:lt2>
        <a:srgbClr val="DCE7E7"/>
      </a:lt2>
      <a:accent1>
        <a:srgbClr val="1AA58F"/>
      </a:accent1>
      <a:accent2>
        <a:srgbClr val="F06449"/>
      </a:accent2>
      <a:accent3>
        <a:srgbClr val="E2AD2B"/>
      </a:accent3>
      <a:accent4>
        <a:srgbClr val="6D5DD3"/>
      </a:accent4>
      <a:accent5>
        <a:srgbClr val="3183B8"/>
      </a:accent5>
      <a:accent6>
        <a:srgbClr val="D96787"/>
      </a:accent6>
      <a:hlink>
        <a:srgbClr val="1AA58F"/>
      </a:hlink>
      <a:folHlink>
        <a:srgbClr val="6D5DD3"/>
      </a:folHlink>
    </a:clrScheme>
    <a:fontScheme name="">
      <a:majorFont>
        <a:latin typeface="Aptos"/>
        <a:ea typeface=""/>
        <a:cs typeface=""/>
      </a:majorFont>
      <a:minorFont>
        <a:latin typeface="Aptos"/>
        <a:ea typeface=""/>
        <a:cs typeface=""/>
      </a:minorFont>
    </a:fontScheme>
    <a:fmtScheme name="HeatReady">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2026-10-16T16:56:25.0090000Z</dcterms:created>
  <dcterms:modified xsi:type="dcterms:W3CDTF">2026-10-16T16:56:25.0090000Z</dcterms:modified>
</coreProperties>
</file>