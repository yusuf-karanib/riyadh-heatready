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b17ffc8a0b64124" /><Relationship Type="http://schemas.openxmlformats.org/officeDocument/2006/relationships/extended-properties" Target="/docProps/app.xml" Id="R0f251b691e184224" /><Relationship Type="http://schemas.openxmlformats.org/officeDocument/2006/relationships/officeDocument" Target="/ppt/presentation.xml" Id="Raf089d24848d4bd7" /></Relationships>
</file>

<file path=ppt/presentation.xml><?xml version="1.0" encoding="utf-8"?>
<p:presentation xmlns:p="http://schemas.openxmlformats.org/presentationml/2006/main">
  <p:sldMasterIdLst>
    <p:sldMasterId xmlns:r="http://schemas.openxmlformats.org/officeDocument/2006/relationships" id="2147483648" r:id="R2cf08380c8bb4c61"/>
  </p:sldMasterIdLst>
  <p:notesMasterIdLst>
    <p:notesMasterId xmlns:r="http://schemas.openxmlformats.org/officeDocument/2006/relationships" r:id="R81221115d5d34f51"/>
  </p:notesMasterIdLst>
  <p:sldIdLst>
    <p:sldId xmlns:r="http://schemas.openxmlformats.org/officeDocument/2006/relationships" id="256" r:id="R108486c76b694484"/>
    <p:sldId xmlns:r="http://schemas.openxmlformats.org/officeDocument/2006/relationships" id="257" r:id="R9bcc312b39724d14"/>
    <p:sldId xmlns:r="http://schemas.openxmlformats.org/officeDocument/2006/relationships" id="258" r:id="R587ee0041e0e4977"/>
    <p:sldId xmlns:r="http://schemas.openxmlformats.org/officeDocument/2006/relationships" id="259" r:id="R7e02ef8e7c57478b"/>
    <p:sldId xmlns:r="http://schemas.openxmlformats.org/officeDocument/2006/relationships" id="260" r:id="Raa88b32122234bea"/>
    <p:sldId xmlns:r="http://schemas.openxmlformats.org/officeDocument/2006/relationships" id="261" r:id="Rfc40c8a4747945fe"/>
    <p:sldId xmlns:r="http://schemas.openxmlformats.org/officeDocument/2006/relationships" id="262" r:id="R9a3f2606b7874113"/>
    <p:sldId xmlns:r="http://schemas.openxmlformats.org/officeDocument/2006/relationships" id="263" r:id="R28db8f89f04446e3"/>
    <p:sldId xmlns:r="http://schemas.openxmlformats.org/officeDocument/2006/relationships" id="264" r:id="R2814ee05e1484566"/>
    <p:sldId xmlns:r="http://schemas.openxmlformats.org/officeDocument/2006/relationships" id="265" r:id="R60f4bebcfb494cc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3c300d1dbb484f" /><Relationship Type="http://schemas.openxmlformats.org/officeDocument/2006/relationships/slideMaster" Target="/ppt/slideMasters/slideMaster1.xml" Id="R2cf08380c8bb4c61" /><Relationship Type="http://schemas.openxmlformats.org/officeDocument/2006/relationships/notesMaster" Target="/ppt/notesMasters/notesMaster1.xml" Id="R81221115d5d34f51" /><Relationship Type="http://schemas.openxmlformats.org/officeDocument/2006/relationships/presProps" Target="/ppt/presProps.xml" Id="Rf585d03e0bda42c8" /><Relationship Type="http://schemas.openxmlformats.org/officeDocument/2006/relationships/tableStyles" Target="/ppt/tableStyles.xml" Id="R6d13087d39834e1c" /><Relationship Type="http://schemas.openxmlformats.org/officeDocument/2006/relationships/slide" Target="/ppt/slides/slide1.xml" Id="R108486c76b694484" /><Relationship Type="http://schemas.openxmlformats.org/officeDocument/2006/relationships/slide" Target="/ppt/slides/slide2.xml" Id="R9bcc312b39724d14" /><Relationship Type="http://schemas.openxmlformats.org/officeDocument/2006/relationships/slide" Target="/ppt/slides/slide3.xml" Id="R587ee0041e0e4977" /><Relationship Type="http://schemas.openxmlformats.org/officeDocument/2006/relationships/slide" Target="/ppt/slides/slide4.xml" Id="R7e02ef8e7c57478b" /><Relationship Type="http://schemas.openxmlformats.org/officeDocument/2006/relationships/slide" Target="/ppt/slides/slide5.xml" Id="Raa88b32122234bea" /><Relationship Type="http://schemas.openxmlformats.org/officeDocument/2006/relationships/slide" Target="/ppt/slides/slide6.xml" Id="Rfc40c8a4747945fe" /><Relationship Type="http://schemas.openxmlformats.org/officeDocument/2006/relationships/slide" Target="/ppt/slides/slide7.xml" Id="R9a3f2606b7874113" /><Relationship Type="http://schemas.openxmlformats.org/officeDocument/2006/relationships/slide" Target="/ppt/slides/slide8.xml" Id="R28db8f89f04446e3" /><Relationship Type="http://schemas.openxmlformats.org/officeDocument/2006/relationships/slide" Target="/ppt/slides/slide9.xml" Id="R2814ee05e1484566" /><Relationship Type="http://schemas.openxmlformats.org/officeDocument/2006/relationships/slide" Target="/ppt/slides/slide10.xml" Id="R60f4bebcfb494cc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3a08ea7af4442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3891186e464012" /><Relationship Type="http://schemas.openxmlformats.org/officeDocument/2006/relationships/notesMaster" Target="/ppt/notesMasters/notesMaster1.xml" Id="R4dc207c5474b4a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4a9a7e1b3324815" /><Relationship Type="http://schemas.openxmlformats.org/officeDocument/2006/relationships/notesMaster" Target="/ppt/notesMasters/notesMaster1.xml" Id="R03e55f512c754df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41221123b14e34" /><Relationship Type="http://schemas.openxmlformats.org/officeDocument/2006/relationships/notesMaster" Target="/ppt/notesMasters/notesMaster1.xml" Id="R4f9c5d3f8232470f"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b79f4439dd4933" /><Relationship Type="http://schemas.openxmlformats.org/officeDocument/2006/relationships/notesMaster" Target="/ppt/notesMasters/notesMaster1.xml" Id="R60afe2006d4f434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6d9a312e2ca4299" /><Relationship Type="http://schemas.openxmlformats.org/officeDocument/2006/relationships/notesMaster" Target="/ppt/notesMasters/notesMaster1.xml" Id="R078b4dd946104e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45d293e95244e78" /><Relationship Type="http://schemas.openxmlformats.org/officeDocument/2006/relationships/notesMaster" Target="/ppt/notesMasters/notesMaster1.xml" Id="R8c8976589e9d4a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4d5e739c25a4238" /><Relationship Type="http://schemas.openxmlformats.org/officeDocument/2006/relationships/notesMaster" Target="/ppt/notesMasters/notesMaster1.xml" Id="Ra852be1e44cd4c0a"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cf193448ae4252" /><Relationship Type="http://schemas.openxmlformats.org/officeDocument/2006/relationships/notesMaster" Target="/ppt/notesMasters/notesMaster1.xml" Id="R9b91d064926b43b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8cbc013c524e31" /><Relationship Type="http://schemas.openxmlformats.org/officeDocument/2006/relationships/notesMaster" Target="/ppt/notesMasters/notesMaster1.xml" Id="R35826bd604ac4d0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d819cae19b4979" /><Relationship Type="http://schemas.openxmlformats.org/officeDocument/2006/relationships/notesMaster" Target="/ppt/notesMasters/notesMaster1.xml" Id="R4531597b5c0d436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0:00–0:20 | Yusuf. Good afternoon. We are Team Milkaholics. Our project is Riyadh HeatReady. It uses satellite data to rank one-kilometre cells in southeast Riyadh where urban growth, high surface temperature and modelled population overlap. We want to help answer one practical question: where should a municipal planning team inspect first?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0:55–1:50 | Yusuf. The study area covers 168.30 square kilometres on the southeastern edge of Riyadh. It is one part of the city, not all of Riyadh. Our intended user is a municipal planning and heat-resilience team. Growth, surface heat, population and vegetation can sit in separate layers, so staff still have to compare them before deciding where to inspect. HeatReady puts those layers into one ranked list of one-kilometre cells. It does not tell the user to plant trees or install a cool roof. It only suggests where to check first and compare with local plans and field conditions. We have not yet interviewed municipal users, so the first pilot must test whether this workflow is useful to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0:20–0:55 | Yusuf. I am Yusuf Karanib, the project lead. I will explain how the satellite data becomes a priority map and run the demonstration. Raed Mardoum will explain what the validation results mean, where the method is limited and how we would test the ranking with a municipal team.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1:50–3:10 | Yusuf. We used six open data sources, and each one has a specific job. Sentinel-2 provides optical information about vegetation and built surfaces. Sentinel-1 adds radar structure, which helps because bright desert can look built-up in optical images. Six annual land-cover maps flag possible built-up change from 2018 to 2023. Landsat 8 provides land-surface temperature for 10 May 2025. WorldPop provides modelled population for 2025. Planet Tanager gives us a detailed spectrum for one date, which we use to test a known desert problem. We did not trust the annual change map by itself. It first flagged 13.82 square kilometres. We then kept only pixels where the 2025 optical and radar evidence also looked built-up. This left 3.74 square kilometres. We ranked the eligible one-kilometre cells using 40 percent heat, 30 percent population, 20 percent confirmed growth and 10 percent lack of vegetation. These weights are our PoC assumptions, not municipal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3:10–4:45 | Yusuf. [On slide 5] The result is a decision map and a component chart. Sixty-seven cells contain confirmed growth, and fourteen are labelled High priority. R05C10 ranks first with a score of about 78.7. Its score does not come from one hidden prediction; the chart shows the heat, population, growth and vegetation components. [Open outputs/dashboard.html and stay at Decision output.] This dashboard is a self-contained static report, not an interactive application. Here are the headline metrics, the decision map and the top-five table. The stricter rule retained 3.74 square kilometres of confirmed growth, and the top row is R05C10. The repository also contains separate CSV, GeoJSON and GeoTIFF files so a planner can review the same result in a spreadsheet or GIS. [Return to slide 5.] This output is a screening result. It cannot choose an intervention by itself; every high-ranked zone still needs local inspection. Raed will now explain what our validation proves, what the method adds, and how we would test it with a municipality.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4:45–5:55 | Raed. To test the built-up model, we trained in the western part of the study area, tuned in a separate middle strip and tested in the east against ESA WorldCover. The east-side holdout reached an F1 score of 0.88, an intersection over union of 0.78 and balanced accuracy of 0.89. F1 balances missed built-up pixels and false alarms. Intersection over union measures overlap. Balanced accuracy gives equal weight to built and unbuilt classes. These numbers show agreement with another satellite product; they are not field accuracy. Landsat measures land-surface temperature, not air temperature or personal heat exposure. WorldPop is modelled and may miss worker exposure. Bright desert and roofs can still confuse classification. The score weights are assumptions that a real user must review. Because of these limits, HeatReady supports inspection rather than making an automatic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5:55–6:55 | Raed. HeatReady does not depend on one index. The annual maps flag possible change, and separate optical and radar evidence check whether the area still looks built-up. We also tested a common shortcut: using a high NDBI value as proof of built land. In the Tanager scene, likely-unbuilt desert had a higher median narrow-band NDBI than established built land, so one threshold can fail here. The Tanager image gives extra spectral context for one date. It cannot prove change or identify a material. Each ranked cell keeps its score parts and GIS evidence. This could make screening faster, but we need real users to test that before we claim a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6:55–7:55 | Raed. Our next step is a small municipal pilot. First, we would speak with at least three planners, GIS staff or heat-resilience stakeholders and confirm how they currently choose areas to inspect. Second, they would review the top five cells against local plans and field observations, and record useful findings and false alarms. Third, we would adjust the weights and add missing local information such as worker exposure and city-plan constraints. Finally, we would repeat the test in another Riyadh area and measure the time, cost and repeatability. We are asking for support to run that pilot and find out whether HeatReady actually helps a municipal team. Thank you. We are ready for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Open if a judge asks for exact source dates, roles or licences.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Appendix only. Use for questions about leakage, train-test geography, annual trend uncertainty or the difference between satellite agreement and field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f25bd86f38d48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52ffd5a17b645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543aa5915e476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beb91f9ec8a453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5d9720be24845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d9dced6b88480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254E40-E1E7-40DD-832C-7B886D23B11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45114BE-9C20-4249-B636-266366C882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817C6B7-1CFC-4748-8A0E-84131FAEC21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97AD8E-EED6-402D-B6A0-54007F01EA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91B672E-F7DC-4F5B-9C95-6C91145A26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9AFAB62-ACCA-4CFB-818F-A900B2B5A07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39C732F-B57C-4ED0-9506-995EC4F459C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3EA0FB-E4AD-4E42-A201-0A19CC21A0E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6519080-77F1-4BF9-991A-FB512281F3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ED58F80-A1EA-43FD-BDA5-872023D7A1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dfabdb58584c47" /><Relationship Type="http://schemas.openxmlformats.org/officeDocument/2006/relationships/slideLayout" Target="/ppt/slideLayouts/slideLayout1.xml" Id="R266ae2a8c0d94dd0" /><Relationship Type="http://schemas.openxmlformats.org/officeDocument/2006/relationships/slideLayout" Target="/ppt/slideLayouts/slideLayout2.xml" Id="R2a69b0f79a994471" /><Relationship Type="http://schemas.openxmlformats.org/officeDocument/2006/relationships/slideLayout" Target="/ppt/slideLayouts/slideLayout3.xml" Id="R468a0ed3c246459f" /><Relationship Type="http://schemas.openxmlformats.org/officeDocument/2006/relationships/slideLayout" Target="/ppt/slideLayouts/slideLayout4.xml" Id="Rbab41e347f8048bf" /><Relationship Type="http://schemas.openxmlformats.org/officeDocument/2006/relationships/slideLayout" Target="/ppt/slideLayouts/slideLayout5.xml" Id="Rcccc186bdfee41d0" /><Relationship Type="http://schemas.openxmlformats.org/officeDocument/2006/relationships/slideLayout" Target="/ppt/slideLayouts/slideLayout6.xml" Id="R8bac3f10a52140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66ae2a8c0d94dd0"/>
    <p:sldLayoutId xmlns:r="http://schemas.openxmlformats.org/officeDocument/2006/relationships" id="2147483650" r:id="R2a69b0f79a994471"/>
    <p:sldLayoutId xmlns:r="http://schemas.openxmlformats.org/officeDocument/2006/relationships" id="2147483651" r:id="R468a0ed3c246459f"/>
    <p:sldLayoutId xmlns:r="http://schemas.openxmlformats.org/officeDocument/2006/relationships" id="2147483652" r:id="Rbab41e347f8048bf"/>
    <p:sldLayoutId xmlns:r="http://schemas.openxmlformats.org/officeDocument/2006/relationships" id="2147483653" r:id="Rcccc186bdfee41d0"/>
    <p:sldLayoutId xmlns:r="http://schemas.openxmlformats.org/officeDocument/2006/relationships" id="2147483654" r:id="R8bac3f10a52140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800a9b922eb4f6b" /><Relationship Type="http://schemas.openxmlformats.org/officeDocument/2006/relationships/image" Target="/ppt/media/image.png" Id="Rbc98c626e34c42c2" /><Relationship Type="http://schemas.openxmlformats.org/officeDocument/2006/relationships/notesSlide" Target="/ppt/notesSlides/notesSlide1.xml" Id="R241c430f65f64c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1152cd4e1a4f18" /><Relationship Type="http://schemas.openxmlformats.org/officeDocument/2006/relationships/notesSlide" Target="/ppt/notesSlides/notesSlide2.xml" Id="Ra5e7427eaaa445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d1db2e0737a4b5f" /><Relationship Type="http://schemas.openxmlformats.org/officeDocument/2006/relationships/notesSlide" Target="/ppt/notesSlides/notesSlide3.xml" Id="Rc5f1355b4dae488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43e3e928fc94e1f" /><Relationship Type="http://schemas.openxmlformats.org/officeDocument/2006/relationships/image" Target="/ppt/media/image2.png" Id="R91448ad963a6473f" /><Relationship Type="http://schemas.openxmlformats.org/officeDocument/2006/relationships/notesSlide" Target="/ppt/notesSlides/notesSlide4.xml" Id="R9556ad03adfa46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41a29c4bdf433b" /><Relationship Type="http://schemas.openxmlformats.org/officeDocument/2006/relationships/image" Target="/ppt/media/image3.png" Id="R1cf8c0e5a2c84489" /><Relationship Type="http://schemas.openxmlformats.org/officeDocument/2006/relationships/image" Target="/ppt/media/image4.png" Id="Rfa8d6e97432248e2" /><Relationship Type="http://schemas.openxmlformats.org/officeDocument/2006/relationships/notesSlide" Target="/ppt/notesSlides/notesSlide5.xml" Id="R85f15f29a99544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4f1ae97a244997" /><Relationship Type="http://schemas.openxmlformats.org/officeDocument/2006/relationships/image" Target="/ppt/media/image5.png" Id="R4c47dc9f26d94104" /><Relationship Type="http://schemas.openxmlformats.org/officeDocument/2006/relationships/notesSlide" Target="/ppt/notesSlides/notesSlide6.xml" Id="R34c8b9de334d42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73d9b3c9b44976" /><Relationship Type="http://schemas.openxmlformats.org/officeDocument/2006/relationships/image" Target="/ppt/media/image6.png" Id="Ra150f599005942cc" /><Relationship Type="http://schemas.openxmlformats.org/officeDocument/2006/relationships/notesSlide" Target="/ppt/notesSlides/notesSlide7.xml" Id="R0c1127cfbcb04e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2041607706c498d" /><Relationship Type="http://schemas.openxmlformats.org/officeDocument/2006/relationships/notesSlide" Target="/ppt/notesSlides/notesSlide8.xml" Id="R8941a4c9127f4a8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7f226a701cf4685" /><Relationship Type="http://schemas.openxmlformats.org/officeDocument/2006/relationships/notesSlide" Target="/ppt/notesSlides/notesSlide9.xml" Id="R36c06b2a2eb4400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f0ac9d003444669" /><Relationship Type="http://schemas.openxmlformats.org/officeDocument/2006/relationships/image" Target="/ppt/media/image7.png" Id="Ra3f476f109e945d2" /><Relationship Type="http://schemas.openxmlformats.org/officeDocument/2006/relationships/notesSlide" Target="/ppt/notesSlides/notesSlide10.xml" Id="R68a493c2c4ed447e" /></Relationships>
</file>

<file path=ppt/slides/slide1.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836C968E-87F2-4A47-AF06-D884F342EEDE}"/>
              </a:ext>
            </a:extLst>
          </p:cNvPr>
          <p:cNvPicPr>
            <a:picLocks xmlns:a="http://schemas.openxmlformats.org/drawingml/2006/main" noChangeAspect="1"/>
          </p:cNvPicPr>
          <p:nvPr/>
        </p:nvPicPr>
        <p:blipFill>
          <a:blip xmlns:r="http://schemas.openxmlformats.org/officeDocument/2006/relationships" xmlns:a="http://schemas.openxmlformats.org/drawingml/2006/main" r:embed="Rbc98c626e34c42c2"/>
          <a:srcRect xmlns:a="http://schemas.openxmlformats.org/drawingml/2006/main" l="4671" t="0" r="4671" b="0"/>
          <a:stretch xmlns:a="http://schemas.openxmlformats.org/drawingml/2006/main">
            <a:fillRect l="0" t="0" r="0" b="0"/>
          </a:stretch>
        </p:blipFill>
        <p:spPr>
          <a:xfrm xmlns:a="http://schemas.openxmlformats.org/drawingml/2006/main">
            <a:off x="6572250" y="0"/>
            <a:ext cx="5619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5C4EC27-1B4D-4C27-A4E5-16EB95D45072}"/>
              </a:ext>
            </a:extLst>
          </p:cNvPr>
          <p:cNvSpPr>
            <a:spLocks xmlns:a="http://schemas.openxmlformats.org/drawingml/2006/main" noGrp="1"/>
          </p:cNvSpPr>
          <p:nvPr/>
        </p:nvSpPr>
        <p:spPr>
          <a:xfrm xmlns:a="http://schemas.openxmlformats.org/drawingml/2006/main">
            <a:off x="6191250" y="0"/>
            <a:ext cx="762000" cy="68580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C31013A-109B-44FC-9EB5-7F1E1DAB706F}"/>
              </a:ext>
            </a:extLst>
          </p:cNvPr>
          <p:cNvSpPr>
            <a:spLocks xmlns:a="http://schemas.openxmlformats.org/drawingml/2006/main" noGrp="1"/>
          </p:cNvSpPr>
          <p:nvPr/>
        </p:nvSpPr>
        <p:spPr>
          <a:xfrm xmlns:a="http://schemas.openxmlformats.org/drawingml/2006/main">
            <a:off x="6572250" y="0"/>
            <a:ext cx="5619750" cy="609600"/>
          </a:xfrm>
          <a:prstGeom xmlns:a="http://schemas.openxmlformats.org/drawingml/2006/main" prst="rect">
            <a:avLst/>
          </a:prstGeom>
          <a:solidFill xmlns:a="http://schemas.openxmlformats.org/drawingml/2006/main">
            <a:srgbClr val="071C2B"/>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CFA34A7-BCD0-4CAB-9953-DA29C6523987}"/>
              </a:ext>
            </a:extLst>
          </p:cNvPr>
          <p:cNvSpPr>
            <a:spLocks xmlns:a="http://schemas.openxmlformats.org/drawingml/2006/main" noGrp="1"/>
          </p:cNvSpPr>
          <p:nvPr/>
        </p:nvSpPr>
        <p:spPr>
          <a:xfrm xmlns:a="http://schemas.openxmlformats.org/drawingml/2006/main">
            <a:off x="6819900" y="1524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1AA58F"/>
                </a:solidFill>
                <a:latin typeface="Arial"/>
                <a:ea typeface="Arial"/>
                <a:cs typeface="Arial"/>
              </a:defRPr>
            </a:defPPr>
            <a:lvl1pPr algn="ctr">
              <a:buNone/>
              <a:defRPr sz="1125" b="1">
                <a:solidFill>
                  <a:srgbClr val="1AA58F"/>
                </a:solidFill>
                <a:latin typeface="Arial"/>
                <a:ea typeface="Arial"/>
                <a:cs typeface="Arial"/>
              </a:defRPr>
            </a:lvl1pPr>
            <a:lvl2pPr algn="ctr">
              <a:buNone/>
              <a:defRPr sz="1125" b="1">
                <a:solidFill>
                  <a:srgbClr val="1AA58F"/>
                </a:solidFill>
                <a:latin typeface="Arial"/>
                <a:ea typeface="Arial"/>
                <a:cs typeface="Arial"/>
              </a:defRPr>
            </a:lvl2pPr>
            <a:lvl3pPr algn="ctr">
              <a:buNone/>
              <a:defRPr sz="1125" b="1">
                <a:solidFill>
                  <a:srgbClr val="1AA58F"/>
                </a:solidFill>
                <a:latin typeface="Arial"/>
                <a:ea typeface="Arial"/>
                <a:cs typeface="Arial"/>
              </a:defRPr>
            </a:lvl3pPr>
            <a:lvl4pPr algn="ctr">
              <a:buNone/>
              <a:defRPr sz="1125" b="1">
                <a:solidFill>
                  <a:srgbClr val="1AA58F"/>
                </a:solidFill>
                <a:latin typeface="Arial"/>
                <a:ea typeface="Arial"/>
                <a:cs typeface="Arial"/>
              </a:defRPr>
            </a:lvl4pPr>
            <a:lvl5pPr algn="ctr">
              <a:buNone/>
              <a:defRPr sz="1125" b="1">
                <a:solidFill>
                  <a:srgbClr val="1AA58F"/>
                </a:solidFill>
                <a:latin typeface="Arial"/>
                <a:ea typeface="Arial"/>
                <a:cs typeface="Arial"/>
              </a:defRPr>
            </a:lvl5pPr>
            <a:lvl6pPr algn="ctr">
              <a:buNone/>
              <a:defRPr sz="1125" b="1">
                <a:solidFill>
                  <a:srgbClr val="1AA58F"/>
                </a:solidFill>
                <a:latin typeface="Arial"/>
                <a:ea typeface="Arial"/>
                <a:cs typeface="Arial"/>
              </a:defRPr>
            </a:lvl6pPr>
            <a:lvl7pPr algn="ctr">
              <a:buNone/>
              <a:defRPr sz="1125" b="1">
                <a:solidFill>
                  <a:srgbClr val="1AA58F"/>
                </a:solidFill>
                <a:latin typeface="Arial"/>
                <a:ea typeface="Arial"/>
                <a:cs typeface="Arial"/>
              </a:defRPr>
            </a:lvl7pPr>
            <a:lvl8pPr algn="ctr">
              <a:buNone/>
              <a:defRPr sz="1125" b="1">
                <a:solidFill>
                  <a:srgbClr val="1AA58F"/>
                </a:solidFill>
                <a:latin typeface="Arial"/>
                <a:ea typeface="Arial"/>
                <a:cs typeface="Arial"/>
              </a:defRPr>
            </a:lvl8pPr>
            <a:lvl9pPr algn="ctr">
              <a:buNone/>
              <a:defRPr sz="1125" b="1">
                <a:solidFill>
                  <a:srgbClr val="1AA58F"/>
                </a:solidFill>
                <a:latin typeface="Arial"/>
                <a:ea typeface="Arial"/>
                <a:cs typeface="Arial"/>
              </a:defRPr>
            </a:lvl9pPr>
          </a:lstStyle>
          <a:p xmlns:a="http://schemas.openxmlformats.org/drawingml/2006/main">
            <a:pPr algn="ctr">
              <a:buNone/>
              <a:defRPr sz="1125" b="1">
                <a:solidFill>
                  <a:srgbClr val="1AA58F"/>
                </a:solidFill>
                <a:latin typeface="Arial"/>
                <a:ea typeface="Arial"/>
                <a:cs typeface="Arial"/>
              </a:defRPr>
            </a:pPr>
            <a:r>
              <a:rPr sz="1125" b="1">
                <a:solidFill>
                  <a:srgbClr val="1AA58F"/>
                </a:solidFill>
                <a:latin typeface="Arial"/>
                <a:ea typeface="Arial"/>
                <a:cs typeface="Arial"/>
              </a:rPr>
              <a:t>PRIORITY MAP</a:t>
            </a:r>
          </a:p>
        </p:txBody>
      </p:sp>
      <p:sp>
        <p:nvSpPr>
          <p:cNvPr id="5" name="">
            <a:extLst xmlns:a="http://schemas.openxmlformats.org/drawingml/2006/main">
              <a:ext uri="{FF2B5EF4-FFF2-40B4-BE49-F238E27FC236}">
                <a16:creationId xmlns:a16="http://schemas.microsoft.com/office/drawing/2014/main" id="{F21D6AB0-54EB-4E08-8EDA-FDA8D570CFC3}"/>
              </a:ext>
            </a:extLst>
          </p:cNvPr>
          <p:cNvSpPr>
            <a:spLocks xmlns:a="http://schemas.openxmlformats.org/drawingml/2006/main" noGrp="1"/>
          </p:cNvSpPr>
          <p:nvPr/>
        </p:nvSpPr>
        <p:spPr>
          <a:xfrm xmlns:a="http://schemas.openxmlformats.org/drawingml/2006/main">
            <a:off x="647700" y="723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75" b="1">
                <a:solidFill>
                  <a:srgbClr val="1AA58F"/>
                </a:solidFill>
                <a:latin typeface="Arial"/>
                <a:ea typeface="Arial"/>
                <a:cs typeface="Arial"/>
              </a:defRPr>
            </a:defPPr>
            <a:lvl1pPr algn="l">
              <a:buNone/>
              <a:defRPr sz="1275" b="1">
                <a:solidFill>
                  <a:srgbClr val="1AA58F"/>
                </a:solidFill>
                <a:latin typeface="Arial"/>
                <a:ea typeface="Arial"/>
                <a:cs typeface="Arial"/>
              </a:defRPr>
            </a:lvl1pPr>
            <a:lvl2pPr algn="l">
              <a:buNone/>
              <a:defRPr sz="1275" b="1">
                <a:solidFill>
                  <a:srgbClr val="1AA58F"/>
                </a:solidFill>
                <a:latin typeface="Arial"/>
                <a:ea typeface="Arial"/>
                <a:cs typeface="Arial"/>
              </a:defRPr>
            </a:lvl2pPr>
            <a:lvl3pPr algn="l">
              <a:buNone/>
              <a:defRPr sz="1275" b="1">
                <a:solidFill>
                  <a:srgbClr val="1AA58F"/>
                </a:solidFill>
                <a:latin typeface="Arial"/>
                <a:ea typeface="Arial"/>
                <a:cs typeface="Arial"/>
              </a:defRPr>
            </a:lvl3pPr>
            <a:lvl4pPr algn="l">
              <a:buNone/>
              <a:defRPr sz="1275" b="1">
                <a:solidFill>
                  <a:srgbClr val="1AA58F"/>
                </a:solidFill>
                <a:latin typeface="Arial"/>
                <a:ea typeface="Arial"/>
                <a:cs typeface="Arial"/>
              </a:defRPr>
            </a:lvl4pPr>
            <a:lvl5pPr algn="l">
              <a:buNone/>
              <a:defRPr sz="1275" b="1">
                <a:solidFill>
                  <a:srgbClr val="1AA58F"/>
                </a:solidFill>
                <a:latin typeface="Arial"/>
                <a:ea typeface="Arial"/>
                <a:cs typeface="Arial"/>
              </a:defRPr>
            </a:lvl5pPr>
            <a:lvl6pPr algn="l">
              <a:buNone/>
              <a:defRPr sz="1275" b="1">
                <a:solidFill>
                  <a:srgbClr val="1AA58F"/>
                </a:solidFill>
                <a:latin typeface="Arial"/>
                <a:ea typeface="Arial"/>
                <a:cs typeface="Arial"/>
              </a:defRPr>
            </a:lvl6pPr>
            <a:lvl7pPr algn="l">
              <a:buNone/>
              <a:defRPr sz="1275" b="1">
                <a:solidFill>
                  <a:srgbClr val="1AA58F"/>
                </a:solidFill>
                <a:latin typeface="Arial"/>
                <a:ea typeface="Arial"/>
                <a:cs typeface="Arial"/>
              </a:defRPr>
            </a:lvl7pPr>
            <a:lvl8pPr algn="l">
              <a:buNone/>
              <a:defRPr sz="1275" b="1">
                <a:solidFill>
                  <a:srgbClr val="1AA58F"/>
                </a:solidFill>
                <a:latin typeface="Arial"/>
                <a:ea typeface="Arial"/>
                <a:cs typeface="Arial"/>
              </a:defRPr>
            </a:lvl8pPr>
            <a:lvl9pPr algn="l">
              <a:buNone/>
              <a:defRPr sz="1275" b="1">
                <a:solidFill>
                  <a:srgbClr val="1AA58F"/>
                </a:solidFill>
                <a:latin typeface="Arial"/>
                <a:ea typeface="Arial"/>
                <a:cs typeface="Arial"/>
              </a:defRPr>
            </a:lvl9pPr>
          </a:lstStyle>
          <a:p xmlns:a="http://schemas.openxmlformats.org/drawingml/2006/main">
            <a:pPr algn="l">
              <a:buNone/>
              <a:defRPr sz="1275" b="1">
                <a:solidFill>
                  <a:srgbClr val="1AA58F"/>
                </a:solidFill>
                <a:latin typeface="Arial"/>
                <a:ea typeface="Arial"/>
                <a:cs typeface="Arial"/>
              </a:defRPr>
            </a:pPr>
            <a:r>
              <a:rPr sz="1275" b="1">
                <a:solidFill>
                  <a:srgbClr val="1AA58F"/>
                </a:solidFill>
                <a:latin typeface="Arial"/>
                <a:ea typeface="Arial"/>
                <a:cs typeface="Arial"/>
              </a:rPr>
              <a:t>RIYADH HEATREADY</a:t>
            </a:r>
          </a:p>
        </p:txBody>
      </p:sp>
      <p:sp>
        <p:nvSpPr>
          <p:cNvPr id="6" name="">
            <a:extLst xmlns:a="http://schemas.openxmlformats.org/drawingml/2006/main">
              <a:ext uri="{FF2B5EF4-FFF2-40B4-BE49-F238E27FC236}">
                <a16:creationId xmlns:a16="http://schemas.microsoft.com/office/drawing/2014/main" id="{A5136A8E-B945-4F7F-B197-0AA810A661CA}"/>
              </a:ext>
            </a:extLst>
          </p:cNvPr>
          <p:cNvSpPr>
            <a:spLocks xmlns:a="http://schemas.openxmlformats.org/drawingml/2006/main" noGrp="1"/>
          </p:cNvSpPr>
          <p:nvPr/>
        </p:nvSpPr>
        <p:spPr>
          <a:xfrm xmlns:a="http://schemas.openxmlformats.org/drawingml/2006/main">
            <a:off x="647700" y="1123950"/>
            <a:ext cx="5143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3225" b="1">
                <a:solidFill>
                  <a:srgbClr val="F3F6F2"/>
                </a:solidFill>
                <a:latin typeface="Arial"/>
                <a:ea typeface="Arial"/>
                <a:cs typeface="Arial"/>
              </a:defRPr>
            </a:defPPr>
            <a:lvl1pPr algn="l">
              <a:buNone/>
              <a:defRPr sz="3225" b="1">
                <a:solidFill>
                  <a:srgbClr val="F3F6F2"/>
                </a:solidFill>
                <a:latin typeface="Arial"/>
                <a:ea typeface="Arial"/>
                <a:cs typeface="Arial"/>
              </a:defRPr>
            </a:lvl1pPr>
            <a:lvl2pPr algn="l">
              <a:buNone/>
              <a:defRPr sz="3225" b="1">
                <a:solidFill>
                  <a:srgbClr val="F3F6F2"/>
                </a:solidFill>
                <a:latin typeface="Arial"/>
                <a:ea typeface="Arial"/>
                <a:cs typeface="Arial"/>
              </a:defRPr>
            </a:lvl2pPr>
            <a:lvl3pPr algn="l">
              <a:buNone/>
              <a:defRPr sz="3225" b="1">
                <a:solidFill>
                  <a:srgbClr val="F3F6F2"/>
                </a:solidFill>
                <a:latin typeface="Arial"/>
                <a:ea typeface="Arial"/>
                <a:cs typeface="Arial"/>
              </a:defRPr>
            </a:lvl3pPr>
            <a:lvl4pPr algn="l">
              <a:buNone/>
              <a:defRPr sz="3225" b="1">
                <a:solidFill>
                  <a:srgbClr val="F3F6F2"/>
                </a:solidFill>
                <a:latin typeface="Arial"/>
                <a:ea typeface="Arial"/>
                <a:cs typeface="Arial"/>
              </a:defRPr>
            </a:lvl4pPr>
            <a:lvl5pPr algn="l">
              <a:buNone/>
              <a:defRPr sz="3225" b="1">
                <a:solidFill>
                  <a:srgbClr val="F3F6F2"/>
                </a:solidFill>
                <a:latin typeface="Arial"/>
                <a:ea typeface="Arial"/>
                <a:cs typeface="Arial"/>
              </a:defRPr>
            </a:lvl5pPr>
            <a:lvl6pPr algn="l">
              <a:buNone/>
              <a:defRPr sz="3225" b="1">
                <a:solidFill>
                  <a:srgbClr val="F3F6F2"/>
                </a:solidFill>
                <a:latin typeface="Arial"/>
                <a:ea typeface="Arial"/>
                <a:cs typeface="Arial"/>
              </a:defRPr>
            </a:lvl6pPr>
            <a:lvl7pPr algn="l">
              <a:buNone/>
              <a:defRPr sz="3225" b="1">
                <a:solidFill>
                  <a:srgbClr val="F3F6F2"/>
                </a:solidFill>
                <a:latin typeface="Arial"/>
                <a:ea typeface="Arial"/>
                <a:cs typeface="Arial"/>
              </a:defRPr>
            </a:lvl7pPr>
            <a:lvl8pPr algn="l">
              <a:buNone/>
              <a:defRPr sz="3225" b="1">
                <a:solidFill>
                  <a:srgbClr val="F3F6F2"/>
                </a:solidFill>
                <a:latin typeface="Arial"/>
                <a:ea typeface="Arial"/>
                <a:cs typeface="Arial"/>
              </a:defRPr>
            </a:lvl8pPr>
            <a:lvl9pPr algn="l">
              <a:buNone/>
              <a:defRPr sz="3225" b="1">
                <a:solidFill>
                  <a:srgbClr val="F3F6F2"/>
                </a:solidFill>
                <a:latin typeface="Arial"/>
                <a:ea typeface="Arial"/>
                <a:cs typeface="Arial"/>
              </a:defRPr>
            </a:lvl9pPr>
          </a:lstStyle>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Urban growth and</a:t>
            </a:r>
          </a:p>
          <a:p xmlns:a="http://schemas.openxmlformats.org/drawingml/2006/main">
            <a:pPr algn="l">
              <a:buNone/>
              <a:defRPr sz="3225" b="1">
                <a:solidFill>
                  <a:srgbClr val="F3F6F2"/>
                </a:solidFill>
                <a:latin typeface="Arial"/>
                <a:ea typeface="Arial"/>
                <a:cs typeface="Arial"/>
              </a:defRPr>
            </a:pPr>
            <a:r>
              <a:rPr sz="3225" b="1">
                <a:solidFill>
                  <a:srgbClr val="F3F6F2"/>
                </a:solidFill>
                <a:latin typeface="Arial"/>
                <a:ea typeface="Arial"/>
                <a:cs typeface="Arial"/>
              </a:rPr>
              <a:t>surface heat screening</a:t>
            </a:r>
          </a:p>
        </p:txBody>
      </p:sp>
      <p:sp>
        <p:nvSpPr>
          <p:cNvPr id="7" name="">
            <a:extLst xmlns:a="http://schemas.openxmlformats.org/drawingml/2006/main">
              <a:ext uri="{FF2B5EF4-FFF2-40B4-BE49-F238E27FC236}">
                <a16:creationId xmlns:a16="http://schemas.microsoft.com/office/drawing/2014/main" id="{D0FB9D70-3AF7-4F92-A156-9D4C1A49BC62}"/>
              </a:ext>
            </a:extLst>
          </p:cNvPr>
          <p:cNvSpPr>
            <a:spLocks xmlns:a="http://schemas.openxmlformats.org/drawingml/2006/main" noGrp="1"/>
          </p:cNvSpPr>
          <p:nvPr/>
        </p:nvSpPr>
        <p:spPr>
          <a:xfrm xmlns:a="http://schemas.openxmlformats.org/drawingml/2006/main">
            <a:off x="647700" y="253365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a:solidFill>
                  <a:srgbClr val="AFC4C6"/>
                </a:solidFill>
                <a:latin typeface="Arial"/>
                <a:ea typeface="Arial"/>
                <a:cs typeface="Arial"/>
              </a:defRPr>
            </a:defPPr>
            <a:lvl1pPr algn="l">
              <a:buNone/>
              <a:defRPr sz="1725">
                <a:solidFill>
                  <a:srgbClr val="AFC4C6"/>
                </a:solidFill>
                <a:latin typeface="Arial"/>
                <a:ea typeface="Arial"/>
                <a:cs typeface="Arial"/>
              </a:defRPr>
            </a:lvl1pPr>
            <a:lvl2pPr algn="l">
              <a:buNone/>
              <a:defRPr sz="1725">
                <a:solidFill>
                  <a:srgbClr val="AFC4C6"/>
                </a:solidFill>
                <a:latin typeface="Arial"/>
                <a:ea typeface="Arial"/>
                <a:cs typeface="Arial"/>
              </a:defRPr>
            </a:lvl2pPr>
            <a:lvl3pPr algn="l">
              <a:buNone/>
              <a:defRPr sz="1725">
                <a:solidFill>
                  <a:srgbClr val="AFC4C6"/>
                </a:solidFill>
                <a:latin typeface="Arial"/>
                <a:ea typeface="Arial"/>
                <a:cs typeface="Arial"/>
              </a:defRPr>
            </a:lvl3pPr>
            <a:lvl4pPr algn="l">
              <a:buNone/>
              <a:defRPr sz="1725">
                <a:solidFill>
                  <a:srgbClr val="AFC4C6"/>
                </a:solidFill>
                <a:latin typeface="Arial"/>
                <a:ea typeface="Arial"/>
                <a:cs typeface="Arial"/>
              </a:defRPr>
            </a:lvl4pPr>
            <a:lvl5pPr algn="l">
              <a:buNone/>
              <a:defRPr sz="1725">
                <a:solidFill>
                  <a:srgbClr val="AFC4C6"/>
                </a:solidFill>
                <a:latin typeface="Arial"/>
                <a:ea typeface="Arial"/>
                <a:cs typeface="Arial"/>
              </a:defRPr>
            </a:lvl5pPr>
            <a:lvl6pPr algn="l">
              <a:buNone/>
              <a:defRPr sz="1725">
                <a:solidFill>
                  <a:srgbClr val="AFC4C6"/>
                </a:solidFill>
                <a:latin typeface="Arial"/>
                <a:ea typeface="Arial"/>
                <a:cs typeface="Arial"/>
              </a:defRPr>
            </a:lvl6pPr>
            <a:lvl7pPr algn="l">
              <a:buNone/>
              <a:defRPr sz="1725">
                <a:solidFill>
                  <a:srgbClr val="AFC4C6"/>
                </a:solidFill>
                <a:latin typeface="Arial"/>
                <a:ea typeface="Arial"/>
                <a:cs typeface="Arial"/>
              </a:defRPr>
            </a:lvl7pPr>
            <a:lvl8pPr algn="l">
              <a:buNone/>
              <a:defRPr sz="1725">
                <a:solidFill>
                  <a:srgbClr val="AFC4C6"/>
                </a:solidFill>
                <a:latin typeface="Arial"/>
                <a:ea typeface="Arial"/>
                <a:cs typeface="Arial"/>
              </a:defRPr>
            </a:lvl8pPr>
            <a:lvl9pPr algn="l">
              <a:buNone/>
              <a:defRPr sz="1725">
                <a:solidFill>
                  <a:srgbClr val="AFC4C6"/>
                </a:solidFill>
                <a:latin typeface="Arial"/>
                <a:ea typeface="Arial"/>
                <a:cs typeface="Arial"/>
              </a:defRPr>
            </a:lvl9pPr>
          </a:lstStyle>
          <a:p xmlns:a="http://schemas.openxmlformats.org/drawingml/2006/main">
            <a:pPr algn="l">
              <a:buNone/>
              <a:defRPr sz="1725">
                <a:solidFill>
                  <a:srgbClr val="AFC4C6"/>
                </a:solidFill>
                <a:latin typeface="Arial"/>
                <a:ea typeface="Arial"/>
                <a:cs typeface="Arial"/>
              </a:defRPr>
            </a:pPr>
            <a:r>
              <a:rPr sz="1725">
                <a:solidFill>
                  <a:srgbClr val="AFC4C6"/>
                </a:solidFill>
                <a:latin typeface="Arial"/>
                <a:ea typeface="Arial"/>
                <a:cs typeface="Arial"/>
              </a:rPr>
              <a:t>A priority map built from satellite data for southeast Riyadh</a:t>
            </a:r>
          </a:p>
        </p:txBody>
      </p:sp>
      <p:sp>
        <p:nvSpPr>
          <p:cNvPr id="8" name="">
            <a:extLst xmlns:a="http://schemas.openxmlformats.org/drawingml/2006/main">
              <a:ext uri="{FF2B5EF4-FFF2-40B4-BE49-F238E27FC236}">
                <a16:creationId xmlns:a16="http://schemas.microsoft.com/office/drawing/2014/main" id="{B6BB1454-EEBF-4663-B159-DFAD931E711C}"/>
              </a:ext>
            </a:extLst>
          </p:cNvPr>
          <p:cNvSpPr>
            <a:spLocks xmlns:a="http://schemas.openxmlformats.org/drawingml/2006/main" noGrp="1"/>
          </p:cNvSpPr>
          <p:nvPr/>
        </p:nvSpPr>
        <p:spPr>
          <a:xfrm xmlns:a="http://schemas.openxmlformats.org/drawingml/2006/main">
            <a:off x="647700" y="3086100"/>
            <a:ext cx="47625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9" name="">
            <a:extLst xmlns:a="http://schemas.openxmlformats.org/drawingml/2006/main">
              <a:ext uri="{FF2B5EF4-FFF2-40B4-BE49-F238E27FC236}">
                <a16:creationId xmlns:a16="http://schemas.microsoft.com/office/drawing/2014/main" id="{BB779B98-22B0-4309-BFAF-32B237BE5FA5}"/>
              </a:ext>
            </a:extLst>
          </p:cNvPr>
          <p:cNvSpPr>
            <a:spLocks xmlns:a="http://schemas.openxmlformats.org/drawingml/2006/main" noGrp="1"/>
          </p:cNvSpPr>
          <p:nvPr/>
        </p:nvSpPr>
        <p:spPr>
          <a:xfrm xmlns:a="http://schemas.openxmlformats.org/drawingml/2006/main">
            <a:off x="647700" y="33147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E2AD2B"/>
                </a:solidFill>
                <a:latin typeface="Arial"/>
                <a:ea typeface="Arial"/>
                <a:cs typeface="Arial"/>
              </a:defRPr>
            </a:defPPr>
            <a:lvl1pPr algn="l">
              <a:buNone/>
              <a:defRPr sz="975" b="1">
                <a:solidFill>
                  <a:srgbClr val="E2AD2B"/>
                </a:solidFill>
                <a:latin typeface="Arial"/>
                <a:ea typeface="Arial"/>
                <a:cs typeface="Arial"/>
              </a:defRPr>
            </a:lvl1pPr>
            <a:lvl2pPr algn="l">
              <a:buNone/>
              <a:defRPr sz="975" b="1">
                <a:solidFill>
                  <a:srgbClr val="E2AD2B"/>
                </a:solidFill>
                <a:latin typeface="Arial"/>
                <a:ea typeface="Arial"/>
                <a:cs typeface="Arial"/>
              </a:defRPr>
            </a:lvl2pPr>
            <a:lvl3pPr algn="l">
              <a:buNone/>
              <a:defRPr sz="975" b="1">
                <a:solidFill>
                  <a:srgbClr val="E2AD2B"/>
                </a:solidFill>
                <a:latin typeface="Arial"/>
                <a:ea typeface="Arial"/>
                <a:cs typeface="Arial"/>
              </a:defRPr>
            </a:lvl3pPr>
            <a:lvl4pPr algn="l">
              <a:buNone/>
              <a:defRPr sz="975" b="1">
                <a:solidFill>
                  <a:srgbClr val="E2AD2B"/>
                </a:solidFill>
                <a:latin typeface="Arial"/>
                <a:ea typeface="Arial"/>
                <a:cs typeface="Arial"/>
              </a:defRPr>
            </a:lvl4pPr>
            <a:lvl5pPr algn="l">
              <a:buNone/>
              <a:defRPr sz="975" b="1">
                <a:solidFill>
                  <a:srgbClr val="E2AD2B"/>
                </a:solidFill>
                <a:latin typeface="Arial"/>
                <a:ea typeface="Arial"/>
                <a:cs typeface="Arial"/>
              </a:defRPr>
            </a:lvl5pPr>
            <a:lvl6pPr algn="l">
              <a:buNone/>
              <a:defRPr sz="975" b="1">
                <a:solidFill>
                  <a:srgbClr val="E2AD2B"/>
                </a:solidFill>
                <a:latin typeface="Arial"/>
                <a:ea typeface="Arial"/>
                <a:cs typeface="Arial"/>
              </a:defRPr>
            </a:lvl6pPr>
            <a:lvl7pPr algn="l">
              <a:buNone/>
              <a:defRPr sz="975" b="1">
                <a:solidFill>
                  <a:srgbClr val="E2AD2B"/>
                </a:solidFill>
                <a:latin typeface="Arial"/>
                <a:ea typeface="Arial"/>
                <a:cs typeface="Arial"/>
              </a:defRPr>
            </a:lvl7pPr>
            <a:lvl8pPr algn="l">
              <a:buNone/>
              <a:defRPr sz="975" b="1">
                <a:solidFill>
                  <a:srgbClr val="E2AD2B"/>
                </a:solidFill>
                <a:latin typeface="Arial"/>
                <a:ea typeface="Arial"/>
                <a:cs typeface="Arial"/>
              </a:defRPr>
            </a:lvl8pPr>
            <a:lvl9pPr algn="l">
              <a:buNone/>
              <a:defRPr sz="975" b="1">
                <a:solidFill>
                  <a:srgbClr val="E2AD2B"/>
                </a:solidFill>
                <a:latin typeface="Arial"/>
                <a:ea typeface="Arial"/>
                <a:cs typeface="Arial"/>
              </a:defRPr>
            </a:lvl9pPr>
          </a:lstStyle>
          <a:p xmlns:a="http://schemas.openxmlformats.org/drawingml/2006/main">
            <a:pPr algn="l">
              <a:buNone/>
              <a:defRPr sz="975" b="1">
                <a:solidFill>
                  <a:srgbClr val="E2AD2B"/>
                </a:solidFill>
                <a:latin typeface="Arial"/>
                <a:ea typeface="Arial"/>
                <a:cs typeface="Arial"/>
              </a:defRPr>
            </a:pPr>
            <a:r>
              <a:rPr sz="975" b="1">
                <a:solidFill>
                  <a:srgbClr val="E2AD2B"/>
                </a:solidFill>
                <a:latin typeface="Arial"/>
                <a:ea typeface="Arial"/>
                <a:cs typeface="Arial"/>
              </a:rPr>
              <a:t>THE QUESTION</a:t>
            </a:r>
          </a:p>
        </p:txBody>
      </p:sp>
      <p:sp>
        <p:nvSpPr>
          <p:cNvPr id="10" name="">
            <a:extLst xmlns:a="http://schemas.openxmlformats.org/drawingml/2006/main">
              <a:ext uri="{FF2B5EF4-FFF2-40B4-BE49-F238E27FC236}">
                <a16:creationId xmlns:a16="http://schemas.microsoft.com/office/drawing/2014/main" id="{10A5AF99-AA7C-4246-88CB-0AC870F903AB}"/>
              </a:ext>
            </a:extLst>
          </p:cNvPr>
          <p:cNvSpPr>
            <a:spLocks xmlns:a="http://schemas.openxmlformats.org/drawingml/2006/main" noGrp="1"/>
          </p:cNvSpPr>
          <p:nvPr/>
        </p:nvSpPr>
        <p:spPr>
          <a:xfrm xmlns:a="http://schemas.openxmlformats.org/drawingml/2006/main">
            <a:off x="647700" y="361950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75" b="1">
                <a:solidFill>
                  <a:srgbClr val="F3F6F2"/>
                </a:solidFill>
                <a:latin typeface="Arial"/>
                <a:ea typeface="Arial"/>
                <a:cs typeface="Arial"/>
              </a:defRPr>
            </a:defPPr>
            <a:lvl1pPr algn="l">
              <a:buNone/>
              <a:defRPr sz="2175" b="1">
                <a:solidFill>
                  <a:srgbClr val="F3F6F2"/>
                </a:solidFill>
                <a:latin typeface="Arial"/>
                <a:ea typeface="Arial"/>
                <a:cs typeface="Arial"/>
              </a:defRPr>
            </a:lvl1pPr>
            <a:lvl2pPr algn="l">
              <a:buNone/>
              <a:defRPr sz="2175" b="1">
                <a:solidFill>
                  <a:srgbClr val="F3F6F2"/>
                </a:solidFill>
                <a:latin typeface="Arial"/>
                <a:ea typeface="Arial"/>
                <a:cs typeface="Arial"/>
              </a:defRPr>
            </a:lvl2pPr>
            <a:lvl3pPr algn="l">
              <a:buNone/>
              <a:defRPr sz="2175" b="1">
                <a:solidFill>
                  <a:srgbClr val="F3F6F2"/>
                </a:solidFill>
                <a:latin typeface="Arial"/>
                <a:ea typeface="Arial"/>
                <a:cs typeface="Arial"/>
              </a:defRPr>
            </a:lvl3pPr>
            <a:lvl4pPr algn="l">
              <a:buNone/>
              <a:defRPr sz="2175" b="1">
                <a:solidFill>
                  <a:srgbClr val="F3F6F2"/>
                </a:solidFill>
                <a:latin typeface="Arial"/>
                <a:ea typeface="Arial"/>
                <a:cs typeface="Arial"/>
              </a:defRPr>
            </a:lvl4pPr>
            <a:lvl5pPr algn="l">
              <a:buNone/>
              <a:defRPr sz="2175" b="1">
                <a:solidFill>
                  <a:srgbClr val="F3F6F2"/>
                </a:solidFill>
                <a:latin typeface="Arial"/>
                <a:ea typeface="Arial"/>
                <a:cs typeface="Arial"/>
              </a:defRPr>
            </a:lvl5pPr>
            <a:lvl6pPr algn="l">
              <a:buNone/>
              <a:defRPr sz="2175" b="1">
                <a:solidFill>
                  <a:srgbClr val="F3F6F2"/>
                </a:solidFill>
                <a:latin typeface="Arial"/>
                <a:ea typeface="Arial"/>
                <a:cs typeface="Arial"/>
              </a:defRPr>
            </a:lvl6pPr>
            <a:lvl7pPr algn="l">
              <a:buNone/>
              <a:defRPr sz="2175" b="1">
                <a:solidFill>
                  <a:srgbClr val="F3F6F2"/>
                </a:solidFill>
                <a:latin typeface="Arial"/>
                <a:ea typeface="Arial"/>
                <a:cs typeface="Arial"/>
              </a:defRPr>
            </a:lvl7pPr>
            <a:lvl8pPr algn="l">
              <a:buNone/>
              <a:defRPr sz="2175" b="1">
                <a:solidFill>
                  <a:srgbClr val="F3F6F2"/>
                </a:solidFill>
                <a:latin typeface="Arial"/>
                <a:ea typeface="Arial"/>
                <a:cs typeface="Arial"/>
              </a:defRPr>
            </a:lvl8pPr>
            <a:lvl9pPr algn="l">
              <a:buNone/>
              <a:defRPr sz="2175" b="1">
                <a:solidFill>
                  <a:srgbClr val="F3F6F2"/>
                </a:solidFill>
                <a:latin typeface="Arial"/>
                <a:ea typeface="Arial"/>
                <a:cs typeface="Arial"/>
              </a:defRPr>
            </a:lvl9pPr>
          </a:lstStyle>
          <a:p xmlns:a="http://schemas.openxmlformats.org/drawingml/2006/main">
            <a:pPr algn="l">
              <a:buNone/>
              <a:defRPr sz="2175" b="1">
                <a:solidFill>
                  <a:srgbClr val="F3F6F2"/>
                </a:solidFill>
                <a:latin typeface="Arial"/>
                <a:ea typeface="Arial"/>
                <a:cs typeface="Arial"/>
              </a:defRPr>
            </a:pPr>
            <a:r>
              <a:rPr sz="2175" b="1">
                <a:solidFill>
                  <a:srgbClr val="F3F6F2"/>
                </a:solidFill>
                <a:latin typeface="Arial"/>
                <a:ea typeface="Arial"/>
                <a:cs typeface="Arial"/>
              </a:rPr>
              <a:t>Where should a municipal planning team inspect first?</a:t>
            </a:r>
          </a:p>
        </p:txBody>
      </p:sp>
      <p:sp>
        <p:nvSpPr>
          <p:cNvPr id="11" name="">
            <a:extLst xmlns:a="http://schemas.openxmlformats.org/drawingml/2006/main">
              <a:ext uri="{FF2B5EF4-FFF2-40B4-BE49-F238E27FC236}">
                <a16:creationId xmlns:a16="http://schemas.microsoft.com/office/drawing/2014/main" id="{5722C97B-CF91-4ED7-B856-1F4CBDAA2215}"/>
              </a:ext>
            </a:extLst>
          </p:cNvPr>
          <p:cNvSpPr>
            <a:spLocks xmlns:a="http://schemas.openxmlformats.org/drawingml/2006/main" noGrp="1"/>
          </p:cNvSpPr>
          <p:nvPr/>
        </p:nvSpPr>
        <p:spPr>
          <a:xfrm xmlns:a="http://schemas.openxmlformats.org/drawingml/2006/main">
            <a:off x="647700" y="58102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Team Milkaholics</a:t>
            </a:r>
          </a:p>
        </p:txBody>
      </p:sp>
      <p:sp>
        <p:nvSpPr>
          <p:cNvPr id="12" name="">
            <a:extLst xmlns:a="http://schemas.openxmlformats.org/drawingml/2006/main">
              <a:ext uri="{FF2B5EF4-FFF2-40B4-BE49-F238E27FC236}">
                <a16:creationId xmlns:a16="http://schemas.microsoft.com/office/drawing/2014/main" id="{E96CB017-728A-40C8-B429-4179409CE23B}"/>
              </a:ext>
            </a:extLst>
          </p:cNvPr>
          <p:cNvSpPr>
            <a:spLocks xmlns:a="http://schemas.openxmlformats.org/drawingml/2006/main" noGrp="1"/>
          </p:cNvSpPr>
          <p:nvPr/>
        </p:nvSpPr>
        <p:spPr>
          <a:xfrm xmlns:a="http://schemas.openxmlformats.org/drawingml/2006/main">
            <a:off x="647700" y="61150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AFC4C6"/>
                </a:solidFill>
                <a:latin typeface="Arial"/>
                <a:ea typeface="Arial"/>
                <a:cs typeface="Arial"/>
              </a:defRPr>
            </a:defPPr>
            <a:lvl1pPr algn="l">
              <a:buNone/>
              <a:defRPr sz="1050">
                <a:solidFill>
                  <a:srgbClr val="AFC4C6"/>
                </a:solidFill>
                <a:latin typeface="Arial"/>
                <a:ea typeface="Arial"/>
                <a:cs typeface="Arial"/>
              </a:defRPr>
            </a:lvl1pPr>
            <a:lvl2pPr algn="l">
              <a:buNone/>
              <a:defRPr sz="1050">
                <a:solidFill>
                  <a:srgbClr val="AFC4C6"/>
                </a:solidFill>
                <a:latin typeface="Arial"/>
                <a:ea typeface="Arial"/>
                <a:cs typeface="Arial"/>
              </a:defRPr>
            </a:lvl2pPr>
            <a:lvl3pPr algn="l">
              <a:buNone/>
              <a:defRPr sz="1050">
                <a:solidFill>
                  <a:srgbClr val="AFC4C6"/>
                </a:solidFill>
                <a:latin typeface="Arial"/>
                <a:ea typeface="Arial"/>
                <a:cs typeface="Arial"/>
              </a:defRPr>
            </a:lvl3pPr>
            <a:lvl4pPr algn="l">
              <a:buNone/>
              <a:defRPr sz="1050">
                <a:solidFill>
                  <a:srgbClr val="AFC4C6"/>
                </a:solidFill>
                <a:latin typeface="Arial"/>
                <a:ea typeface="Arial"/>
                <a:cs typeface="Arial"/>
              </a:defRPr>
            </a:lvl4pPr>
            <a:lvl5pPr algn="l">
              <a:buNone/>
              <a:defRPr sz="1050">
                <a:solidFill>
                  <a:srgbClr val="AFC4C6"/>
                </a:solidFill>
                <a:latin typeface="Arial"/>
                <a:ea typeface="Arial"/>
                <a:cs typeface="Arial"/>
              </a:defRPr>
            </a:lvl5pPr>
            <a:lvl6pPr algn="l">
              <a:buNone/>
              <a:defRPr sz="1050">
                <a:solidFill>
                  <a:srgbClr val="AFC4C6"/>
                </a:solidFill>
                <a:latin typeface="Arial"/>
                <a:ea typeface="Arial"/>
                <a:cs typeface="Arial"/>
              </a:defRPr>
            </a:lvl6pPr>
            <a:lvl7pPr algn="l">
              <a:buNone/>
              <a:defRPr sz="1050">
                <a:solidFill>
                  <a:srgbClr val="AFC4C6"/>
                </a:solidFill>
                <a:latin typeface="Arial"/>
                <a:ea typeface="Arial"/>
                <a:cs typeface="Arial"/>
              </a:defRPr>
            </a:lvl7pPr>
            <a:lvl8pPr algn="l">
              <a:buNone/>
              <a:defRPr sz="1050">
                <a:solidFill>
                  <a:srgbClr val="AFC4C6"/>
                </a:solidFill>
                <a:latin typeface="Arial"/>
                <a:ea typeface="Arial"/>
                <a:cs typeface="Arial"/>
              </a:defRPr>
            </a:lvl8pPr>
            <a:lvl9pPr algn="l">
              <a:buNone/>
              <a:defRPr sz="1050">
                <a:solidFill>
                  <a:srgbClr val="AFC4C6"/>
                </a:solidFill>
                <a:latin typeface="Arial"/>
                <a:ea typeface="Arial"/>
                <a:cs typeface="Arial"/>
              </a:defRPr>
            </a:lvl9pPr>
          </a:lstStyle>
          <a:p xmlns:a="http://schemas.openxmlformats.org/drawingml/2006/main">
            <a:pPr algn="l">
              <a:buNone/>
              <a:defRPr sz="1050">
                <a:solidFill>
                  <a:srgbClr val="AFC4C6"/>
                </a:solidFill>
                <a:latin typeface="Arial"/>
                <a:ea typeface="Arial"/>
                <a:cs typeface="Arial"/>
              </a:defRPr>
            </a:pPr>
            <a:r>
              <a:rPr sz="1050">
                <a:solidFill>
                  <a:srgbClr val="AFC4C6"/>
                </a:solidFill>
                <a:latin typeface="Arial"/>
                <a:ea typeface="Arial"/>
                <a:cs typeface="Arial"/>
              </a:rPr>
              <a:t>Yusuf Karanib and Raed Mardoum</a:t>
            </a:r>
          </a:p>
        </p:txBody>
      </p:sp>
    </p:spTree>
    <p:extLst>
      <p:ext uri="{BB962C8B-B14F-4D97-AF65-F5344CB8AC3E}">
        <p14:creationId xmlns:p14="http://schemas.microsoft.com/office/powerpoint/2010/main" val="1086295028"/>
      </p:ext>
    </p:extLst>
  </p:cSld>
</p:sld>
</file>

<file path=ppt/slides/slide2.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39FA7A7-A084-4740-B597-B37A0857529C}"/>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USER NEED AND SCOPE</a:t>
            </a:r>
          </a:p>
        </p:txBody>
      </p:sp>
      <p:sp>
        <p:nvSpPr>
          <p:cNvPr id="2" name="">
            <a:extLst xmlns:a="http://schemas.openxmlformats.org/drawingml/2006/main">
              <a:ext uri="{FF2B5EF4-FFF2-40B4-BE49-F238E27FC236}">
                <a16:creationId xmlns:a16="http://schemas.microsoft.com/office/drawing/2014/main" id="{2647FA75-AC01-46D1-909F-1738E18946CD}"/>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A faster way to choose areas for inspection</a:t>
            </a:r>
          </a:p>
        </p:txBody>
      </p:sp>
      <p:sp>
        <p:nvSpPr>
          <p:cNvPr id="3" name="">
            <a:extLst xmlns:a="http://schemas.openxmlformats.org/drawingml/2006/main">
              <a:ext uri="{FF2B5EF4-FFF2-40B4-BE49-F238E27FC236}">
                <a16:creationId xmlns:a16="http://schemas.microsoft.com/office/drawing/2014/main" id="{5233F347-6EB7-424B-A508-90258A87AADA}"/>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B97570B1-B4C3-48C6-B0BC-52E652F070F0}"/>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27C2710A-8CE0-4EC9-A475-A4836E96FF85}"/>
              </a:ext>
            </a:extLst>
          </p:cNvPr>
          <p:cNvSpPr>
            <a:spLocks xmlns:a="http://schemas.openxmlformats.org/drawingml/2006/main" noGrp="1"/>
          </p:cNvSpPr>
          <p:nvPr/>
        </p:nvSpPr>
        <p:spPr>
          <a:xfrm xmlns:a="http://schemas.openxmlformats.org/drawingml/2006/main">
            <a:off x="5905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63F2C0BA-BD9F-4243-BB0E-2E359ECB7F9A}"/>
              </a:ext>
            </a:extLst>
          </p:cNvPr>
          <p:cNvSpPr>
            <a:spLocks xmlns:a="http://schemas.openxmlformats.org/drawingml/2006/main" noGrp="1"/>
          </p:cNvSpPr>
          <p:nvPr/>
        </p:nvSpPr>
        <p:spPr>
          <a:xfrm xmlns:a="http://schemas.openxmlformats.org/drawingml/2006/main">
            <a:off x="7620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168.30 km²</a:t>
            </a:r>
          </a:p>
        </p:txBody>
      </p:sp>
      <p:sp>
        <p:nvSpPr>
          <p:cNvPr id="7" name="">
            <a:extLst xmlns:a="http://schemas.openxmlformats.org/drawingml/2006/main">
              <a:ext uri="{FF2B5EF4-FFF2-40B4-BE49-F238E27FC236}">
                <a16:creationId xmlns:a16="http://schemas.microsoft.com/office/drawing/2014/main" id="{0AA3985A-B6FE-47F9-809C-944E5F51A9E4}"/>
              </a:ext>
            </a:extLst>
          </p:cNvPr>
          <p:cNvSpPr>
            <a:spLocks xmlns:a="http://schemas.openxmlformats.org/drawingml/2006/main" noGrp="1"/>
          </p:cNvSpPr>
          <p:nvPr/>
        </p:nvSpPr>
        <p:spPr>
          <a:xfrm xmlns:a="http://schemas.openxmlformats.org/drawingml/2006/main">
            <a:off x="7620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SOUTHEASTERN RIYADH STUDY AREA</a:t>
            </a:r>
          </a:p>
        </p:txBody>
      </p:sp>
      <p:sp>
        <p:nvSpPr>
          <p:cNvPr id="8" name="">
            <a:extLst xmlns:a="http://schemas.openxmlformats.org/drawingml/2006/main">
              <a:ext uri="{FF2B5EF4-FFF2-40B4-BE49-F238E27FC236}">
                <a16:creationId xmlns:a16="http://schemas.microsoft.com/office/drawing/2014/main" id="{22C11B89-97AD-4FBD-983E-A493A2AA7078}"/>
              </a:ext>
            </a:extLst>
          </p:cNvPr>
          <p:cNvSpPr>
            <a:spLocks xmlns:a="http://schemas.openxmlformats.org/drawingml/2006/main" noGrp="1"/>
          </p:cNvSpPr>
          <p:nvPr/>
        </p:nvSpPr>
        <p:spPr>
          <a:xfrm xmlns:a="http://schemas.openxmlformats.org/drawingml/2006/main">
            <a:off x="32194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E7CC0D70-C397-4511-92A5-55EB3D403B8D}"/>
              </a:ext>
            </a:extLst>
          </p:cNvPr>
          <p:cNvSpPr>
            <a:spLocks xmlns:a="http://schemas.openxmlformats.org/drawingml/2006/main" noGrp="1"/>
          </p:cNvSpPr>
          <p:nvPr/>
        </p:nvSpPr>
        <p:spPr>
          <a:xfrm xmlns:a="http://schemas.openxmlformats.org/drawingml/2006/main">
            <a:off x="33909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1 km</a:t>
            </a:r>
          </a:p>
        </p:txBody>
      </p:sp>
      <p:sp>
        <p:nvSpPr>
          <p:cNvPr id="10" name="">
            <a:extLst xmlns:a="http://schemas.openxmlformats.org/drawingml/2006/main">
              <a:ext uri="{FF2B5EF4-FFF2-40B4-BE49-F238E27FC236}">
                <a16:creationId xmlns:a16="http://schemas.microsoft.com/office/drawing/2014/main" id="{26AFF699-8DA2-4F61-994D-C300BF5CF04C}"/>
              </a:ext>
            </a:extLst>
          </p:cNvPr>
          <p:cNvSpPr>
            <a:spLocks xmlns:a="http://schemas.openxmlformats.org/drawingml/2006/main" noGrp="1"/>
          </p:cNvSpPr>
          <p:nvPr/>
        </p:nvSpPr>
        <p:spPr>
          <a:xfrm xmlns:a="http://schemas.openxmlformats.org/drawingml/2006/main">
            <a:off x="33909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TRANSPARENT SCREENING CELLS</a:t>
            </a:r>
          </a:p>
        </p:txBody>
      </p:sp>
      <p:sp>
        <p:nvSpPr>
          <p:cNvPr id="11" name="">
            <a:extLst xmlns:a="http://schemas.openxmlformats.org/drawingml/2006/main">
              <a:ext uri="{FF2B5EF4-FFF2-40B4-BE49-F238E27FC236}">
                <a16:creationId xmlns:a16="http://schemas.microsoft.com/office/drawing/2014/main" id="{59D92EF4-524F-4033-80A8-2B175852A5C2}"/>
              </a:ext>
            </a:extLst>
          </p:cNvPr>
          <p:cNvSpPr>
            <a:spLocks xmlns:a="http://schemas.openxmlformats.org/drawingml/2006/main" noGrp="1"/>
          </p:cNvSpPr>
          <p:nvPr/>
        </p:nvSpPr>
        <p:spPr>
          <a:xfrm xmlns:a="http://schemas.openxmlformats.org/drawingml/2006/main">
            <a:off x="5848350" y="1619250"/>
            <a:ext cx="2476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84BCD253-3749-4D2D-876D-8FF453AAEA46}"/>
              </a:ext>
            </a:extLst>
          </p:cNvPr>
          <p:cNvSpPr>
            <a:spLocks xmlns:a="http://schemas.openxmlformats.org/drawingml/2006/main" noGrp="1"/>
          </p:cNvSpPr>
          <p:nvPr/>
        </p:nvSpPr>
        <p:spPr>
          <a:xfrm xmlns:a="http://schemas.openxmlformats.org/drawingml/2006/main">
            <a:off x="6019800" y="1733550"/>
            <a:ext cx="2133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1 user</a:t>
            </a:r>
          </a:p>
        </p:txBody>
      </p:sp>
      <p:sp>
        <p:nvSpPr>
          <p:cNvPr id="13" name="">
            <a:extLst xmlns:a="http://schemas.openxmlformats.org/drawingml/2006/main">
              <a:ext uri="{FF2B5EF4-FFF2-40B4-BE49-F238E27FC236}">
                <a16:creationId xmlns:a16="http://schemas.microsoft.com/office/drawing/2014/main" id="{EC11ABE2-60BC-4119-8ABE-18244B2E4041}"/>
              </a:ext>
            </a:extLst>
          </p:cNvPr>
          <p:cNvSpPr>
            <a:spLocks xmlns:a="http://schemas.openxmlformats.org/drawingml/2006/main" noGrp="1"/>
          </p:cNvSpPr>
          <p:nvPr/>
        </p:nvSpPr>
        <p:spPr>
          <a:xfrm xmlns:a="http://schemas.openxmlformats.org/drawingml/2006/main">
            <a:off x="6019800" y="2247900"/>
            <a:ext cx="2133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MUNICIPAL PLANNING + HEAT TEAM</a:t>
            </a:r>
          </a:p>
        </p:txBody>
      </p:sp>
      <p:sp>
        <p:nvSpPr>
          <p:cNvPr id="14" name="">
            <a:extLst xmlns:a="http://schemas.openxmlformats.org/drawingml/2006/main">
              <a:ext uri="{FF2B5EF4-FFF2-40B4-BE49-F238E27FC236}">
                <a16:creationId xmlns:a16="http://schemas.microsoft.com/office/drawing/2014/main" id="{65D42499-E63C-4035-9D1A-FEAA38028014}"/>
              </a:ext>
            </a:extLst>
          </p:cNvPr>
          <p:cNvSpPr>
            <a:spLocks xmlns:a="http://schemas.openxmlformats.org/drawingml/2006/main" noGrp="1"/>
          </p:cNvSpPr>
          <p:nvPr/>
        </p:nvSpPr>
        <p:spPr>
          <a:xfrm xmlns:a="http://schemas.openxmlformats.org/drawingml/2006/main">
            <a:off x="8477250" y="1619250"/>
            <a:ext cx="31242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5" name="">
            <a:extLst xmlns:a="http://schemas.openxmlformats.org/drawingml/2006/main">
              <a:ext uri="{FF2B5EF4-FFF2-40B4-BE49-F238E27FC236}">
                <a16:creationId xmlns:a16="http://schemas.microsoft.com/office/drawing/2014/main" id="{A363AE63-1FE3-46F1-8946-E3412CC1C2A9}"/>
              </a:ext>
            </a:extLst>
          </p:cNvPr>
          <p:cNvSpPr>
            <a:spLocks xmlns:a="http://schemas.openxmlformats.org/drawingml/2006/main" noGrp="1"/>
          </p:cNvSpPr>
          <p:nvPr/>
        </p:nvSpPr>
        <p:spPr>
          <a:xfrm xmlns:a="http://schemas.openxmlformats.org/drawingml/2006/main">
            <a:off x="8648700" y="1733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1 action</a:t>
            </a:r>
          </a:p>
        </p:txBody>
      </p:sp>
      <p:sp>
        <p:nvSpPr>
          <p:cNvPr id="16" name="">
            <a:extLst xmlns:a="http://schemas.openxmlformats.org/drawingml/2006/main">
              <a:ext uri="{FF2B5EF4-FFF2-40B4-BE49-F238E27FC236}">
                <a16:creationId xmlns:a16="http://schemas.microsoft.com/office/drawing/2014/main" id="{1B84E5DA-6C5B-4CEA-933F-281D4B250952}"/>
              </a:ext>
            </a:extLst>
          </p:cNvPr>
          <p:cNvSpPr>
            <a:spLocks xmlns:a="http://schemas.openxmlformats.org/drawingml/2006/main" noGrp="1"/>
          </p:cNvSpPr>
          <p:nvPr/>
        </p:nvSpPr>
        <p:spPr>
          <a:xfrm xmlns:a="http://schemas.openxmlformats.org/drawingml/2006/main">
            <a:off x="8648700" y="22479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INSPECT LOCALLY BEFORE INTERVENTION</a:t>
            </a:r>
          </a:p>
        </p:txBody>
      </p:sp>
      <p:sp>
        <p:nvSpPr>
          <p:cNvPr id="17" name="">
            <a:extLst xmlns:a="http://schemas.openxmlformats.org/drawingml/2006/main">
              <a:ext uri="{FF2B5EF4-FFF2-40B4-BE49-F238E27FC236}">
                <a16:creationId xmlns:a16="http://schemas.microsoft.com/office/drawing/2014/main" id="{F5B510FF-6CBB-4AD3-AC4B-8C6767B2BAFA}"/>
              </a:ext>
            </a:extLst>
          </p:cNvPr>
          <p:cNvSpPr>
            <a:spLocks xmlns:a="http://schemas.openxmlformats.org/drawingml/2006/main" noGrp="1"/>
          </p:cNvSpPr>
          <p:nvPr/>
        </p:nvSpPr>
        <p:spPr>
          <a:xfrm xmlns:a="http://schemas.openxmlformats.org/drawingml/2006/main">
            <a:off x="590550" y="3048000"/>
            <a:ext cx="11010900" cy="2647950"/>
          </a:xfrm>
          <a:prstGeom xmlns:a="http://schemas.openxmlformats.org/drawingml/2006/main" prst="roundRect">
            <a:avLst>
              <a:gd name="adj" fmla="val 575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3A5FBEA0-89BA-4156-8A06-6ADE34D0D09F}"/>
              </a:ext>
            </a:extLst>
          </p:cNvPr>
          <p:cNvSpPr>
            <a:spLocks xmlns:a="http://schemas.openxmlformats.org/drawingml/2006/main" noGrp="1"/>
          </p:cNvSpPr>
          <p:nvPr/>
        </p:nvSpPr>
        <p:spPr>
          <a:xfrm xmlns:a="http://schemas.openxmlformats.org/drawingml/2006/main">
            <a:off x="8763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PROBLEM</a:t>
            </a:r>
          </a:p>
        </p:txBody>
      </p:sp>
      <p:sp>
        <p:nvSpPr>
          <p:cNvPr id="19" name="">
            <a:extLst xmlns:a="http://schemas.openxmlformats.org/drawingml/2006/main">
              <a:ext uri="{FF2B5EF4-FFF2-40B4-BE49-F238E27FC236}">
                <a16:creationId xmlns:a16="http://schemas.microsoft.com/office/drawing/2014/main" id="{7AEC1F83-52D7-4515-BA9B-60FC27F37392}"/>
              </a:ext>
            </a:extLst>
          </p:cNvPr>
          <p:cNvSpPr>
            <a:spLocks xmlns:a="http://schemas.openxmlformats.org/drawingml/2006/main" noGrp="1"/>
          </p:cNvSpPr>
          <p:nvPr/>
        </p:nvSpPr>
        <p:spPr>
          <a:xfrm xmlns:a="http://schemas.openxmlformats.org/drawingml/2006/main">
            <a:off x="8763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Growth, heat, population and vegetation sit in separate layers. A planner still needs a short, explainable list of places to inspect.</a:t>
            </a:r>
          </a:p>
        </p:txBody>
      </p:sp>
      <p:sp>
        <p:nvSpPr>
          <p:cNvPr id="20" name="">
            <a:extLst xmlns:a="http://schemas.openxmlformats.org/drawingml/2006/main">
              <a:ext uri="{FF2B5EF4-FFF2-40B4-BE49-F238E27FC236}">
                <a16:creationId xmlns:a16="http://schemas.microsoft.com/office/drawing/2014/main" id="{811B82D7-0E35-4BE0-93BE-97A04FA8C97D}"/>
              </a:ext>
            </a:extLst>
          </p:cNvPr>
          <p:cNvSpPr>
            <a:spLocks xmlns:a="http://schemas.openxmlformats.org/drawingml/2006/main" noGrp="1"/>
          </p:cNvSpPr>
          <p:nvPr/>
        </p:nvSpPr>
        <p:spPr>
          <a:xfrm xmlns:a="http://schemas.openxmlformats.org/drawingml/2006/main">
            <a:off x="5981700" y="3333750"/>
            <a:ext cx="9525" cy="198120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21" name="">
            <a:extLst xmlns:a="http://schemas.openxmlformats.org/drawingml/2006/main">
              <a:ext uri="{FF2B5EF4-FFF2-40B4-BE49-F238E27FC236}">
                <a16:creationId xmlns:a16="http://schemas.microsoft.com/office/drawing/2014/main" id="{0F624761-2C0C-422E-82AF-6EC5FAF90CDF}"/>
              </a:ext>
            </a:extLst>
          </p:cNvPr>
          <p:cNvSpPr>
            <a:spLocks xmlns:a="http://schemas.openxmlformats.org/drawingml/2006/main" noGrp="1"/>
          </p:cNvSpPr>
          <p:nvPr/>
        </p:nvSpPr>
        <p:spPr>
          <a:xfrm xmlns:a="http://schemas.openxmlformats.org/drawingml/2006/main">
            <a:off x="6324600" y="33337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OUTPUT</a:t>
            </a:r>
          </a:p>
        </p:txBody>
      </p:sp>
      <p:sp>
        <p:nvSpPr>
          <p:cNvPr id="22" name="">
            <a:extLst xmlns:a="http://schemas.openxmlformats.org/drawingml/2006/main">
              <a:ext uri="{FF2B5EF4-FFF2-40B4-BE49-F238E27FC236}">
                <a16:creationId xmlns:a16="http://schemas.microsoft.com/office/drawing/2014/main" id="{7265E781-5415-4780-9FCB-DACF402C2C6A}"/>
              </a:ext>
            </a:extLst>
          </p:cNvPr>
          <p:cNvSpPr>
            <a:spLocks xmlns:a="http://schemas.openxmlformats.org/drawingml/2006/main" noGrp="1"/>
          </p:cNvSpPr>
          <p:nvPr/>
        </p:nvSpPr>
        <p:spPr>
          <a:xfrm xmlns:a="http://schemas.openxmlformats.org/drawingml/2006/main">
            <a:off x="6324600" y="3657600"/>
            <a:ext cx="4762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F3F6F2"/>
                </a:solidFill>
                <a:latin typeface="Arial"/>
                <a:ea typeface="Arial"/>
                <a:cs typeface="Arial"/>
              </a:defRPr>
            </a:defPPr>
            <a:lvl1pPr algn="l">
              <a:buNone/>
              <a:defRPr sz="1800" b="1">
                <a:solidFill>
                  <a:srgbClr val="F3F6F2"/>
                </a:solidFill>
                <a:latin typeface="Arial"/>
                <a:ea typeface="Arial"/>
                <a:cs typeface="Arial"/>
              </a:defRPr>
            </a:lvl1pPr>
            <a:lvl2pPr algn="l">
              <a:buNone/>
              <a:defRPr sz="1800" b="1">
                <a:solidFill>
                  <a:srgbClr val="F3F6F2"/>
                </a:solidFill>
                <a:latin typeface="Arial"/>
                <a:ea typeface="Arial"/>
                <a:cs typeface="Arial"/>
              </a:defRPr>
            </a:lvl2pPr>
            <a:lvl3pPr algn="l">
              <a:buNone/>
              <a:defRPr sz="1800" b="1">
                <a:solidFill>
                  <a:srgbClr val="F3F6F2"/>
                </a:solidFill>
                <a:latin typeface="Arial"/>
                <a:ea typeface="Arial"/>
                <a:cs typeface="Arial"/>
              </a:defRPr>
            </a:lvl3pPr>
            <a:lvl4pPr algn="l">
              <a:buNone/>
              <a:defRPr sz="1800" b="1">
                <a:solidFill>
                  <a:srgbClr val="F3F6F2"/>
                </a:solidFill>
                <a:latin typeface="Arial"/>
                <a:ea typeface="Arial"/>
                <a:cs typeface="Arial"/>
              </a:defRPr>
            </a:lvl4pPr>
            <a:lvl5pPr algn="l">
              <a:buNone/>
              <a:defRPr sz="1800" b="1">
                <a:solidFill>
                  <a:srgbClr val="F3F6F2"/>
                </a:solidFill>
                <a:latin typeface="Arial"/>
                <a:ea typeface="Arial"/>
                <a:cs typeface="Arial"/>
              </a:defRPr>
            </a:lvl5pPr>
            <a:lvl6pPr algn="l">
              <a:buNone/>
              <a:defRPr sz="1800" b="1">
                <a:solidFill>
                  <a:srgbClr val="F3F6F2"/>
                </a:solidFill>
                <a:latin typeface="Arial"/>
                <a:ea typeface="Arial"/>
                <a:cs typeface="Arial"/>
              </a:defRPr>
            </a:lvl6pPr>
            <a:lvl7pPr algn="l">
              <a:buNone/>
              <a:defRPr sz="1800" b="1">
                <a:solidFill>
                  <a:srgbClr val="F3F6F2"/>
                </a:solidFill>
                <a:latin typeface="Arial"/>
                <a:ea typeface="Arial"/>
                <a:cs typeface="Arial"/>
              </a:defRPr>
            </a:lvl7pPr>
            <a:lvl8pPr algn="l">
              <a:buNone/>
              <a:defRPr sz="1800" b="1">
                <a:solidFill>
                  <a:srgbClr val="F3F6F2"/>
                </a:solidFill>
                <a:latin typeface="Arial"/>
                <a:ea typeface="Arial"/>
                <a:cs typeface="Arial"/>
              </a:defRPr>
            </a:lvl8pPr>
            <a:lvl9pPr algn="l">
              <a:buNone/>
              <a:defRPr sz="1800" b="1">
                <a:solidFill>
                  <a:srgbClr val="F3F6F2"/>
                </a:solidFill>
                <a:latin typeface="Arial"/>
                <a:ea typeface="Arial"/>
                <a:cs typeface="Arial"/>
              </a:defRPr>
            </a:lvl9pPr>
          </a:lstStyle>
          <a:p xmlns:a="http://schemas.openxmlformats.org/drawingml/2006/main">
            <a:pPr algn="l">
              <a:buNone/>
              <a:defRPr sz="1800" b="1">
                <a:solidFill>
                  <a:srgbClr val="F3F6F2"/>
                </a:solidFill>
                <a:latin typeface="Arial"/>
                <a:ea typeface="Arial"/>
                <a:cs typeface="Arial"/>
              </a:defRPr>
            </a:pPr>
            <a:r>
              <a:rPr sz="1800" b="1">
                <a:solidFill>
                  <a:srgbClr val="F3F6F2"/>
                </a:solidFill>
                <a:latin typeface="Arial"/>
                <a:ea typeface="Arial"/>
                <a:cs typeface="Arial"/>
              </a:rPr>
              <a:t>HeatReady combines the layers into a ranked list of 1 km cells for local review. Local checks come before any intervention.</a:t>
            </a:r>
          </a:p>
        </p:txBody>
      </p:sp>
      <p:sp>
        <p:nvSpPr>
          <p:cNvPr id="23" name="">
            <a:extLst xmlns:a="http://schemas.openxmlformats.org/drawingml/2006/main">
              <a:ext uri="{FF2B5EF4-FFF2-40B4-BE49-F238E27FC236}">
                <a16:creationId xmlns:a16="http://schemas.microsoft.com/office/drawing/2014/main" id="{F67EDA90-14E3-4910-B95F-22F1B8A6021F}"/>
              </a:ext>
            </a:extLst>
          </p:cNvPr>
          <p:cNvSpPr>
            <a:spLocks xmlns:a="http://schemas.openxmlformats.org/drawingml/2006/main" noGrp="1"/>
          </p:cNvSpPr>
          <p:nvPr/>
        </p:nvSpPr>
        <p:spPr>
          <a:xfrm xmlns:a="http://schemas.openxmlformats.org/drawingml/2006/main">
            <a:off x="876300" y="5191125"/>
            <a:ext cx="1019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E2AD2B"/>
                </a:solidFill>
                <a:latin typeface="Arial"/>
                <a:ea typeface="Arial"/>
                <a:cs typeface="Arial"/>
              </a:defRPr>
            </a:defPPr>
            <a:lvl1pPr algn="l">
              <a:buNone/>
              <a:defRPr sz="1200" b="1">
                <a:solidFill>
                  <a:srgbClr val="E2AD2B"/>
                </a:solidFill>
                <a:latin typeface="Arial"/>
                <a:ea typeface="Arial"/>
                <a:cs typeface="Arial"/>
              </a:defRPr>
            </a:lvl1pPr>
            <a:lvl2pPr algn="l">
              <a:buNone/>
              <a:defRPr sz="1200" b="1">
                <a:solidFill>
                  <a:srgbClr val="E2AD2B"/>
                </a:solidFill>
                <a:latin typeface="Arial"/>
                <a:ea typeface="Arial"/>
                <a:cs typeface="Arial"/>
              </a:defRPr>
            </a:lvl2pPr>
            <a:lvl3pPr algn="l">
              <a:buNone/>
              <a:defRPr sz="1200" b="1">
                <a:solidFill>
                  <a:srgbClr val="E2AD2B"/>
                </a:solidFill>
                <a:latin typeface="Arial"/>
                <a:ea typeface="Arial"/>
                <a:cs typeface="Arial"/>
              </a:defRPr>
            </a:lvl3pPr>
            <a:lvl4pPr algn="l">
              <a:buNone/>
              <a:defRPr sz="1200" b="1">
                <a:solidFill>
                  <a:srgbClr val="E2AD2B"/>
                </a:solidFill>
                <a:latin typeface="Arial"/>
                <a:ea typeface="Arial"/>
                <a:cs typeface="Arial"/>
              </a:defRPr>
            </a:lvl4pPr>
            <a:lvl5pPr algn="l">
              <a:buNone/>
              <a:defRPr sz="1200" b="1">
                <a:solidFill>
                  <a:srgbClr val="E2AD2B"/>
                </a:solidFill>
                <a:latin typeface="Arial"/>
                <a:ea typeface="Arial"/>
                <a:cs typeface="Arial"/>
              </a:defRPr>
            </a:lvl5pPr>
            <a:lvl6pPr algn="l">
              <a:buNone/>
              <a:defRPr sz="1200" b="1">
                <a:solidFill>
                  <a:srgbClr val="E2AD2B"/>
                </a:solidFill>
                <a:latin typeface="Arial"/>
                <a:ea typeface="Arial"/>
                <a:cs typeface="Arial"/>
              </a:defRPr>
            </a:lvl6pPr>
            <a:lvl7pPr algn="l">
              <a:buNone/>
              <a:defRPr sz="1200" b="1">
                <a:solidFill>
                  <a:srgbClr val="E2AD2B"/>
                </a:solidFill>
                <a:latin typeface="Arial"/>
                <a:ea typeface="Arial"/>
                <a:cs typeface="Arial"/>
              </a:defRPr>
            </a:lvl7pPr>
            <a:lvl8pPr algn="l">
              <a:buNone/>
              <a:defRPr sz="1200" b="1">
                <a:solidFill>
                  <a:srgbClr val="E2AD2B"/>
                </a:solidFill>
                <a:latin typeface="Arial"/>
                <a:ea typeface="Arial"/>
                <a:cs typeface="Arial"/>
              </a:defRPr>
            </a:lvl8pPr>
            <a:lvl9pPr algn="l">
              <a:buNone/>
              <a:defRPr sz="1200" b="1">
                <a:solidFill>
                  <a:srgbClr val="E2AD2B"/>
                </a:solidFill>
                <a:latin typeface="Arial"/>
                <a:ea typeface="Arial"/>
                <a:cs typeface="Arial"/>
              </a:defRPr>
            </a:lvl9pPr>
          </a:lstStyle>
          <a:p xmlns:a="http://schemas.openxmlformats.org/drawingml/2006/main">
            <a:pPr algn="l">
              <a:buNone/>
              <a:defRPr sz="1200" b="1">
                <a:solidFill>
                  <a:srgbClr val="E2AD2B"/>
                </a:solidFill>
                <a:latin typeface="Arial"/>
                <a:ea typeface="Arial"/>
                <a:cs typeface="Arial"/>
              </a:defRPr>
            </a:pPr>
            <a:r>
              <a:rPr sz="1200" b="1">
                <a:solidFill>
                  <a:srgbClr val="E2AD2B"/>
                </a:solidFill>
                <a:latin typeface="Arial"/>
                <a:ea typeface="Arial"/>
                <a:cs typeface="Arial"/>
              </a:rPr>
              <a:t>Current limitation: we have not interviewed municipal users. A pilot must test whether this fits their workflow.</a:t>
            </a:r>
          </a:p>
        </p:txBody>
      </p:sp>
    </p:spTree>
    <p:extLst>
      <p:ext uri="{BB962C8B-B14F-4D97-AF65-F5344CB8AC3E}">
        <p14:creationId xmlns:p14="http://schemas.microsoft.com/office/powerpoint/2010/main" val="1475717918"/>
      </p:ext>
    </p:extLst>
  </p:cSld>
</p:sld>
</file>

<file path=ppt/slides/slide3.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AB2219E-1929-4801-A06A-ED44A6AD8FC8}"/>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TEAM</a:t>
            </a:r>
          </a:p>
        </p:txBody>
      </p:sp>
      <p:sp>
        <p:nvSpPr>
          <p:cNvPr id="2" name="">
            <a:extLst xmlns:a="http://schemas.openxmlformats.org/drawingml/2006/main">
              <a:ext uri="{FF2B5EF4-FFF2-40B4-BE49-F238E27FC236}">
                <a16:creationId xmlns:a16="http://schemas.microsoft.com/office/drawing/2014/main" id="{969EF300-AABE-41FF-ABD3-0106DE62B63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Our team</a:t>
            </a:r>
          </a:p>
        </p:txBody>
      </p:sp>
      <p:sp>
        <p:nvSpPr>
          <p:cNvPr id="3" name="">
            <a:extLst xmlns:a="http://schemas.openxmlformats.org/drawingml/2006/main">
              <a:ext uri="{FF2B5EF4-FFF2-40B4-BE49-F238E27FC236}">
                <a16:creationId xmlns:a16="http://schemas.microsoft.com/office/drawing/2014/main" id="{F099F3F5-BF86-48F7-B58E-0610EB39A93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4B0F71A3-0BAA-4100-9279-BDEC44554649}"/>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04DDBE62-2B72-4A65-B7D2-6C0FB1916247}"/>
              </a:ext>
            </a:extLst>
          </p:cNvPr>
          <p:cNvSpPr>
            <a:spLocks xmlns:a="http://schemas.openxmlformats.org/drawingml/2006/main" noGrp="1"/>
          </p:cNvSpPr>
          <p:nvPr/>
        </p:nvSpPr>
        <p:spPr>
          <a:xfrm xmlns:a="http://schemas.openxmlformats.org/drawingml/2006/main">
            <a:off x="6096000" y="1695450"/>
            <a:ext cx="9525" cy="37147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8587DF4E-BC2C-40C7-82D7-479B499AEF6E}"/>
              </a:ext>
            </a:extLst>
          </p:cNvPr>
          <p:cNvSpPr>
            <a:spLocks xmlns:a="http://schemas.openxmlformats.org/drawingml/2006/main" noGrp="1"/>
          </p:cNvSpPr>
          <p:nvPr/>
        </p:nvSpPr>
        <p:spPr>
          <a:xfrm xmlns:a="http://schemas.openxmlformats.org/drawingml/2006/main">
            <a:off x="742950" y="1752600"/>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325" b="1">
                <a:solidFill>
                  <a:srgbClr val="F3F6F2"/>
                </a:solidFill>
                <a:latin typeface="Arial"/>
                <a:ea typeface="Arial"/>
                <a:cs typeface="Arial"/>
              </a:defRPr>
            </a:pPr>
            <a:r>
              <a:rPr sz="2325" b="1">
                <a:solidFill>
                  <a:srgbClr val="F3F6F2"/>
                </a:solidFill>
                <a:latin typeface="Arial"/>
                <a:ea typeface="Arial"/>
                <a:cs typeface="Arial"/>
              </a:rPr>
              <a:t>Yusuf Karanib</a:t>
            </a:r>
          </a:p>
        </p:txBody>
      </p:sp>
      <p:sp>
        <p:nvSpPr>
          <p:cNvPr id="7" name="">
            <a:extLst xmlns:a="http://schemas.openxmlformats.org/drawingml/2006/main">
              <a:ext uri="{FF2B5EF4-FFF2-40B4-BE49-F238E27FC236}">
                <a16:creationId xmlns:a16="http://schemas.microsoft.com/office/drawing/2014/main" id="{3F1B171E-1688-4630-BBA3-50F3BD8BD56A}"/>
              </a:ext>
            </a:extLst>
          </p:cNvPr>
          <p:cNvSpPr>
            <a:spLocks xmlns:a="http://schemas.openxmlformats.org/drawingml/2006/main" noGrp="1"/>
          </p:cNvSpPr>
          <p:nvPr/>
        </p:nvSpPr>
        <p:spPr>
          <a:xfrm xmlns:a="http://schemas.openxmlformats.org/drawingml/2006/main">
            <a:off x="742950" y="224790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1AA58F"/>
                </a:solidFill>
                <a:latin typeface="Arial"/>
                <a:ea typeface="Arial"/>
                <a:cs typeface="Arial"/>
              </a:defRPr>
            </a:defPPr>
            <a:lvl1pPr algn="l">
              <a:buNone/>
              <a:defRPr sz="1425" b="1">
                <a:solidFill>
                  <a:srgbClr val="1AA58F"/>
                </a:solidFill>
                <a:latin typeface="Arial"/>
                <a:ea typeface="Arial"/>
                <a:cs typeface="Arial"/>
              </a:defRPr>
            </a:lvl1pPr>
            <a:lvl2pPr algn="l">
              <a:buNone/>
              <a:defRPr sz="1425" b="1">
                <a:solidFill>
                  <a:srgbClr val="1AA58F"/>
                </a:solidFill>
                <a:latin typeface="Arial"/>
                <a:ea typeface="Arial"/>
                <a:cs typeface="Arial"/>
              </a:defRPr>
            </a:lvl2pPr>
            <a:lvl3pPr algn="l">
              <a:buNone/>
              <a:defRPr sz="1425" b="1">
                <a:solidFill>
                  <a:srgbClr val="1AA58F"/>
                </a:solidFill>
                <a:latin typeface="Arial"/>
                <a:ea typeface="Arial"/>
                <a:cs typeface="Arial"/>
              </a:defRPr>
            </a:lvl3pPr>
            <a:lvl4pPr algn="l">
              <a:buNone/>
              <a:defRPr sz="1425" b="1">
                <a:solidFill>
                  <a:srgbClr val="1AA58F"/>
                </a:solidFill>
                <a:latin typeface="Arial"/>
                <a:ea typeface="Arial"/>
                <a:cs typeface="Arial"/>
              </a:defRPr>
            </a:lvl4pPr>
            <a:lvl5pPr algn="l">
              <a:buNone/>
              <a:defRPr sz="1425" b="1">
                <a:solidFill>
                  <a:srgbClr val="1AA58F"/>
                </a:solidFill>
                <a:latin typeface="Arial"/>
                <a:ea typeface="Arial"/>
                <a:cs typeface="Arial"/>
              </a:defRPr>
            </a:lvl5pPr>
            <a:lvl6pPr algn="l">
              <a:buNone/>
              <a:defRPr sz="1425" b="1">
                <a:solidFill>
                  <a:srgbClr val="1AA58F"/>
                </a:solidFill>
                <a:latin typeface="Arial"/>
                <a:ea typeface="Arial"/>
                <a:cs typeface="Arial"/>
              </a:defRPr>
            </a:lvl6pPr>
            <a:lvl7pPr algn="l">
              <a:buNone/>
              <a:defRPr sz="1425" b="1">
                <a:solidFill>
                  <a:srgbClr val="1AA58F"/>
                </a:solidFill>
                <a:latin typeface="Arial"/>
                <a:ea typeface="Arial"/>
                <a:cs typeface="Arial"/>
              </a:defRPr>
            </a:lvl7pPr>
            <a:lvl8pPr algn="l">
              <a:buNone/>
              <a:defRPr sz="1425" b="1">
                <a:solidFill>
                  <a:srgbClr val="1AA58F"/>
                </a:solidFill>
                <a:latin typeface="Arial"/>
                <a:ea typeface="Arial"/>
                <a:cs typeface="Arial"/>
              </a:defRPr>
            </a:lvl8pPr>
            <a:lvl9pPr algn="l">
              <a:buNone/>
              <a:defRPr sz="1425" b="1">
                <a:solidFill>
                  <a:srgbClr val="1AA58F"/>
                </a:solidFill>
                <a:latin typeface="Arial"/>
                <a:ea typeface="Arial"/>
                <a:cs typeface="Arial"/>
              </a:defRPr>
            </a:lvl9pPr>
          </a:lstStyle>
          <a:p xmlns:a="http://schemas.openxmlformats.org/drawingml/2006/main">
            <a:pPr algn="l">
              <a:buNone/>
              <a:defRPr sz="1425" b="1">
                <a:solidFill>
                  <a:srgbClr val="1AA58F"/>
                </a:solidFill>
                <a:latin typeface="Arial"/>
                <a:ea typeface="Arial"/>
                <a:cs typeface="Arial"/>
              </a:defRPr>
            </a:pPr>
            <a:r>
              <a:rPr sz="1425" b="1">
                <a:solidFill>
                  <a:srgbClr val="1AA58F"/>
                </a:solidFill>
                <a:latin typeface="Arial"/>
                <a:ea typeface="Arial"/>
                <a:cs typeface="Arial"/>
              </a:rPr>
              <a:t>Project lead and demonstration</a:t>
            </a:r>
          </a:p>
        </p:txBody>
      </p:sp>
      <p:sp>
        <p:nvSpPr>
          <p:cNvPr id="8" name="">
            <a:extLst xmlns:a="http://schemas.openxmlformats.org/drawingml/2006/main">
              <a:ext uri="{FF2B5EF4-FFF2-40B4-BE49-F238E27FC236}">
                <a16:creationId xmlns:a16="http://schemas.microsoft.com/office/drawing/2014/main" id="{1C459ED7-7637-4977-8797-CCECE4408613}"/>
              </a:ext>
            </a:extLst>
          </p:cNvPr>
          <p:cNvSpPr>
            <a:spLocks xmlns:a="http://schemas.openxmlformats.org/drawingml/2006/main" noGrp="1"/>
          </p:cNvSpPr>
          <p:nvPr/>
        </p:nvSpPr>
        <p:spPr>
          <a:xfrm xmlns:a="http://schemas.openxmlformats.org/drawingml/2006/main">
            <a:off x="742950" y="2933700"/>
            <a:ext cx="4476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650">
                <a:solidFill>
                  <a:srgbClr val="F3F6F2"/>
                </a:solidFill>
                <a:latin typeface="Arial"/>
                <a:ea typeface="Arial"/>
                <a:cs typeface="Arial"/>
              </a:defRPr>
            </a:pPr>
            <a:r>
              <a:rPr sz="1650">
                <a:solidFill>
                  <a:srgbClr val="F3F6F2"/>
                </a:solidFill>
                <a:latin typeface="Arial"/>
                <a:ea typeface="Arial"/>
                <a:cs typeface="Arial"/>
              </a:rPr>
              <a:t>Leads the final submission. Explains how the satellite data becomes a priority map and runs the demonstration.</a:t>
            </a:r>
          </a:p>
        </p:txBody>
      </p:sp>
      <p:sp>
        <p:nvSpPr>
          <p:cNvPr id="9" name="">
            <a:extLst xmlns:a="http://schemas.openxmlformats.org/drawingml/2006/main">
              <a:ext uri="{FF2B5EF4-FFF2-40B4-BE49-F238E27FC236}">
                <a16:creationId xmlns:a16="http://schemas.microsoft.com/office/drawing/2014/main" id="{5F010009-136B-4E3A-9CCF-EEA63611795F}"/>
              </a:ext>
            </a:extLst>
          </p:cNvPr>
          <p:cNvSpPr>
            <a:spLocks xmlns:a="http://schemas.openxmlformats.org/drawingml/2006/main" noGrp="1"/>
          </p:cNvSpPr>
          <p:nvPr/>
        </p:nvSpPr>
        <p:spPr>
          <a:xfrm xmlns:a="http://schemas.openxmlformats.org/drawingml/2006/main">
            <a:off x="6667500" y="1752600"/>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325" b="1">
                <a:solidFill>
                  <a:srgbClr val="F3F6F2"/>
                </a:solidFill>
                <a:latin typeface="Arial"/>
                <a:ea typeface="Arial"/>
                <a:cs typeface="Arial"/>
              </a:defRPr>
            </a:defPPr>
            <a:lvl1pPr algn="l">
              <a:buNone/>
              <a:defRPr sz="2325" b="1">
                <a:solidFill>
                  <a:srgbClr val="F3F6F2"/>
                </a:solidFill>
                <a:latin typeface="Arial"/>
                <a:ea typeface="Arial"/>
                <a:cs typeface="Arial"/>
              </a:defRPr>
            </a:lvl1pPr>
            <a:lvl2pPr algn="l">
              <a:buNone/>
              <a:defRPr sz="2325" b="1">
                <a:solidFill>
                  <a:srgbClr val="F3F6F2"/>
                </a:solidFill>
                <a:latin typeface="Arial"/>
                <a:ea typeface="Arial"/>
                <a:cs typeface="Arial"/>
              </a:defRPr>
            </a:lvl2pPr>
            <a:lvl3pPr algn="l">
              <a:buNone/>
              <a:defRPr sz="2325" b="1">
                <a:solidFill>
                  <a:srgbClr val="F3F6F2"/>
                </a:solidFill>
                <a:latin typeface="Arial"/>
                <a:ea typeface="Arial"/>
                <a:cs typeface="Arial"/>
              </a:defRPr>
            </a:lvl3pPr>
            <a:lvl4pPr algn="l">
              <a:buNone/>
              <a:defRPr sz="2325" b="1">
                <a:solidFill>
                  <a:srgbClr val="F3F6F2"/>
                </a:solidFill>
                <a:latin typeface="Arial"/>
                <a:ea typeface="Arial"/>
                <a:cs typeface="Arial"/>
              </a:defRPr>
            </a:lvl4pPr>
            <a:lvl5pPr algn="l">
              <a:buNone/>
              <a:defRPr sz="2325" b="1">
                <a:solidFill>
                  <a:srgbClr val="F3F6F2"/>
                </a:solidFill>
                <a:latin typeface="Arial"/>
                <a:ea typeface="Arial"/>
                <a:cs typeface="Arial"/>
              </a:defRPr>
            </a:lvl5pPr>
            <a:lvl6pPr algn="l">
              <a:buNone/>
              <a:defRPr sz="2325" b="1">
                <a:solidFill>
                  <a:srgbClr val="F3F6F2"/>
                </a:solidFill>
                <a:latin typeface="Arial"/>
                <a:ea typeface="Arial"/>
                <a:cs typeface="Arial"/>
              </a:defRPr>
            </a:lvl6pPr>
            <a:lvl7pPr algn="l">
              <a:buNone/>
              <a:defRPr sz="2325" b="1">
                <a:solidFill>
                  <a:srgbClr val="F3F6F2"/>
                </a:solidFill>
                <a:latin typeface="Arial"/>
                <a:ea typeface="Arial"/>
                <a:cs typeface="Arial"/>
              </a:defRPr>
            </a:lvl7pPr>
            <a:lvl8pPr algn="l">
              <a:buNone/>
              <a:defRPr sz="2325" b="1">
                <a:solidFill>
                  <a:srgbClr val="F3F6F2"/>
                </a:solidFill>
                <a:latin typeface="Arial"/>
                <a:ea typeface="Arial"/>
                <a:cs typeface="Arial"/>
              </a:defRPr>
            </a:lvl8pPr>
            <a:lvl9pPr algn="l">
              <a:buNone/>
              <a:defRPr sz="2325" b="1">
                <a:solidFill>
                  <a:srgbClr val="F3F6F2"/>
                </a:solidFill>
                <a:latin typeface="Arial"/>
                <a:ea typeface="Arial"/>
                <a:cs typeface="Arial"/>
              </a:defRPr>
            </a:lvl9pPr>
          </a:lstStyle>
          <a:p xmlns:a="http://schemas.openxmlformats.org/drawingml/2006/main">
            <a:pPr algn="l">
              <a:buNone/>
              <a:defRPr sz="2325" b="1">
                <a:solidFill>
                  <a:srgbClr val="F3F6F2"/>
                </a:solidFill>
                <a:latin typeface="Arial"/>
                <a:ea typeface="Arial"/>
                <a:cs typeface="Arial"/>
              </a:defRPr>
            </a:pPr>
            <a:r>
              <a:rPr sz="2325" b="1">
                <a:solidFill>
                  <a:srgbClr val="F3F6F2"/>
                </a:solidFill>
                <a:latin typeface="Arial"/>
                <a:ea typeface="Arial"/>
                <a:cs typeface="Arial"/>
              </a:rPr>
              <a:t>Raed Mardoum</a:t>
            </a:r>
          </a:p>
        </p:txBody>
      </p:sp>
      <p:sp>
        <p:nvSpPr>
          <p:cNvPr id="10" name="">
            <a:extLst xmlns:a="http://schemas.openxmlformats.org/drawingml/2006/main">
              <a:ext uri="{FF2B5EF4-FFF2-40B4-BE49-F238E27FC236}">
                <a16:creationId xmlns:a16="http://schemas.microsoft.com/office/drawing/2014/main" id="{9A388C92-A8BD-4857-B8C0-1029F9FE8BB3}"/>
              </a:ext>
            </a:extLst>
          </p:cNvPr>
          <p:cNvSpPr>
            <a:spLocks xmlns:a="http://schemas.openxmlformats.org/drawingml/2006/main" noGrp="1"/>
          </p:cNvSpPr>
          <p:nvPr/>
        </p:nvSpPr>
        <p:spPr>
          <a:xfrm xmlns:a="http://schemas.openxmlformats.org/drawingml/2006/main">
            <a:off x="6667500" y="2247900"/>
            <a:ext cx="466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6D5DD3"/>
                </a:solidFill>
                <a:latin typeface="Arial"/>
                <a:ea typeface="Arial"/>
                <a:cs typeface="Arial"/>
              </a:defRPr>
            </a:defPPr>
            <a:lvl1pPr algn="l">
              <a:buNone/>
              <a:defRPr sz="1425" b="1">
                <a:solidFill>
                  <a:srgbClr val="6D5DD3"/>
                </a:solidFill>
                <a:latin typeface="Arial"/>
                <a:ea typeface="Arial"/>
                <a:cs typeface="Arial"/>
              </a:defRPr>
            </a:lvl1pPr>
            <a:lvl2pPr algn="l">
              <a:buNone/>
              <a:defRPr sz="1425" b="1">
                <a:solidFill>
                  <a:srgbClr val="6D5DD3"/>
                </a:solidFill>
                <a:latin typeface="Arial"/>
                <a:ea typeface="Arial"/>
                <a:cs typeface="Arial"/>
              </a:defRPr>
            </a:lvl2pPr>
            <a:lvl3pPr algn="l">
              <a:buNone/>
              <a:defRPr sz="1425" b="1">
                <a:solidFill>
                  <a:srgbClr val="6D5DD3"/>
                </a:solidFill>
                <a:latin typeface="Arial"/>
                <a:ea typeface="Arial"/>
                <a:cs typeface="Arial"/>
              </a:defRPr>
            </a:lvl3pPr>
            <a:lvl4pPr algn="l">
              <a:buNone/>
              <a:defRPr sz="1425" b="1">
                <a:solidFill>
                  <a:srgbClr val="6D5DD3"/>
                </a:solidFill>
                <a:latin typeface="Arial"/>
                <a:ea typeface="Arial"/>
                <a:cs typeface="Arial"/>
              </a:defRPr>
            </a:lvl4pPr>
            <a:lvl5pPr algn="l">
              <a:buNone/>
              <a:defRPr sz="1425" b="1">
                <a:solidFill>
                  <a:srgbClr val="6D5DD3"/>
                </a:solidFill>
                <a:latin typeface="Arial"/>
                <a:ea typeface="Arial"/>
                <a:cs typeface="Arial"/>
              </a:defRPr>
            </a:lvl5pPr>
            <a:lvl6pPr algn="l">
              <a:buNone/>
              <a:defRPr sz="1425" b="1">
                <a:solidFill>
                  <a:srgbClr val="6D5DD3"/>
                </a:solidFill>
                <a:latin typeface="Arial"/>
                <a:ea typeface="Arial"/>
                <a:cs typeface="Arial"/>
              </a:defRPr>
            </a:lvl6pPr>
            <a:lvl7pPr algn="l">
              <a:buNone/>
              <a:defRPr sz="1425" b="1">
                <a:solidFill>
                  <a:srgbClr val="6D5DD3"/>
                </a:solidFill>
                <a:latin typeface="Arial"/>
                <a:ea typeface="Arial"/>
                <a:cs typeface="Arial"/>
              </a:defRPr>
            </a:lvl7pPr>
            <a:lvl8pPr algn="l">
              <a:buNone/>
              <a:defRPr sz="1425" b="1">
                <a:solidFill>
                  <a:srgbClr val="6D5DD3"/>
                </a:solidFill>
                <a:latin typeface="Arial"/>
                <a:ea typeface="Arial"/>
                <a:cs typeface="Arial"/>
              </a:defRPr>
            </a:lvl8pPr>
            <a:lvl9pPr algn="l">
              <a:buNone/>
              <a:defRPr sz="1425" b="1">
                <a:solidFill>
                  <a:srgbClr val="6D5DD3"/>
                </a:solidFill>
                <a:latin typeface="Arial"/>
                <a:ea typeface="Arial"/>
                <a:cs typeface="Arial"/>
              </a:defRPr>
            </a:lvl9pPr>
          </a:lstStyle>
          <a:p xmlns:a="http://schemas.openxmlformats.org/drawingml/2006/main">
            <a:pPr algn="l">
              <a:buNone/>
              <a:defRPr sz="1425" b="1">
                <a:solidFill>
                  <a:srgbClr val="6D5DD3"/>
                </a:solidFill>
                <a:latin typeface="Arial"/>
                <a:ea typeface="Arial"/>
                <a:cs typeface="Arial"/>
              </a:defRPr>
            </a:pPr>
            <a:r>
              <a:rPr sz="1425" b="1">
                <a:solidFill>
                  <a:srgbClr val="6D5DD3"/>
                </a:solidFill>
                <a:latin typeface="Arial"/>
                <a:ea typeface="Arial"/>
                <a:cs typeface="Arial"/>
              </a:rPr>
              <a:t>Validation and pilot</a:t>
            </a:r>
          </a:p>
        </p:txBody>
      </p:sp>
      <p:sp>
        <p:nvSpPr>
          <p:cNvPr id="11" name="">
            <a:extLst xmlns:a="http://schemas.openxmlformats.org/drawingml/2006/main">
              <a:ext uri="{FF2B5EF4-FFF2-40B4-BE49-F238E27FC236}">
                <a16:creationId xmlns:a16="http://schemas.microsoft.com/office/drawing/2014/main" id="{F0365487-459B-4257-9FD8-B9312C5AC636}"/>
              </a:ext>
            </a:extLst>
          </p:cNvPr>
          <p:cNvSpPr>
            <a:spLocks xmlns:a="http://schemas.openxmlformats.org/drawingml/2006/main" noGrp="1"/>
          </p:cNvSpPr>
          <p:nvPr/>
        </p:nvSpPr>
        <p:spPr>
          <a:xfrm xmlns:a="http://schemas.openxmlformats.org/drawingml/2006/main">
            <a:off x="6667500" y="2933700"/>
            <a:ext cx="4476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650">
                <a:solidFill>
                  <a:srgbClr val="F3F6F2"/>
                </a:solidFill>
                <a:latin typeface="Arial"/>
                <a:ea typeface="Arial"/>
                <a:cs typeface="Arial"/>
              </a:defRPr>
            </a:defPPr>
            <a:lvl1pPr algn="l">
              <a:buNone/>
              <a:defRPr sz="1650">
                <a:solidFill>
                  <a:srgbClr val="F3F6F2"/>
                </a:solidFill>
                <a:latin typeface="Arial"/>
                <a:ea typeface="Arial"/>
                <a:cs typeface="Arial"/>
              </a:defRPr>
            </a:lvl1pPr>
            <a:lvl2pPr algn="l">
              <a:buNone/>
              <a:defRPr sz="1650">
                <a:solidFill>
                  <a:srgbClr val="F3F6F2"/>
                </a:solidFill>
                <a:latin typeface="Arial"/>
                <a:ea typeface="Arial"/>
                <a:cs typeface="Arial"/>
              </a:defRPr>
            </a:lvl2pPr>
            <a:lvl3pPr algn="l">
              <a:buNone/>
              <a:defRPr sz="1650">
                <a:solidFill>
                  <a:srgbClr val="F3F6F2"/>
                </a:solidFill>
                <a:latin typeface="Arial"/>
                <a:ea typeface="Arial"/>
                <a:cs typeface="Arial"/>
              </a:defRPr>
            </a:lvl3pPr>
            <a:lvl4pPr algn="l">
              <a:buNone/>
              <a:defRPr sz="1650">
                <a:solidFill>
                  <a:srgbClr val="F3F6F2"/>
                </a:solidFill>
                <a:latin typeface="Arial"/>
                <a:ea typeface="Arial"/>
                <a:cs typeface="Arial"/>
              </a:defRPr>
            </a:lvl4pPr>
            <a:lvl5pPr algn="l">
              <a:buNone/>
              <a:defRPr sz="1650">
                <a:solidFill>
                  <a:srgbClr val="F3F6F2"/>
                </a:solidFill>
                <a:latin typeface="Arial"/>
                <a:ea typeface="Arial"/>
                <a:cs typeface="Arial"/>
              </a:defRPr>
            </a:lvl5pPr>
            <a:lvl6pPr algn="l">
              <a:buNone/>
              <a:defRPr sz="1650">
                <a:solidFill>
                  <a:srgbClr val="F3F6F2"/>
                </a:solidFill>
                <a:latin typeface="Arial"/>
                <a:ea typeface="Arial"/>
                <a:cs typeface="Arial"/>
              </a:defRPr>
            </a:lvl6pPr>
            <a:lvl7pPr algn="l">
              <a:buNone/>
              <a:defRPr sz="1650">
                <a:solidFill>
                  <a:srgbClr val="F3F6F2"/>
                </a:solidFill>
                <a:latin typeface="Arial"/>
                <a:ea typeface="Arial"/>
                <a:cs typeface="Arial"/>
              </a:defRPr>
            </a:lvl7pPr>
            <a:lvl8pPr algn="l">
              <a:buNone/>
              <a:defRPr sz="1650">
                <a:solidFill>
                  <a:srgbClr val="F3F6F2"/>
                </a:solidFill>
                <a:latin typeface="Arial"/>
                <a:ea typeface="Arial"/>
                <a:cs typeface="Arial"/>
              </a:defRPr>
            </a:lvl8pPr>
            <a:lvl9pPr algn="l">
              <a:buNone/>
              <a:defRPr sz="1650">
                <a:solidFill>
                  <a:srgbClr val="F3F6F2"/>
                </a:solidFill>
                <a:latin typeface="Arial"/>
                <a:ea typeface="Arial"/>
                <a:cs typeface="Arial"/>
              </a:defRPr>
            </a:lvl9pPr>
          </a:lstStyle>
          <a:p xmlns:a="http://schemas.openxmlformats.org/drawingml/2006/main">
            <a:pPr algn="l">
              <a:buNone/>
              <a:defRPr sz="1650">
                <a:solidFill>
                  <a:srgbClr val="F3F6F2"/>
                </a:solidFill>
                <a:latin typeface="Arial"/>
                <a:ea typeface="Arial"/>
                <a:cs typeface="Arial"/>
              </a:defRPr>
            </a:pPr>
            <a:r>
              <a:rPr sz="1650">
                <a:solidFill>
                  <a:srgbClr val="F3F6F2"/>
                </a:solidFill>
                <a:latin typeface="Arial"/>
                <a:ea typeface="Arial"/>
                <a:cs typeface="Arial"/>
              </a:rPr>
              <a:t>Explains what the validation results mean and where the method is limited. Covers how planners could test the ranking in a municipal pilot.</a:t>
            </a:r>
          </a:p>
        </p:txBody>
      </p:sp>
    </p:spTree>
    <p:extLst>
      <p:ext uri="{BB962C8B-B14F-4D97-AF65-F5344CB8AC3E}">
        <p14:creationId xmlns:p14="http://schemas.microsoft.com/office/powerpoint/2010/main" val="411391917"/>
      </p:ext>
    </p:extLst>
  </p:cSld>
</p:sld>
</file>

<file path=ppt/slides/slide4.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47D4DA8-5F50-4A9F-B51B-E94C9322E3DE}"/>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DATA AND METHOD</a:t>
            </a:r>
          </a:p>
        </p:txBody>
      </p:sp>
      <p:sp>
        <p:nvSpPr>
          <p:cNvPr id="2" name="">
            <a:extLst xmlns:a="http://schemas.openxmlformats.org/drawingml/2006/main">
              <a:ext uri="{FF2B5EF4-FFF2-40B4-BE49-F238E27FC236}">
                <a16:creationId xmlns:a16="http://schemas.microsoft.com/office/drawing/2014/main" id="{24876A9D-3D98-4A9D-987B-B5593D2006DF}"/>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Data used in the analysis</a:t>
            </a:r>
          </a:p>
        </p:txBody>
      </p:sp>
      <p:sp>
        <p:nvSpPr>
          <p:cNvPr id="3" name="">
            <a:extLst xmlns:a="http://schemas.openxmlformats.org/drawingml/2006/main">
              <a:ext uri="{FF2B5EF4-FFF2-40B4-BE49-F238E27FC236}">
                <a16:creationId xmlns:a16="http://schemas.microsoft.com/office/drawing/2014/main" id="{260E4B1D-0024-466F-A665-5F6F951165E2}"/>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7E2CD542-62CE-47F9-84D2-FA7B83368107}"/>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DB642E6B-6217-4199-A5F7-D54ADD751564}"/>
              </a:ext>
            </a:extLst>
          </p:cNvPr>
          <p:cNvSpPr>
            <a:spLocks xmlns:a="http://schemas.openxmlformats.org/drawingml/2006/main" noGrp="1"/>
          </p:cNvSpPr>
          <p:nvPr/>
        </p:nvSpPr>
        <p:spPr>
          <a:xfrm xmlns:a="http://schemas.openxmlformats.org/drawingml/2006/main">
            <a:off x="590550" y="1562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B3455828-0228-40C0-B7B4-45B6491D4444}"/>
              </a:ext>
            </a:extLst>
          </p:cNvPr>
          <p:cNvSpPr>
            <a:spLocks xmlns:a="http://schemas.openxmlformats.org/drawingml/2006/main" noGrp="1"/>
          </p:cNvSpPr>
          <p:nvPr/>
        </p:nvSpPr>
        <p:spPr>
          <a:xfrm xmlns:a="http://schemas.openxmlformats.org/drawingml/2006/main">
            <a:off x="590550" y="1562100"/>
            <a:ext cx="76200" cy="514350"/>
          </a:xfrm>
          <a:prstGeom xmlns:a="http://schemas.openxmlformats.org/drawingml/2006/main" prst="rect">
            <a:avLst/>
          </a:prstGeom>
          <a:solidFill xmlns:a="http://schemas.openxmlformats.org/drawingml/2006/main">
            <a:srgbClr val="1AA58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2E71F8-8911-4346-A0A2-4B37F11CC69D}"/>
              </a:ext>
            </a:extLst>
          </p:cNvPr>
          <p:cNvSpPr>
            <a:spLocks xmlns:a="http://schemas.openxmlformats.org/drawingml/2006/main" noGrp="1"/>
          </p:cNvSpPr>
          <p:nvPr/>
        </p:nvSpPr>
        <p:spPr>
          <a:xfrm xmlns:a="http://schemas.openxmlformats.org/drawingml/2006/main">
            <a:off x="800100" y="1638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1AA58F"/>
                </a:solidFill>
                <a:latin typeface="Arial"/>
                <a:ea typeface="Arial"/>
                <a:cs typeface="Arial"/>
              </a:defRPr>
            </a:defPPr>
            <a:lvl1pPr algn="l">
              <a:buNone/>
              <a:defRPr sz="1350" b="1">
                <a:solidFill>
                  <a:srgbClr val="1AA58F"/>
                </a:solidFill>
                <a:latin typeface="Arial"/>
                <a:ea typeface="Arial"/>
                <a:cs typeface="Arial"/>
              </a:defRPr>
            </a:lvl1pPr>
            <a:lvl2pPr algn="l">
              <a:buNone/>
              <a:defRPr sz="1350" b="1">
                <a:solidFill>
                  <a:srgbClr val="1AA58F"/>
                </a:solidFill>
                <a:latin typeface="Arial"/>
                <a:ea typeface="Arial"/>
                <a:cs typeface="Arial"/>
              </a:defRPr>
            </a:lvl2pPr>
            <a:lvl3pPr algn="l">
              <a:buNone/>
              <a:defRPr sz="1350" b="1">
                <a:solidFill>
                  <a:srgbClr val="1AA58F"/>
                </a:solidFill>
                <a:latin typeface="Arial"/>
                <a:ea typeface="Arial"/>
                <a:cs typeface="Arial"/>
              </a:defRPr>
            </a:lvl3pPr>
            <a:lvl4pPr algn="l">
              <a:buNone/>
              <a:defRPr sz="1350" b="1">
                <a:solidFill>
                  <a:srgbClr val="1AA58F"/>
                </a:solidFill>
                <a:latin typeface="Arial"/>
                <a:ea typeface="Arial"/>
                <a:cs typeface="Arial"/>
              </a:defRPr>
            </a:lvl4pPr>
            <a:lvl5pPr algn="l">
              <a:buNone/>
              <a:defRPr sz="1350" b="1">
                <a:solidFill>
                  <a:srgbClr val="1AA58F"/>
                </a:solidFill>
                <a:latin typeface="Arial"/>
                <a:ea typeface="Arial"/>
                <a:cs typeface="Arial"/>
              </a:defRPr>
            </a:lvl5pPr>
            <a:lvl6pPr algn="l">
              <a:buNone/>
              <a:defRPr sz="1350" b="1">
                <a:solidFill>
                  <a:srgbClr val="1AA58F"/>
                </a:solidFill>
                <a:latin typeface="Arial"/>
                <a:ea typeface="Arial"/>
                <a:cs typeface="Arial"/>
              </a:defRPr>
            </a:lvl6pPr>
            <a:lvl7pPr algn="l">
              <a:buNone/>
              <a:defRPr sz="1350" b="1">
                <a:solidFill>
                  <a:srgbClr val="1AA58F"/>
                </a:solidFill>
                <a:latin typeface="Arial"/>
                <a:ea typeface="Arial"/>
                <a:cs typeface="Arial"/>
              </a:defRPr>
            </a:lvl7pPr>
            <a:lvl8pPr algn="l">
              <a:buNone/>
              <a:defRPr sz="1350" b="1">
                <a:solidFill>
                  <a:srgbClr val="1AA58F"/>
                </a:solidFill>
                <a:latin typeface="Arial"/>
                <a:ea typeface="Arial"/>
                <a:cs typeface="Arial"/>
              </a:defRPr>
            </a:lvl8pPr>
            <a:lvl9pPr algn="l">
              <a:buNone/>
              <a:defRPr sz="1350" b="1">
                <a:solidFill>
                  <a:srgbClr val="1AA58F"/>
                </a:solidFill>
                <a:latin typeface="Arial"/>
                <a:ea typeface="Arial"/>
                <a:cs typeface="Arial"/>
              </a:defRPr>
            </a:lvl9pPr>
          </a:lstStyle>
          <a:p xmlns:a="http://schemas.openxmlformats.org/drawingml/2006/main">
            <a:pPr algn="l">
              <a:buNone/>
              <a:defRPr sz="1350" b="1">
                <a:solidFill>
                  <a:srgbClr val="1AA58F"/>
                </a:solidFill>
                <a:latin typeface="Arial"/>
                <a:ea typeface="Arial"/>
                <a:cs typeface="Arial"/>
              </a:defRPr>
            </a:pPr>
            <a:r>
              <a:rPr sz="1350" b="1">
                <a:solidFill>
                  <a:srgbClr val="1AA58F"/>
                </a:solidFill>
                <a:latin typeface="Arial"/>
                <a:ea typeface="Arial"/>
                <a:cs typeface="Arial"/>
              </a:rPr>
              <a:t>Sentinel-2</a:t>
            </a:r>
          </a:p>
        </p:txBody>
      </p:sp>
      <p:sp>
        <p:nvSpPr>
          <p:cNvPr id="8" name="">
            <a:extLst xmlns:a="http://schemas.openxmlformats.org/drawingml/2006/main">
              <a:ext uri="{FF2B5EF4-FFF2-40B4-BE49-F238E27FC236}">
                <a16:creationId xmlns:a16="http://schemas.microsoft.com/office/drawing/2014/main" id="{6364ED2C-9B44-4B8A-B51F-64AE6B4C6B5C}"/>
              </a:ext>
            </a:extLst>
          </p:cNvPr>
          <p:cNvSpPr>
            <a:spLocks xmlns:a="http://schemas.openxmlformats.org/drawingml/2006/main" noGrp="1"/>
          </p:cNvSpPr>
          <p:nvPr/>
        </p:nvSpPr>
        <p:spPr>
          <a:xfrm xmlns:a="http://schemas.openxmlformats.org/drawingml/2006/main">
            <a:off x="2266950" y="1638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Optical reflectance, vegetation and built features</a:t>
            </a:r>
          </a:p>
        </p:txBody>
      </p:sp>
      <p:sp>
        <p:nvSpPr>
          <p:cNvPr id="9" name="">
            <a:extLst xmlns:a="http://schemas.openxmlformats.org/drawingml/2006/main">
              <a:ext uri="{FF2B5EF4-FFF2-40B4-BE49-F238E27FC236}">
                <a16:creationId xmlns:a16="http://schemas.microsoft.com/office/drawing/2014/main" id="{AA65DD51-A14A-4914-922E-D3D97FADC1C9}"/>
              </a:ext>
            </a:extLst>
          </p:cNvPr>
          <p:cNvSpPr>
            <a:spLocks xmlns:a="http://schemas.openxmlformats.org/drawingml/2006/main" noGrp="1"/>
          </p:cNvSpPr>
          <p:nvPr/>
        </p:nvSpPr>
        <p:spPr>
          <a:xfrm xmlns:a="http://schemas.openxmlformats.org/drawingml/2006/main">
            <a:off x="590550" y="2228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3835FBAA-2918-4EF8-B5BD-4E87E50FF2E8}"/>
              </a:ext>
            </a:extLst>
          </p:cNvPr>
          <p:cNvSpPr>
            <a:spLocks xmlns:a="http://schemas.openxmlformats.org/drawingml/2006/main" noGrp="1"/>
          </p:cNvSpPr>
          <p:nvPr/>
        </p:nvSpPr>
        <p:spPr>
          <a:xfrm xmlns:a="http://schemas.openxmlformats.org/drawingml/2006/main">
            <a:off x="590550" y="2228850"/>
            <a:ext cx="76200" cy="514350"/>
          </a:xfrm>
          <a:prstGeom xmlns:a="http://schemas.openxmlformats.org/drawingml/2006/main" prst="rect">
            <a:avLst/>
          </a:prstGeom>
          <a:solidFill xmlns:a="http://schemas.openxmlformats.org/drawingml/2006/main">
            <a:srgbClr val="3183B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6EDD603-08E6-4DDD-BB05-93896F228FC9}"/>
              </a:ext>
            </a:extLst>
          </p:cNvPr>
          <p:cNvSpPr>
            <a:spLocks xmlns:a="http://schemas.openxmlformats.org/drawingml/2006/main" noGrp="1"/>
          </p:cNvSpPr>
          <p:nvPr/>
        </p:nvSpPr>
        <p:spPr>
          <a:xfrm xmlns:a="http://schemas.openxmlformats.org/drawingml/2006/main">
            <a:off x="800100" y="2305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3183B8"/>
                </a:solidFill>
                <a:latin typeface="Arial"/>
                <a:ea typeface="Arial"/>
                <a:cs typeface="Arial"/>
              </a:defRPr>
            </a:defPPr>
            <a:lvl1pPr algn="l">
              <a:buNone/>
              <a:defRPr sz="1350" b="1">
                <a:solidFill>
                  <a:srgbClr val="3183B8"/>
                </a:solidFill>
                <a:latin typeface="Arial"/>
                <a:ea typeface="Arial"/>
                <a:cs typeface="Arial"/>
              </a:defRPr>
            </a:lvl1pPr>
            <a:lvl2pPr algn="l">
              <a:buNone/>
              <a:defRPr sz="1350" b="1">
                <a:solidFill>
                  <a:srgbClr val="3183B8"/>
                </a:solidFill>
                <a:latin typeface="Arial"/>
                <a:ea typeface="Arial"/>
                <a:cs typeface="Arial"/>
              </a:defRPr>
            </a:lvl2pPr>
            <a:lvl3pPr algn="l">
              <a:buNone/>
              <a:defRPr sz="1350" b="1">
                <a:solidFill>
                  <a:srgbClr val="3183B8"/>
                </a:solidFill>
                <a:latin typeface="Arial"/>
                <a:ea typeface="Arial"/>
                <a:cs typeface="Arial"/>
              </a:defRPr>
            </a:lvl3pPr>
            <a:lvl4pPr algn="l">
              <a:buNone/>
              <a:defRPr sz="1350" b="1">
                <a:solidFill>
                  <a:srgbClr val="3183B8"/>
                </a:solidFill>
                <a:latin typeface="Arial"/>
                <a:ea typeface="Arial"/>
                <a:cs typeface="Arial"/>
              </a:defRPr>
            </a:lvl4pPr>
            <a:lvl5pPr algn="l">
              <a:buNone/>
              <a:defRPr sz="1350" b="1">
                <a:solidFill>
                  <a:srgbClr val="3183B8"/>
                </a:solidFill>
                <a:latin typeface="Arial"/>
                <a:ea typeface="Arial"/>
                <a:cs typeface="Arial"/>
              </a:defRPr>
            </a:lvl5pPr>
            <a:lvl6pPr algn="l">
              <a:buNone/>
              <a:defRPr sz="1350" b="1">
                <a:solidFill>
                  <a:srgbClr val="3183B8"/>
                </a:solidFill>
                <a:latin typeface="Arial"/>
                <a:ea typeface="Arial"/>
                <a:cs typeface="Arial"/>
              </a:defRPr>
            </a:lvl6pPr>
            <a:lvl7pPr algn="l">
              <a:buNone/>
              <a:defRPr sz="1350" b="1">
                <a:solidFill>
                  <a:srgbClr val="3183B8"/>
                </a:solidFill>
                <a:latin typeface="Arial"/>
                <a:ea typeface="Arial"/>
                <a:cs typeface="Arial"/>
              </a:defRPr>
            </a:lvl7pPr>
            <a:lvl8pPr algn="l">
              <a:buNone/>
              <a:defRPr sz="1350" b="1">
                <a:solidFill>
                  <a:srgbClr val="3183B8"/>
                </a:solidFill>
                <a:latin typeface="Arial"/>
                <a:ea typeface="Arial"/>
                <a:cs typeface="Arial"/>
              </a:defRPr>
            </a:lvl8pPr>
            <a:lvl9pPr algn="l">
              <a:buNone/>
              <a:defRPr sz="1350" b="1">
                <a:solidFill>
                  <a:srgbClr val="3183B8"/>
                </a:solidFill>
                <a:latin typeface="Arial"/>
                <a:ea typeface="Arial"/>
                <a:cs typeface="Arial"/>
              </a:defRPr>
            </a:lvl9pPr>
          </a:lstStyle>
          <a:p xmlns:a="http://schemas.openxmlformats.org/drawingml/2006/main">
            <a:pPr algn="l">
              <a:buNone/>
              <a:defRPr sz="1350" b="1">
                <a:solidFill>
                  <a:srgbClr val="3183B8"/>
                </a:solidFill>
                <a:latin typeface="Arial"/>
                <a:ea typeface="Arial"/>
                <a:cs typeface="Arial"/>
              </a:defRPr>
            </a:pPr>
            <a:r>
              <a:rPr sz="1350" b="1">
                <a:solidFill>
                  <a:srgbClr val="3183B8"/>
                </a:solidFill>
                <a:latin typeface="Arial"/>
                <a:ea typeface="Arial"/>
                <a:cs typeface="Arial"/>
              </a:rPr>
              <a:t>Sentinel-1</a:t>
            </a:r>
          </a:p>
        </p:txBody>
      </p:sp>
      <p:sp>
        <p:nvSpPr>
          <p:cNvPr id="12" name="">
            <a:extLst xmlns:a="http://schemas.openxmlformats.org/drawingml/2006/main">
              <a:ext uri="{FF2B5EF4-FFF2-40B4-BE49-F238E27FC236}">
                <a16:creationId xmlns:a16="http://schemas.microsoft.com/office/drawing/2014/main" id="{471FD96D-F08C-4148-A0A0-C8B403771EF0}"/>
              </a:ext>
            </a:extLst>
          </p:cNvPr>
          <p:cNvSpPr>
            <a:spLocks xmlns:a="http://schemas.openxmlformats.org/drawingml/2006/main" noGrp="1"/>
          </p:cNvSpPr>
          <p:nvPr/>
        </p:nvSpPr>
        <p:spPr>
          <a:xfrm xmlns:a="http://schemas.openxmlformats.org/drawingml/2006/main">
            <a:off x="2266950" y="2305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Radar structure to reduce confusion in bright desert areas</a:t>
            </a:r>
          </a:p>
        </p:txBody>
      </p:sp>
      <p:sp>
        <p:nvSpPr>
          <p:cNvPr id="13" name="">
            <a:extLst xmlns:a="http://schemas.openxmlformats.org/drawingml/2006/main">
              <a:ext uri="{FF2B5EF4-FFF2-40B4-BE49-F238E27FC236}">
                <a16:creationId xmlns:a16="http://schemas.microsoft.com/office/drawing/2014/main" id="{435AD4DE-78B6-4EB6-8F2D-0D353457E592}"/>
              </a:ext>
            </a:extLst>
          </p:cNvPr>
          <p:cNvSpPr>
            <a:spLocks xmlns:a="http://schemas.openxmlformats.org/drawingml/2006/main" noGrp="1"/>
          </p:cNvSpPr>
          <p:nvPr/>
        </p:nvSpPr>
        <p:spPr>
          <a:xfrm xmlns:a="http://schemas.openxmlformats.org/drawingml/2006/main">
            <a:off x="590550" y="28956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5A471655-A275-4A69-A79C-EF73C4A48C2C}"/>
              </a:ext>
            </a:extLst>
          </p:cNvPr>
          <p:cNvSpPr>
            <a:spLocks xmlns:a="http://schemas.openxmlformats.org/drawingml/2006/main" noGrp="1"/>
          </p:cNvSpPr>
          <p:nvPr/>
        </p:nvSpPr>
        <p:spPr>
          <a:xfrm xmlns:a="http://schemas.openxmlformats.org/drawingml/2006/main">
            <a:off x="590550" y="2895600"/>
            <a:ext cx="76200" cy="514350"/>
          </a:xfrm>
          <a:prstGeom xmlns:a="http://schemas.openxmlformats.org/drawingml/2006/main" prst="rect">
            <a:avLst/>
          </a:prstGeom>
          <a:solidFill xmlns:a="http://schemas.openxmlformats.org/drawingml/2006/main">
            <a:srgbClr val="E2AD2B"/>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EF77483-4AEC-438A-BAF2-E3C15DDAC516}"/>
              </a:ext>
            </a:extLst>
          </p:cNvPr>
          <p:cNvSpPr>
            <a:spLocks xmlns:a="http://schemas.openxmlformats.org/drawingml/2006/main" noGrp="1"/>
          </p:cNvSpPr>
          <p:nvPr/>
        </p:nvSpPr>
        <p:spPr>
          <a:xfrm xmlns:a="http://schemas.openxmlformats.org/drawingml/2006/main">
            <a:off x="800100" y="29718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Annual LULC</a:t>
            </a:r>
          </a:p>
        </p:txBody>
      </p:sp>
      <p:sp>
        <p:nvSpPr>
          <p:cNvPr id="16" name="">
            <a:extLst xmlns:a="http://schemas.openxmlformats.org/drawingml/2006/main">
              <a:ext uri="{FF2B5EF4-FFF2-40B4-BE49-F238E27FC236}">
                <a16:creationId xmlns:a16="http://schemas.microsoft.com/office/drawing/2014/main" id="{674E4A56-4297-425B-86B9-732C94E7AD9C}"/>
              </a:ext>
            </a:extLst>
          </p:cNvPr>
          <p:cNvSpPr>
            <a:spLocks xmlns:a="http://schemas.openxmlformats.org/drawingml/2006/main" noGrp="1"/>
          </p:cNvSpPr>
          <p:nvPr/>
        </p:nvSpPr>
        <p:spPr>
          <a:xfrm xmlns:a="http://schemas.openxmlformats.org/drawingml/2006/main">
            <a:off x="2266950" y="29718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Six maps propose 2018–2023 built-up change</a:t>
            </a:r>
          </a:p>
        </p:txBody>
      </p:sp>
      <p:sp>
        <p:nvSpPr>
          <p:cNvPr id="17" name="">
            <a:extLst xmlns:a="http://schemas.openxmlformats.org/drawingml/2006/main">
              <a:ext uri="{FF2B5EF4-FFF2-40B4-BE49-F238E27FC236}">
                <a16:creationId xmlns:a16="http://schemas.microsoft.com/office/drawing/2014/main" id="{71D6C06F-23F2-49D4-B250-2DAC40469185}"/>
              </a:ext>
            </a:extLst>
          </p:cNvPr>
          <p:cNvSpPr>
            <a:spLocks xmlns:a="http://schemas.openxmlformats.org/drawingml/2006/main" noGrp="1"/>
          </p:cNvSpPr>
          <p:nvPr/>
        </p:nvSpPr>
        <p:spPr>
          <a:xfrm xmlns:a="http://schemas.openxmlformats.org/drawingml/2006/main">
            <a:off x="590550" y="35623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134A83DA-B5D1-49E6-B522-8DF5E47784FD}"/>
              </a:ext>
            </a:extLst>
          </p:cNvPr>
          <p:cNvSpPr>
            <a:spLocks xmlns:a="http://schemas.openxmlformats.org/drawingml/2006/main" noGrp="1"/>
          </p:cNvSpPr>
          <p:nvPr/>
        </p:nvSpPr>
        <p:spPr>
          <a:xfrm xmlns:a="http://schemas.openxmlformats.org/drawingml/2006/main">
            <a:off x="590550" y="3562350"/>
            <a:ext cx="76200" cy="514350"/>
          </a:xfrm>
          <a:prstGeom xmlns:a="http://schemas.openxmlformats.org/drawingml/2006/main" prst="rect">
            <a:avLst/>
          </a:prstGeom>
          <a:solidFill xmlns:a="http://schemas.openxmlformats.org/drawingml/2006/main">
            <a:srgbClr val="F06449"/>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252CB84-F6A0-4FF5-8B9E-A646DBE68D1C}"/>
              </a:ext>
            </a:extLst>
          </p:cNvPr>
          <p:cNvSpPr>
            <a:spLocks xmlns:a="http://schemas.openxmlformats.org/drawingml/2006/main" noGrp="1"/>
          </p:cNvSpPr>
          <p:nvPr/>
        </p:nvSpPr>
        <p:spPr>
          <a:xfrm xmlns:a="http://schemas.openxmlformats.org/drawingml/2006/main">
            <a:off x="800100" y="36385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F06449"/>
                </a:solidFill>
                <a:latin typeface="Arial"/>
                <a:ea typeface="Arial"/>
                <a:cs typeface="Arial"/>
              </a:defRPr>
            </a:defPPr>
            <a:lvl1pPr algn="l">
              <a:buNone/>
              <a:defRPr sz="1350" b="1">
                <a:solidFill>
                  <a:srgbClr val="F06449"/>
                </a:solidFill>
                <a:latin typeface="Arial"/>
                <a:ea typeface="Arial"/>
                <a:cs typeface="Arial"/>
              </a:defRPr>
            </a:lvl1pPr>
            <a:lvl2pPr algn="l">
              <a:buNone/>
              <a:defRPr sz="1350" b="1">
                <a:solidFill>
                  <a:srgbClr val="F06449"/>
                </a:solidFill>
                <a:latin typeface="Arial"/>
                <a:ea typeface="Arial"/>
                <a:cs typeface="Arial"/>
              </a:defRPr>
            </a:lvl2pPr>
            <a:lvl3pPr algn="l">
              <a:buNone/>
              <a:defRPr sz="1350" b="1">
                <a:solidFill>
                  <a:srgbClr val="F06449"/>
                </a:solidFill>
                <a:latin typeface="Arial"/>
                <a:ea typeface="Arial"/>
                <a:cs typeface="Arial"/>
              </a:defRPr>
            </a:lvl3pPr>
            <a:lvl4pPr algn="l">
              <a:buNone/>
              <a:defRPr sz="1350" b="1">
                <a:solidFill>
                  <a:srgbClr val="F06449"/>
                </a:solidFill>
                <a:latin typeface="Arial"/>
                <a:ea typeface="Arial"/>
                <a:cs typeface="Arial"/>
              </a:defRPr>
            </a:lvl4pPr>
            <a:lvl5pPr algn="l">
              <a:buNone/>
              <a:defRPr sz="1350" b="1">
                <a:solidFill>
                  <a:srgbClr val="F06449"/>
                </a:solidFill>
                <a:latin typeface="Arial"/>
                <a:ea typeface="Arial"/>
                <a:cs typeface="Arial"/>
              </a:defRPr>
            </a:lvl5pPr>
            <a:lvl6pPr algn="l">
              <a:buNone/>
              <a:defRPr sz="1350" b="1">
                <a:solidFill>
                  <a:srgbClr val="F06449"/>
                </a:solidFill>
                <a:latin typeface="Arial"/>
                <a:ea typeface="Arial"/>
                <a:cs typeface="Arial"/>
              </a:defRPr>
            </a:lvl6pPr>
            <a:lvl7pPr algn="l">
              <a:buNone/>
              <a:defRPr sz="1350" b="1">
                <a:solidFill>
                  <a:srgbClr val="F06449"/>
                </a:solidFill>
                <a:latin typeface="Arial"/>
                <a:ea typeface="Arial"/>
                <a:cs typeface="Arial"/>
              </a:defRPr>
            </a:lvl7pPr>
            <a:lvl8pPr algn="l">
              <a:buNone/>
              <a:defRPr sz="1350" b="1">
                <a:solidFill>
                  <a:srgbClr val="F06449"/>
                </a:solidFill>
                <a:latin typeface="Arial"/>
                <a:ea typeface="Arial"/>
                <a:cs typeface="Arial"/>
              </a:defRPr>
            </a:lvl8pPr>
            <a:lvl9pPr algn="l">
              <a:buNone/>
              <a:defRPr sz="1350" b="1">
                <a:solidFill>
                  <a:srgbClr val="F06449"/>
                </a:solidFill>
                <a:latin typeface="Arial"/>
                <a:ea typeface="Arial"/>
                <a:cs typeface="Arial"/>
              </a:defRPr>
            </a:lvl9pPr>
          </a:lstStyle>
          <a:p xmlns:a="http://schemas.openxmlformats.org/drawingml/2006/main">
            <a:pPr algn="l">
              <a:buNone/>
              <a:defRPr sz="1350" b="1">
                <a:solidFill>
                  <a:srgbClr val="F06449"/>
                </a:solidFill>
                <a:latin typeface="Arial"/>
                <a:ea typeface="Arial"/>
                <a:cs typeface="Arial"/>
              </a:defRPr>
            </a:pPr>
            <a:r>
              <a:rPr sz="1350" b="1">
                <a:solidFill>
                  <a:srgbClr val="F06449"/>
                </a:solidFill>
                <a:latin typeface="Arial"/>
                <a:ea typeface="Arial"/>
                <a:cs typeface="Arial"/>
              </a:rPr>
              <a:t>Landsat 8</a:t>
            </a:r>
          </a:p>
        </p:txBody>
      </p:sp>
      <p:sp>
        <p:nvSpPr>
          <p:cNvPr id="20" name="">
            <a:extLst xmlns:a="http://schemas.openxmlformats.org/drawingml/2006/main">
              <a:ext uri="{FF2B5EF4-FFF2-40B4-BE49-F238E27FC236}">
                <a16:creationId xmlns:a16="http://schemas.microsoft.com/office/drawing/2014/main" id="{9E0D8057-44FC-4B5C-8EF6-52D39E1B09F1}"/>
              </a:ext>
            </a:extLst>
          </p:cNvPr>
          <p:cNvSpPr>
            <a:spLocks xmlns:a="http://schemas.openxmlformats.org/drawingml/2006/main" noGrp="1"/>
          </p:cNvSpPr>
          <p:nvPr/>
        </p:nvSpPr>
        <p:spPr>
          <a:xfrm xmlns:a="http://schemas.openxmlformats.org/drawingml/2006/main">
            <a:off x="2266950" y="36385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2025 land surface temperature after quality masking</a:t>
            </a:r>
          </a:p>
        </p:txBody>
      </p:sp>
      <p:sp>
        <p:nvSpPr>
          <p:cNvPr id="21" name="">
            <a:extLst xmlns:a="http://schemas.openxmlformats.org/drawingml/2006/main">
              <a:ext uri="{FF2B5EF4-FFF2-40B4-BE49-F238E27FC236}">
                <a16:creationId xmlns:a16="http://schemas.microsoft.com/office/drawing/2014/main" id="{EEE1D516-69E3-48AF-9A5E-EA3A8FE4C5BE}"/>
              </a:ext>
            </a:extLst>
          </p:cNvPr>
          <p:cNvSpPr>
            <a:spLocks xmlns:a="http://schemas.openxmlformats.org/drawingml/2006/main" noGrp="1"/>
          </p:cNvSpPr>
          <p:nvPr/>
        </p:nvSpPr>
        <p:spPr>
          <a:xfrm xmlns:a="http://schemas.openxmlformats.org/drawingml/2006/main">
            <a:off x="590550" y="422910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2" name="">
            <a:extLst xmlns:a="http://schemas.openxmlformats.org/drawingml/2006/main">
              <a:ext uri="{FF2B5EF4-FFF2-40B4-BE49-F238E27FC236}">
                <a16:creationId xmlns:a16="http://schemas.microsoft.com/office/drawing/2014/main" id="{1C7F0098-18FE-451C-8E6B-9F86F65FA7D5}"/>
              </a:ext>
            </a:extLst>
          </p:cNvPr>
          <p:cNvSpPr>
            <a:spLocks xmlns:a="http://schemas.openxmlformats.org/drawingml/2006/main" noGrp="1"/>
          </p:cNvSpPr>
          <p:nvPr/>
        </p:nvSpPr>
        <p:spPr>
          <a:xfrm xmlns:a="http://schemas.openxmlformats.org/drawingml/2006/main">
            <a:off x="590550" y="4229100"/>
            <a:ext cx="76200" cy="514350"/>
          </a:xfrm>
          <a:prstGeom xmlns:a="http://schemas.openxmlformats.org/drawingml/2006/main" prst="rect">
            <a:avLst/>
          </a:prstGeom>
          <a:solidFill xmlns:a="http://schemas.openxmlformats.org/drawingml/2006/main">
            <a:srgbClr val="6D5DD3"/>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967BC0F-7225-4DB7-8979-B571E1B4A430}"/>
              </a:ext>
            </a:extLst>
          </p:cNvPr>
          <p:cNvSpPr>
            <a:spLocks xmlns:a="http://schemas.openxmlformats.org/drawingml/2006/main" noGrp="1"/>
          </p:cNvSpPr>
          <p:nvPr/>
        </p:nvSpPr>
        <p:spPr>
          <a:xfrm xmlns:a="http://schemas.openxmlformats.org/drawingml/2006/main">
            <a:off x="800100" y="430530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6D5DD3"/>
                </a:solidFill>
                <a:latin typeface="Arial"/>
                <a:ea typeface="Arial"/>
                <a:cs typeface="Arial"/>
              </a:defRPr>
            </a:defPPr>
            <a:lvl1pPr algn="l">
              <a:buNone/>
              <a:defRPr sz="1350" b="1">
                <a:solidFill>
                  <a:srgbClr val="6D5DD3"/>
                </a:solidFill>
                <a:latin typeface="Arial"/>
                <a:ea typeface="Arial"/>
                <a:cs typeface="Arial"/>
              </a:defRPr>
            </a:lvl1pPr>
            <a:lvl2pPr algn="l">
              <a:buNone/>
              <a:defRPr sz="1350" b="1">
                <a:solidFill>
                  <a:srgbClr val="6D5DD3"/>
                </a:solidFill>
                <a:latin typeface="Arial"/>
                <a:ea typeface="Arial"/>
                <a:cs typeface="Arial"/>
              </a:defRPr>
            </a:lvl2pPr>
            <a:lvl3pPr algn="l">
              <a:buNone/>
              <a:defRPr sz="1350" b="1">
                <a:solidFill>
                  <a:srgbClr val="6D5DD3"/>
                </a:solidFill>
                <a:latin typeface="Arial"/>
                <a:ea typeface="Arial"/>
                <a:cs typeface="Arial"/>
              </a:defRPr>
            </a:lvl3pPr>
            <a:lvl4pPr algn="l">
              <a:buNone/>
              <a:defRPr sz="1350" b="1">
                <a:solidFill>
                  <a:srgbClr val="6D5DD3"/>
                </a:solidFill>
                <a:latin typeface="Arial"/>
                <a:ea typeface="Arial"/>
                <a:cs typeface="Arial"/>
              </a:defRPr>
            </a:lvl4pPr>
            <a:lvl5pPr algn="l">
              <a:buNone/>
              <a:defRPr sz="1350" b="1">
                <a:solidFill>
                  <a:srgbClr val="6D5DD3"/>
                </a:solidFill>
                <a:latin typeface="Arial"/>
                <a:ea typeface="Arial"/>
                <a:cs typeface="Arial"/>
              </a:defRPr>
            </a:lvl5pPr>
            <a:lvl6pPr algn="l">
              <a:buNone/>
              <a:defRPr sz="1350" b="1">
                <a:solidFill>
                  <a:srgbClr val="6D5DD3"/>
                </a:solidFill>
                <a:latin typeface="Arial"/>
                <a:ea typeface="Arial"/>
                <a:cs typeface="Arial"/>
              </a:defRPr>
            </a:lvl6pPr>
            <a:lvl7pPr algn="l">
              <a:buNone/>
              <a:defRPr sz="1350" b="1">
                <a:solidFill>
                  <a:srgbClr val="6D5DD3"/>
                </a:solidFill>
                <a:latin typeface="Arial"/>
                <a:ea typeface="Arial"/>
                <a:cs typeface="Arial"/>
              </a:defRPr>
            </a:lvl7pPr>
            <a:lvl8pPr algn="l">
              <a:buNone/>
              <a:defRPr sz="1350" b="1">
                <a:solidFill>
                  <a:srgbClr val="6D5DD3"/>
                </a:solidFill>
                <a:latin typeface="Arial"/>
                <a:ea typeface="Arial"/>
                <a:cs typeface="Arial"/>
              </a:defRPr>
            </a:lvl8pPr>
            <a:lvl9pPr algn="l">
              <a:buNone/>
              <a:defRPr sz="1350" b="1">
                <a:solidFill>
                  <a:srgbClr val="6D5DD3"/>
                </a:solidFill>
                <a:latin typeface="Arial"/>
                <a:ea typeface="Arial"/>
                <a:cs typeface="Arial"/>
              </a:defRPr>
            </a:lvl9pPr>
          </a:lstStyle>
          <a:p xmlns:a="http://schemas.openxmlformats.org/drawingml/2006/main">
            <a:pPr algn="l">
              <a:buNone/>
              <a:defRPr sz="1350" b="1">
                <a:solidFill>
                  <a:srgbClr val="6D5DD3"/>
                </a:solidFill>
                <a:latin typeface="Arial"/>
                <a:ea typeface="Arial"/>
                <a:cs typeface="Arial"/>
              </a:defRPr>
            </a:pPr>
            <a:r>
              <a:rPr sz="1350" b="1">
                <a:solidFill>
                  <a:srgbClr val="6D5DD3"/>
                </a:solidFill>
                <a:latin typeface="Arial"/>
                <a:ea typeface="Arial"/>
                <a:cs typeface="Arial"/>
              </a:rPr>
              <a:t>WorldPop</a:t>
            </a:r>
          </a:p>
        </p:txBody>
      </p:sp>
      <p:sp>
        <p:nvSpPr>
          <p:cNvPr id="24" name="">
            <a:extLst xmlns:a="http://schemas.openxmlformats.org/drawingml/2006/main">
              <a:ext uri="{FF2B5EF4-FFF2-40B4-BE49-F238E27FC236}">
                <a16:creationId xmlns:a16="http://schemas.microsoft.com/office/drawing/2014/main" id="{E712E428-9CC4-4AA4-B17B-8F21FBDFE3A3}"/>
              </a:ext>
            </a:extLst>
          </p:cNvPr>
          <p:cNvSpPr>
            <a:spLocks xmlns:a="http://schemas.openxmlformats.org/drawingml/2006/main" noGrp="1"/>
          </p:cNvSpPr>
          <p:nvPr/>
        </p:nvSpPr>
        <p:spPr>
          <a:xfrm xmlns:a="http://schemas.openxmlformats.org/drawingml/2006/main">
            <a:off x="2266950" y="430530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Modelled 2025 population exposure</a:t>
            </a:r>
          </a:p>
        </p:txBody>
      </p:sp>
      <p:sp>
        <p:nvSpPr>
          <p:cNvPr id="25" name="">
            <a:extLst xmlns:a="http://schemas.openxmlformats.org/drawingml/2006/main">
              <a:ext uri="{FF2B5EF4-FFF2-40B4-BE49-F238E27FC236}">
                <a16:creationId xmlns:a16="http://schemas.microsoft.com/office/drawing/2014/main" id="{08F6AA4B-925B-4FDA-9B4B-3C6CF4383E0C}"/>
              </a:ext>
            </a:extLst>
          </p:cNvPr>
          <p:cNvSpPr>
            <a:spLocks xmlns:a="http://schemas.openxmlformats.org/drawingml/2006/main" noGrp="1"/>
          </p:cNvSpPr>
          <p:nvPr/>
        </p:nvSpPr>
        <p:spPr>
          <a:xfrm xmlns:a="http://schemas.openxmlformats.org/drawingml/2006/main">
            <a:off x="590550" y="4895850"/>
            <a:ext cx="4953000" cy="514350"/>
          </a:xfrm>
          <a:prstGeom xmlns:a="http://schemas.openxmlformats.org/drawingml/2006/main" prst="roundRect">
            <a:avLst>
              <a:gd name="adj" fmla="val 14815"/>
            </a:avLst>
          </a:prstGeom>
          <a:solidFill xmlns:a="http://schemas.openxmlformats.org/drawingml/2006/main">
            <a:srgbClr val="113646"/>
          </a:solidFill>
          <a:ln xmlns:a="http://schemas.openxmlformats.org/drawingml/2006/main" w="9525">
            <a:solidFill>
              <a:srgbClr val="31505F"/>
            </a:solidFill>
            <a:prstDash val="solid"/>
          </a:ln>
        </p:spPr>
      </p:sp>
      <p:sp>
        <p:nvSpPr>
          <p:cNvPr id="26" name="">
            <a:extLst xmlns:a="http://schemas.openxmlformats.org/drawingml/2006/main">
              <a:ext uri="{FF2B5EF4-FFF2-40B4-BE49-F238E27FC236}">
                <a16:creationId xmlns:a16="http://schemas.microsoft.com/office/drawing/2014/main" id="{4EF7AF59-71EB-4338-80C0-EEE4B1AA2667}"/>
              </a:ext>
            </a:extLst>
          </p:cNvPr>
          <p:cNvSpPr>
            <a:spLocks xmlns:a="http://schemas.openxmlformats.org/drawingml/2006/main" noGrp="1"/>
          </p:cNvSpPr>
          <p:nvPr/>
        </p:nvSpPr>
        <p:spPr>
          <a:xfrm xmlns:a="http://schemas.openxmlformats.org/drawingml/2006/main">
            <a:off x="590550" y="4895850"/>
            <a:ext cx="76200" cy="514350"/>
          </a:xfrm>
          <a:prstGeom xmlns:a="http://schemas.openxmlformats.org/drawingml/2006/main" prst="rect">
            <a:avLst/>
          </a:prstGeom>
          <a:solidFill xmlns:a="http://schemas.openxmlformats.org/drawingml/2006/main">
            <a:srgbClr val="D9678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5187824-3E6B-4834-8708-B41AB1BA1C24}"/>
              </a:ext>
            </a:extLst>
          </p:cNvPr>
          <p:cNvSpPr>
            <a:spLocks xmlns:a="http://schemas.openxmlformats.org/drawingml/2006/main" noGrp="1"/>
          </p:cNvSpPr>
          <p:nvPr/>
        </p:nvSpPr>
        <p:spPr>
          <a:xfrm xmlns:a="http://schemas.openxmlformats.org/drawingml/2006/main">
            <a:off x="800100" y="4972050"/>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D96787"/>
                </a:solidFill>
                <a:latin typeface="Arial"/>
                <a:ea typeface="Arial"/>
                <a:cs typeface="Arial"/>
              </a:defRPr>
            </a:defPPr>
            <a:lvl1pPr algn="l">
              <a:buNone/>
              <a:defRPr sz="1350" b="1">
                <a:solidFill>
                  <a:srgbClr val="D96787"/>
                </a:solidFill>
                <a:latin typeface="Arial"/>
                <a:ea typeface="Arial"/>
                <a:cs typeface="Arial"/>
              </a:defRPr>
            </a:lvl1pPr>
            <a:lvl2pPr algn="l">
              <a:buNone/>
              <a:defRPr sz="1350" b="1">
                <a:solidFill>
                  <a:srgbClr val="D96787"/>
                </a:solidFill>
                <a:latin typeface="Arial"/>
                <a:ea typeface="Arial"/>
                <a:cs typeface="Arial"/>
              </a:defRPr>
            </a:lvl2pPr>
            <a:lvl3pPr algn="l">
              <a:buNone/>
              <a:defRPr sz="1350" b="1">
                <a:solidFill>
                  <a:srgbClr val="D96787"/>
                </a:solidFill>
                <a:latin typeface="Arial"/>
                <a:ea typeface="Arial"/>
                <a:cs typeface="Arial"/>
              </a:defRPr>
            </a:lvl3pPr>
            <a:lvl4pPr algn="l">
              <a:buNone/>
              <a:defRPr sz="1350" b="1">
                <a:solidFill>
                  <a:srgbClr val="D96787"/>
                </a:solidFill>
                <a:latin typeface="Arial"/>
                <a:ea typeface="Arial"/>
                <a:cs typeface="Arial"/>
              </a:defRPr>
            </a:lvl4pPr>
            <a:lvl5pPr algn="l">
              <a:buNone/>
              <a:defRPr sz="1350" b="1">
                <a:solidFill>
                  <a:srgbClr val="D96787"/>
                </a:solidFill>
                <a:latin typeface="Arial"/>
                <a:ea typeface="Arial"/>
                <a:cs typeface="Arial"/>
              </a:defRPr>
            </a:lvl5pPr>
            <a:lvl6pPr algn="l">
              <a:buNone/>
              <a:defRPr sz="1350" b="1">
                <a:solidFill>
                  <a:srgbClr val="D96787"/>
                </a:solidFill>
                <a:latin typeface="Arial"/>
                <a:ea typeface="Arial"/>
                <a:cs typeface="Arial"/>
              </a:defRPr>
            </a:lvl6pPr>
            <a:lvl7pPr algn="l">
              <a:buNone/>
              <a:defRPr sz="1350" b="1">
                <a:solidFill>
                  <a:srgbClr val="D96787"/>
                </a:solidFill>
                <a:latin typeface="Arial"/>
                <a:ea typeface="Arial"/>
                <a:cs typeface="Arial"/>
              </a:defRPr>
            </a:lvl7pPr>
            <a:lvl8pPr algn="l">
              <a:buNone/>
              <a:defRPr sz="1350" b="1">
                <a:solidFill>
                  <a:srgbClr val="D96787"/>
                </a:solidFill>
                <a:latin typeface="Arial"/>
                <a:ea typeface="Arial"/>
                <a:cs typeface="Arial"/>
              </a:defRPr>
            </a:lvl8pPr>
            <a:lvl9pPr algn="l">
              <a:buNone/>
              <a:defRPr sz="1350" b="1">
                <a:solidFill>
                  <a:srgbClr val="D96787"/>
                </a:solidFill>
                <a:latin typeface="Arial"/>
                <a:ea typeface="Arial"/>
                <a:cs typeface="Arial"/>
              </a:defRPr>
            </a:lvl9pPr>
          </a:lstStyle>
          <a:p xmlns:a="http://schemas.openxmlformats.org/drawingml/2006/main">
            <a:pPr algn="l">
              <a:buNone/>
              <a:defRPr sz="1350" b="1">
                <a:solidFill>
                  <a:srgbClr val="D96787"/>
                </a:solidFill>
                <a:latin typeface="Arial"/>
                <a:ea typeface="Arial"/>
                <a:cs typeface="Arial"/>
              </a:defRPr>
            </a:pPr>
            <a:r>
              <a:rPr sz="1350" b="1">
                <a:solidFill>
                  <a:srgbClr val="D96787"/>
                </a:solidFill>
                <a:latin typeface="Arial"/>
                <a:ea typeface="Arial"/>
                <a:cs typeface="Arial"/>
              </a:rPr>
              <a:t>Planet Tanager</a:t>
            </a:r>
          </a:p>
        </p:txBody>
      </p:sp>
      <p:sp>
        <p:nvSpPr>
          <p:cNvPr id="28" name="">
            <a:extLst xmlns:a="http://schemas.openxmlformats.org/drawingml/2006/main">
              <a:ext uri="{FF2B5EF4-FFF2-40B4-BE49-F238E27FC236}">
                <a16:creationId xmlns:a16="http://schemas.microsoft.com/office/drawing/2014/main" id="{D3D02669-BA42-4676-A011-C95111FD6592}"/>
              </a:ext>
            </a:extLst>
          </p:cNvPr>
          <p:cNvSpPr>
            <a:spLocks xmlns:a="http://schemas.openxmlformats.org/drawingml/2006/main" noGrp="1"/>
          </p:cNvSpPr>
          <p:nvPr/>
        </p:nvSpPr>
        <p:spPr>
          <a:xfrm xmlns:a="http://schemas.openxmlformats.org/drawingml/2006/main">
            <a:off x="2266950" y="4972050"/>
            <a:ext cx="3105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a:solidFill>
                  <a:srgbClr val="F3F6F2"/>
                </a:solidFill>
                <a:latin typeface="Arial"/>
                <a:ea typeface="Arial"/>
                <a:cs typeface="Arial"/>
              </a:defRPr>
            </a:defPPr>
            <a:lvl1pPr algn="l">
              <a:buNone/>
              <a:defRPr sz="1050">
                <a:solidFill>
                  <a:srgbClr val="F3F6F2"/>
                </a:solidFill>
                <a:latin typeface="Arial"/>
                <a:ea typeface="Arial"/>
                <a:cs typeface="Arial"/>
              </a:defRPr>
            </a:lvl1pPr>
            <a:lvl2pPr algn="l">
              <a:buNone/>
              <a:defRPr sz="1050">
                <a:solidFill>
                  <a:srgbClr val="F3F6F2"/>
                </a:solidFill>
                <a:latin typeface="Arial"/>
                <a:ea typeface="Arial"/>
                <a:cs typeface="Arial"/>
              </a:defRPr>
            </a:lvl2pPr>
            <a:lvl3pPr algn="l">
              <a:buNone/>
              <a:defRPr sz="1050">
                <a:solidFill>
                  <a:srgbClr val="F3F6F2"/>
                </a:solidFill>
                <a:latin typeface="Arial"/>
                <a:ea typeface="Arial"/>
                <a:cs typeface="Arial"/>
              </a:defRPr>
            </a:lvl3pPr>
            <a:lvl4pPr algn="l">
              <a:buNone/>
              <a:defRPr sz="1050">
                <a:solidFill>
                  <a:srgbClr val="F3F6F2"/>
                </a:solidFill>
                <a:latin typeface="Arial"/>
                <a:ea typeface="Arial"/>
                <a:cs typeface="Arial"/>
              </a:defRPr>
            </a:lvl4pPr>
            <a:lvl5pPr algn="l">
              <a:buNone/>
              <a:defRPr sz="1050">
                <a:solidFill>
                  <a:srgbClr val="F3F6F2"/>
                </a:solidFill>
                <a:latin typeface="Arial"/>
                <a:ea typeface="Arial"/>
                <a:cs typeface="Arial"/>
              </a:defRPr>
            </a:lvl5pPr>
            <a:lvl6pPr algn="l">
              <a:buNone/>
              <a:defRPr sz="1050">
                <a:solidFill>
                  <a:srgbClr val="F3F6F2"/>
                </a:solidFill>
                <a:latin typeface="Arial"/>
                <a:ea typeface="Arial"/>
                <a:cs typeface="Arial"/>
              </a:defRPr>
            </a:lvl6pPr>
            <a:lvl7pPr algn="l">
              <a:buNone/>
              <a:defRPr sz="1050">
                <a:solidFill>
                  <a:srgbClr val="F3F6F2"/>
                </a:solidFill>
                <a:latin typeface="Arial"/>
                <a:ea typeface="Arial"/>
                <a:cs typeface="Arial"/>
              </a:defRPr>
            </a:lvl7pPr>
            <a:lvl8pPr algn="l">
              <a:buNone/>
              <a:defRPr sz="1050">
                <a:solidFill>
                  <a:srgbClr val="F3F6F2"/>
                </a:solidFill>
                <a:latin typeface="Arial"/>
                <a:ea typeface="Arial"/>
                <a:cs typeface="Arial"/>
              </a:defRPr>
            </a:lvl8pPr>
            <a:lvl9pPr algn="l">
              <a:buNone/>
              <a:defRPr sz="1050">
                <a:solidFill>
                  <a:srgbClr val="F3F6F2"/>
                </a:solidFill>
                <a:latin typeface="Arial"/>
                <a:ea typeface="Arial"/>
                <a:cs typeface="Arial"/>
              </a:defRPr>
            </a:lvl9pPr>
          </a:lstStyle>
          <a:p xmlns:a="http://schemas.openxmlformats.org/drawingml/2006/main">
            <a:pPr algn="l">
              <a:buNone/>
              <a:defRPr sz="1050">
                <a:solidFill>
                  <a:srgbClr val="F3F6F2"/>
                </a:solidFill>
                <a:latin typeface="Arial"/>
                <a:ea typeface="Arial"/>
                <a:cs typeface="Arial"/>
              </a:defRPr>
            </a:pPr>
            <a:r>
              <a:rPr sz="1050">
                <a:solidFill>
                  <a:srgbClr val="F3F6F2"/>
                </a:solidFill>
                <a:latin typeface="Arial"/>
                <a:ea typeface="Arial"/>
                <a:cs typeface="Arial"/>
              </a:rPr>
              <a:t>426-band context and a test of a known desert error</a:t>
            </a:r>
          </a:p>
        </p:txBody>
      </p:sp>
      <p:pic>
        <p:nvPicPr>
          <p:cNvPr id="29" name="">
            <a:extLst xmlns:a="http://schemas.openxmlformats.org/drawingml/2006/main">
              <a:ext uri="{FF2B5EF4-FFF2-40B4-BE49-F238E27FC236}">
                <a16:creationId xmlns:a16="http://schemas.microsoft.com/office/drawing/2014/main" id="{1CF49109-1B14-4FEA-815A-3CEA3DA7BB6D}"/>
              </a:ext>
            </a:extLst>
          </p:cNvPr>
          <p:cNvPicPr>
            <a:picLocks xmlns:a="http://schemas.openxmlformats.org/drawingml/2006/main" noChangeAspect="1"/>
          </p:cNvPicPr>
          <p:nvPr/>
        </p:nvPicPr>
        <p:blipFill>
          <a:blip xmlns:r="http://schemas.openxmlformats.org/officeDocument/2006/relationships" xmlns:a="http://schemas.openxmlformats.org/drawingml/2006/main" r:embed="R91448ad963a6473f"/>
          <a:stretch xmlns:a="http://schemas.openxmlformats.org/drawingml/2006/main"/>
        </p:blipFill>
        <p:spPr>
          <a:xfrm xmlns:a="http://schemas.openxmlformats.org/drawingml/2006/main">
            <a:off x="6527807" y="1562100"/>
            <a:ext cx="4451336" cy="4038600"/>
          </a:xfrm>
          <a:prstGeom xmlns:a="http://schemas.openxmlformats.org/drawingml/2006/main" prst="roundRect">
            <a:avLst>
              <a:gd name="adj" fmla="val 2358"/>
            </a:avLst>
          </a:prstGeom>
        </p:spPr>
      </p:pic>
      <p:sp>
        <p:nvSpPr>
          <p:cNvPr id="30" name="">
            <a:extLst xmlns:a="http://schemas.openxmlformats.org/drawingml/2006/main">
              <a:ext uri="{FF2B5EF4-FFF2-40B4-BE49-F238E27FC236}">
                <a16:creationId xmlns:a16="http://schemas.microsoft.com/office/drawing/2014/main" id="{F2577670-8D8F-4CA4-A0B1-77BB7597F44A}"/>
              </a:ext>
            </a:extLst>
          </p:cNvPr>
          <p:cNvSpPr>
            <a:spLocks xmlns:a="http://schemas.openxmlformats.org/drawingml/2006/main" noGrp="1"/>
          </p:cNvSpPr>
          <p:nvPr/>
        </p:nvSpPr>
        <p:spPr>
          <a:xfrm xmlns:a="http://schemas.openxmlformats.org/drawingml/2006/main">
            <a:off x="5905500" y="5715000"/>
            <a:ext cx="5695950" cy="514350"/>
          </a:xfrm>
          <a:prstGeom xmlns:a="http://schemas.openxmlformats.org/drawingml/2006/main" prst="roundRect">
            <a:avLst>
              <a:gd name="adj" fmla="val 18519"/>
            </a:avLst>
          </a:prstGeom>
          <a:solidFill xmlns:a="http://schemas.openxmlformats.org/drawingml/2006/main">
            <a:srgbClr val="113646"/>
          </a:solidFill>
          <a:ln xmlns:a="http://schemas.openxmlformats.org/drawingml/2006/main" w="9525">
            <a:solidFill>
              <a:srgbClr val="31505F"/>
            </a:solidFill>
            <a:prstDash val="solid"/>
          </a:ln>
        </p:spPr>
      </p:sp>
      <p:sp>
        <p:nvSpPr>
          <p:cNvPr id="31" name="">
            <a:extLst xmlns:a="http://schemas.openxmlformats.org/drawingml/2006/main">
              <a:ext uri="{FF2B5EF4-FFF2-40B4-BE49-F238E27FC236}">
                <a16:creationId xmlns:a16="http://schemas.microsoft.com/office/drawing/2014/main" id="{AAB39A17-64EB-41B3-B4AD-C87DBCEC51A1}"/>
              </a:ext>
            </a:extLst>
          </p:cNvPr>
          <p:cNvSpPr>
            <a:spLocks xmlns:a="http://schemas.openxmlformats.org/drawingml/2006/main" noGrp="1"/>
          </p:cNvSpPr>
          <p:nvPr/>
        </p:nvSpPr>
        <p:spPr>
          <a:xfrm xmlns:a="http://schemas.openxmlformats.org/drawingml/2006/main">
            <a:off x="6115050" y="5772150"/>
            <a:ext cx="527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F3F6F2"/>
                </a:solidFill>
                <a:latin typeface="Arial"/>
                <a:ea typeface="Arial"/>
                <a:cs typeface="Arial"/>
              </a:defRPr>
            </a:defPPr>
            <a:lvl1pPr algn="l">
              <a:buNone/>
              <a:defRPr sz="1050" b="1">
                <a:solidFill>
                  <a:srgbClr val="F3F6F2"/>
                </a:solidFill>
                <a:latin typeface="Arial"/>
                <a:ea typeface="Arial"/>
                <a:cs typeface="Arial"/>
              </a:defRPr>
            </a:lvl1pPr>
            <a:lvl2pPr algn="l">
              <a:buNone/>
              <a:defRPr sz="1050" b="1">
                <a:solidFill>
                  <a:srgbClr val="F3F6F2"/>
                </a:solidFill>
                <a:latin typeface="Arial"/>
                <a:ea typeface="Arial"/>
                <a:cs typeface="Arial"/>
              </a:defRPr>
            </a:lvl2pPr>
            <a:lvl3pPr algn="l">
              <a:buNone/>
              <a:defRPr sz="1050" b="1">
                <a:solidFill>
                  <a:srgbClr val="F3F6F2"/>
                </a:solidFill>
                <a:latin typeface="Arial"/>
                <a:ea typeface="Arial"/>
                <a:cs typeface="Arial"/>
              </a:defRPr>
            </a:lvl3pPr>
            <a:lvl4pPr algn="l">
              <a:buNone/>
              <a:defRPr sz="1050" b="1">
                <a:solidFill>
                  <a:srgbClr val="F3F6F2"/>
                </a:solidFill>
                <a:latin typeface="Arial"/>
                <a:ea typeface="Arial"/>
                <a:cs typeface="Arial"/>
              </a:defRPr>
            </a:lvl4pPr>
            <a:lvl5pPr algn="l">
              <a:buNone/>
              <a:defRPr sz="1050" b="1">
                <a:solidFill>
                  <a:srgbClr val="F3F6F2"/>
                </a:solidFill>
                <a:latin typeface="Arial"/>
                <a:ea typeface="Arial"/>
                <a:cs typeface="Arial"/>
              </a:defRPr>
            </a:lvl5pPr>
            <a:lvl6pPr algn="l">
              <a:buNone/>
              <a:defRPr sz="1050" b="1">
                <a:solidFill>
                  <a:srgbClr val="F3F6F2"/>
                </a:solidFill>
                <a:latin typeface="Arial"/>
                <a:ea typeface="Arial"/>
                <a:cs typeface="Arial"/>
              </a:defRPr>
            </a:lvl6pPr>
            <a:lvl7pPr algn="l">
              <a:buNone/>
              <a:defRPr sz="1050" b="1">
                <a:solidFill>
                  <a:srgbClr val="F3F6F2"/>
                </a:solidFill>
                <a:latin typeface="Arial"/>
                <a:ea typeface="Arial"/>
                <a:cs typeface="Arial"/>
              </a:defRPr>
            </a:lvl7pPr>
            <a:lvl8pPr algn="l">
              <a:buNone/>
              <a:defRPr sz="1050" b="1">
                <a:solidFill>
                  <a:srgbClr val="F3F6F2"/>
                </a:solidFill>
                <a:latin typeface="Arial"/>
                <a:ea typeface="Arial"/>
                <a:cs typeface="Arial"/>
              </a:defRPr>
            </a:lvl8pPr>
            <a:lvl9pPr algn="l">
              <a:buNone/>
              <a:defRPr sz="1050" b="1">
                <a:solidFill>
                  <a:srgbClr val="F3F6F2"/>
                </a:solidFill>
                <a:latin typeface="Arial"/>
                <a:ea typeface="Arial"/>
                <a:cs typeface="Arial"/>
              </a:defRPr>
            </a:lvl9pPr>
          </a:lstStyle>
          <a:p xmlns:a="http://schemas.openxmlformats.org/drawingml/2006/main">
            <a:pPr algn="l">
              <a:buNone/>
              <a:defRPr sz="1050" b="1">
                <a:solidFill>
                  <a:srgbClr val="F3F6F2"/>
                </a:solidFill>
                <a:latin typeface="Arial"/>
                <a:ea typeface="Arial"/>
                <a:cs typeface="Arial"/>
              </a:defRPr>
            </a:pPr>
            <a:r>
              <a:rPr sz="1050" b="1">
                <a:solidFill>
                  <a:srgbClr val="F3F6F2"/>
                </a:solidFill>
                <a:latin typeface="Arial"/>
                <a:ea typeface="Arial"/>
                <a:cs typeface="Arial"/>
              </a:rPr>
              <a:t>Annual maps flag possible growth. Sentinel-1 and Sentinel-2 check whether it looks built-up. Heat, population and vegetation then produce the ranking.</a:t>
            </a:r>
          </a:p>
        </p:txBody>
      </p:sp>
    </p:spTree>
    <p:extLst>
      <p:ext uri="{BB962C8B-B14F-4D97-AF65-F5344CB8AC3E}">
        <p14:creationId xmlns:p14="http://schemas.microsoft.com/office/powerpoint/2010/main" val="1153213207"/>
      </p:ext>
    </p:extLst>
  </p:cSld>
</p:sld>
</file>

<file path=ppt/slides/slide5.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9F7CE5D8-F5BC-4AB4-B275-D0E4269B1291}"/>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WORKING OUTPUT</a:t>
            </a:r>
          </a:p>
        </p:txBody>
      </p:sp>
      <p:sp>
        <p:nvSpPr>
          <p:cNvPr id="2" name="">
            <a:extLst xmlns:a="http://schemas.openxmlformats.org/drawingml/2006/main">
              <a:ext uri="{FF2B5EF4-FFF2-40B4-BE49-F238E27FC236}">
                <a16:creationId xmlns:a16="http://schemas.microsoft.com/office/drawing/2014/main" id="{C13A77A3-0E58-45E9-B2BB-1762487FD7ED}"/>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Priority map and GIS files</a:t>
            </a:r>
          </a:p>
        </p:txBody>
      </p:sp>
      <p:sp>
        <p:nvSpPr>
          <p:cNvPr id="3" name="">
            <a:extLst xmlns:a="http://schemas.openxmlformats.org/drawingml/2006/main">
              <a:ext uri="{FF2B5EF4-FFF2-40B4-BE49-F238E27FC236}">
                <a16:creationId xmlns:a16="http://schemas.microsoft.com/office/drawing/2014/main" id="{26F01B03-3F7C-4612-BD41-018B74A116FE}"/>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3A1A2197-948A-492C-B894-9E49A3D7DAEC}"/>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FEA179A0-A78F-4EEB-9421-14B2762A7F34}"/>
              </a:ext>
            </a:extLst>
          </p:cNvPr>
          <p:cNvPicPr>
            <a:picLocks xmlns:a="http://schemas.openxmlformats.org/drawingml/2006/main" noChangeAspect="1"/>
          </p:cNvPicPr>
          <p:nvPr/>
        </p:nvPicPr>
        <p:blipFill>
          <a:blip xmlns:r="http://schemas.openxmlformats.org/officeDocument/2006/relationships" xmlns:a="http://schemas.openxmlformats.org/drawingml/2006/main" r:embed="R1cf8c0e5a2c84489"/>
          <a:stretch xmlns:a="http://schemas.openxmlformats.org/drawingml/2006/main"/>
        </p:blipFill>
        <p:spPr>
          <a:xfrm xmlns:a="http://schemas.openxmlformats.org/drawingml/2006/main">
            <a:off x="1128967" y="1485900"/>
            <a:ext cx="4304790" cy="4762500"/>
          </a:xfrm>
          <a:prstGeom xmlns:a="http://schemas.openxmlformats.org/drawingml/2006/main" prst="roundRect">
            <a:avLst>
              <a:gd name="adj" fmla="val 2000"/>
            </a:avLst>
          </a:prstGeom>
        </p:spPr>
      </p:pic>
      <p:pic>
        <p:nvPicPr>
          <p:cNvPr id="6" name="">
            <a:extLst xmlns:a="http://schemas.openxmlformats.org/drawingml/2006/main">
              <a:ext uri="{FF2B5EF4-FFF2-40B4-BE49-F238E27FC236}">
                <a16:creationId xmlns:a16="http://schemas.microsoft.com/office/drawing/2014/main" id="{D0D48EEB-F84F-414D-94DE-1A4075082925}"/>
              </a:ext>
            </a:extLst>
          </p:cNvPr>
          <p:cNvPicPr>
            <a:picLocks xmlns:a="http://schemas.openxmlformats.org/drawingml/2006/main" noChangeAspect="1"/>
          </p:cNvPicPr>
          <p:nvPr/>
        </p:nvPicPr>
        <p:blipFill>
          <a:blip xmlns:r="http://schemas.openxmlformats.org/officeDocument/2006/relationships" xmlns:a="http://schemas.openxmlformats.org/drawingml/2006/main" r:embed="Rfa8d6e97432248e2"/>
          <a:stretch xmlns:a="http://schemas.openxmlformats.org/drawingml/2006/main"/>
        </p:blipFill>
        <p:spPr>
          <a:xfrm xmlns:a="http://schemas.openxmlformats.org/drawingml/2006/main">
            <a:off x="6535680" y="1562100"/>
            <a:ext cx="4759439" cy="2571750"/>
          </a:xfrm>
          <a:prstGeom xmlns:a="http://schemas.openxmlformats.org/drawingml/2006/main" prst="roundRect">
            <a:avLst>
              <a:gd name="adj" fmla="val 3704"/>
            </a:avLst>
          </a:prstGeom>
        </p:spPr>
      </p:pic>
      <p:sp>
        <p:nvSpPr>
          <p:cNvPr id="7" name="">
            <a:extLst xmlns:a="http://schemas.openxmlformats.org/drawingml/2006/main">
              <a:ext uri="{FF2B5EF4-FFF2-40B4-BE49-F238E27FC236}">
                <a16:creationId xmlns:a16="http://schemas.microsoft.com/office/drawing/2014/main" id="{C93BD0D4-C018-4802-8651-078850698419}"/>
              </a:ext>
            </a:extLst>
          </p:cNvPr>
          <p:cNvSpPr>
            <a:spLocks xmlns:a="http://schemas.openxmlformats.org/drawingml/2006/main" noGrp="1"/>
          </p:cNvSpPr>
          <p:nvPr/>
        </p:nvSpPr>
        <p:spPr>
          <a:xfrm xmlns:a="http://schemas.openxmlformats.org/drawingml/2006/main">
            <a:off x="62293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8" name="">
            <a:extLst xmlns:a="http://schemas.openxmlformats.org/drawingml/2006/main">
              <a:ext uri="{FF2B5EF4-FFF2-40B4-BE49-F238E27FC236}">
                <a16:creationId xmlns:a16="http://schemas.microsoft.com/office/drawing/2014/main" id="{82B8368B-C33D-4E52-93AB-8030013FC043}"/>
              </a:ext>
            </a:extLst>
          </p:cNvPr>
          <p:cNvSpPr>
            <a:spLocks xmlns:a="http://schemas.openxmlformats.org/drawingml/2006/main" noGrp="1"/>
          </p:cNvSpPr>
          <p:nvPr/>
        </p:nvSpPr>
        <p:spPr>
          <a:xfrm xmlns:a="http://schemas.openxmlformats.org/drawingml/2006/main">
            <a:off x="64008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F06449"/>
                </a:solidFill>
                <a:latin typeface="Arial"/>
                <a:ea typeface="Arial"/>
                <a:cs typeface="Arial"/>
              </a:defRPr>
            </a:defPPr>
            <a:lvl1pPr algn="l">
              <a:buNone/>
              <a:defRPr sz="2550" b="1">
                <a:solidFill>
                  <a:srgbClr val="F06449"/>
                </a:solidFill>
                <a:latin typeface="Arial"/>
                <a:ea typeface="Arial"/>
                <a:cs typeface="Arial"/>
              </a:defRPr>
            </a:lvl1pPr>
            <a:lvl2pPr algn="l">
              <a:buNone/>
              <a:defRPr sz="2550" b="1">
                <a:solidFill>
                  <a:srgbClr val="F06449"/>
                </a:solidFill>
                <a:latin typeface="Arial"/>
                <a:ea typeface="Arial"/>
                <a:cs typeface="Arial"/>
              </a:defRPr>
            </a:lvl2pPr>
            <a:lvl3pPr algn="l">
              <a:buNone/>
              <a:defRPr sz="2550" b="1">
                <a:solidFill>
                  <a:srgbClr val="F06449"/>
                </a:solidFill>
                <a:latin typeface="Arial"/>
                <a:ea typeface="Arial"/>
                <a:cs typeface="Arial"/>
              </a:defRPr>
            </a:lvl3pPr>
            <a:lvl4pPr algn="l">
              <a:buNone/>
              <a:defRPr sz="2550" b="1">
                <a:solidFill>
                  <a:srgbClr val="F06449"/>
                </a:solidFill>
                <a:latin typeface="Arial"/>
                <a:ea typeface="Arial"/>
                <a:cs typeface="Arial"/>
              </a:defRPr>
            </a:lvl4pPr>
            <a:lvl5pPr algn="l">
              <a:buNone/>
              <a:defRPr sz="2550" b="1">
                <a:solidFill>
                  <a:srgbClr val="F06449"/>
                </a:solidFill>
                <a:latin typeface="Arial"/>
                <a:ea typeface="Arial"/>
                <a:cs typeface="Arial"/>
              </a:defRPr>
            </a:lvl5pPr>
            <a:lvl6pPr algn="l">
              <a:buNone/>
              <a:defRPr sz="2550" b="1">
                <a:solidFill>
                  <a:srgbClr val="F06449"/>
                </a:solidFill>
                <a:latin typeface="Arial"/>
                <a:ea typeface="Arial"/>
                <a:cs typeface="Arial"/>
              </a:defRPr>
            </a:lvl6pPr>
            <a:lvl7pPr algn="l">
              <a:buNone/>
              <a:defRPr sz="2550" b="1">
                <a:solidFill>
                  <a:srgbClr val="F06449"/>
                </a:solidFill>
                <a:latin typeface="Arial"/>
                <a:ea typeface="Arial"/>
                <a:cs typeface="Arial"/>
              </a:defRPr>
            </a:lvl7pPr>
            <a:lvl8pPr algn="l">
              <a:buNone/>
              <a:defRPr sz="2550" b="1">
                <a:solidFill>
                  <a:srgbClr val="F06449"/>
                </a:solidFill>
                <a:latin typeface="Arial"/>
                <a:ea typeface="Arial"/>
                <a:cs typeface="Arial"/>
              </a:defRPr>
            </a:lvl8pPr>
            <a:lvl9pPr algn="l">
              <a:buNone/>
              <a:defRPr sz="2550" b="1">
                <a:solidFill>
                  <a:srgbClr val="F06449"/>
                </a:solidFill>
                <a:latin typeface="Arial"/>
                <a:ea typeface="Arial"/>
                <a:cs typeface="Arial"/>
              </a:defRPr>
            </a:lvl9pPr>
          </a:lstStyle>
          <a:p xmlns:a="http://schemas.openxmlformats.org/drawingml/2006/main">
            <a:pPr algn="l">
              <a:buNone/>
              <a:defRPr sz="2550" b="1">
                <a:solidFill>
                  <a:srgbClr val="F06449"/>
                </a:solidFill>
                <a:latin typeface="Arial"/>
                <a:ea typeface="Arial"/>
                <a:cs typeface="Arial"/>
              </a:defRPr>
            </a:pPr>
            <a:r>
              <a:rPr sz="2550" b="1">
                <a:solidFill>
                  <a:srgbClr val="F06449"/>
                </a:solidFill>
                <a:latin typeface="Arial"/>
                <a:ea typeface="Arial"/>
                <a:cs typeface="Arial"/>
              </a:rPr>
              <a:t>3.74 km²</a:t>
            </a:r>
          </a:p>
        </p:txBody>
      </p:sp>
      <p:sp>
        <p:nvSpPr>
          <p:cNvPr id="9" name="">
            <a:extLst xmlns:a="http://schemas.openxmlformats.org/drawingml/2006/main">
              <a:ext uri="{FF2B5EF4-FFF2-40B4-BE49-F238E27FC236}">
                <a16:creationId xmlns:a16="http://schemas.microsoft.com/office/drawing/2014/main" id="{33D2BC74-52B1-49CF-948D-D5A02FA155B8}"/>
              </a:ext>
            </a:extLst>
          </p:cNvPr>
          <p:cNvSpPr>
            <a:spLocks xmlns:a="http://schemas.openxmlformats.org/drawingml/2006/main" noGrp="1"/>
          </p:cNvSpPr>
          <p:nvPr/>
        </p:nvSpPr>
        <p:spPr>
          <a:xfrm xmlns:a="http://schemas.openxmlformats.org/drawingml/2006/main">
            <a:off x="64008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CONFIRMED GROWTH SIGNAL</a:t>
            </a:r>
          </a:p>
        </p:txBody>
      </p:sp>
      <p:sp>
        <p:nvSpPr>
          <p:cNvPr id="10" name="">
            <a:extLst xmlns:a="http://schemas.openxmlformats.org/drawingml/2006/main">
              <a:ext uri="{FF2B5EF4-FFF2-40B4-BE49-F238E27FC236}">
                <a16:creationId xmlns:a16="http://schemas.microsoft.com/office/drawing/2014/main" id="{BD3BCCB2-DB10-4C31-84C0-B74EB4D05BF6}"/>
              </a:ext>
            </a:extLst>
          </p:cNvPr>
          <p:cNvSpPr>
            <a:spLocks xmlns:a="http://schemas.openxmlformats.org/drawingml/2006/main" noGrp="1"/>
          </p:cNvSpPr>
          <p:nvPr/>
        </p:nvSpPr>
        <p:spPr>
          <a:xfrm xmlns:a="http://schemas.openxmlformats.org/drawingml/2006/main">
            <a:off x="8020050" y="4324350"/>
            <a:ext cx="165735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1" name="">
            <a:extLst xmlns:a="http://schemas.openxmlformats.org/drawingml/2006/main">
              <a:ext uri="{FF2B5EF4-FFF2-40B4-BE49-F238E27FC236}">
                <a16:creationId xmlns:a16="http://schemas.microsoft.com/office/drawing/2014/main" id="{C195A412-83E6-4E4C-8A0F-4F98B0DF972D}"/>
              </a:ext>
            </a:extLst>
          </p:cNvPr>
          <p:cNvSpPr>
            <a:spLocks xmlns:a="http://schemas.openxmlformats.org/drawingml/2006/main" noGrp="1"/>
          </p:cNvSpPr>
          <p:nvPr/>
        </p:nvSpPr>
        <p:spPr>
          <a:xfrm xmlns:a="http://schemas.openxmlformats.org/drawingml/2006/main">
            <a:off x="8191500" y="4438650"/>
            <a:ext cx="1314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14 / 67</a:t>
            </a:r>
          </a:p>
        </p:txBody>
      </p:sp>
      <p:sp>
        <p:nvSpPr>
          <p:cNvPr id="12" name="">
            <a:extLst xmlns:a="http://schemas.openxmlformats.org/drawingml/2006/main">
              <a:ext uri="{FF2B5EF4-FFF2-40B4-BE49-F238E27FC236}">
                <a16:creationId xmlns:a16="http://schemas.microsoft.com/office/drawing/2014/main" id="{733EEB0C-F22F-459D-B732-131FEA7653E8}"/>
              </a:ext>
            </a:extLst>
          </p:cNvPr>
          <p:cNvSpPr>
            <a:spLocks xmlns:a="http://schemas.openxmlformats.org/drawingml/2006/main" noGrp="1"/>
          </p:cNvSpPr>
          <p:nvPr/>
        </p:nvSpPr>
        <p:spPr>
          <a:xfrm xmlns:a="http://schemas.openxmlformats.org/drawingml/2006/main">
            <a:off x="8191500" y="4953000"/>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HIGH / ELIGIBLE CELLS</a:t>
            </a:r>
          </a:p>
        </p:txBody>
      </p:sp>
      <p:sp>
        <p:nvSpPr>
          <p:cNvPr id="13" name="">
            <a:extLst xmlns:a="http://schemas.openxmlformats.org/drawingml/2006/main">
              <a:ext uri="{FF2B5EF4-FFF2-40B4-BE49-F238E27FC236}">
                <a16:creationId xmlns:a16="http://schemas.microsoft.com/office/drawing/2014/main" id="{75903783-74CB-4F99-B503-58AEC6BDFA5D}"/>
              </a:ext>
            </a:extLst>
          </p:cNvPr>
          <p:cNvSpPr>
            <a:spLocks xmlns:a="http://schemas.openxmlformats.org/drawingml/2006/main" noGrp="1"/>
          </p:cNvSpPr>
          <p:nvPr/>
        </p:nvSpPr>
        <p:spPr>
          <a:xfrm xmlns:a="http://schemas.openxmlformats.org/drawingml/2006/main">
            <a:off x="9810750" y="43243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7362A030-A643-4142-ABFC-6718282B6E06}"/>
              </a:ext>
            </a:extLst>
          </p:cNvPr>
          <p:cNvSpPr>
            <a:spLocks xmlns:a="http://schemas.openxmlformats.org/drawingml/2006/main" noGrp="1"/>
          </p:cNvSpPr>
          <p:nvPr/>
        </p:nvSpPr>
        <p:spPr>
          <a:xfrm xmlns:a="http://schemas.openxmlformats.org/drawingml/2006/main">
            <a:off x="9982200" y="44386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78.7</a:t>
            </a:r>
          </a:p>
        </p:txBody>
      </p:sp>
      <p:sp>
        <p:nvSpPr>
          <p:cNvPr id="15" name="">
            <a:extLst xmlns:a="http://schemas.openxmlformats.org/drawingml/2006/main">
              <a:ext uri="{FF2B5EF4-FFF2-40B4-BE49-F238E27FC236}">
                <a16:creationId xmlns:a16="http://schemas.microsoft.com/office/drawing/2014/main" id="{2B2300D1-0604-481F-B611-311F5926D3B6}"/>
              </a:ext>
            </a:extLst>
          </p:cNvPr>
          <p:cNvSpPr>
            <a:spLocks xmlns:a="http://schemas.openxmlformats.org/drawingml/2006/main" noGrp="1"/>
          </p:cNvSpPr>
          <p:nvPr/>
        </p:nvSpPr>
        <p:spPr>
          <a:xfrm xmlns:a="http://schemas.openxmlformats.org/drawingml/2006/main">
            <a:off x="9982200" y="49530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TOP SCORE: R05C10</a:t>
            </a:r>
          </a:p>
        </p:txBody>
      </p:sp>
      <p:sp>
        <p:nvSpPr>
          <p:cNvPr id="16" name="">
            <a:extLst xmlns:a="http://schemas.openxmlformats.org/drawingml/2006/main">
              <a:ext uri="{FF2B5EF4-FFF2-40B4-BE49-F238E27FC236}">
                <a16:creationId xmlns:a16="http://schemas.microsoft.com/office/drawing/2014/main" id="{18E05AEA-F39B-4557-BB77-DCF96BAA99BF}"/>
              </a:ext>
            </a:extLst>
          </p:cNvPr>
          <p:cNvSpPr>
            <a:spLocks xmlns:a="http://schemas.openxmlformats.org/drawingml/2006/main" noGrp="1"/>
          </p:cNvSpPr>
          <p:nvPr/>
        </p:nvSpPr>
        <p:spPr>
          <a:xfrm xmlns:a="http://schemas.openxmlformats.org/drawingml/2006/main">
            <a:off x="6229350" y="5543550"/>
            <a:ext cx="5372100" cy="704850"/>
          </a:xfrm>
          <a:prstGeom xmlns:a="http://schemas.openxmlformats.org/drawingml/2006/main" prst="roundRect">
            <a:avLst>
              <a:gd name="adj" fmla="val 13514"/>
            </a:avLst>
          </a:prstGeom>
          <a:solidFill xmlns:a="http://schemas.openxmlformats.org/drawingml/2006/main">
            <a:srgbClr val="113646"/>
          </a:solidFill>
          <a:ln xmlns:a="http://schemas.openxmlformats.org/drawingml/2006/main" w="9525">
            <a:solidFill>
              <a:srgbClr val="31505F"/>
            </a:solidFill>
            <a:prstDash val="solid"/>
          </a:ln>
        </p:spPr>
      </p:sp>
      <p:sp>
        <p:nvSpPr>
          <p:cNvPr id="17" name="">
            <a:extLst xmlns:a="http://schemas.openxmlformats.org/drawingml/2006/main">
              <a:ext uri="{FF2B5EF4-FFF2-40B4-BE49-F238E27FC236}">
                <a16:creationId xmlns:a16="http://schemas.microsoft.com/office/drawing/2014/main" id="{7CE00F46-8027-4FD7-AAEE-0A4D0E038EA4}"/>
              </a:ext>
            </a:extLst>
          </p:cNvPr>
          <p:cNvSpPr>
            <a:spLocks xmlns:a="http://schemas.openxmlformats.org/drawingml/2006/main" noGrp="1"/>
          </p:cNvSpPr>
          <p:nvPr/>
        </p:nvSpPr>
        <p:spPr>
          <a:xfrm xmlns:a="http://schemas.openxmlformats.org/drawingml/2006/main">
            <a:off x="6438900" y="56483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200" b="1">
                <a:solidFill>
                  <a:srgbClr val="F3F6F2"/>
                </a:solidFill>
                <a:latin typeface="Arial"/>
                <a:ea typeface="Arial"/>
                <a:cs typeface="Arial"/>
              </a:defRPr>
            </a:defPPr>
            <a:lvl1pPr algn="l">
              <a:buNone/>
              <a:defRPr sz="1200" b="1">
                <a:solidFill>
                  <a:srgbClr val="F3F6F2"/>
                </a:solidFill>
                <a:latin typeface="Arial"/>
                <a:ea typeface="Arial"/>
                <a:cs typeface="Arial"/>
              </a:defRPr>
            </a:lvl1pPr>
            <a:lvl2pPr algn="l">
              <a:buNone/>
              <a:defRPr sz="1200" b="1">
                <a:solidFill>
                  <a:srgbClr val="F3F6F2"/>
                </a:solidFill>
                <a:latin typeface="Arial"/>
                <a:ea typeface="Arial"/>
                <a:cs typeface="Arial"/>
              </a:defRPr>
            </a:lvl2pPr>
            <a:lvl3pPr algn="l">
              <a:buNone/>
              <a:defRPr sz="1200" b="1">
                <a:solidFill>
                  <a:srgbClr val="F3F6F2"/>
                </a:solidFill>
                <a:latin typeface="Arial"/>
                <a:ea typeface="Arial"/>
                <a:cs typeface="Arial"/>
              </a:defRPr>
            </a:lvl3pPr>
            <a:lvl4pPr algn="l">
              <a:buNone/>
              <a:defRPr sz="1200" b="1">
                <a:solidFill>
                  <a:srgbClr val="F3F6F2"/>
                </a:solidFill>
                <a:latin typeface="Arial"/>
                <a:ea typeface="Arial"/>
                <a:cs typeface="Arial"/>
              </a:defRPr>
            </a:lvl4pPr>
            <a:lvl5pPr algn="l">
              <a:buNone/>
              <a:defRPr sz="1200" b="1">
                <a:solidFill>
                  <a:srgbClr val="F3F6F2"/>
                </a:solidFill>
                <a:latin typeface="Arial"/>
                <a:ea typeface="Arial"/>
                <a:cs typeface="Arial"/>
              </a:defRPr>
            </a:lvl5pPr>
            <a:lvl6pPr algn="l">
              <a:buNone/>
              <a:defRPr sz="1200" b="1">
                <a:solidFill>
                  <a:srgbClr val="F3F6F2"/>
                </a:solidFill>
                <a:latin typeface="Arial"/>
                <a:ea typeface="Arial"/>
                <a:cs typeface="Arial"/>
              </a:defRPr>
            </a:lvl6pPr>
            <a:lvl7pPr algn="l">
              <a:buNone/>
              <a:defRPr sz="1200" b="1">
                <a:solidFill>
                  <a:srgbClr val="F3F6F2"/>
                </a:solidFill>
                <a:latin typeface="Arial"/>
                <a:ea typeface="Arial"/>
                <a:cs typeface="Arial"/>
              </a:defRPr>
            </a:lvl7pPr>
            <a:lvl8pPr algn="l">
              <a:buNone/>
              <a:defRPr sz="1200" b="1">
                <a:solidFill>
                  <a:srgbClr val="F3F6F2"/>
                </a:solidFill>
                <a:latin typeface="Arial"/>
                <a:ea typeface="Arial"/>
                <a:cs typeface="Arial"/>
              </a:defRPr>
            </a:lvl8pPr>
            <a:lvl9pPr algn="l">
              <a:buNone/>
              <a:defRPr sz="1200" b="1">
                <a:solidFill>
                  <a:srgbClr val="F3F6F2"/>
                </a:solidFill>
                <a:latin typeface="Arial"/>
                <a:ea typeface="Arial"/>
                <a:cs typeface="Arial"/>
              </a:defRPr>
            </a:lvl9pPr>
          </a:lstStyle>
          <a:p xmlns:a="http://schemas.openxmlformats.org/drawingml/2006/main">
            <a:pPr algn="l">
              <a:buNone/>
              <a:defRPr sz="1200" b="1">
                <a:solidFill>
                  <a:srgbClr val="F3F6F2"/>
                </a:solidFill>
                <a:latin typeface="Arial"/>
                <a:ea typeface="Arial"/>
                <a:cs typeface="Arial"/>
              </a:defRPr>
            </a:pPr>
            <a:r>
              <a:rPr sz="1200" b="1">
                <a:solidFill>
                  <a:srgbClr val="F3F6F2"/>
                </a:solidFill>
                <a:latin typeface="Arial"/>
                <a:ea typeface="Arial"/>
                <a:cs typeface="Arial"/>
              </a:rPr>
              <a:t>The HTML report shows the map and a table of the top five zones. Separate CSV, GeoJSON and GeoTIFF files support further review.</a:t>
            </a:r>
          </a:p>
        </p:txBody>
      </p:sp>
    </p:spTree>
    <p:extLst>
      <p:ext uri="{BB962C8B-B14F-4D97-AF65-F5344CB8AC3E}">
        <p14:creationId xmlns:p14="http://schemas.microsoft.com/office/powerpoint/2010/main" val="1664448992"/>
      </p:ext>
    </p:extLst>
  </p:cSld>
</p:sld>
</file>

<file path=ppt/slides/slide6.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630B84C-D762-4156-8FE5-186D2B866F7C}"/>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VALIDATION</a:t>
            </a:r>
          </a:p>
        </p:txBody>
      </p:sp>
      <p:sp>
        <p:nvSpPr>
          <p:cNvPr id="2" name="">
            <a:extLst xmlns:a="http://schemas.openxmlformats.org/drawingml/2006/main">
              <a:ext uri="{FF2B5EF4-FFF2-40B4-BE49-F238E27FC236}">
                <a16:creationId xmlns:a16="http://schemas.microsoft.com/office/drawing/2014/main" id="{483725DA-7CE4-407E-8ABC-AFFAC6C4E150}"/>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Validation results and main limitations</a:t>
            </a:r>
          </a:p>
        </p:txBody>
      </p:sp>
      <p:sp>
        <p:nvSpPr>
          <p:cNvPr id="3" name="">
            <a:extLst xmlns:a="http://schemas.openxmlformats.org/drawingml/2006/main">
              <a:ext uri="{FF2B5EF4-FFF2-40B4-BE49-F238E27FC236}">
                <a16:creationId xmlns:a16="http://schemas.microsoft.com/office/drawing/2014/main" id="{374E1022-A1E5-4B64-B79B-7C49D40B3C0A}"/>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CEED50B1-577E-450F-89F1-3D7B96D87B23}"/>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EA964C54-24DF-4C54-BD05-437863F18429}"/>
              </a:ext>
            </a:extLst>
          </p:cNvPr>
          <p:cNvSpPr>
            <a:spLocks xmlns:a="http://schemas.openxmlformats.org/drawingml/2006/main" noGrp="1"/>
          </p:cNvSpPr>
          <p:nvPr/>
        </p:nvSpPr>
        <p:spPr>
          <a:xfrm xmlns:a="http://schemas.openxmlformats.org/drawingml/2006/main">
            <a:off x="590550" y="1504950"/>
            <a:ext cx="17907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B1A5B0FB-D170-43A0-B4FC-AE77CA5FF8AE}"/>
              </a:ext>
            </a:extLst>
          </p:cNvPr>
          <p:cNvSpPr>
            <a:spLocks xmlns:a="http://schemas.openxmlformats.org/drawingml/2006/main" noGrp="1"/>
          </p:cNvSpPr>
          <p:nvPr/>
        </p:nvSpPr>
        <p:spPr>
          <a:xfrm xmlns:a="http://schemas.openxmlformats.org/drawingml/2006/main">
            <a:off x="762000" y="1619250"/>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1AA58F"/>
                </a:solidFill>
                <a:latin typeface="Arial"/>
                <a:ea typeface="Arial"/>
                <a:cs typeface="Arial"/>
              </a:defRPr>
            </a:defPPr>
            <a:lvl1pPr algn="l">
              <a:buNone/>
              <a:defRPr sz="2550" b="1">
                <a:solidFill>
                  <a:srgbClr val="1AA58F"/>
                </a:solidFill>
                <a:latin typeface="Arial"/>
                <a:ea typeface="Arial"/>
                <a:cs typeface="Arial"/>
              </a:defRPr>
            </a:lvl1pPr>
            <a:lvl2pPr algn="l">
              <a:buNone/>
              <a:defRPr sz="2550" b="1">
                <a:solidFill>
                  <a:srgbClr val="1AA58F"/>
                </a:solidFill>
                <a:latin typeface="Arial"/>
                <a:ea typeface="Arial"/>
                <a:cs typeface="Arial"/>
              </a:defRPr>
            </a:lvl2pPr>
            <a:lvl3pPr algn="l">
              <a:buNone/>
              <a:defRPr sz="2550" b="1">
                <a:solidFill>
                  <a:srgbClr val="1AA58F"/>
                </a:solidFill>
                <a:latin typeface="Arial"/>
                <a:ea typeface="Arial"/>
                <a:cs typeface="Arial"/>
              </a:defRPr>
            </a:lvl3pPr>
            <a:lvl4pPr algn="l">
              <a:buNone/>
              <a:defRPr sz="2550" b="1">
                <a:solidFill>
                  <a:srgbClr val="1AA58F"/>
                </a:solidFill>
                <a:latin typeface="Arial"/>
                <a:ea typeface="Arial"/>
                <a:cs typeface="Arial"/>
              </a:defRPr>
            </a:lvl4pPr>
            <a:lvl5pPr algn="l">
              <a:buNone/>
              <a:defRPr sz="2550" b="1">
                <a:solidFill>
                  <a:srgbClr val="1AA58F"/>
                </a:solidFill>
                <a:latin typeface="Arial"/>
                <a:ea typeface="Arial"/>
                <a:cs typeface="Arial"/>
              </a:defRPr>
            </a:lvl5pPr>
            <a:lvl6pPr algn="l">
              <a:buNone/>
              <a:defRPr sz="2550" b="1">
                <a:solidFill>
                  <a:srgbClr val="1AA58F"/>
                </a:solidFill>
                <a:latin typeface="Arial"/>
                <a:ea typeface="Arial"/>
                <a:cs typeface="Arial"/>
              </a:defRPr>
            </a:lvl6pPr>
            <a:lvl7pPr algn="l">
              <a:buNone/>
              <a:defRPr sz="2550" b="1">
                <a:solidFill>
                  <a:srgbClr val="1AA58F"/>
                </a:solidFill>
                <a:latin typeface="Arial"/>
                <a:ea typeface="Arial"/>
                <a:cs typeface="Arial"/>
              </a:defRPr>
            </a:lvl7pPr>
            <a:lvl8pPr algn="l">
              <a:buNone/>
              <a:defRPr sz="2550" b="1">
                <a:solidFill>
                  <a:srgbClr val="1AA58F"/>
                </a:solidFill>
                <a:latin typeface="Arial"/>
                <a:ea typeface="Arial"/>
                <a:cs typeface="Arial"/>
              </a:defRPr>
            </a:lvl8pPr>
            <a:lvl9pPr algn="l">
              <a:buNone/>
              <a:defRPr sz="2550" b="1">
                <a:solidFill>
                  <a:srgbClr val="1AA58F"/>
                </a:solidFill>
                <a:latin typeface="Arial"/>
                <a:ea typeface="Arial"/>
                <a:cs typeface="Arial"/>
              </a:defRPr>
            </a:lvl9pPr>
          </a:lstStyle>
          <a:p xmlns:a="http://schemas.openxmlformats.org/drawingml/2006/main">
            <a:pPr algn="l">
              <a:buNone/>
              <a:defRPr sz="2550" b="1">
                <a:solidFill>
                  <a:srgbClr val="1AA58F"/>
                </a:solidFill>
                <a:latin typeface="Arial"/>
                <a:ea typeface="Arial"/>
                <a:cs typeface="Arial"/>
              </a:defRPr>
            </a:pPr>
            <a:r>
              <a:rPr sz="2550" b="1">
                <a:solidFill>
                  <a:srgbClr val="1AA58F"/>
                </a:solidFill>
                <a:latin typeface="Arial"/>
                <a:ea typeface="Arial"/>
                <a:cs typeface="Arial"/>
              </a:rPr>
              <a:t>0.88</a:t>
            </a:r>
          </a:p>
        </p:txBody>
      </p:sp>
      <p:sp>
        <p:nvSpPr>
          <p:cNvPr id="7" name="">
            <a:extLst xmlns:a="http://schemas.openxmlformats.org/drawingml/2006/main">
              <a:ext uri="{FF2B5EF4-FFF2-40B4-BE49-F238E27FC236}">
                <a16:creationId xmlns:a16="http://schemas.microsoft.com/office/drawing/2014/main" id="{5CE5EBEA-541D-47CD-B098-E5BF20891BC0}"/>
              </a:ext>
            </a:extLst>
          </p:cNvPr>
          <p:cNvSpPr>
            <a:spLocks xmlns:a="http://schemas.openxmlformats.org/drawingml/2006/main" noGrp="1"/>
          </p:cNvSpPr>
          <p:nvPr/>
        </p:nvSpPr>
        <p:spPr>
          <a:xfrm xmlns:a="http://schemas.openxmlformats.org/drawingml/2006/main">
            <a:off x="762000" y="21336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F1 AGREEMENT</a:t>
            </a:r>
          </a:p>
        </p:txBody>
      </p:sp>
      <p:sp>
        <p:nvSpPr>
          <p:cNvPr id="8" name="">
            <a:extLst xmlns:a="http://schemas.openxmlformats.org/drawingml/2006/main">
              <a:ext uri="{FF2B5EF4-FFF2-40B4-BE49-F238E27FC236}">
                <a16:creationId xmlns:a16="http://schemas.microsoft.com/office/drawing/2014/main" id="{65B317B3-DA82-4454-8FE9-BE5FE000E969}"/>
              </a:ext>
            </a:extLst>
          </p:cNvPr>
          <p:cNvSpPr>
            <a:spLocks xmlns:a="http://schemas.openxmlformats.org/drawingml/2006/main" noGrp="1"/>
          </p:cNvSpPr>
          <p:nvPr/>
        </p:nvSpPr>
        <p:spPr>
          <a:xfrm xmlns:a="http://schemas.openxmlformats.org/drawingml/2006/main">
            <a:off x="251460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9" name="">
            <a:extLst xmlns:a="http://schemas.openxmlformats.org/drawingml/2006/main">
              <a:ext uri="{FF2B5EF4-FFF2-40B4-BE49-F238E27FC236}">
                <a16:creationId xmlns:a16="http://schemas.microsoft.com/office/drawing/2014/main" id="{6157D4AD-91EF-42A9-B2B7-768AF527FAB3}"/>
              </a:ext>
            </a:extLst>
          </p:cNvPr>
          <p:cNvSpPr>
            <a:spLocks xmlns:a="http://schemas.openxmlformats.org/drawingml/2006/main" noGrp="1"/>
          </p:cNvSpPr>
          <p:nvPr/>
        </p:nvSpPr>
        <p:spPr>
          <a:xfrm xmlns:a="http://schemas.openxmlformats.org/drawingml/2006/main">
            <a:off x="268605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6D5DD3"/>
                </a:solidFill>
                <a:latin typeface="Arial"/>
                <a:ea typeface="Arial"/>
                <a:cs typeface="Arial"/>
              </a:defRPr>
            </a:defPPr>
            <a:lvl1pPr algn="l">
              <a:buNone/>
              <a:defRPr sz="2550" b="1">
                <a:solidFill>
                  <a:srgbClr val="6D5DD3"/>
                </a:solidFill>
                <a:latin typeface="Arial"/>
                <a:ea typeface="Arial"/>
                <a:cs typeface="Arial"/>
              </a:defRPr>
            </a:lvl1pPr>
            <a:lvl2pPr algn="l">
              <a:buNone/>
              <a:defRPr sz="2550" b="1">
                <a:solidFill>
                  <a:srgbClr val="6D5DD3"/>
                </a:solidFill>
                <a:latin typeface="Arial"/>
                <a:ea typeface="Arial"/>
                <a:cs typeface="Arial"/>
              </a:defRPr>
            </a:lvl2pPr>
            <a:lvl3pPr algn="l">
              <a:buNone/>
              <a:defRPr sz="2550" b="1">
                <a:solidFill>
                  <a:srgbClr val="6D5DD3"/>
                </a:solidFill>
                <a:latin typeface="Arial"/>
                <a:ea typeface="Arial"/>
                <a:cs typeface="Arial"/>
              </a:defRPr>
            </a:lvl3pPr>
            <a:lvl4pPr algn="l">
              <a:buNone/>
              <a:defRPr sz="2550" b="1">
                <a:solidFill>
                  <a:srgbClr val="6D5DD3"/>
                </a:solidFill>
                <a:latin typeface="Arial"/>
                <a:ea typeface="Arial"/>
                <a:cs typeface="Arial"/>
              </a:defRPr>
            </a:lvl4pPr>
            <a:lvl5pPr algn="l">
              <a:buNone/>
              <a:defRPr sz="2550" b="1">
                <a:solidFill>
                  <a:srgbClr val="6D5DD3"/>
                </a:solidFill>
                <a:latin typeface="Arial"/>
                <a:ea typeface="Arial"/>
                <a:cs typeface="Arial"/>
              </a:defRPr>
            </a:lvl5pPr>
            <a:lvl6pPr algn="l">
              <a:buNone/>
              <a:defRPr sz="2550" b="1">
                <a:solidFill>
                  <a:srgbClr val="6D5DD3"/>
                </a:solidFill>
                <a:latin typeface="Arial"/>
                <a:ea typeface="Arial"/>
                <a:cs typeface="Arial"/>
              </a:defRPr>
            </a:lvl6pPr>
            <a:lvl7pPr algn="l">
              <a:buNone/>
              <a:defRPr sz="2550" b="1">
                <a:solidFill>
                  <a:srgbClr val="6D5DD3"/>
                </a:solidFill>
                <a:latin typeface="Arial"/>
                <a:ea typeface="Arial"/>
                <a:cs typeface="Arial"/>
              </a:defRPr>
            </a:lvl7pPr>
            <a:lvl8pPr algn="l">
              <a:buNone/>
              <a:defRPr sz="2550" b="1">
                <a:solidFill>
                  <a:srgbClr val="6D5DD3"/>
                </a:solidFill>
                <a:latin typeface="Arial"/>
                <a:ea typeface="Arial"/>
                <a:cs typeface="Arial"/>
              </a:defRPr>
            </a:lvl8pPr>
            <a:lvl9pPr algn="l">
              <a:buNone/>
              <a:defRPr sz="2550" b="1">
                <a:solidFill>
                  <a:srgbClr val="6D5DD3"/>
                </a:solidFill>
                <a:latin typeface="Arial"/>
                <a:ea typeface="Arial"/>
                <a:cs typeface="Arial"/>
              </a:defRPr>
            </a:lvl9pPr>
          </a:lstStyle>
          <a:p xmlns:a="http://schemas.openxmlformats.org/drawingml/2006/main">
            <a:pPr algn="l">
              <a:buNone/>
              <a:defRPr sz="2550" b="1">
                <a:solidFill>
                  <a:srgbClr val="6D5DD3"/>
                </a:solidFill>
                <a:latin typeface="Arial"/>
                <a:ea typeface="Arial"/>
                <a:cs typeface="Arial"/>
              </a:defRPr>
            </a:pPr>
            <a:r>
              <a:rPr sz="2550" b="1">
                <a:solidFill>
                  <a:srgbClr val="6D5DD3"/>
                </a:solidFill>
                <a:latin typeface="Arial"/>
                <a:ea typeface="Arial"/>
                <a:cs typeface="Arial"/>
              </a:rPr>
              <a:t>0.78</a:t>
            </a:r>
          </a:p>
        </p:txBody>
      </p:sp>
      <p:sp>
        <p:nvSpPr>
          <p:cNvPr id="10" name="">
            <a:extLst xmlns:a="http://schemas.openxmlformats.org/drawingml/2006/main">
              <a:ext uri="{FF2B5EF4-FFF2-40B4-BE49-F238E27FC236}">
                <a16:creationId xmlns:a16="http://schemas.microsoft.com/office/drawing/2014/main" id="{59F9F8DE-12CA-434A-A389-3B7DA9BBEB43}"/>
              </a:ext>
            </a:extLst>
          </p:cNvPr>
          <p:cNvSpPr>
            <a:spLocks xmlns:a="http://schemas.openxmlformats.org/drawingml/2006/main" noGrp="1"/>
          </p:cNvSpPr>
          <p:nvPr/>
        </p:nvSpPr>
        <p:spPr>
          <a:xfrm xmlns:a="http://schemas.openxmlformats.org/drawingml/2006/main">
            <a:off x="268605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INTERSECTION OVER UNION</a:t>
            </a:r>
          </a:p>
        </p:txBody>
      </p:sp>
      <p:sp>
        <p:nvSpPr>
          <p:cNvPr id="11" name="">
            <a:extLst xmlns:a="http://schemas.openxmlformats.org/drawingml/2006/main">
              <a:ext uri="{FF2B5EF4-FFF2-40B4-BE49-F238E27FC236}">
                <a16:creationId xmlns:a16="http://schemas.microsoft.com/office/drawing/2014/main" id="{A49B50C9-E07F-4602-B955-76360D70E995}"/>
              </a:ext>
            </a:extLst>
          </p:cNvPr>
          <p:cNvSpPr>
            <a:spLocks xmlns:a="http://schemas.openxmlformats.org/drawingml/2006/main" noGrp="1"/>
          </p:cNvSpPr>
          <p:nvPr/>
        </p:nvSpPr>
        <p:spPr>
          <a:xfrm xmlns:a="http://schemas.openxmlformats.org/drawingml/2006/main">
            <a:off x="4743450" y="1504950"/>
            <a:ext cx="20955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31505F"/>
            </a:solidFill>
            <a:prstDash val="solid"/>
          </a:ln>
        </p:spPr>
      </p:sp>
      <p:sp>
        <p:nvSpPr>
          <p:cNvPr id="12" name="">
            <a:extLst xmlns:a="http://schemas.openxmlformats.org/drawingml/2006/main">
              <a:ext uri="{FF2B5EF4-FFF2-40B4-BE49-F238E27FC236}">
                <a16:creationId xmlns:a16="http://schemas.microsoft.com/office/drawing/2014/main" id="{4AB9943B-68CF-4C1E-9FAE-0654740A2169}"/>
              </a:ext>
            </a:extLst>
          </p:cNvPr>
          <p:cNvSpPr>
            <a:spLocks xmlns:a="http://schemas.openxmlformats.org/drawingml/2006/main" noGrp="1"/>
          </p:cNvSpPr>
          <p:nvPr/>
        </p:nvSpPr>
        <p:spPr>
          <a:xfrm xmlns:a="http://schemas.openxmlformats.org/drawingml/2006/main">
            <a:off x="4914900" y="1619250"/>
            <a:ext cx="1752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550" b="1">
                <a:solidFill>
                  <a:srgbClr val="E2AD2B"/>
                </a:solidFill>
                <a:latin typeface="Arial"/>
                <a:ea typeface="Arial"/>
                <a:cs typeface="Arial"/>
              </a:defRPr>
            </a:defPPr>
            <a:lvl1pPr algn="l">
              <a:buNone/>
              <a:defRPr sz="2550" b="1">
                <a:solidFill>
                  <a:srgbClr val="E2AD2B"/>
                </a:solidFill>
                <a:latin typeface="Arial"/>
                <a:ea typeface="Arial"/>
                <a:cs typeface="Arial"/>
              </a:defRPr>
            </a:lvl1pPr>
            <a:lvl2pPr algn="l">
              <a:buNone/>
              <a:defRPr sz="2550" b="1">
                <a:solidFill>
                  <a:srgbClr val="E2AD2B"/>
                </a:solidFill>
                <a:latin typeface="Arial"/>
                <a:ea typeface="Arial"/>
                <a:cs typeface="Arial"/>
              </a:defRPr>
            </a:lvl2pPr>
            <a:lvl3pPr algn="l">
              <a:buNone/>
              <a:defRPr sz="2550" b="1">
                <a:solidFill>
                  <a:srgbClr val="E2AD2B"/>
                </a:solidFill>
                <a:latin typeface="Arial"/>
                <a:ea typeface="Arial"/>
                <a:cs typeface="Arial"/>
              </a:defRPr>
            </a:lvl3pPr>
            <a:lvl4pPr algn="l">
              <a:buNone/>
              <a:defRPr sz="2550" b="1">
                <a:solidFill>
                  <a:srgbClr val="E2AD2B"/>
                </a:solidFill>
                <a:latin typeface="Arial"/>
                <a:ea typeface="Arial"/>
                <a:cs typeface="Arial"/>
              </a:defRPr>
            </a:lvl4pPr>
            <a:lvl5pPr algn="l">
              <a:buNone/>
              <a:defRPr sz="2550" b="1">
                <a:solidFill>
                  <a:srgbClr val="E2AD2B"/>
                </a:solidFill>
                <a:latin typeface="Arial"/>
                <a:ea typeface="Arial"/>
                <a:cs typeface="Arial"/>
              </a:defRPr>
            </a:lvl5pPr>
            <a:lvl6pPr algn="l">
              <a:buNone/>
              <a:defRPr sz="2550" b="1">
                <a:solidFill>
                  <a:srgbClr val="E2AD2B"/>
                </a:solidFill>
                <a:latin typeface="Arial"/>
                <a:ea typeface="Arial"/>
                <a:cs typeface="Arial"/>
              </a:defRPr>
            </a:lvl6pPr>
            <a:lvl7pPr algn="l">
              <a:buNone/>
              <a:defRPr sz="2550" b="1">
                <a:solidFill>
                  <a:srgbClr val="E2AD2B"/>
                </a:solidFill>
                <a:latin typeface="Arial"/>
                <a:ea typeface="Arial"/>
                <a:cs typeface="Arial"/>
              </a:defRPr>
            </a:lvl7pPr>
            <a:lvl8pPr algn="l">
              <a:buNone/>
              <a:defRPr sz="2550" b="1">
                <a:solidFill>
                  <a:srgbClr val="E2AD2B"/>
                </a:solidFill>
                <a:latin typeface="Arial"/>
                <a:ea typeface="Arial"/>
                <a:cs typeface="Arial"/>
              </a:defRPr>
            </a:lvl8pPr>
            <a:lvl9pPr algn="l">
              <a:buNone/>
              <a:defRPr sz="2550" b="1">
                <a:solidFill>
                  <a:srgbClr val="E2AD2B"/>
                </a:solidFill>
                <a:latin typeface="Arial"/>
                <a:ea typeface="Arial"/>
                <a:cs typeface="Arial"/>
              </a:defRPr>
            </a:lvl9pPr>
          </a:lstStyle>
          <a:p xmlns:a="http://schemas.openxmlformats.org/drawingml/2006/main">
            <a:pPr algn="l">
              <a:buNone/>
              <a:defRPr sz="2550" b="1">
                <a:solidFill>
                  <a:srgbClr val="E2AD2B"/>
                </a:solidFill>
                <a:latin typeface="Arial"/>
                <a:ea typeface="Arial"/>
                <a:cs typeface="Arial"/>
              </a:defRPr>
            </a:pPr>
            <a:r>
              <a:rPr sz="2550" b="1">
                <a:solidFill>
                  <a:srgbClr val="E2AD2B"/>
                </a:solidFill>
                <a:latin typeface="Arial"/>
                <a:ea typeface="Arial"/>
                <a:cs typeface="Arial"/>
              </a:rPr>
              <a:t>0.89</a:t>
            </a:r>
          </a:p>
        </p:txBody>
      </p:sp>
      <p:sp>
        <p:nvSpPr>
          <p:cNvPr id="13" name="">
            <a:extLst xmlns:a="http://schemas.openxmlformats.org/drawingml/2006/main">
              <a:ext uri="{FF2B5EF4-FFF2-40B4-BE49-F238E27FC236}">
                <a16:creationId xmlns:a16="http://schemas.microsoft.com/office/drawing/2014/main" id="{53B80D48-D7B1-45BD-AC4F-E35FFF1D7E91}"/>
              </a:ext>
            </a:extLst>
          </p:cNvPr>
          <p:cNvSpPr>
            <a:spLocks xmlns:a="http://schemas.openxmlformats.org/drawingml/2006/main" noGrp="1"/>
          </p:cNvSpPr>
          <p:nvPr/>
        </p:nvSpPr>
        <p:spPr>
          <a:xfrm xmlns:a="http://schemas.openxmlformats.org/drawingml/2006/main">
            <a:off x="4914900" y="2133600"/>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AFC4C6"/>
                </a:solidFill>
                <a:latin typeface="Arial"/>
                <a:ea typeface="Arial"/>
                <a:cs typeface="Arial"/>
              </a:defRPr>
            </a:defPPr>
            <a:lvl1pPr algn="l">
              <a:buNone/>
              <a:defRPr sz="1050" b="1">
                <a:solidFill>
                  <a:srgbClr val="AFC4C6"/>
                </a:solidFill>
                <a:latin typeface="Arial"/>
                <a:ea typeface="Arial"/>
                <a:cs typeface="Arial"/>
              </a:defRPr>
            </a:lvl1pPr>
            <a:lvl2pPr algn="l">
              <a:buNone/>
              <a:defRPr sz="1050" b="1">
                <a:solidFill>
                  <a:srgbClr val="AFC4C6"/>
                </a:solidFill>
                <a:latin typeface="Arial"/>
                <a:ea typeface="Arial"/>
                <a:cs typeface="Arial"/>
              </a:defRPr>
            </a:lvl2pPr>
            <a:lvl3pPr algn="l">
              <a:buNone/>
              <a:defRPr sz="1050" b="1">
                <a:solidFill>
                  <a:srgbClr val="AFC4C6"/>
                </a:solidFill>
                <a:latin typeface="Arial"/>
                <a:ea typeface="Arial"/>
                <a:cs typeface="Arial"/>
              </a:defRPr>
            </a:lvl3pPr>
            <a:lvl4pPr algn="l">
              <a:buNone/>
              <a:defRPr sz="1050" b="1">
                <a:solidFill>
                  <a:srgbClr val="AFC4C6"/>
                </a:solidFill>
                <a:latin typeface="Arial"/>
                <a:ea typeface="Arial"/>
                <a:cs typeface="Arial"/>
              </a:defRPr>
            </a:lvl4pPr>
            <a:lvl5pPr algn="l">
              <a:buNone/>
              <a:defRPr sz="1050" b="1">
                <a:solidFill>
                  <a:srgbClr val="AFC4C6"/>
                </a:solidFill>
                <a:latin typeface="Arial"/>
                <a:ea typeface="Arial"/>
                <a:cs typeface="Arial"/>
              </a:defRPr>
            </a:lvl5pPr>
            <a:lvl6pPr algn="l">
              <a:buNone/>
              <a:defRPr sz="1050" b="1">
                <a:solidFill>
                  <a:srgbClr val="AFC4C6"/>
                </a:solidFill>
                <a:latin typeface="Arial"/>
                <a:ea typeface="Arial"/>
                <a:cs typeface="Arial"/>
              </a:defRPr>
            </a:lvl6pPr>
            <a:lvl7pPr algn="l">
              <a:buNone/>
              <a:defRPr sz="1050" b="1">
                <a:solidFill>
                  <a:srgbClr val="AFC4C6"/>
                </a:solidFill>
                <a:latin typeface="Arial"/>
                <a:ea typeface="Arial"/>
                <a:cs typeface="Arial"/>
              </a:defRPr>
            </a:lvl7pPr>
            <a:lvl8pPr algn="l">
              <a:buNone/>
              <a:defRPr sz="1050" b="1">
                <a:solidFill>
                  <a:srgbClr val="AFC4C6"/>
                </a:solidFill>
                <a:latin typeface="Arial"/>
                <a:ea typeface="Arial"/>
                <a:cs typeface="Arial"/>
              </a:defRPr>
            </a:lvl8pPr>
            <a:lvl9pPr algn="l">
              <a:buNone/>
              <a:defRPr sz="1050" b="1">
                <a:solidFill>
                  <a:srgbClr val="AFC4C6"/>
                </a:solidFill>
                <a:latin typeface="Arial"/>
                <a:ea typeface="Arial"/>
                <a:cs typeface="Arial"/>
              </a:defRPr>
            </a:lvl9pPr>
          </a:lstStyle>
          <a:p xmlns:a="http://schemas.openxmlformats.org/drawingml/2006/main">
            <a:pPr algn="l">
              <a:buNone/>
              <a:defRPr sz="1050" b="1">
                <a:solidFill>
                  <a:srgbClr val="AFC4C6"/>
                </a:solidFill>
                <a:latin typeface="Arial"/>
                <a:ea typeface="Arial"/>
                <a:cs typeface="Arial"/>
              </a:defRPr>
            </a:pPr>
            <a:r>
              <a:rPr sz="1050" b="1">
                <a:solidFill>
                  <a:srgbClr val="AFC4C6"/>
                </a:solidFill>
                <a:latin typeface="Arial"/>
                <a:ea typeface="Arial"/>
                <a:cs typeface="Arial"/>
              </a:rPr>
              <a:t>BALANCED ACCURACY</a:t>
            </a:r>
          </a:p>
        </p:txBody>
      </p:sp>
      <p:sp>
        <p:nvSpPr>
          <p:cNvPr id="14" name="">
            <a:extLst xmlns:a="http://schemas.openxmlformats.org/drawingml/2006/main">
              <a:ext uri="{FF2B5EF4-FFF2-40B4-BE49-F238E27FC236}">
                <a16:creationId xmlns:a16="http://schemas.microsoft.com/office/drawing/2014/main" id="{0B83DA08-512A-40B2-B90E-AE7E993C8AB4}"/>
              </a:ext>
            </a:extLst>
          </p:cNvPr>
          <p:cNvSpPr>
            <a:spLocks xmlns:a="http://schemas.openxmlformats.org/drawingml/2006/main" noGrp="1"/>
          </p:cNvSpPr>
          <p:nvPr/>
        </p:nvSpPr>
        <p:spPr>
          <a:xfrm xmlns:a="http://schemas.openxmlformats.org/drawingml/2006/main">
            <a:off x="7029450" y="1504950"/>
            <a:ext cx="4572000" cy="1066800"/>
          </a:xfrm>
          <a:prstGeom xmlns:a="http://schemas.openxmlformats.org/drawingml/2006/main" prst="roundRect">
            <a:avLst>
              <a:gd name="adj" fmla="val 10714"/>
            </a:avLst>
          </a:prstGeom>
          <a:solidFill xmlns:a="http://schemas.openxmlformats.org/drawingml/2006/main">
            <a:srgbClr val="113646"/>
          </a:solidFill>
          <a:ln xmlns:a="http://schemas.openxmlformats.org/drawingml/2006/main" w="9525">
            <a:solidFill>
              <a:srgbClr val="F06449"/>
            </a:solidFill>
            <a:prstDash val="solid"/>
          </a:ln>
        </p:spPr>
      </p:sp>
      <p:sp>
        <p:nvSpPr>
          <p:cNvPr id="15" name="">
            <a:extLst xmlns:a="http://schemas.openxmlformats.org/drawingml/2006/main">
              <a:ext uri="{FF2B5EF4-FFF2-40B4-BE49-F238E27FC236}">
                <a16:creationId xmlns:a16="http://schemas.microsoft.com/office/drawing/2014/main" id="{444C96CC-5763-4DBB-9FF2-333CA5041BA9}"/>
              </a:ext>
            </a:extLst>
          </p:cNvPr>
          <p:cNvSpPr>
            <a:spLocks xmlns:a="http://schemas.openxmlformats.org/drawingml/2006/main" noGrp="1"/>
          </p:cNvSpPr>
          <p:nvPr/>
        </p:nvSpPr>
        <p:spPr>
          <a:xfrm xmlns:a="http://schemas.openxmlformats.org/drawingml/2006/main">
            <a:off x="7239000" y="1685925"/>
            <a:ext cx="41529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425" b="1">
                <a:solidFill>
                  <a:srgbClr val="F3F6F2"/>
                </a:solidFill>
                <a:latin typeface="Arial"/>
                <a:ea typeface="Arial"/>
                <a:cs typeface="Arial"/>
              </a:defRPr>
            </a:defPPr>
            <a:lvl1pPr algn="l">
              <a:buNone/>
              <a:defRPr sz="1425" b="1">
                <a:solidFill>
                  <a:srgbClr val="F3F6F2"/>
                </a:solidFill>
                <a:latin typeface="Arial"/>
                <a:ea typeface="Arial"/>
                <a:cs typeface="Arial"/>
              </a:defRPr>
            </a:lvl1pPr>
            <a:lvl2pPr algn="l">
              <a:buNone/>
              <a:defRPr sz="1425" b="1">
                <a:solidFill>
                  <a:srgbClr val="F3F6F2"/>
                </a:solidFill>
                <a:latin typeface="Arial"/>
                <a:ea typeface="Arial"/>
                <a:cs typeface="Arial"/>
              </a:defRPr>
            </a:lvl2pPr>
            <a:lvl3pPr algn="l">
              <a:buNone/>
              <a:defRPr sz="1425" b="1">
                <a:solidFill>
                  <a:srgbClr val="F3F6F2"/>
                </a:solidFill>
                <a:latin typeface="Arial"/>
                <a:ea typeface="Arial"/>
                <a:cs typeface="Arial"/>
              </a:defRPr>
            </a:lvl3pPr>
            <a:lvl4pPr algn="l">
              <a:buNone/>
              <a:defRPr sz="1425" b="1">
                <a:solidFill>
                  <a:srgbClr val="F3F6F2"/>
                </a:solidFill>
                <a:latin typeface="Arial"/>
                <a:ea typeface="Arial"/>
                <a:cs typeface="Arial"/>
              </a:defRPr>
            </a:lvl4pPr>
            <a:lvl5pPr algn="l">
              <a:buNone/>
              <a:defRPr sz="1425" b="1">
                <a:solidFill>
                  <a:srgbClr val="F3F6F2"/>
                </a:solidFill>
                <a:latin typeface="Arial"/>
                <a:ea typeface="Arial"/>
                <a:cs typeface="Arial"/>
              </a:defRPr>
            </a:lvl5pPr>
            <a:lvl6pPr algn="l">
              <a:buNone/>
              <a:defRPr sz="1425" b="1">
                <a:solidFill>
                  <a:srgbClr val="F3F6F2"/>
                </a:solidFill>
                <a:latin typeface="Arial"/>
                <a:ea typeface="Arial"/>
                <a:cs typeface="Arial"/>
              </a:defRPr>
            </a:lvl6pPr>
            <a:lvl7pPr algn="l">
              <a:buNone/>
              <a:defRPr sz="1425" b="1">
                <a:solidFill>
                  <a:srgbClr val="F3F6F2"/>
                </a:solidFill>
                <a:latin typeface="Arial"/>
                <a:ea typeface="Arial"/>
                <a:cs typeface="Arial"/>
              </a:defRPr>
            </a:lvl7pPr>
            <a:lvl8pPr algn="l">
              <a:buNone/>
              <a:defRPr sz="1425" b="1">
                <a:solidFill>
                  <a:srgbClr val="F3F6F2"/>
                </a:solidFill>
                <a:latin typeface="Arial"/>
                <a:ea typeface="Arial"/>
                <a:cs typeface="Arial"/>
              </a:defRPr>
            </a:lvl8pPr>
            <a:lvl9pPr algn="l">
              <a:buNone/>
              <a:defRPr sz="1425" b="1">
                <a:solidFill>
                  <a:srgbClr val="F3F6F2"/>
                </a:solidFill>
                <a:latin typeface="Arial"/>
                <a:ea typeface="Arial"/>
                <a:cs typeface="Arial"/>
              </a:defRPr>
            </a:lvl9pPr>
          </a:lstStyle>
          <a:p xmlns:a="http://schemas.openxmlformats.org/drawingml/2006/main">
            <a:pPr algn="l">
              <a:buNone/>
              <a:defRPr sz="1425" b="1">
                <a:solidFill>
                  <a:srgbClr val="F3F6F2"/>
                </a:solidFill>
                <a:latin typeface="Arial"/>
                <a:ea typeface="Arial"/>
                <a:cs typeface="Arial"/>
              </a:defRPr>
            </a:pPr>
            <a:r>
              <a:rPr sz="1425" b="1">
                <a:solidFill>
                  <a:srgbClr val="F3F6F2"/>
                </a:solidFill>
                <a:latin typeface="Arial"/>
                <a:ea typeface="Arial"/>
                <a:cs typeface="Arial"/>
              </a:rPr>
              <a:t>These numbers show agreement with a separate WorldCover reference. Field checks are still needed.</a:t>
            </a:r>
          </a:p>
        </p:txBody>
      </p:sp>
      <p:pic>
        <p:nvPicPr>
          <p:cNvPr id="16" name="">
            <a:extLst xmlns:a="http://schemas.openxmlformats.org/drawingml/2006/main">
              <a:ext uri="{FF2B5EF4-FFF2-40B4-BE49-F238E27FC236}">
                <a16:creationId xmlns:a16="http://schemas.microsoft.com/office/drawing/2014/main" id="{21F4B286-95EA-4E70-A0E7-C7EEF4C1569E}"/>
              </a:ext>
            </a:extLst>
          </p:cNvPr>
          <p:cNvPicPr>
            <a:picLocks xmlns:a="http://schemas.openxmlformats.org/drawingml/2006/main" noChangeAspect="1"/>
          </p:cNvPicPr>
          <p:nvPr/>
        </p:nvPicPr>
        <p:blipFill>
          <a:blip xmlns:r="http://schemas.openxmlformats.org/officeDocument/2006/relationships" xmlns:a="http://schemas.openxmlformats.org/drawingml/2006/main" r:embed="R4c47dc9f26d94104"/>
          <a:stretch xmlns:a="http://schemas.openxmlformats.org/drawingml/2006/main"/>
        </p:blipFill>
        <p:spPr>
          <a:xfrm xmlns:a="http://schemas.openxmlformats.org/drawingml/2006/main">
            <a:off x="590550" y="2913104"/>
            <a:ext cx="7010400" cy="2974893"/>
          </a:xfrm>
          <a:prstGeom xmlns:a="http://schemas.openxmlformats.org/drawingml/2006/main" prst="roundRect">
            <a:avLst>
              <a:gd name="adj" fmla="val 2941"/>
            </a:avLst>
          </a:prstGeom>
        </p:spPr>
      </p:pic>
      <p:sp>
        <p:nvSpPr>
          <p:cNvPr id="17" name="">
            <a:extLst xmlns:a="http://schemas.openxmlformats.org/drawingml/2006/main">
              <a:ext uri="{FF2B5EF4-FFF2-40B4-BE49-F238E27FC236}">
                <a16:creationId xmlns:a16="http://schemas.microsoft.com/office/drawing/2014/main" id="{C19008B4-0D2E-4E2F-A24B-7832ADF64361}"/>
              </a:ext>
            </a:extLst>
          </p:cNvPr>
          <p:cNvSpPr>
            <a:spLocks xmlns:a="http://schemas.openxmlformats.org/drawingml/2006/main" noGrp="1"/>
          </p:cNvSpPr>
          <p:nvPr/>
        </p:nvSpPr>
        <p:spPr>
          <a:xfrm xmlns:a="http://schemas.openxmlformats.org/drawingml/2006/main">
            <a:off x="7886700" y="2781300"/>
            <a:ext cx="3714750" cy="3238500"/>
          </a:xfrm>
          <a:prstGeom xmlns:a="http://schemas.openxmlformats.org/drawingml/2006/main" prst="roundRect">
            <a:avLst>
              <a:gd name="adj" fmla="val 4118"/>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7A6464F1-9E30-4810-A532-E603B48000FE}"/>
              </a:ext>
            </a:extLst>
          </p:cNvPr>
          <p:cNvSpPr>
            <a:spLocks xmlns:a="http://schemas.openxmlformats.org/drawingml/2006/main" noGrp="1"/>
          </p:cNvSpPr>
          <p:nvPr/>
        </p:nvSpPr>
        <p:spPr>
          <a:xfrm xmlns:a="http://schemas.openxmlformats.org/drawingml/2006/main">
            <a:off x="8115300" y="30099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MAIN LIMITATIONS</a:t>
            </a:r>
          </a:p>
        </p:txBody>
      </p:sp>
      <p:sp>
        <p:nvSpPr>
          <p:cNvPr id="19" name="">
            <a:extLst xmlns:a="http://schemas.openxmlformats.org/drawingml/2006/main">
              <a:ext uri="{FF2B5EF4-FFF2-40B4-BE49-F238E27FC236}">
                <a16:creationId xmlns:a16="http://schemas.microsoft.com/office/drawing/2014/main" id="{C8B5ECFC-B7AF-4262-AB5F-44AE3C1425EE}"/>
              </a:ext>
            </a:extLst>
          </p:cNvPr>
          <p:cNvSpPr>
            <a:spLocks xmlns:a="http://schemas.openxmlformats.org/drawingml/2006/main" noGrp="1"/>
          </p:cNvSpPr>
          <p:nvPr/>
        </p:nvSpPr>
        <p:spPr>
          <a:xfrm xmlns:a="http://schemas.openxmlformats.org/drawingml/2006/main">
            <a:off x="8115300" y="3390900"/>
            <a:ext cx="31432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Land surface temperature cannot measure air temperature or personal heat exposure.</a:t>
            </a:r>
          </a:p>
        </p:txBody>
      </p:sp>
      <p:sp>
        <p:nvSpPr>
          <p:cNvPr id="20" name="">
            <a:extLst xmlns:a="http://schemas.openxmlformats.org/drawingml/2006/main">
              <a:ext uri="{FF2B5EF4-FFF2-40B4-BE49-F238E27FC236}">
                <a16:creationId xmlns:a16="http://schemas.microsoft.com/office/drawing/2014/main" id="{8FD63614-56F9-44B1-96BD-2B2F24955220}"/>
              </a:ext>
            </a:extLst>
          </p:cNvPr>
          <p:cNvSpPr>
            <a:spLocks xmlns:a="http://schemas.openxmlformats.org/drawingml/2006/main" noGrp="1"/>
          </p:cNvSpPr>
          <p:nvPr/>
        </p:nvSpPr>
        <p:spPr>
          <a:xfrm xmlns:a="http://schemas.openxmlformats.org/drawingml/2006/main">
            <a:off x="8115300" y="4095750"/>
            <a:ext cx="314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WorldPop estimates population from a model. It does not provide a live census or worker count.</a:t>
            </a:r>
          </a:p>
        </p:txBody>
      </p:sp>
      <p:sp>
        <p:nvSpPr>
          <p:cNvPr id="21" name="">
            <a:extLst xmlns:a="http://schemas.openxmlformats.org/drawingml/2006/main">
              <a:ext uri="{FF2B5EF4-FFF2-40B4-BE49-F238E27FC236}">
                <a16:creationId xmlns:a16="http://schemas.microsoft.com/office/drawing/2014/main" id="{ED9A73F8-7833-4A27-8A9C-4C0DF81DA88F}"/>
              </a:ext>
            </a:extLst>
          </p:cNvPr>
          <p:cNvSpPr>
            <a:spLocks xmlns:a="http://schemas.openxmlformats.org/drawingml/2006/main" noGrp="1"/>
          </p:cNvSpPr>
          <p:nvPr/>
        </p:nvSpPr>
        <p:spPr>
          <a:xfrm xmlns:a="http://schemas.openxmlformats.org/drawingml/2006/main">
            <a:off x="8115300" y="4705350"/>
            <a:ext cx="3143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Bright desert and roofs can still confuse classification.</a:t>
            </a:r>
          </a:p>
        </p:txBody>
      </p:sp>
      <p:sp>
        <p:nvSpPr>
          <p:cNvPr id="22" name="">
            <a:extLst xmlns:a="http://schemas.openxmlformats.org/drawingml/2006/main">
              <a:ext uri="{FF2B5EF4-FFF2-40B4-BE49-F238E27FC236}">
                <a16:creationId xmlns:a16="http://schemas.microsoft.com/office/drawing/2014/main" id="{EBEE2286-D620-4B39-AEB1-EEA129CA86A6}"/>
              </a:ext>
            </a:extLst>
          </p:cNvPr>
          <p:cNvSpPr>
            <a:spLocks xmlns:a="http://schemas.openxmlformats.org/drawingml/2006/main" noGrp="1"/>
          </p:cNvSpPr>
          <p:nvPr/>
        </p:nvSpPr>
        <p:spPr>
          <a:xfrm xmlns:a="http://schemas.openxmlformats.org/drawingml/2006/main">
            <a:off x="8115300" y="527685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Score weights are PoC assumptions that a real user must review.</a:t>
            </a:r>
          </a:p>
        </p:txBody>
      </p:sp>
    </p:spTree>
    <p:extLst>
      <p:ext uri="{BB962C8B-B14F-4D97-AF65-F5344CB8AC3E}">
        <p14:creationId xmlns:p14="http://schemas.microsoft.com/office/powerpoint/2010/main" val="1872096399"/>
      </p:ext>
    </p:extLst>
  </p:cSld>
</p:sld>
</file>

<file path=ppt/slides/slide7.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25E346C-C18D-4959-A6BD-1951D12E4BB6}"/>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APPROACH</a:t>
            </a:r>
          </a:p>
        </p:txBody>
      </p:sp>
      <p:sp>
        <p:nvSpPr>
          <p:cNvPr id="2" name="">
            <a:extLst xmlns:a="http://schemas.openxmlformats.org/drawingml/2006/main">
              <a:ext uri="{FF2B5EF4-FFF2-40B4-BE49-F238E27FC236}">
                <a16:creationId xmlns:a16="http://schemas.microsoft.com/office/drawing/2014/main" id="{876A8148-098C-453E-AFD7-E17A3167F3F8}"/>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Evidence from several satellite sources</a:t>
            </a:r>
          </a:p>
        </p:txBody>
      </p:sp>
      <p:sp>
        <p:nvSpPr>
          <p:cNvPr id="3" name="">
            <a:extLst xmlns:a="http://schemas.openxmlformats.org/drawingml/2006/main">
              <a:ext uri="{FF2B5EF4-FFF2-40B4-BE49-F238E27FC236}">
                <a16:creationId xmlns:a16="http://schemas.microsoft.com/office/drawing/2014/main" id="{6CAA8451-5932-4FF3-9305-E31FEA3DC2C8}"/>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BAF69700-7D37-4271-9DEE-4F80EC65AFE1}"/>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5" name="">
            <a:extLst xmlns:a="http://schemas.openxmlformats.org/drawingml/2006/main">
              <a:ext uri="{FF2B5EF4-FFF2-40B4-BE49-F238E27FC236}">
                <a16:creationId xmlns:a16="http://schemas.microsoft.com/office/drawing/2014/main" id="{50D8AFB2-01EF-42A9-BA65-2FEFCB54504B}"/>
              </a:ext>
            </a:extLst>
          </p:cNvPr>
          <p:cNvPicPr>
            <a:picLocks xmlns:a="http://schemas.openxmlformats.org/drawingml/2006/main" noChangeAspect="1"/>
          </p:cNvPicPr>
          <p:nvPr/>
        </p:nvPicPr>
        <p:blipFill>
          <a:blip xmlns:r="http://schemas.openxmlformats.org/officeDocument/2006/relationships" xmlns:a="http://schemas.openxmlformats.org/drawingml/2006/main" r:embed="Ra150f599005942cc"/>
          <a:stretch xmlns:a="http://schemas.openxmlformats.org/drawingml/2006/main"/>
        </p:blipFill>
        <p:spPr>
          <a:xfrm xmlns:a="http://schemas.openxmlformats.org/drawingml/2006/main">
            <a:off x="590550" y="1964391"/>
            <a:ext cx="6477000" cy="2576793"/>
          </a:xfrm>
          <a:prstGeom xmlns:a="http://schemas.openxmlformats.org/drawingml/2006/main" prst="roundRect">
            <a:avLst>
              <a:gd name="adj" fmla="val 2817"/>
            </a:avLst>
          </a:prstGeom>
        </p:spPr>
      </p:pic>
      <p:sp>
        <p:nvSpPr>
          <p:cNvPr id="6" name="">
            <a:extLst xmlns:a="http://schemas.openxmlformats.org/drawingml/2006/main">
              <a:ext uri="{FF2B5EF4-FFF2-40B4-BE49-F238E27FC236}">
                <a16:creationId xmlns:a16="http://schemas.microsoft.com/office/drawing/2014/main" id="{0985D703-304F-4E34-83EC-F3BDB0A0099C}"/>
              </a:ext>
            </a:extLst>
          </p:cNvPr>
          <p:cNvSpPr>
            <a:spLocks xmlns:a="http://schemas.openxmlformats.org/drawingml/2006/main" noGrp="1"/>
          </p:cNvSpPr>
          <p:nvPr/>
        </p:nvSpPr>
        <p:spPr>
          <a:xfrm xmlns:a="http://schemas.openxmlformats.org/drawingml/2006/main">
            <a:off x="7334250" y="1562100"/>
            <a:ext cx="4267200" cy="3381375"/>
          </a:xfrm>
          <a:prstGeom xmlns:a="http://schemas.openxmlformats.org/drawingml/2006/main" prst="roundRect">
            <a:avLst>
              <a:gd name="adj" fmla="val 3944"/>
            </a:avLst>
          </a:prstGeom>
          <a:solidFill xmlns:a="http://schemas.openxmlformats.org/drawingml/2006/main">
            <a:srgbClr val="113646"/>
          </a:solidFill>
          <a:ln xmlns:a="http://schemas.openxmlformats.org/drawingml/2006/main" w="9525">
            <a:solidFill>
              <a:srgbClr val="31505F"/>
            </a:solidFill>
            <a:prstDash val="solid"/>
          </a:ln>
        </p:spPr>
      </p:sp>
      <p:sp>
        <p:nvSpPr>
          <p:cNvPr id="7" name="">
            <a:extLst xmlns:a="http://schemas.openxmlformats.org/drawingml/2006/main">
              <a:ext uri="{FF2B5EF4-FFF2-40B4-BE49-F238E27FC236}">
                <a16:creationId xmlns:a16="http://schemas.microsoft.com/office/drawing/2014/main" id="{44E85302-0634-48E8-A197-25DB3474DE09}"/>
              </a:ext>
            </a:extLst>
          </p:cNvPr>
          <p:cNvSpPr>
            <a:spLocks xmlns:a="http://schemas.openxmlformats.org/drawingml/2006/main" noGrp="1"/>
          </p:cNvSpPr>
          <p:nvPr/>
        </p:nvSpPr>
        <p:spPr>
          <a:xfrm xmlns:a="http://schemas.openxmlformats.org/drawingml/2006/main">
            <a:off x="7581900" y="18097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METHOD</a:t>
            </a:r>
          </a:p>
        </p:txBody>
      </p:sp>
      <p:sp>
        <p:nvSpPr>
          <p:cNvPr id="8" name="">
            <a:extLst xmlns:a="http://schemas.openxmlformats.org/drawingml/2006/main">
              <a:ext uri="{FF2B5EF4-FFF2-40B4-BE49-F238E27FC236}">
                <a16:creationId xmlns:a16="http://schemas.microsoft.com/office/drawing/2014/main" id="{1172D332-45FA-429F-AE39-CFF9896DD6FC}"/>
              </a:ext>
            </a:extLst>
          </p:cNvPr>
          <p:cNvSpPr>
            <a:spLocks xmlns:a="http://schemas.openxmlformats.org/drawingml/2006/main" noGrp="1"/>
          </p:cNvSpPr>
          <p:nvPr/>
        </p:nvSpPr>
        <p:spPr>
          <a:xfrm xmlns:a="http://schemas.openxmlformats.org/drawingml/2006/main">
            <a:off x="7581900" y="22098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Annual land cover maps flag possible growth.</a:t>
            </a:r>
          </a:p>
        </p:txBody>
      </p:sp>
      <p:sp>
        <p:nvSpPr>
          <p:cNvPr id="9" name="">
            <a:extLst xmlns:a="http://schemas.openxmlformats.org/drawingml/2006/main">
              <a:ext uri="{FF2B5EF4-FFF2-40B4-BE49-F238E27FC236}">
                <a16:creationId xmlns:a16="http://schemas.microsoft.com/office/drawing/2014/main" id="{7E7C1150-BDF7-485D-8320-AA848E5187E7}"/>
              </a:ext>
            </a:extLst>
          </p:cNvPr>
          <p:cNvSpPr>
            <a:spLocks xmlns:a="http://schemas.openxmlformats.org/drawingml/2006/main" noGrp="1"/>
          </p:cNvSpPr>
          <p:nvPr/>
        </p:nvSpPr>
        <p:spPr>
          <a:xfrm xmlns:a="http://schemas.openxmlformats.org/drawingml/2006/main">
            <a:off x="7581900" y="2876550"/>
            <a:ext cx="3619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Optical and radar images check whether the area still looks built-up.</a:t>
            </a:r>
          </a:p>
        </p:txBody>
      </p:sp>
      <p:sp>
        <p:nvSpPr>
          <p:cNvPr id="10" name="">
            <a:extLst xmlns:a="http://schemas.openxmlformats.org/drawingml/2006/main">
              <a:ext uri="{FF2B5EF4-FFF2-40B4-BE49-F238E27FC236}">
                <a16:creationId xmlns:a16="http://schemas.microsoft.com/office/drawing/2014/main" id="{803F1CAF-D99B-4945-8D55-C1BC318202DB}"/>
              </a:ext>
            </a:extLst>
          </p:cNvPr>
          <p:cNvSpPr>
            <a:spLocks xmlns:a="http://schemas.openxmlformats.org/drawingml/2006/main" noGrp="1"/>
          </p:cNvSpPr>
          <p:nvPr/>
        </p:nvSpPr>
        <p:spPr>
          <a:xfrm xmlns:a="http://schemas.openxmlformats.org/drawingml/2006/main">
            <a:off x="7581900" y="3657600"/>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a:solidFill>
                  <a:srgbClr val="F3F6F2"/>
                </a:solidFill>
                <a:latin typeface="Arial"/>
                <a:ea typeface="Arial"/>
                <a:cs typeface="Arial"/>
              </a:defRPr>
            </a:defPPr>
            <a:lvl1pPr algn="l">
              <a:buNone/>
              <a:defRPr sz="1350">
                <a:solidFill>
                  <a:srgbClr val="F3F6F2"/>
                </a:solidFill>
                <a:latin typeface="Arial"/>
                <a:ea typeface="Arial"/>
                <a:cs typeface="Arial"/>
              </a:defRPr>
            </a:lvl1pPr>
            <a:lvl2pPr algn="l">
              <a:buNone/>
              <a:defRPr sz="1350">
                <a:solidFill>
                  <a:srgbClr val="F3F6F2"/>
                </a:solidFill>
                <a:latin typeface="Arial"/>
                <a:ea typeface="Arial"/>
                <a:cs typeface="Arial"/>
              </a:defRPr>
            </a:lvl2pPr>
            <a:lvl3pPr algn="l">
              <a:buNone/>
              <a:defRPr sz="1350">
                <a:solidFill>
                  <a:srgbClr val="F3F6F2"/>
                </a:solidFill>
                <a:latin typeface="Arial"/>
                <a:ea typeface="Arial"/>
                <a:cs typeface="Arial"/>
              </a:defRPr>
            </a:lvl3pPr>
            <a:lvl4pPr algn="l">
              <a:buNone/>
              <a:defRPr sz="1350">
                <a:solidFill>
                  <a:srgbClr val="F3F6F2"/>
                </a:solidFill>
                <a:latin typeface="Arial"/>
                <a:ea typeface="Arial"/>
                <a:cs typeface="Arial"/>
              </a:defRPr>
            </a:lvl4pPr>
            <a:lvl5pPr algn="l">
              <a:buNone/>
              <a:defRPr sz="1350">
                <a:solidFill>
                  <a:srgbClr val="F3F6F2"/>
                </a:solidFill>
                <a:latin typeface="Arial"/>
                <a:ea typeface="Arial"/>
                <a:cs typeface="Arial"/>
              </a:defRPr>
            </a:lvl5pPr>
            <a:lvl6pPr algn="l">
              <a:buNone/>
              <a:defRPr sz="1350">
                <a:solidFill>
                  <a:srgbClr val="F3F6F2"/>
                </a:solidFill>
                <a:latin typeface="Arial"/>
                <a:ea typeface="Arial"/>
                <a:cs typeface="Arial"/>
              </a:defRPr>
            </a:lvl6pPr>
            <a:lvl7pPr algn="l">
              <a:buNone/>
              <a:defRPr sz="1350">
                <a:solidFill>
                  <a:srgbClr val="F3F6F2"/>
                </a:solidFill>
                <a:latin typeface="Arial"/>
                <a:ea typeface="Arial"/>
                <a:cs typeface="Arial"/>
              </a:defRPr>
            </a:lvl7pPr>
            <a:lvl8pPr algn="l">
              <a:buNone/>
              <a:defRPr sz="1350">
                <a:solidFill>
                  <a:srgbClr val="F3F6F2"/>
                </a:solidFill>
                <a:latin typeface="Arial"/>
                <a:ea typeface="Arial"/>
                <a:cs typeface="Arial"/>
              </a:defRPr>
            </a:lvl8pPr>
            <a:lvl9pPr algn="l">
              <a:buNone/>
              <a:defRPr sz="1350">
                <a:solidFill>
                  <a:srgbClr val="F3F6F2"/>
                </a:solidFill>
                <a:latin typeface="Arial"/>
                <a:ea typeface="Arial"/>
                <a:cs typeface="Arial"/>
              </a:defRPr>
            </a:lvl9pPr>
          </a:lstStyle>
          <a:p xmlns:a="http://schemas.openxmlformats.org/drawingml/2006/main">
            <a:pPr marL="228600" indent="-114300" algn="l">
              <a:spcAft>
                <a:spcPts val="0"/>
              </a:spcAft>
              <a:buChar char="•"/>
              <a:defRPr sz="1350">
                <a:solidFill>
                  <a:srgbClr val="F3F6F2"/>
                </a:solidFill>
                <a:latin typeface="Arial"/>
                <a:ea typeface="Arial"/>
                <a:cs typeface="Arial"/>
              </a:defRPr>
            </a:pPr>
            <a:r>
              <a:rPr sz="1350">
                <a:solidFill>
                  <a:srgbClr val="F3F6F2"/>
                </a:solidFill>
                <a:latin typeface="Arial"/>
                <a:ea typeface="Arial"/>
                <a:cs typeface="Arial"/>
              </a:rPr>
              <a:t>The output shows every part of the score and includes the GIS evidence.</a:t>
            </a:r>
          </a:p>
        </p:txBody>
      </p:sp>
      <p:sp>
        <p:nvSpPr>
          <p:cNvPr id="11" name="">
            <a:extLst xmlns:a="http://schemas.openxmlformats.org/drawingml/2006/main">
              <a:ext uri="{FF2B5EF4-FFF2-40B4-BE49-F238E27FC236}">
                <a16:creationId xmlns:a16="http://schemas.microsoft.com/office/drawing/2014/main" id="{470B620B-17D4-4A70-A14F-272C959B2692}"/>
              </a:ext>
            </a:extLst>
          </p:cNvPr>
          <p:cNvSpPr>
            <a:spLocks xmlns:a="http://schemas.openxmlformats.org/drawingml/2006/main" noGrp="1"/>
          </p:cNvSpPr>
          <p:nvPr/>
        </p:nvSpPr>
        <p:spPr>
          <a:xfrm xmlns:a="http://schemas.openxmlformats.org/drawingml/2006/main">
            <a:off x="7581900" y="443865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E2AD2B"/>
                </a:solidFill>
                <a:latin typeface="Arial"/>
                <a:ea typeface="Arial"/>
                <a:cs typeface="Arial"/>
              </a:defRPr>
            </a:defPPr>
            <a:lvl1pPr algn="l">
              <a:buNone/>
              <a:defRPr sz="1050" b="1">
                <a:solidFill>
                  <a:srgbClr val="E2AD2B"/>
                </a:solidFill>
                <a:latin typeface="Arial"/>
                <a:ea typeface="Arial"/>
                <a:cs typeface="Arial"/>
              </a:defRPr>
            </a:lvl1pPr>
            <a:lvl2pPr algn="l">
              <a:buNone/>
              <a:defRPr sz="1050" b="1">
                <a:solidFill>
                  <a:srgbClr val="E2AD2B"/>
                </a:solidFill>
                <a:latin typeface="Arial"/>
                <a:ea typeface="Arial"/>
                <a:cs typeface="Arial"/>
              </a:defRPr>
            </a:lvl2pPr>
            <a:lvl3pPr algn="l">
              <a:buNone/>
              <a:defRPr sz="1050" b="1">
                <a:solidFill>
                  <a:srgbClr val="E2AD2B"/>
                </a:solidFill>
                <a:latin typeface="Arial"/>
                <a:ea typeface="Arial"/>
                <a:cs typeface="Arial"/>
              </a:defRPr>
            </a:lvl3pPr>
            <a:lvl4pPr algn="l">
              <a:buNone/>
              <a:defRPr sz="1050" b="1">
                <a:solidFill>
                  <a:srgbClr val="E2AD2B"/>
                </a:solidFill>
                <a:latin typeface="Arial"/>
                <a:ea typeface="Arial"/>
                <a:cs typeface="Arial"/>
              </a:defRPr>
            </a:lvl4pPr>
            <a:lvl5pPr algn="l">
              <a:buNone/>
              <a:defRPr sz="1050" b="1">
                <a:solidFill>
                  <a:srgbClr val="E2AD2B"/>
                </a:solidFill>
                <a:latin typeface="Arial"/>
                <a:ea typeface="Arial"/>
                <a:cs typeface="Arial"/>
              </a:defRPr>
            </a:lvl5pPr>
            <a:lvl6pPr algn="l">
              <a:buNone/>
              <a:defRPr sz="1050" b="1">
                <a:solidFill>
                  <a:srgbClr val="E2AD2B"/>
                </a:solidFill>
                <a:latin typeface="Arial"/>
                <a:ea typeface="Arial"/>
                <a:cs typeface="Arial"/>
              </a:defRPr>
            </a:lvl6pPr>
            <a:lvl7pPr algn="l">
              <a:buNone/>
              <a:defRPr sz="1050" b="1">
                <a:solidFill>
                  <a:srgbClr val="E2AD2B"/>
                </a:solidFill>
                <a:latin typeface="Arial"/>
                <a:ea typeface="Arial"/>
                <a:cs typeface="Arial"/>
              </a:defRPr>
            </a:lvl7pPr>
            <a:lvl8pPr algn="l">
              <a:buNone/>
              <a:defRPr sz="1050" b="1">
                <a:solidFill>
                  <a:srgbClr val="E2AD2B"/>
                </a:solidFill>
                <a:latin typeface="Arial"/>
                <a:ea typeface="Arial"/>
                <a:cs typeface="Arial"/>
              </a:defRPr>
            </a:lvl8pPr>
            <a:lvl9pPr algn="l">
              <a:buNone/>
              <a:defRPr sz="1050" b="1">
                <a:solidFill>
                  <a:srgbClr val="E2AD2B"/>
                </a:solidFill>
                <a:latin typeface="Arial"/>
                <a:ea typeface="Arial"/>
                <a:cs typeface="Arial"/>
              </a:defRPr>
            </a:lvl9pPr>
          </a:lstStyle>
          <a:p xmlns:a="http://schemas.openxmlformats.org/drawingml/2006/main">
            <a:pPr algn="l">
              <a:buNone/>
              <a:defRPr sz="1050" b="1">
                <a:solidFill>
                  <a:srgbClr val="E2AD2B"/>
                </a:solidFill>
                <a:latin typeface="Arial"/>
                <a:ea typeface="Arial"/>
                <a:cs typeface="Arial"/>
              </a:defRPr>
            </a:pPr>
            <a:r>
              <a:rPr sz="1050" b="1">
                <a:solidFill>
                  <a:srgbClr val="E2AD2B"/>
                </a:solidFill>
                <a:latin typeface="Arial"/>
                <a:ea typeface="Arial"/>
                <a:cs typeface="Arial"/>
              </a:rPr>
              <a:t>One Tanager scene adds spectral context for a single date. It cannot prove change or identify materials.</a:t>
            </a:r>
          </a:p>
        </p:txBody>
      </p:sp>
      <p:sp>
        <p:nvSpPr>
          <p:cNvPr id="12" name="">
            <a:extLst xmlns:a="http://schemas.openxmlformats.org/drawingml/2006/main">
              <a:ext uri="{FF2B5EF4-FFF2-40B4-BE49-F238E27FC236}">
                <a16:creationId xmlns:a16="http://schemas.microsoft.com/office/drawing/2014/main" id="{94E4BE49-15CD-401A-BD42-AF6AF2C87003}"/>
              </a:ext>
            </a:extLst>
          </p:cNvPr>
          <p:cNvSpPr>
            <a:spLocks xmlns:a="http://schemas.openxmlformats.org/drawingml/2006/main" noGrp="1"/>
          </p:cNvSpPr>
          <p:nvPr/>
        </p:nvSpPr>
        <p:spPr>
          <a:xfrm xmlns:a="http://schemas.openxmlformats.org/drawingml/2006/main">
            <a:off x="590550" y="5219700"/>
            <a:ext cx="11010900" cy="990600"/>
          </a:xfrm>
          <a:prstGeom xmlns:a="http://schemas.openxmlformats.org/drawingml/2006/main" prst="roundRect">
            <a:avLst>
              <a:gd name="adj" fmla="val 13462"/>
            </a:avLst>
          </a:prstGeom>
          <a:solidFill xmlns:a="http://schemas.openxmlformats.org/drawingml/2006/main">
            <a:srgbClr val="113646"/>
          </a:solidFill>
          <a:ln xmlns:a="http://schemas.openxmlformats.org/drawingml/2006/main" w="9525">
            <a:solidFill>
              <a:srgbClr val="31505F"/>
            </a:solidFill>
            <a:prstDash val="solid"/>
          </a:ln>
        </p:spPr>
      </p:sp>
      <p:sp>
        <p:nvSpPr>
          <p:cNvPr id="13" name="">
            <a:extLst xmlns:a="http://schemas.openxmlformats.org/drawingml/2006/main">
              <a:ext uri="{FF2B5EF4-FFF2-40B4-BE49-F238E27FC236}">
                <a16:creationId xmlns:a16="http://schemas.microsoft.com/office/drawing/2014/main" id="{4B6E8EAE-3ECB-467C-916B-702D9B0223C7}"/>
              </a:ext>
            </a:extLst>
          </p:cNvPr>
          <p:cNvSpPr>
            <a:spLocks xmlns:a="http://schemas.openxmlformats.org/drawingml/2006/main" noGrp="1"/>
          </p:cNvSpPr>
          <p:nvPr/>
        </p:nvSpPr>
        <p:spPr>
          <a:xfrm xmlns:a="http://schemas.openxmlformats.org/drawingml/2006/main">
            <a:off x="838200" y="54292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POSSIBLE BENEFIT</a:t>
            </a:r>
          </a:p>
        </p:txBody>
      </p:sp>
      <p:sp>
        <p:nvSpPr>
          <p:cNvPr id="14" name="">
            <a:extLst xmlns:a="http://schemas.openxmlformats.org/drawingml/2006/main">
              <a:ext uri="{FF2B5EF4-FFF2-40B4-BE49-F238E27FC236}">
                <a16:creationId xmlns:a16="http://schemas.microsoft.com/office/drawing/2014/main" id="{1B3D85F3-87A5-4A9E-9D35-90E29EDC3ECF}"/>
              </a:ext>
            </a:extLst>
          </p:cNvPr>
          <p:cNvSpPr>
            <a:spLocks xmlns:a="http://schemas.openxmlformats.org/drawingml/2006/main" noGrp="1"/>
          </p:cNvSpPr>
          <p:nvPr/>
        </p:nvSpPr>
        <p:spPr>
          <a:xfrm xmlns:a="http://schemas.openxmlformats.org/drawingml/2006/main">
            <a:off x="2571750" y="5372100"/>
            <a:ext cx="8667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575" b="1">
                <a:solidFill>
                  <a:srgbClr val="F3F6F2"/>
                </a:solidFill>
                <a:latin typeface="Arial"/>
                <a:ea typeface="Arial"/>
                <a:cs typeface="Arial"/>
              </a:defRPr>
            </a:defPPr>
            <a:lvl1pPr algn="l">
              <a:buNone/>
              <a:defRPr sz="1575" b="1">
                <a:solidFill>
                  <a:srgbClr val="F3F6F2"/>
                </a:solidFill>
                <a:latin typeface="Arial"/>
                <a:ea typeface="Arial"/>
                <a:cs typeface="Arial"/>
              </a:defRPr>
            </a:lvl1pPr>
            <a:lvl2pPr algn="l">
              <a:buNone/>
              <a:defRPr sz="1575" b="1">
                <a:solidFill>
                  <a:srgbClr val="F3F6F2"/>
                </a:solidFill>
                <a:latin typeface="Arial"/>
                <a:ea typeface="Arial"/>
                <a:cs typeface="Arial"/>
              </a:defRPr>
            </a:lvl2pPr>
            <a:lvl3pPr algn="l">
              <a:buNone/>
              <a:defRPr sz="1575" b="1">
                <a:solidFill>
                  <a:srgbClr val="F3F6F2"/>
                </a:solidFill>
                <a:latin typeface="Arial"/>
                <a:ea typeface="Arial"/>
                <a:cs typeface="Arial"/>
              </a:defRPr>
            </a:lvl3pPr>
            <a:lvl4pPr algn="l">
              <a:buNone/>
              <a:defRPr sz="1575" b="1">
                <a:solidFill>
                  <a:srgbClr val="F3F6F2"/>
                </a:solidFill>
                <a:latin typeface="Arial"/>
                <a:ea typeface="Arial"/>
                <a:cs typeface="Arial"/>
              </a:defRPr>
            </a:lvl4pPr>
            <a:lvl5pPr algn="l">
              <a:buNone/>
              <a:defRPr sz="1575" b="1">
                <a:solidFill>
                  <a:srgbClr val="F3F6F2"/>
                </a:solidFill>
                <a:latin typeface="Arial"/>
                <a:ea typeface="Arial"/>
                <a:cs typeface="Arial"/>
              </a:defRPr>
            </a:lvl5pPr>
            <a:lvl6pPr algn="l">
              <a:buNone/>
              <a:defRPr sz="1575" b="1">
                <a:solidFill>
                  <a:srgbClr val="F3F6F2"/>
                </a:solidFill>
                <a:latin typeface="Arial"/>
                <a:ea typeface="Arial"/>
                <a:cs typeface="Arial"/>
              </a:defRPr>
            </a:lvl6pPr>
            <a:lvl7pPr algn="l">
              <a:buNone/>
              <a:defRPr sz="1575" b="1">
                <a:solidFill>
                  <a:srgbClr val="F3F6F2"/>
                </a:solidFill>
                <a:latin typeface="Arial"/>
                <a:ea typeface="Arial"/>
                <a:cs typeface="Arial"/>
              </a:defRPr>
            </a:lvl7pPr>
            <a:lvl8pPr algn="l">
              <a:buNone/>
              <a:defRPr sz="1575" b="1">
                <a:solidFill>
                  <a:srgbClr val="F3F6F2"/>
                </a:solidFill>
                <a:latin typeface="Arial"/>
                <a:ea typeface="Arial"/>
                <a:cs typeface="Arial"/>
              </a:defRPr>
            </a:lvl8pPr>
            <a:lvl9pPr algn="l">
              <a:buNone/>
              <a:defRPr sz="1575" b="1">
                <a:solidFill>
                  <a:srgbClr val="F3F6F2"/>
                </a:solidFill>
                <a:latin typeface="Arial"/>
                <a:ea typeface="Arial"/>
                <a:cs typeface="Arial"/>
              </a:defRPr>
            </a:lvl9pPr>
          </a:lstStyle>
          <a:p xmlns:a="http://schemas.openxmlformats.org/drawingml/2006/main">
            <a:pPr algn="l">
              <a:buNone/>
              <a:defRPr sz="1575" b="1">
                <a:solidFill>
                  <a:srgbClr val="F3F6F2"/>
                </a:solidFill>
                <a:latin typeface="Arial"/>
                <a:ea typeface="Arial"/>
                <a:cs typeface="Arial"/>
              </a:defRPr>
            </a:pPr>
            <a:r>
              <a:rPr sz="1575" b="1">
                <a:solidFill>
                  <a:srgbClr val="F3F6F2"/>
                </a:solidFill>
                <a:latin typeface="Arial"/>
                <a:ea typeface="Arial"/>
                <a:cs typeface="Arial"/>
              </a:rPr>
              <a:t>A planner can review one ranked list instead of comparing several separate layers. This still needs user testing.</a:t>
            </a:r>
          </a:p>
        </p:txBody>
      </p:sp>
    </p:spTree>
    <p:extLst>
      <p:ext uri="{BB962C8B-B14F-4D97-AF65-F5344CB8AC3E}">
        <p14:creationId xmlns:p14="http://schemas.microsoft.com/office/powerpoint/2010/main" val="1183776147"/>
      </p:ext>
    </p:extLst>
  </p:cSld>
</p:sld>
</file>

<file path=ppt/slides/slide8.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AE9F951-78B1-4EDA-8929-019AFF6A163B}"/>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NEXT STEP</a:t>
            </a:r>
          </a:p>
        </p:txBody>
      </p:sp>
      <p:sp>
        <p:nvSpPr>
          <p:cNvPr id="2" name="">
            <a:extLst xmlns:a="http://schemas.openxmlformats.org/drawingml/2006/main">
              <a:ext uri="{FF2B5EF4-FFF2-40B4-BE49-F238E27FC236}">
                <a16:creationId xmlns:a16="http://schemas.microsoft.com/office/drawing/2014/main" id="{207CB53F-AC7E-4A63-9960-AB327C1963C7}"/>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Proposed municipal pilot</a:t>
            </a:r>
          </a:p>
        </p:txBody>
      </p:sp>
      <p:sp>
        <p:nvSpPr>
          <p:cNvPr id="3" name="">
            <a:extLst xmlns:a="http://schemas.openxmlformats.org/drawingml/2006/main">
              <a:ext uri="{FF2B5EF4-FFF2-40B4-BE49-F238E27FC236}">
                <a16:creationId xmlns:a16="http://schemas.microsoft.com/office/drawing/2014/main" id="{77BEE7AA-B7B7-48CD-AEC3-B8CA8103B621}"/>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B46A7A55-4122-49CF-B31D-B145993F8457}"/>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5" name="">
            <a:extLst xmlns:a="http://schemas.openxmlformats.org/drawingml/2006/main">
              <a:ext uri="{FF2B5EF4-FFF2-40B4-BE49-F238E27FC236}">
                <a16:creationId xmlns:a16="http://schemas.microsoft.com/office/drawing/2014/main" id="{BA5C4DAE-55CF-4DC5-8B23-BB09D2688897}"/>
              </a:ext>
            </a:extLst>
          </p:cNvPr>
          <p:cNvSpPr>
            <a:spLocks xmlns:a="http://schemas.openxmlformats.org/drawingml/2006/main" noGrp="1"/>
          </p:cNvSpPr>
          <p:nvPr/>
        </p:nvSpPr>
        <p:spPr>
          <a:xfrm xmlns:a="http://schemas.openxmlformats.org/drawingml/2006/main">
            <a:off x="59055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6" name="">
            <a:extLst xmlns:a="http://schemas.openxmlformats.org/drawingml/2006/main">
              <a:ext uri="{FF2B5EF4-FFF2-40B4-BE49-F238E27FC236}">
                <a16:creationId xmlns:a16="http://schemas.microsoft.com/office/drawing/2014/main" id="{C3790919-E6F2-494B-B73E-B2BEC2B1802E}"/>
              </a:ext>
            </a:extLst>
          </p:cNvPr>
          <p:cNvSpPr>
            <a:spLocks xmlns:a="http://schemas.openxmlformats.org/drawingml/2006/main" noGrp="1"/>
          </p:cNvSpPr>
          <p:nvPr/>
        </p:nvSpPr>
        <p:spPr>
          <a:xfrm xmlns:a="http://schemas.openxmlformats.org/drawingml/2006/main">
            <a:off x="800100" y="1885950"/>
            <a:ext cx="495300" cy="495300"/>
          </a:xfrm>
          <a:prstGeom xmlns:a="http://schemas.openxmlformats.org/drawingml/2006/main" prst="ellipse">
            <a:avLst/>
          </a:prstGeom>
          <a:solidFill xmlns:a="http://schemas.openxmlformats.org/drawingml/2006/main">
            <a:srgbClr val="1AA58F"/>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1</a:t>
            </a:r>
          </a:p>
        </p:txBody>
      </p:sp>
      <p:sp>
        <p:nvSpPr>
          <p:cNvPr id="7" name="">
            <a:extLst xmlns:a="http://schemas.openxmlformats.org/drawingml/2006/main">
              <a:ext uri="{FF2B5EF4-FFF2-40B4-BE49-F238E27FC236}">
                <a16:creationId xmlns:a16="http://schemas.microsoft.com/office/drawing/2014/main" id="{44335C67-667E-4EEA-ACBC-48A079988797}"/>
              </a:ext>
            </a:extLst>
          </p:cNvPr>
          <p:cNvSpPr>
            <a:spLocks xmlns:a="http://schemas.openxmlformats.org/drawingml/2006/main" noGrp="1"/>
          </p:cNvSpPr>
          <p:nvPr/>
        </p:nvSpPr>
        <p:spPr>
          <a:xfrm xmlns:a="http://schemas.openxmlformats.org/drawingml/2006/main">
            <a:off x="80010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Interview</a:t>
            </a:r>
          </a:p>
        </p:txBody>
      </p:sp>
      <p:sp>
        <p:nvSpPr>
          <p:cNvPr id="8" name="">
            <a:extLst xmlns:a="http://schemas.openxmlformats.org/drawingml/2006/main">
              <a:ext uri="{FF2B5EF4-FFF2-40B4-BE49-F238E27FC236}">
                <a16:creationId xmlns:a16="http://schemas.microsoft.com/office/drawing/2014/main" id="{7524B52D-DE72-410D-8501-AF9CB05309A0}"/>
              </a:ext>
            </a:extLst>
          </p:cNvPr>
          <p:cNvSpPr>
            <a:spLocks xmlns:a="http://schemas.openxmlformats.org/drawingml/2006/main" noGrp="1"/>
          </p:cNvSpPr>
          <p:nvPr/>
        </p:nvSpPr>
        <p:spPr>
          <a:xfrm xmlns:a="http://schemas.openxmlformats.org/drawingml/2006/main">
            <a:off x="80010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Confirm the decision, current workflow and acceptable false alarms with at least three real users.</a:t>
            </a:r>
          </a:p>
        </p:txBody>
      </p:sp>
      <p:sp>
        <p:nvSpPr>
          <p:cNvPr id="9" name="">
            <a:extLst xmlns:a="http://schemas.openxmlformats.org/drawingml/2006/main">
              <a:ext uri="{FF2B5EF4-FFF2-40B4-BE49-F238E27FC236}">
                <a16:creationId xmlns:a16="http://schemas.microsoft.com/office/drawing/2014/main" id="{171268FE-D23D-4E4A-AFD2-462DDA4C37ED}"/>
              </a:ext>
            </a:extLst>
          </p:cNvPr>
          <p:cNvSpPr>
            <a:spLocks xmlns:a="http://schemas.openxmlformats.org/drawingml/2006/main" noGrp="1"/>
          </p:cNvSpPr>
          <p:nvPr/>
        </p:nvSpPr>
        <p:spPr>
          <a:xfrm xmlns:a="http://schemas.openxmlformats.org/drawingml/2006/main">
            <a:off x="334327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0" name="">
            <a:extLst xmlns:a="http://schemas.openxmlformats.org/drawingml/2006/main">
              <a:ext uri="{FF2B5EF4-FFF2-40B4-BE49-F238E27FC236}">
                <a16:creationId xmlns:a16="http://schemas.microsoft.com/office/drawing/2014/main" id="{5E900459-B179-45E0-A4CC-B9038199C435}"/>
              </a:ext>
            </a:extLst>
          </p:cNvPr>
          <p:cNvSpPr>
            <a:spLocks xmlns:a="http://schemas.openxmlformats.org/drawingml/2006/main" noGrp="1"/>
          </p:cNvSpPr>
          <p:nvPr/>
        </p:nvSpPr>
        <p:spPr>
          <a:xfrm xmlns:a="http://schemas.openxmlformats.org/drawingml/2006/main">
            <a:off x="3552825" y="1885950"/>
            <a:ext cx="495300" cy="495300"/>
          </a:xfrm>
          <a:prstGeom xmlns:a="http://schemas.openxmlformats.org/drawingml/2006/main" prst="ellipse">
            <a:avLst/>
          </a:prstGeom>
          <a:solidFill xmlns:a="http://schemas.openxmlformats.org/drawingml/2006/main">
            <a:srgbClr val="E2AD2B"/>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2</a:t>
            </a:r>
          </a:p>
        </p:txBody>
      </p:sp>
      <p:sp>
        <p:nvSpPr>
          <p:cNvPr id="11" name="">
            <a:extLst xmlns:a="http://schemas.openxmlformats.org/drawingml/2006/main">
              <a:ext uri="{FF2B5EF4-FFF2-40B4-BE49-F238E27FC236}">
                <a16:creationId xmlns:a16="http://schemas.microsoft.com/office/drawing/2014/main" id="{1C6012CC-2311-49B9-B0A0-00454B51F3D5}"/>
              </a:ext>
            </a:extLst>
          </p:cNvPr>
          <p:cNvSpPr>
            <a:spLocks xmlns:a="http://schemas.openxmlformats.org/drawingml/2006/main" noGrp="1"/>
          </p:cNvSpPr>
          <p:nvPr/>
        </p:nvSpPr>
        <p:spPr>
          <a:xfrm xmlns:a="http://schemas.openxmlformats.org/drawingml/2006/main">
            <a:off x="355282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Field check</a:t>
            </a:r>
          </a:p>
        </p:txBody>
      </p:sp>
      <p:sp>
        <p:nvSpPr>
          <p:cNvPr id="12" name="">
            <a:extLst xmlns:a="http://schemas.openxmlformats.org/drawingml/2006/main">
              <a:ext uri="{FF2B5EF4-FFF2-40B4-BE49-F238E27FC236}">
                <a16:creationId xmlns:a16="http://schemas.microsoft.com/office/drawing/2014/main" id="{12704C73-6F05-4349-A9E8-32617C754F8F}"/>
              </a:ext>
            </a:extLst>
          </p:cNvPr>
          <p:cNvSpPr>
            <a:spLocks xmlns:a="http://schemas.openxmlformats.org/drawingml/2006/main" noGrp="1"/>
          </p:cNvSpPr>
          <p:nvPr/>
        </p:nvSpPr>
        <p:spPr>
          <a:xfrm xmlns:a="http://schemas.openxmlformats.org/drawingml/2006/main">
            <a:off x="355282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Inspect the top five zones, record useful results and false alarms, and compare with local plans.</a:t>
            </a:r>
          </a:p>
        </p:txBody>
      </p:sp>
      <p:sp>
        <p:nvSpPr>
          <p:cNvPr id="13" name="">
            <a:extLst xmlns:a="http://schemas.openxmlformats.org/drawingml/2006/main">
              <a:ext uri="{FF2B5EF4-FFF2-40B4-BE49-F238E27FC236}">
                <a16:creationId xmlns:a16="http://schemas.microsoft.com/office/drawing/2014/main" id="{D5EDD7CC-3466-48F7-ABBF-689EBCDAAA88}"/>
              </a:ext>
            </a:extLst>
          </p:cNvPr>
          <p:cNvSpPr>
            <a:spLocks xmlns:a="http://schemas.openxmlformats.org/drawingml/2006/main" noGrp="1"/>
          </p:cNvSpPr>
          <p:nvPr/>
        </p:nvSpPr>
        <p:spPr>
          <a:xfrm xmlns:a="http://schemas.openxmlformats.org/drawingml/2006/main">
            <a:off x="6096000"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4" name="">
            <a:extLst xmlns:a="http://schemas.openxmlformats.org/drawingml/2006/main">
              <a:ext uri="{FF2B5EF4-FFF2-40B4-BE49-F238E27FC236}">
                <a16:creationId xmlns:a16="http://schemas.microsoft.com/office/drawing/2014/main" id="{19D77769-7B9D-41E5-8D6B-4D1C4C037A66}"/>
              </a:ext>
            </a:extLst>
          </p:cNvPr>
          <p:cNvSpPr>
            <a:spLocks xmlns:a="http://schemas.openxmlformats.org/drawingml/2006/main" noGrp="1"/>
          </p:cNvSpPr>
          <p:nvPr/>
        </p:nvSpPr>
        <p:spPr>
          <a:xfrm xmlns:a="http://schemas.openxmlformats.org/drawingml/2006/main">
            <a:off x="6305550" y="1885950"/>
            <a:ext cx="495300" cy="495300"/>
          </a:xfrm>
          <a:prstGeom xmlns:a="http://schemas.openxmlformats.org/drawingml/2006/main" prst="ellipse">
            <a:avLst/>
          </a:prstGeom>
          <a:solidFill xmlns:a="http://schemas.openxmlformats.org/drawingml/2006/main">
            <a:srgbClr val="F06449"/>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3</a:t>
            </a:r>
          </a:p>
        </p:txBody>
      </p:sp>
      <p:sp>
        <p:nvSpPr>
          <p:cNvPr id="15" name="">
            <a:extLst xmlns:a="http://schemas.openxmlformats.org/drawingml/2006/main">
              <a:ext uri="{FF2B5EF4-FFF2-40B4-BE49-F238E27FC236}">
                <a16:creationId xmlns:a16="http://schemas.microsoft.com/office/drawing/2014/main" id="{A70B9361-9EC0-4C9F-844D-3F7B0AAC99D2}"/>
              </a:ext>
            </a:extLst>
          </p:cNvPr>
          <p:cNvSpPr>
            <a:spLocks xmlns:a="http://schemas.openxmlformats.org/drawingml/2006/main" noGrp="1"/>
          </p:cNvSpPr>
          <p:nvPr/>
        </p:nvSpPr>
        <p:spPr>
          <a:xfrm xmlns:a="http://schemas.openxmlformats.org/drawingml/2006/main">
            <a:off x="6305550"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Adjust</a:t>
            </a:r>
          </a:p>
        </p:txBody>
      </p:sp>
      <p:sp>
        <p:nvSpPr>
          <p:cNvPr id="16" name="">
            <a:extLst xmlns:a="http://schemas.openxmlformats.org/drawingml/2006/main">
              <a:ext uri="{FF2B5EF4-FFF2-40B4-BE49-F238E27FC236}">
                <a16:creationId xmlns:a16="http://schemas.microsoft.com/office/drawing/2014/main" id="{042786F5-391C-4BF9-8696-BD3CB6750157}"/>
              </a:ext>
            </a:extLst>
          </p:cNvPr>
          <p:cNvSpPr>
            <a:spLocks xmlns:a="http://schemas.openxmlformats.org/drawingml/2006/main" noGrp="1"/>
          </p:cNvSpPr>
          <p:nvPr/>
        </p:nvSpPr>
        <p:spPr>
          <a:xfrm xmlns:a="http://schemas.openxmlformats.org/drawingml/2006/main">
            <a:off x="6305550"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Agree on weights, add worker exposure and city-plan constraints, then rerun the ranking.</a:t>
            </a:r>
          </a:p>
        </p:txBody>
      </p:sp>
      <p:sp>
        <p:nvSpPr>
          <p:cNvPr id="17" name="">
            <a:extLst xmlns:a="http://schemas.openxmlformats.org/drawingml/2006/main">
              <a:ext uri="{FF2B5EF4-FFF2-40B4-BE49-F238E27FC236}">
                <a16:creationId xmlns:a16="http://schemas.microsoft.com/office/drawing/2014/main" id="{C78C388C-E5D7-4F51-AEB9-765E41EB8584}"/>
              </a:ext>
            </a:extLst>
          </p:cNvPr>
          <p:cNvSpPr>
            <a:spLocks xmlns:a="http://schemas.openxmlformats.org/drawingml/2006/main" noGrp="1"/>
          </p:cNvSpPr>
          <p:nvPr/>
        </p:nvSpPr>
        <p:spPr>
          <a:xfrm xmlns:a="http://schemas.openxmlformats.org/drawingml/2006/main">
            <a:off x="8848725" y="1676400"/>
            <a:ext cx="2533650" cy="2762250"/>
          </a:xfrm>
          <a:prstGeom xmlns:a="http://schemas.openxmlformats.org/drawingml/2006/main" prst="roundRect">
            <a:avLst>
              <a:gd name="adj" fmla="val 5263"/>
            </a:avLst>
          </a:prstGeom>
          <a:solidFill xmlns:a="http://schemas.openxmlformats.org/drawingml/2006/main">
            <a:srgbClr val="113646"/>
          </a:solidFill>
          <a:ln xmlns:a="http://schemas.openxmlformats.org/drawingml/2006/main" w="9525">
            <a:solidFill>
              <a:srgbClr val="31505F"/>
            </a:solidFill>
            <a:prstDash val="solid"/>
          </a:ln>
        </p:spPr>
      </p:sp>
      <p:sp>
        <p:nvSpPr>
          <p:cNvPr id="18" name="">
            <a:extLst xmlns:a="http://schemas.openxmlformats.org/drawingml/2006/main">
              <a:ext uri="{FF2B5EF4-FFF2-40B4-BE49-F238E27FC236}">
                <a16:creationId xmlns:a16="http://schemas.microsoft.com/office/drawing/2014/main" id="{C6868297-8FBC-4911-94CD-1C931D69C6C2}"/>
              </a:ext>
            </a:extLst>
          </p:cNvPr>
          <p:cNvSpPr>
            <a:spLocks xmlns:a="http://schemas.openxmlformats.org/drawingml/2006/main" noGrp="1"/>
          </p:cNvSpPr>
          <p:nvPr/>
        </p:nvSpPr>
        <p:spPr>
          <a:xfrm xmlns:a="http://schemas.openxmlformats.org/drawingml/2006/main">
            <a:off x="9058275" y="1885950"/>
            <a:ext cx="495300" cy="495300"/>
          </a:xfrm>
          <a:prstGeom xmlns:a="http://schemas.openxmlformats.org/drawingml/2006/main" prst="ellipse">
            <a:avLst/>
          </a:prstGeom>
          <a:solidFill xmlns:a="http://schemas.openxmlformats.org/drawingml/2006/main">
            <a:srgbClr val="6D5DD3"/>
          </a:solidFill>
          <a:ln xmlns:a="http://schemas.openxmlformats.org/drawingml/2006/main" w="0">
            <a:noFill/>
            <a:prstDash val="solid"/>
          </a:ln>
        </p:spPr>
        <p:txBody>
          <a:bodyPr xmlns:a="http://schemas.openxmlformats.org/drawingml/2006/main" anchor="ctr"/>
          <a:lstStyle xmlns:a="http://schemas.openxmlformats.org/drawingml/2006/main">
            <a:defPPr algn="ctr">
              <a:defRPr sz="1650" b="1">
                <a:solidFill>
                  <a:srgbClr val="F3F6F2"/>
                </a:solidFill>
              </a:defRPr>
            </a:defPPr>
            <a:lvl1pPr algn="ctr">
              <a:buNone/>
              <a:defRPr sz="1650" b="1">
                <a:solidFill>
                  <a:srgbClr val="F3F6F2"/>
                </a:solidFill>
              </a:defRPr>
            </a:lvl1pPr>
            <a:lvl2pPr algn="ctr">
              <a:buNone/>
              <a:defRPr sz="1650" b="1">
                <a:solidFill>
                  <a:srgbClr val="F3F6F2"/>
                </a:solidFill>
              </a:defRPr>
            </a:lvl2pPr>
            <a:lvl3pPr algn="ctr">
              <a:buNone/>
              <a:defRPr sz="1650" b="1">
                <a:solidFill>
                  <a:srgbClr val="F3F6F2"/>
                </a:solidFill>
              </a:defRPr>
            </a:lvl3pPr>
            <a:lvl4pPr algn="ctr">
              <a:buNone/>
              <a:defRPr sz="1650" b="1">
                <a:solidFill>
                  <a:srgbClr val="F3F6F2"/>
                </a:solidFill>
              </a:defRPr>
            </a:lvl4pPr>
            <a:lvl5pPr algn="ctr">
              <a:buNone/>
              <a:defRPr sz="1650" b="1">
                <a:solidFill>
                  <a:srgbClr val="F3F6F2"/>
                </a:solidFill>
              </a:defRPr>
            </a:lvl5pPr>
            <a:lvl6pPr algn="ctr">
              <a:buNone/>
              <a:defRPr sz="1650" b="1">
                <a:solidFill>
                  <a:srgbClr val="F3F6F2"/>
                </a:solidFill>
              </a:defRPr>
            </a:lvl6pPr>
            <a:lvl7pPr algn="ctr">
              <a:buNone/>
              <a:defRPr sz="1650" b="1">
                <a:solidFill>
                  <a:srgbClr val="F3F6F2"/>
                </a:solidFill>
              </a:defRPr>
            </a:lvl7pPr>
            <a:lvl8pPr algn="ctr">
              <a:buNone/>
              <a:defRPr sz="1650" b="1">
                <a:solidFill>
                  <a:srgbClr val="F3F6F2"/>
                </a:solidFill>
              </a:defRPr>
            </a:lvl8pPr>
            <a:lvl9pPr algn="ctr">
              <a:buNone/>
              <a:defRPr sz="1650" b="1">
                <a:solidFill>
                  <a:srgbClr val="F3F6F2"/>
                </a:solidFill>
              </a:defRPr>
            </a:lvl9pPr>
          </a:lstStyle>
          <a:p xmlns:a="http://schemas.openxmlformats.org/drawingml/2006/main">
            <a:pPr algn="ctr">
              <a:buNone/>
              <a:defRPr sz="1650" b="1">
                <a:solidFill>
                  <a:srgbClr val="F3F6F2"/>
                </a:solidFill>
              </a:defRPr>
            </a:pPr>
            <a:r>
              <a:rPr sz="1650" b="1">
                <a:solidFill>
                  <a:srgbClr val="F3F6F2"/>
                </a:solidFill>
              </a:rPr>
              <a:t>4</a:t>
            </a:r>
          </a:p>
        </p:txBody>
      </p:sp>
      <p:sp>
        <p:nvSpPr>
          <p:cNvPr id="19" name="">
            <a:extLst xmlns:a="http://schemas.openxmlformats.org/drawingml/2006/main">
              <a:ext uri="{FF2B5EF4-FFF2-40B4-BE49-F238E27FC236}">
                <a16:creationId xmlns:a16="http://schemas.microsoft.com/office/drawing/2014/main" id="{C76A8862-2352-456B-8351-A3EFD9870843}"/>
              </a:ext>
            </a:extLst>
          </p:cNvPr>
          <p:cNvSpPr>
            <a:spLocks xmlns:a="http://schemas.openxmlformats.org/drawingml/2006/main" noGrp="1"/>
          </p:cNvSpPr>
          <p:nvPr/>
        </p:nvSpPr>
        <p:spPr>
          <a:xfrm xmlns:a="http://schemas.openxmlformats.org/drawingml/2006/main">
            <a:off x="9058275" y="2609850"/>
            <a:ext cx="2114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950" b="1">
                <a:solidFill>
                  <a:srgbClr val="F3F6F2"/>
                </a:solidFill>
                <a:latin typeface="Arial"/>
                <a:ea typeface="Arial"/>
                <a:cs typeface="Arial"/>
              </a:defRPr>
            </a:defPPr>
            <a:lvl1pPr algn="l">
              <a:buNone/>
              <a:defRPr sz="1950" b="1">
                <a:solidFill>
                  <a:srgbClr val="F3F6F2"/>
                </a:solidFill>
                <a:latin typeface="Arial"/>
                <a:ea typeface="Arial"/>
                <a:cs typeface="Arial"/>
              </a:defRPr>
            </a:lvl1pPr>
            <a:lvl2pPr algn="l">
              <a:buNone/>
              <a:defRPr sz="1950" b="1">
                <a:solidFill>
                  <a:srgbClr val="F3F6F2"/>
                </a:solidFill>
                <a:latin typeface="Arial"/>
                <a:ea typeface="Arial"/>
                <a:cs typeface="Arial"/>
              </a:defRPr>
            </a:lvl2pPr>
            <a:lvl3pPr algn="l">
              <a:buNone/>
              <a:defRPr sz="1950" b="1">
                <a:solidFill>
                  <a:srgbClr val="F3F6F2"/>
                </a:solidFill>
                <a:latin typeface="Arial"/>
                <a:ea typeface="Arial"/>
                <a:cs typeface="Arial"/>
              </a:defRPr>
            </a:lvl3pPr>
            <a:lvl4pPr algn="l">
              <a:buNone/>
              <a:defRPr sz="1950" b="1">
                <a:solidFill>
                  <a:srgbClr val="F3F6F2"/>
                </a:solidFill>
                <a:latin typeface="Arial"/>
                <a:ea typeface="Arial"/>
                <a:cs typeface="Arial"/>
              </a:defRPr>
            </a:lvl4pPr>
            <a:lvl5pPr algn="l">
              <a:buNone/>
              <a:defRPr sz="1950" b="1">
                <a:solidFill>
                  <a:srgbClr val="F3F6F2"/>
                </a:solidFill>
                <a:latin typeface="Arial"/>
                <a:ea typeface="Arial"/>
                <a:cs typeface="Arial"/>
              </a:defRPr>
            </a:lvl5pPr>
            <a:lvl6pPr algn="l">
              <a:buNone/>
              <a:defRPr sz="1950" b="1">
                <a:solidFill>
                  <a:srgbClr val="F3F6F2"/>
                </a:solidFill>
                <a:latin typeface="Arial"/>
                <a:ea typeface="Arial"/>
                <a:cs typeface="Arial"/>
              </a:defRPr>
            </a:lvl6pPr>
            <a:lvl7pPr algn="l">
              <a:buNone/>
              <a:defRPr sz="1950" b="1">
                <a:solidFill>
                  <a:srgbClr val="F3F6F2"/>
                </a:solidFill>
                <a:latin typeface="Arial"/>
                <a:ea typeface="Arial"/>
                <a:cs typeface="Arial"/>
              </a:defRPr>
            </a:lvl7pPr>
            <a:lvl8pPr algn="l">
              <a:buNone/>
              <a:defRPr sz="1950" b="1">
                <a:solidFill>
                  <a:srgbClr val="F3F6F2"/>
                </a:solidFill>
                <a:latin typeface="Arial"/>
                <a:ea typeface="Arial"/>
                <a:cs typeface="Arial"/>
              </a:defRPr>
            </a:lvl8pPr>
            <a:lvl9pPr algn="l">
              <a:buNone/>
              <a:defRPr sz="1950" b="1">
                <a:solidFill>
                  <a:srgbClr val="F3F6F2"/>
                </a:solidFill>
                <a:latin typeface="Arial"/>
                <a:ea typeface="Arial"/>
                <a:cs typeface="Arial"/>
              </a:defRPr>
            </a:lvl9pPr>
          </a:lstStyle>
          <a:p xmlns:a="http://schemas.openxmlformats.org/drawingml/2006/main">
            <a:pPr algn="l">
              <a:buNone/>
              <a:defRPr sz="1950" b="1">
                <a:solidFill>
                  <a:srgbClr val="F3F6F2"/>
                </a:solidFill>
                <a:latin typeface="Arial"/>
                <a:ea typeface="Arial"/>
                <a:cs typeface="Arial"/>
              </a:defRPr>
            </a:pPr>
            <a:r>
              <a:rPr sz="1950" b="1">
                <a:solidFill>
                  <a:srgbClr val="F3F6F2"/>
                </a:solidFill>
                <a:latin typeface="Arial"/>
                <a:ea typeface="Arial"/>
                <a:cs typeface="Arial"/>
              </a:rPr>
              <a:t>Repeat</a:t>
            </a:r>
          </a:p>
        </p:txBody>
      </p:sp>
      <p:sp>
        <p:nvSpPr>
          <p:cNvPr id="20" name="">
            <a:extLst xmlns:a="http://schemas.openxmlformats.org/drawingml/2006/main">
              <a:ext uri="{FF2B5EF4-FFF2-40B4-BE49-F238E27FC236}">
                <a16:creationId xmlns:a16="http://schemas.microsoft.com/office/drawing/2014/main" id="{AC02F48E-99AC-42E7-920E-E2989A7A7186}"/>
              </a:ext>
            </a:extLst>
          </p:cNvPr>
          <p:cNvSpPr>
            <a:spLocks xmlns:a="http://schemas.openxmlformats.org/drawingml/2006/main" noGrp="1"/>
          </p:cNvSpPr>
          <p:nvPr/>
        </p:nvSpPr>
        <p:spPr>
          <a:xfrm xmlns:a="http://schemas.openxmlformats.org/drawingml/2006/main">
            <a:off x="9058275" y="3143250"/>
            <a:ext cx="21145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AFC4C6"/>
                </a:solidFill>
                <a:latin typeface="Arial"/>
                <a:ea typeface="Arial"/>
                <a:cs typeface="Arial"/>
              </a:defRPr>
            </a:defPPr>
            <a:lvl1pPr algn="l">
              <a:buNone/>
              <a:defRPr sz="1200">
                <a:solidFill>
                  <a:srgbClr val="AFC4C6"/>
                </a:solidFill>
                <a:latin typeface="Arial"/>
                <a:ea typeface="Arial"/>
                <a:cs typeface="Arial"/>
              </a:defRPr>
            </a:lvl1pPr>
            <a:lvl2pPr algn="l">
              <a:buNone/>
              <a:defRPr sz="1200">
                <a:solidFill>
                  <a:srgbClr val="AFC4C6"/>
                </a:solidFill>
                <a:latin typeface="Arial"/>
                <a:ea typeface="Arial"/>
                <a:cs typeface="Arial"/>
              </a:defRPr>
            </a:lvl2pPr>
            <a:lvl3pPr algn="l">
              <a:buNone/>
              <a:defRPr sz="1200">
                <a:solidFill>
                  <a:srgbClr val="AFC4C6"/>
                </a:solidFill>
                <a:latin typeface="Arial"/>
                <a:ea typeface="Arial"/>
                <a:cs typeface="Arial"/>
              </a:defRPr>
            </a:lvl3pPr>
            <a:lvl4pPr algn="l">
              <a:buNone/>
              <a:defRPr sz="1200">
                <a:solidFill>
                  <a:srgbClr val="AFC4C6"/>
                </a:solidFill>
                <a:latin typeface="Arial"/>
                <a:ea typeface="Arial"/>
                <a:cs typeface="Arial"/>
              </a:defRPr>
            </a:lvl4pPr>
            <a:lvl5pPr algn="l">
              <a:buNone/>
              <a:defRPr sz="1200">
                <a:solidFill>
                  <a:srgbClr val="AFC4C6"/>
                </a:solidFill>
                <a:latin typeface="Arial"/>
                <a:ea typeface="Arial"/>
                <a:cs typeface="Arial"/>
              </a:defRPr>
            </a:lvl5pPr>
            <a:lvl6pPr algn="l">
              <a:buNone/>
              <a:defRPr sz="1200">
                <a:solidFill>
                  <a:srgbClr val="AFC4C6"/>
                </a:solidFill>
                <a:latin typeface="Arial"/>
                <a:ea typeface="Arial"/>
                <a:cs typeface="Arial"/>
              </a:defRPr>
            </a:lvl6pPr>
            <a:lvl7pPr algn="l">
              <a:buNone/>
              <a:defRPr sz="1200">
                <a:solidFill>
                  <a:srgbClr val="AFC4C6"/>
                </a:solidFill>
                <a:latin typeface="Arial"/>
                <a:ea typeface="Arial"/>
                <a:cs typeface="Arial"/>
              </a:defRPr>
            </a:lvl7pPr>
            <a:lvl8pPr algn="l">
              <a:buNone/>
              <a:defRPr sz="1200">
                <a:solidFill>
                  <a:srgbClr val="AFC4C6"/>
                </a:solidFill>
                <a:latin typeface="Arial"/>
                <a:ea typeface="Arial"/>
                <a:cs typeface="Arial"/>
              </a:defRPr>
            </a:lvl8pPr>
            <a:lvl9pPr algn="l">
              <a:buNone/>
              <a:defRPr sz="1200">
                <a:solidFill>
                  <a:srgbClr val="AFC4C6"/>
                </a:solidFill>
                <a:latin typeface="Arial"/>
                <a:ea typeface="Arial"/>
                <a:cs typeface="Arial"/>
              </a:defRPr>
            </a:lvl9pPr>
          </a:lstStyle>
          <a:p xmlns:a="http://schemas.openxmlformats.org/drawingml/2006/main">
            <a:pPr algn="l">
              <a:buNone/>
              <a:defRPr sz="1200">
                <a:solidFill>
                  <a:srgbClr val="AFC4C6"/>
                </a:solidFill>
                <a:latin typeface="Arial"/>
                <a:ea typeface="Arial"/>
                <a:cs typeface="Arial"/>
              </a:defRPr>
            </a:pPr>
            <a:r>
              <a:rPr sz="1200">
                <a:solidFill>
                  <a:srgbClr val="AFC4C6"/>
                </a:solidFill>
                <a:latin typeface="Arial"/>
                <a:ea typeface="Arial"/>
                <a:cs typeface="Arial"/>
              </a:rPr>
              <a:t>Test the same process in another Riyadh area before making an operational claim.</a:t>
            </a:r>
          </a:p>
        </p:txBody>
      </p:sp>
      <p:sp>
        <p:nvSpPr>
          <p:cNvPr id="21" name="">
            <a:extLst xmlns:a="http://schemas.openxmlformats.org/drawingml/2006/main">
              <a:ext uri="{FF2B5EF4-FFF2-40B4-BE49-F238E27FC236}">
                <a16:creationId xmlns:a16="http://schemas.microsoft.com/office/drawing/2014/main" id="{53A87010-9CF4-442E-98FF-C0DFA2647309}"/>
              </a:ext>
            </a:extLst>
          </p:cNvPr>
          <p:cNvSpPr>
            <a:spLocks xmlns:a="http://schemas.openxmlformats.org/drawingml/2006/main" noGrp="1"/>
          </p:cNvSpPr>
          <p:nvPr/>
        </p:nvSpPr>
        <p:spPr>
          <a:xfrm xmlns:a="http://schemas.openxmlformats.org/drawingml/2006/main">
            <a:off x="590550" y="4762500"/>
            <a:ext cx="11010900" cy="1352550"/>
          </a:xfrm>
          <a:prstGeom xmlns:a="http://schemas.openxmlformats.org/drawingml/2006/main" prst="roundRect">
            <a:avLst>
              <a:gd name="adj" fmla="val 11268"/>
            </a:avLst>
          </a:prstGeom>
          <a:solidFill xmlns:a="http://schemas.openxmlformats.org/drawingml/2006/main">
            <a:srgbClr val="0D2A3A"/>
          </a:solidFill>
          <a:ln xmlns:a="http://schemas.openxmlformats.org/drawingml/2006/main" w="9525">
            <a:solidFill>
              <a:srgbClr val="1AA58F"/>
            </a:solidFill>
            <a:prstDash val="solid"/>
          </a:ln>
        </p:spPr>
      </p:sp>
      <p:sp>
        <p:nvSpPr>
          <p:cNvPr id="22" name="">
            <a:extLst xmlns:a="http://schemas.openxmlformats.org/drawingml/2006/main">
              <a:ext uri="{FF2B5EF4-FFF2-40B4-BE49-F238E27FC236}">
                <a16:creationId xmlns:a16="http://schemas.microsoft.com/office/drawing/2014/main" id="{8E7420C4-123B-4818-8DB9-7F8A1F4BB2D2}"/>
              </a:ext>
            </a:extLst>
          </p:cNvPr>
          <p:cNvSpPr>
            <a:spLocks xmlns:a="http://schemas.openxmlformats.org/drawingml/2006/main" noGrp="1"/>
          </p:cNvSpPr>
          <p:nvPr/>
        </p:nvSpPr>
        <p:spPr>
          <a:xfrm xmlns:a="http://schemas.openxmlformats.org/drawingml/2006/main">
            <a:off x="838200" y="50101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PILOT REQUEST</a:t>
            </a:r>
          </a:p>
        </p:txBody>
      </p:sp>
      <p:sp>
        <p:nvSpPr>
          <p:cNvPr id="23" name="">
            <a:extLst xmlns:a="http://schemas.openxmlformats.org/drawingml/2006/main">
              <a:ext uri="{FF2B5EF4-FFF2-40B4-BE49-F238E27FC236}">
                <a16:creationId xmlns:a16="http://schemas.microsoft.com/office/drawing/2014/main" id="{D661914B-AD24-40B4-A4C6-80A568E09B71}"/>
              </a:ext>
            </a:extLst>
          </p:cNvPr>
          <p:cNvSpPr>
            <a:spLocks xmlns:a="http://schemas.openxmlformats.org/drawingml/2006/main" noGrp="1"/>
          </p:cNvSpPr>
          <p:nvPr/>
        </p:nvSpPr>
        <p:spPr>
          <a:xfrm xmlns:a="http://schemas.openxmlformats.org/drawingml/2006/main">
            <a:off x="838200" y="5334000"/>
            <a:ext cx="10382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025" b="1">
                <a:solidFill>
                  <a:srgbClr val="F3F6F2"/>
                </a:solidFill>
                <a:latin typeface="Arial"/>
                <a:ea typeface="Arial"/>
                <a:cs typeface="Arial"/>
              </a:defRPr>
            </a:defPPr>
            <a:lvl1pPr algn="l">
              <a:buNone/>
              <a:defRPr sz="2025" b="1">
                <a:solidFill>
                  <a:srgbClr val="F3F6F2"/>
                </a:solidFill>
                <a:latin typeface="Arial"/>
                <a:ea typeface="Arial"/>
                <a:cs typeface="Arial"/>
              </a:defRPr>
            </a:lvl1pPr>
            <a:lvl2pPr algn="l">
              <a:buNone/>
              <a:defRPr sz="2025" b="1">
                <a:solidFill>
                  <a:srgbClr val="F3F6F2"/>
                </a:solidFill>
                <a:latin typeface="Arial"/>
                <a:ea typeface="Arial"/>
                <a:cs typeface="Arial"/>
              </a:defRPr>
            </a:lvl2pPr>
            <a:lvl3pPr algn="l">
              <a:buNone/>
              <a:defRPr sz="2025" b="1">
                <a:solidFill>
                  <a:srgbClr val="F3F6F2"/>
                </a:solidFill>
                <a:latin typeface="Arial"/>
                <a:ea typeface="Arial"/>
                <a:cs typeface="Arial"/>
              </a:defRPr>
            </a:lvl3pPr>
            <a:lvl4pPr algn="l">
              <a:buNone/>
              <a:defRPr sz="2025" b="1">
                <a:solidFill>
                  <a:srgbClr val="F3F6F2"/>
                </a:solidFill>
                <a:latin typeface="Arial"/>
                <a:ea typeface="Arial"/>
                <a:cs typeface="Arial"/>
              </a:defRPr>
            </a:lvl4pPr>
            <a:lvl5pPr algn="l">
              <a:buNone/>
              <a:defRPr sz="2025" b="1">
                <a:solidFill>
                  <a:srgbClr val="F3F6F2"/>
                </a:solidFill>
                <a:latin typeface="Arial"/>
                <a:ea typeface="Arial"/>
                <a:cs typeface="Arial"/>
              </a:defRPr>
            </a:lvl5pPr>
            <a:lvl6pPr algn="l">
              <a:buNone/>
              <a:defRPr sz="2025" b="1">
                <a:solidFill>
                  <a:srgbClr val="F3F6F2"/>
                </a:solidFill>
                <a:latin typeface="Arial"/>
                <a:ea typeface="Arial"/>
                <a:cs typeface="Arial"/>
              </a:defRPr>
            </a:lvl6pPr>
            <a:lvl7pPr algn="l">
              <a:buNone/>
              <a:defRPr sz="2025" b="1">
                <a:solidFill>
                  <a:srgbClr val="F3F6F2"/>
                </a:solidFill>
                <a:latin typeface="Arial"/>
                <a:ea typeface="Arial"/>
                <a:cs typeface="Arial"/>
              </a:defRPr>
            </a:lvl7pPr>
            <a:lvl8pPr algn="l">
              <a:buNone/>
              <a:defRPr sz="2025" b="1">
                <a:solidFill>
                  <a:srgbClr val="F3F6F2"/>
                </a:solidFill>
                <a:latin typeface="Arial"/>
                <a:ea typeface="Arial"/>
                <a:cs typeface="Arial"/>
              </a:defRPr>
            </a:lvl8pPr>
            <a:lvl9pPr algn="l">
              <a:buNone/>
              <a:defRPr sz="2025" b="1">
                <a:solidFill>
                  <a:srgbClr val="F3F6F2"/>
                </a:solidFill>
                <a:latin typeface="Arial"/>
                <a:ea typeface="Arial"/>
                <a:cs typeface="Arial"/>
              </a:defRPr>
            </a:lvl9pPr>
          </a:lstStyle>
          <a:p xmlns:a="http://schemas.openxmlformats.org/drawingml/2006/main">
            <a:pPr algn="l">
              <a:buNone/>
              <a:defRPr sz="2025" b="1">
                <a:solidFill>
                  <a:srgbClr val="F3F6F2"/>
                </a:solidFill>
                <a:latin typeface="Arial"/>
                <a:ea typeface="Arial"/>
                <a:cs typeface="Arial"/>
              </a:defRPr>
            </a:pPr>
            <a:r>
              <a:rPr sz="2025" b="1">
                <a:solidFill>
                  <a:srgbClr val="F3F6F2"/>
                </a:solidFill>
                <a:latin typeface="Arial"/>
                <a:ea typeface="Arial"/>
                <a:cs typeface="Arial"/>
              </a:rPr>
              <a:t>Test HeatReady with one municipal team and measure useful findings, false alarms and time spent.</a:t>
            </a:r>
          </a:p>
        </p:txBody>
      </p:sp>
    </p:spTree>
    <p:extLst>
      <p:ext uri="{BB962C8B-B14F-4D97-AF65-F5344CB8AC3E}">
        <p14:creationId xmlns:p14="http://schemas.microsoft.com/office/powerpoint/2010/main" val="1054873391"/>
      </p:ext>
    </p:extLst>
  </p:cSld>
</p:sld>
</file>

<file path=ppt/slides/slide9.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D82323-4A8E-4E5C-A31A-2D038D382137}"/>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8B78421E-ACCE-45F0-A361-5B80CF1F6504}"/>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Data sources and dates</a:t>
            </a:r>
          </a:p>
        </p:txBody>
      </p:sp>
      <p:sp>
        <p:nvSpPr>
          <p:cNvPr id="3" name="">
            <a:extLst xmlns:a="http://schemas.openxmlformats.org/drawingml/2006/main">
              <a:ext uri="{FF2B5EF4-FFF2-40B4-BE49-F238E27FC236}">
                <a16:creationId xmlns:a16="http://schemas.microsoft.com/office/drawing/2014/main" id="{4A7C91AE-8EE7-431E-BB3A-B575DE5486BB}"/>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D4DA3766-24B1-48AA-97B9-10E214984BCA}"/>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graphicFrame>
        <p:nvGraphicFramePr>
          <p:cNvPr id="5" name="">
            <a:extLst xmlns:a="http://schemas.openxmlformats.org/drawingml/2006/main">
              <a:ext uri="{FF2B5EF4-FFF2-40B4-BE49-F238E27FC236}">
                <a16:creationId xmlns:a16="http://schemas.microsoft.com/office/drawing/2014/main" id="{78A1F971-34BF-43C9-9D02-0B00029C3C5F}"/>
              </a:ext>
            </a:extLst>
          </p:cNvPr>
          <p:cNvGraphicFramePr/>
          <p:nvPr/>
        </p:nvGraphicFramePr>
        <p:xfrm>
          <a:off xmlns:a="http://schemas.openxmlformats.org/drawingml/2006/main" x="590550" y="1562100"/>
          <a:ext xmlns:a="http://schemas.openxmlformats.org/drawingml/2006/main" cx="11010900" cy="4191000"/>
        </p:xfrm>
        <a:graphic xmlns:a="http://schemas.openxmlformats.org/drawingml/2006/main">
          <a:graphicData uri="http://schemas.openxmlformats.org/drawingml/2006/table">
            <a:tbl>
              <a:tblPr/>
              <a:tblGrid>
                <a:gridCol w="2095500"/>
                <a:gridCol w="2476500"/>
                <a:gridCol w="3905250"/>
                <a:gridCol w="2533650"/>
              </a:tblGrid>
              <a:tr h="523875">
                <a:tc>
                  <a:txBody>
                    <a:bodyPr/>
                    <a:lstStyle/>
                    <a:p>
                      <a:r>
                        <a:rPr sz="1050" b="1">
                          <a:solidFill>
                            <a:srgbClr val="F3F6F2"/>
                          </a:solidFill>
                        </a:rPr>
                        <a:t>Source</a:t>
                      </a:r>
                    </a:p>
                  </a:txBody>
                  <a:tcPr marL="95250" marR="95250" marT="76200" marB="76200">
                    <a:lnL w="9525">
                      <a:solidFill>
                        <a:srgbClr val="31505F"/>
                      </a:solidFill>
                      <a:prstDash val="solid"/>
                    </a:lnL>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Dates used</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Role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c>
                  <a:txBody>
                    <a:bodyPr/>
                    <a:lstStyle/>
                    <a:p>
                      <a:r>
                        <a:rPr sz="1050" b="1">
                          <a:solidFill>
                            <a:srgbClr val="F3F6F2"/>
                          </a:solidFill>
                        </a:rPr>
                        <a:t>Access / licence</a:t>
                      </a:r>
                    </a:p>
                  </a:txBody>
                  <a:tcPr marL="95250" marR="95250" marT="76200" marB="76200">
                    <a:lnR w="9525">
                      <a:solidFill>
                        <a:srgbClr val="31505F"/>
                      </a:solidFill>
                      <a:prstDash val="solid"/>
                    </a:lnR>
                    <a:lnT w="9525">
                      <a:solidFill>
                        <a:srgbClr val="31505F"/>
                      </a:solidFill>
                      <a:prstDash val="solid"/>
                    </a:lnT>
                    <a:lnB w="9525">
                      <a:solidFill>
                        <a:srgbClr val="31505F"/>
                      </a:solidFill>
                      <a:prstDash val="solid"/>
                    </a:lnB>
                    <a:solidFill>
                      <a:srgbClr val="1AA58F"/>
                    </a:solidFill>
                  </a:tcPr>
                </a:tc>
              </a:tr>
              <a:tr h="523875">
                <a:tc>
                  <a:txBody>
                    <a:bodyPr/>
                    <a:lstStyle/>
                    <a:p>
                      <a:r>
                        <a:rPr sz="900">
                          <a:solidFill>
                            <a:srgbClr val="F3F6F2"/>
                          </a:solidFill>
                        </a:rPr>
                        <a:t>Sentinel-2 L2A</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11 May 2018; 10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Optical features, masks, vegetation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Copernicus open access</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Sentinel-1 RTC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2018; 6 May 2021; 9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Radar structure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Microsoft PC;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IO/Esri annual LULC</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2018–2023</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Trend + candidate endpoint change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Landsat 8 C2 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10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Land-surface temperature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US public domain</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ESA WorldCover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2021</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Spatial holdout reference</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WorldPop Global2</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Modelled population</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r h="523875">
                <a:tc>
                  <a:txBody>
                    <a:bodyPr/>
                    <a:lstStyle/>
                    <a:p>
                      <a:r>
                        <a:rPr sz="900">
                          <a:solidFill>
                            <a:srgbClr val="F3F6F2"/>
                          </a:solidFill>
                        </a:rPr>
                        <a:t>Planet Tanager</a:t>
                      </a:r>
                    </a:p>
                  </a:txBody>
                  <a:tcPr marL="95250" marR="95250" marT="57150" marB="57150">
                    <a:lnL w="9525">
                      <a:solidFill>
                        <a:srgbClr val="31505F"/>
                      </a:solidFill>
                      <a:prstDash val="solid"/>
                    </a:lnL>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15 May 2025</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Spectral context + sensitivity test</a:t>
                      </a:r>
                    </a:p>
                  </a:txBody>
                  <a:tcPr marL="95250" marR="95250" marT="57150" marB="57150">
                    <a:lnR w="9525">
                      <a:solidFill>
                        <a:srgbClr val="31505F"/>
                      </a:solidFill>
                      <a:prstDash val="solid"/>
                    </a:lnR>
                    <a:lnB w="9525">
                      <a:solidFill>
                        <a:srgbClr val="31505F"/>
                      </a:solidFill>
                      <a:prstDash val="solid"/>
                    </a:lnB>
                    <a:solidFill>
                      <a:srgbClr val="113646"/>
                    </a:solidFill>
                  </a:tcPr>
                </a:tc>
                <a:tc>
                  <a:txBody>
                    <a:bodyPr/>
                    <a:lstStyle/>
                    <a:p>
                      <a:r>
                        <a:rPr sz="900">
                          <a:solidFill>
                            <a:srgbClr val="F3F6F2"/>
                          </a:solidFill>
                        </a:rPr>
                        <a:t>Open urban archive; CC BY 4.0</a:t>
                      </a:r>
                    </a:p>
                  </a:txBody>
                  <a:tcPr marL="95250" marR="95250" marT="57150" marB="57150">
                    <a:lnR w="9525">
                      <a:solidFill>
                        <a:srgbClr val="31505F"/>
                      </a:solidFill>
                      <a:prstDash val="solid"/>
                    </a:lnR>
                    <a:lnB w="9525">
                      <a:solidFill>
                        <a:srgbClr val="31505F"/>
                      </a:solidFill>
                      <a:prstDash val="solid"/>
                    </a:lnB>
                    <a:solidFill>
                      <a:srgbClr val="113646"/>
                    </a:solidFill>
                  </a:tcPr>
                </a:tc>
              </a:tr>
            </a:tbl>
          </a:graphicData>
        </a:graphic>
      </p:graphicFrame>
      <p:sp>
        <p:nvSpPr>
          <p:cNvPr id="6" name="">
            <a:extLst xmlns:a="http://schemas.openxmlformats.org/drawingml/2006/main">
              <a:ext uri="{FF2B5EF4-FFF2-40B4-BE49-F238E27FC236}">
                <a16:creationId xmlns:a16="http://schemas.microsoft.com/office/drawing/2014/main" id="{80F1EC95-01AE-4E67-A2B2-6F0FDAFA97DA}"/>
              </a:ext>
            </a:extLst>
          </p:cNvPr>
          <p:cNvSpPr>
            <a:spLocks xmlns:a="http://schemas.openxmlformats.org/drawingml/2006/main" noGrp="1"/>
          </p:cNvSpPr>
          <p:nvPr/>
        </p:nvSpPr>
        <p:spPr>
          <a:xfrm xmlns:a="http://schemas.openxmlformats.org/drawingml/2006/main">
            <a:off x="590550" y="5924550"/>
            <a:ext cx="11010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125" b="1">
                <a:solidFill>
                  <a:srgbClr val="E2AD2B"/>
                </a:solidFill>
                <a:latin typeface="Arial"/>
                <a:ea typeface="Arial"/>
                <a:cs typeface="Arial"/>
              </a:defRPr>
            </a:defPPr>
            <a:lvl1pPr algn="l">
              <a:buNone/>
              <a:defRPr sz="1125" b="1">
                <a:solidFill>
                  <a:srgbClr val="E2AD2B"/>
                </a:solidFill>
                <a:latin typeface="Arial"/>
                <a:ea typeface="Arial"/>
                <a:cs typeface="Arial"/>
              </a:defRPr>
            </a:lvl1pPr>
            <a:lvl2pPr algn="l">
              <a:buNone/>
              <a:defRPr sz="1125" b="1">
                <a:solidFill>
                  <a:srgbClr val="E2AD2B"/>
                </a:solidFill>
                <a:latin typeface="Arial"/>
                <a:ea typeface="Arial"/>
                <a:cs typeface="Arial"/>
              </a:defRPr>
            </a:lvl2pPr>
            <a:lvl3pPr algn="l">
              <a:buNone/>
              <a:defRPr sz="1125" b="1">
                <a:solidFill>
                  <a:srgbClr val="E2AD2B"/>
                </a:solidFill>
                <a:latin typeface="Arial"/>
                <a:ea typeface="Arial"/>
                <a:cs typeface="Arial"/>
              </a:defRPr>
            </a:lvl3pPr>
            <a:lvl4pPr algn="l">
              <a:buNone/>
              <a:defRPr sz="1125" b="1">
                <a:solidFill>
                  <a:srgbClr val="E2AD2B"/>
                </a:solidFill>
                <a:latin typeface="Arial"/>
                <a:ea typeface="Arial"/>
                <a:cs typeface="Arial"/>
              </a:defRPr>
            </a:lvl4pPr>
            <a:lvl5pPr algn="l">
              <a:buNone/>
              <a:defRPr sz="1125" b="1">
                <a:solidFill>
                  <a:srgbClr val="E2AD2B"/>
                </a:solidFill>
                <a:latin typeface="Arial"/>
                <a:ea typeface="Arial"/>
                <a:cs typeface="Arial"/>
              </a:defRPr>
            </a:lvl5pPr>
            <a:lvl6pPr algn="l">
              <a:buNone/>
              <a:defRPr sz="1125" b="1">
                <a:solidFill>
                  <a:srgbClr val="E2AD2B"/>
                </a:solidFill>
                <a:latin typeface="Arial"/>
                <a:ea typeface="Arial"/>
                <a:cs typeface="Arial"/>
              </a:defRPr>
            </a:lvl6pPr>
            <a:lvl7pPr algn="l">
              <a:buNone/>
              <a:defRPr sz="1125" b="1">
                <a:solidFill>
                  <a:srgbClr val="E2AD2B"/>
                </a:solidFill>
                <a:latin typeface="Arial"/>
                <a:ea typeface="Arial"/>
                <a:cs typeface="Arial"/>
              </a:defRPr>
            </a:lvl7pPr>
            <a:lvl8pPr algn="l">
              <a:buNone/>
              <a:defRPr sz="1125" b="1">
                <a:solidFill>
                  <a:srgbClr val="E2AD2B"/>
                </a:solidFill>
                <a:latin typeface="Arial"/>
                <a:ea typeface="Arial"/>
                <a:cs typeface="Arial"/>
              </a:defRPr>
            </a:lvl8pPr>
            <a:lvl9pPr algn="l">
              <a:buNone/>
              <a:defRPr sz="1125" b="1">
                <a:solidFill>
                  <a:srgbClr val="E2AD2B"/>
                </a:solidFill>
                <a:latin typeface="Arial"/>
                <a:ea typeface="Arial"/>
                <a:cs typeface="Arial"/>
              </a:defRPr>
            </a:lvl9pPr>
          </a:lstStyle>
          <a:p xmlns:a="http://schemas.openxmlformats.org/drawingml/2006/main">
            <a:pPr algn="l">
              <a:buNone/>
              <a:defRPr sz="1125" b="1">
                <a:solidFill>
                  <a:srgbClr val="E2AD2B"/>
                </a:solidFill>
                <a:latin typeface="Arial"/>
                <a:ea typeface="Arial"/>
                <a:cs typeface="Arial"/>
              </a:defRPr>
            </a:pPr>
            <a:r>
              <a:rPr sz="1125" b="1">
                <a:solidFill>
                  <a:srgbClr val="E2AD2B"/>
                </a:solidFill>
                <a:latin typeface="Arial"/>
                <a:ea typeface="Arial"/>
                <a:cs typeface="Arial"/>
              </a:rPr>
              <a:t>Item IDs, processing steps and licences are documented in the repository. Satellite 813 imagery was not used.</a:t>
            </a:r>
          </a:p>
        </p:txBody>
      </p:sp>
    </p:spTree>
    <p:extLst>
      <p:ext uri="{BB962C8B-B14F-4D97-AF65-F5344CB8AC3E}">
        <p14:creationId xmlns:p14="http://schemas.microsoft.com/office/powerpoint/2010/main" val="677071008"/>
      </p:ext>
    </p:extLst>
  </p:cSld>
</p:sld>
</file>

<file path=ppt/slides/slide10.xml><?xml version="1.0" encoding="utf-8"?>
<p:sld xmlns:p="http://schemas.openxmlformats.org/presentationml/2006/main">
  <p:cSld>
    <p:bg>
      <p:bgPr>
        <a:solidFill xmlns:a="http://schemas.openxmlformats.org/drawingml/2006/main">
          <a:srgbClr val="071C2B"/>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DB98858-9016-40D8-8BE5-A8BCE609469C}"/>
              </a:ext>
            </a:extLst>
          </p:cNvPr>
          <p:cNvSpPr>
            <a:spLocks xmlns:a="http://schemas.openxmlformats.org/drawingml/2006/main" noGrp="1"/>
          </p:cNvSpPr>
          <p:nvPr/>
        </p:nvSpPr>
        <p:spPr>
          <a:xfrm xmlns:a="http://schemas.openxmlformats.org/drawingml/2006/main">
            <a:off x="590550" y="581025"/>
            <a:ext cx="10287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2700" b="1">
                <a:solidFill>
                  <a:srgbClr val="F3F6F2"/>
                </a:solidFill>
                <a:latin typeface="Arial"/>
                <a:ea typeface="Arial"/>
                <a:cs typeface="Arial"/>
              </a:defRPr>
            </a:defPPr>
            <a:lvl1pPr algn="l">
              <a:buNone/>
              <a:defRPr sz="2700" b="1">
                <a:solidFill>
                  <a:srgbClr val="F3F6F2"/>
                </a:solidFill>
                <a:latin typeface="Arial"/>
                <a:ea typeface="Arial"/>
                <a:cs typeface="Arial"/>
              </a:defRPr>
            </a:lvl1pPr>
            <a:lvl2pPr algn="l">
              <a:buNone/>
              <a:defRPr sz="2700" b="1">
                <a:solidFill>
                  <a:srgbClr val="F3F6F2"/>
                </a:solidFill>
                <a:latin typeface="Arial"/>
                <a:ea typeface="Arial"/>
                <a:cs typeface="Arial"/>
              </a:defRPr>
            </a:lvl2pPr>
            <a:lvl3pPr algn="l">
              <a:buNone/>
              <a:defRPr sz="2700" b="1">
                <a:solidFill>
                  <a:srgbClr val="F3F6F2"/>
                </a:solidFill>
                <a:latin typeface="Arial"/>
                <a:ea typeface="Arial"/>
                <a:cs typeface="Arial"/>
              </a:defRPr>
            </a:lvl3pPr>
            <a:lvl4pPr algn="l">
              <a:buNone/>
              <a:defRPr sz="2700" b="1">
                <a:solidFill>
                  <a:srgbClr val="F3F6F2"/>
                </a:solidFill>
                <a:latin typeface="Arial"/>
                <a:ea typeface="Arial"/>
                <a:cs typeface="Arial"/>
              </a:defRPr>
            </a:lvl4pPr>
            <a:lvl5pPr algn="l">
              <a:buNone/>
              <a:defRPr sz="2700" b="1">
                <a:solidFill>
                  <a:srgbClr val="F3F6F2"/>
                </a:solidFill>
                <a:latin typeface="Arial"/>
                <a:ea typeface="Arial"/>
                <a:cs typeface="Arial"/>
              </a:defRPr>
            </a:lvl5pPr>
            <a:lvl6pPr algn="l">
              <a:buNone/>
              <a:defRPr sz="2700" b="1">
                <a:solidFill>
                  <a:srgbClr val="F3F6F2"/>
                </a:solidFill>
                <a:latin typeface="Arial"/>
                <a:ea typeface="Arial"/>
                <a:cs typeface="Arial"/>
              </a:defRPr>
            </a:lvl6pPr>
            <a:lvl7pPr algn="l">
              <a:buNone/>
              <a:defRPr sz="2700" b="1">
                <a:solidFill>
                  <a:srgbClr val="F3F6F2"/>
                </a:solidFill>
                <a:latin typeface="Arial"/>
                <a:ea typeface="Arial"/>
                <a:cs typeface="Arial"/>
              </a:defRPr>
            </a:lvl7pPr>
            <a:lvl8pPr algn="l">
              <a:buNone/>
              <a:defRPr sz="2700" b="1">
                <a:solidFill>
                  <a:srgbClr val="F3F6F2"/>
                </a:solidFill>
                <a:latin typeface="Arial"/>
                <a:ea typeface="Arial"/>
                <a:cs typeface="Arial"/>
              </a:defRPr>
            </a:lvl8pPr>
            <a:lvl9pPr algn="l">
              <a:buNone/>
              <a:defRPr sz="2700" b="1">
                <a:solidFill>
                  <a:srgbClr val="F3F6F2"/>
                </a:solidFill>
                <a:latin typeface="Arial"/>
                <a:ea typeface="Arial"/>
                <a:cs typeface="Arial"/>
              </a:defRPr>
            </a:lvl9pPr>
          </a:lstStyle>
          <a:p xmlns:a="http://schemas.openxmlformats.org/drawingml/2006/main">
            <a:pPr algn="l">
              <a:buNone/>
              <a:defRPr sz="2700" b="1">
                <a:solidFill>
                  <a:srgbClr val="F3F6F2"/>
                </a:solidFill>
                <a:latin typeface="Arial"/>
                <a:ea typeface="Arial"/>
                <a:cs typeface="Arial"/>
              </a:defRPr>
            </a:pPr>
            <a:r>
              <a:rPr sz="2700" b="1">
                <a:solidFill>
                  <a:srgbClr val="F3F6F2"/>
                </a:solidFill>
                <a:latin typeface="Arial"/>
                <a:ea typeface="Arial"/>
                <a:cs typeface="Arial"/>
              </a:rPr>
              <a:t>Validation evidence and limits</a:t>
            </a:r>
          </a:p>
        </p:txBody>
      </p:sp>
      <p:sp>
        <p:nvSpPr>
          <p:cNvPr id="2" name="">
            <a:extLst xmlns:a="http://schemas.openxmlformats.org/drawingml/2006/main">
              <a:ext uri="{FF2B5EF4-FFF2-40B4-BE49-F238E27FC236}">
                <a16:creationId xmlns:a16="http://schemas.microsoft.com/office/drawing/2014/main" id="{4AC8C15A-4392-4B09-B960-8DA293CF7DF4}"/>
              </a:ext>
            </a:extLst>
          </p:cNvPr>
          <p:cNvSpPr>
            <a:spLocks xmlns:a="http://schemas.openxmlformats.org/drawingml/2006/main" noGrp="1"/>
          </p:cNvSpPr>
          <p:nvPr/>
        </p:nvSpPr>
        <p:spPr>
          <a:xfrm xmlns:a="http://schemas.openxmlformats.org/drawingml/2006/main">
            <a:off x="590550" y="1257300"/>
            <a:ext cx="11010900" cy="9525"/>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pic>
        <p:nvPicPr>
          <p:cNvPr id="3" name="">
            <a:extLst xmlns:a="http://schemas.openxmlformats.org/drawingml/2006/main">
              <a:ext uri="{FF2B5EF4-FFF2-40B4-BE49-F238E27FC236}">
                <a16:creationId xmlns:a16="http://schemas.microsoft.com/office/drawing/2014/main" id="{21D49737-4CF3-4139-B9BF-396E458CB921}"/>
              </a:ext>
            </a:extLst>
          </p:cNvPr>
          <p:cNvPicPr>
            <a:picLocks xmlns:a="http://schemas.openxmlformats.org/drawingml/2006/main" noChangeAspect="1"/>
          </p:cNvPicPr>
          <p:nvPr/>
        </p:nvPicPr>
        <p:blipFill>
          <a:blip xmlns:r="http://schemas.openxmlformats.org/officeDocument/2006/relationships" xmlns:a="http://schemas.openxmlformats.org/drawingml/2006/main" r:embed="Ra3f476f109e945d2"/>
          <a:stretch xmlns:a="http://schemas.openxmlformats.org/drawingml/2006/main"/>
        </p:blipFill>
        <p:spPr>
          <a:xfrm xmlns:a="http://schemas.openxmlformats.org/drawingml/2006/main">
            <a:off x="590550" y="2361849"/>
            <a:ext cx="6286500" cy="2667703"/>
          </a:xfrm>
          <a:prstGeom xmlns:a="http://schemas.openxmlformats.org/drawingml/2006/main" prst="roundRect">
            <a:avLst>
              <a:gd name="adj" fmla="val 2232"/>
            </a:avLst>
          </a:prstGeom>
        </p:spPr>
      </p:pic>
      <p:sp>
        <p:nvSpPr>
          <p:cNvPr id="4" name="">
            <a:extLst xmlns:a="http://schemas.openxmlformats.org/drawingml/2006/main">
              <a:ext uri="{FF2B5EF4-FFF2-40B4-BE49-F238E27FC236}">
                <a16:creationId xmlns:a16="http://schemas.microsoft.com/office/drawing/2014/main" id="{6CE7BE30-28FA-471F-831A-C9A147F37F58}"/>
              </a:ext>
            </a:extLst>
          </p:cNvPr>
          <p:cNvSpPr>
            <a:spLocks xmlns:a="http://schemas.openxmlformats.org/drawingml/2006/main" noGrp="1"/>
          </p:cNvSpPr>
          <p:nvPr/>
        </p:nvSpPr>
        <p:spPr>
          <a:xfrm xmlns:a="http://schemas.openxmlformats.org/drawingml/2006/main">
            <a:off x="590550" y="5924550"/>
            <a:ext cx="628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ctr">
              <a:defRPr sz="1125" b="1">
                <a:solidFill>
                  <a:srgbClr val="AFC4C6"/>
                </a:solidFill>
                <a:latin typeface="Arial"/>
                <a:ea typeface="Arial"/>
                <a:cs typeface="Arial"/>
              </a:defRPr>
            </a:defPPr>
            <a:lvl1pPr algn="ctr">
              <a:buNone/>
              <a:defRPr sz="1125" b="1">
                <a:solidFill>
                  <a:srgbClr val="AFC4C6"/>
                </a:solidFill>
                <a:latin typeface="Arial"/>
                <a:ea typeface="Arial"/>
                <a:cs typeface="Arial"/>
              </a:defRPr>
            </a:lvl1pPr>
            <a:lvl2pPr algn="ctr">
              <a:buNone/>
              <a:defRPr sz="1125" b="1">
                <a:solidFill>
                  <a:srgbClr val="AFC4C6"/>
                </a:solidFill>
                <a:latin typeface="Arial"/>
                <a:ea typeface="Arial"/>
                <a:cs typeface="Arial"/>
              </a:defRPr>
            </a:lvl2pPr>
            <a:lvl3pPr algn="ctr">
              <a:buNone/>
              <a:defRPr sz="1125" b="1">
                <a:solidFill>
                  <a:srgbClr val="AFC4C6"/>
                </a:solidFill>
                <a:latin typeface="Arial"/>
                <a:ea typeface="Arial"/>
                <a:cs typeface="Arial"/>
              </a:defRPr>
            </a:lvl3pPr>
            <a:lvl4pPr algn="ctr">
              <a:buNone/>
              <a:defRPr sz="1125" b="1">
                <a:solidFill>
                  <a:srgbClr val="AFC4C6"/>
                </a:solidFill>
                <a:latin typeface="Arial"/>
                <a:ea typeface="Arial"/>
                <a:cs typeface="Arial"/>
              </a:defRPr>
            </a:lvl4pPr>
            <a:lvl5pPr algn="ctr">
              <a:buNone/>
              <a:defRPr sz="1125" b="1">
                <a:solidFill>
                  <a:srgbClr val="AFC4C6"/>
                </a:solidFill>
                <a:latin typeface="Arial"/>
                <a:ea typeface="Arial"/>
                <a:cs typeface="Arial"/>
              </a:defRPr>
            </a:lvl5pPr>
            <a:lvl6pPr algn="ctr">
              <a:buNone/>
              <a:defRPr sz="1125" b="1">
                <a:solidFill>
                  <a:srgbClr val="AFC4C6"/>
                </a:solidFill>
                <a:latin typeface="Arial"/>
                <a:ea typeface="Arial"/>
                <a:cs typeface="Arial"/>
              </a:defRPr>
            </a:lvl6pPr>
            <a:lvl7pPr algn="ctr">
              <a:buNone/>
              <a:defRPr sz="1125" b="1">
                <a:solidFill>
                  <a:srgbClr val="AFC4C6"/>
                </a:solidFill>
                <a:latin typeface="Arial"/>
                <a:ea typeface="Arial"/>
                <a:cs typeface="Arial"/>
              </a:defRPr>
            </a:lvl7pPr>
            <a:lvl8pPr algn="ctr">
              <a:buNone/>
              <a:defRPr sz="1125" b="1">
                <a:solidFill>
                  <a:srgbClr val="AFC4C6"/>
                </a:solidFill>
                <a:latin typeface="Arial"/>
                <a:ea typeface="Arial"/>
                <a:cs typeface="Arial"/>
              </a:defRPr>
            </a:lvl8pPr>
            <a:lvl9pPr algn="ctr">
              <a:buNone/>
              <a:defRPr sz="1125" b="1">
                <a:solidFill>
                  <a:srgbClr val="AFC4C6"/>
                </a:solidFill>
                <a:latin typeface="Arial"/>
                <a:ea typeface="Arial"/>
                <a:cs typeface="Arial"/>
              </a:defRPr>
            </a:lvl9pPr>
          </a:lstStyle>
          <a:p xmlns:a="http://schemas.openxmlformats.org/drawingml/2006/main">
            <a:pPr algn="ctr">
              <a:buNone/>
              <a:defRPr sz="1125" b="1">
                <a:solidFill>
                  <a:srgbClr val="AFC4C6"/>
                </a:solidFill>
                <a:latin typeface="Arial"/>
                <a:ea typeface="Arial"/>
                <a:cs typeface="Arial"/>
              </a:defRPr>
            </a:pPr>
            <a:r>
              <a:rPr sz="1125" b="1">
                <a:solidFill>
                  <a:srgbClr val="AFC4C6"/>
                </a:solidFill>
                <a:latin typeface="Arial"/>
                <a:ea typeface="Arial"/>
                <a:cs typeface="Arial"/>
              </a:rPr>
              <a:t>Training area: west    Tuning area: middle    Test area: east</a:t>
            </a:r>
          </a:p>
        </p:txBody>
      </p:sp>
      <p:sp>
        <p:nvSpPr>
          <p:cNvPr id="5" name="">
            <a:extLst xmlns:a="http://schemas.openxmlformats.org/drawingml/2006/main">
              <a:ext uri="{FF2B5EF4-FFF2-40B4-BE49-F238E27FC236}">
                <a16:creationId xmlns:a16="http://schemas.microsoft.com/office/drawing/2014/main" id="{3F241426-CC02-4649-9F7F-E26CC684380F}"/>
              </a:ext>
            </a:extLst>
          </p:cNvPr>
          <p:cNvSpPr>
            <a:spLocks xmlns:a="http://schemas.openxmlformats.org/drawingml/2006/main" noGrp="1"/>
          </p:cNvSpPr>
          <p:nvPr/>
        </p:nvSpPr>
        <p:spPr>
          <a:xfrm xmlns:a="http://schemas.openxmlformats.org/drawingml/2006/main">
            <a:off x="7181850" y="1562100"/>
            <a:ext cx="9525" cy="4705350"/>
          </a:xfrm>
          <a:prstGeom xmlns:a="http://schemas.openxmlformats.org/drawingml/2006/main" prst="line">
            <a:avLst/>
          </a:prstGeom>
          <a:noFill xmlns:a="http://schemas.openxmlformats.org/drawingml/2006/main"/>
          <a:ln xmlns:a="http://schemas.openxmlformats.org/drawingml/2006/main" w="19050">
            <a:solidFill>
              <a:srgbClr val="31505F"/>
            </a:solidFill>
            <a:prstDash val="solid"/>
          </a:ln>
        </p:spPr>
      </p:sp>
      <p:sp>
        <p:nvSpPr>
          <p:cNvPr id="6" name="">
            <a:extLst xmlns:a="http://schemas.openxmlformats.org/drawingml/2006/main">
              <a:ext uri="{FF2B5EF4-FFF2-40B4-BE49-F238E27FC236}">
                <a16:creationId xmlns:a16="http://schemas.microsoft.com/office/drawing/2014/main" id="{29536EC7-46B6-4169-B9CA-72D22B840F17}"/>
              </a:ext>
            </a:extLst>
          </p:cNvPr>
          <p:cNvSpPr>
            <a:spLocks xmlns:a="http://schemas.openxmlformats.org/drawingml/2006/main" noGrp="1"/>
          </p:cNvSpPr>
          <p:nvPr/>
        </p:nvSpPr>
        <p:spPr>
          <a:xfrm xmlns:a="http://schemas.openxmlformats.org/drawingml/2006/main">
            <a:off x="7524750" y="16383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1AA58F"/>
                </a:solidFill>
                <a:latin typeface="Arial"/>
                <a:ea typeface="Arial"/>
                <a:cs typeface="Arial"/>
              </a:defRPr>
            </a:defPPr>
            <a:lvl1pPr algn="l">
              <a:buNone/>
              <a:defRPr sz="975" b="1">
                <a:solidFill>
                  <a:srgbClr val="1AA58F"/>
                </a:solidFill>
                <a:latin typeface="Arial"/>
                <a:ea typeface="Arial"/>
                <a:cs typeface="Arial"/>
              </a:defRPr>
            </a:lvl1pPr>
            <a:lvl2pPr algn="l">
              <a:buNone/>
              <a:defRPr sz="975" b="1">
                <a:solidFill>
                  <a:srgbClr val="1AA58F"/>
                </a:solidFill>
                <a:latin typeface="Arial"/>
                <a:ea typeface="Arial"/>
                <a:cs typeface="Arial"/>
              </a:defRPr>
            </a:lvl2pPr>
            <a:lvl3pPr algn="l">
              <a:buNone/>
              <a:defRPr sz="975" b="1">
                <a:solidFill>
                  <a:srgbClr val="1AA58F"/>
                </a:solidFill>
                <a:latin typeface="Arial"/>
                <a:ea typeface="Arial"/>
                <a:cs typeface="Arial"/>
              </a:defRPr>
            </a:lvl3pPr>
            <a:lvl4pPr algn="l">
              <a:buNone/>
              <a:defRPr sz="975" b="1">
                <a:solidFill>
                  <a:srgbClr val="1AA58F"/>
                </a:solidFill>
                <a:latin typeface="Arial"/>
                <a:ea typeface="Arial"/>
                <a:cs typeface="Arial"/>
              </a:defRPr>
            </a:lvl4pPr>
            <a:lvl5pPr algn="l">
              <a:buNone/>
              <a:defRPr sz="975" b="1">
                <a:solidFill>
                  <a:srgbClr val="1AA58F"/>
                </a:solidFill>
                <a:latin typeface="Arial"/>
                <a:ea typeface="Arial"/>
                <a:cs typeface="Arial"/>
              </a:defRPr>
            </a:lvl5pPr>
            <a:lvl6pPr algn="l">
              <a:buNone/>
              <a:defRPr sz="975" b="1">
                <a:solidFill>
                  <a:srgbClr val="1AA58F"/>
                </a:solidFill>
                <a:latin typeface="Arial"/>
                <a:ea typeface="Arial"/>
                <a:cs typeface="Arial"/>
              </a:defRPr>
            </a:lvl6pPr>
            <a:lvl7pPr algn="l">
              <a:buNone/>
              <a:defRPr sz="975" b="1">
                <a:solidFill>
                  <a:srgbClr val="1AA58F"/>
                </a:solidFill>
                <a:latin typeface="Arial"/>
                <a:ea typeface="Arial"/>
                <a:cs typeface="Arial"/>
              </a:defRPr>
            </a:lvl7pPr>
            <a:lvl8pPr algn="l">
              <a:buNone/>
              <a:defRPr sz="975" b="1">
                <a:solidFill>
                  <a:srgbClr val="1AA58F"/>
                </a:solidFill>
                <a:latin typeface="Arial"/>
                <a:ea typeface="Arial"/>
                <a:cs typeface="Arial"/>
              </a:defRPr>
            </a:lvl8pPr>
            <a:lvl9pPr algn="l">
              <a:buNone/>
              <a:defRPr sz="975" b="1">
                <a:solidFill>
                  <a:srgbClr val="1AA58F"/>
                </a:solidFill>
                <a:latin typeface="Arial"/>
                <a:ea typeface="Arial"/>
                <a:cs typeface="Arial"/>
              </a:defRPr>
            </a:lvl9pPr>
          </a:lstStyle>
          <a:p xmlns:a="http://schemas.openxmlformats.org/drawingml/2006/main">
            <a:pPr algn="l">
              <a:buNone/>
              <a:defRPr sz="975" b="1">
                <a:solidFill>
                  <a:srgbClr val="1AA58F"/>
                </a:solidFill>
                <a:latin typeface="Arial"/>
                <a:ea typeface="Arial"/>
                <a:cs typeface="Arial"/>
              </a:defRPr>
            </a:pPr>
            <a:r>
              <a:rPr sz="975" b="1">
                <a:solidFill>
                  <a:srgbClr val="1AA58F"/>
                </a:solidFill>
                <a:latin typeface="Arial"/>
                <a:ea typeface="Arial"/>
                <a:cs typeface="Arial"/>
              </a:rPr>
              <a:t>RESULTS</a:t>
            </a:r>
          </a:p>
        </p:txBody>
      </p:sp>
      <p:sp>
        <p:nvSpPr>
          <p:cNvPr id="7" name="">
            <a:extLst xmlns:a="http://schemas.openxmlformats.org/drawingml/2006/main">
              <a:ext uri="{FF2B5EF4-FFF2-40B4-BE49-F238E27FC236}">
                <a16:creationId xmlns:a16="http://schemas.microsoft.com/office/drawing/2014/main" id="{5CF60165-DA32-4CDF-8C1D-85D4E6B85937}"/>
              </a:ext>
            </a:extLst>
          </p:cNvPr>
          <p:cNvSpPr>
            <a:spLocks xmlns:a="http://schemas.openxmlformats.org/drawingml/2006/main" noGrp="1"/>
          </p:cNvSpPr>
          <p:nvPr/>
        </p:nvSpPr>
        <p:spPr>
          <a:xfrm xmlns:a="http://schemas.openxmlformats.org/drawingml/2006/main">
            <a:off x="7524750" y="19812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east-side holdout was compared with WorldCover.</a:t>
            </a:r>
          </a:p>
        </p:txBody>
      </p:sp>
      <p:sp>
        <p:nvSpPr>
          <p:cNvPr id="8" name="">
            <a:extLst xmlns:a="http://schemas.openxmlformats.org/drawingml/2006/main">
              <a:ext uri="{FF2B5EF4-FFF2-40B4-BE49-F238E27FC236}">
                <a16:creationId xmlns:a16="http://schemas.microsoft.com/office/drawing/2014/main" id="{2835AA0D-AFB0-4FA6-8922-250C1CB6E398}"/>
              </a:ext>
            </a:extLst>
          </p:cNvPr>
          <p:cNvSpPr>
            <a:spLocks xmlns:a="http://schemas.openxmlformats.org/drawingml/2006/main" noGrp="1"/>
          </p:cNvSpPr>
          <p:nvPr/>
        </p:nvSpPr>
        <p:spPr>
          <a:xfrm xmlns:a="http://schemas.openxmlformats.org/drawingml/2006/main">
            <a:off x="7524750" y="2552700"/>
            <a:ext cx="36957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F1 0.88, IoU 0.78 and balanced accuracy 0.89.</a:t>
            </a:r>
          </a:p>
        </p:txBody>
      </p:sp>
      <p:sp>
        <p:nvSpPr>
          <p:cNvPr id="9" name="">
            <a:extLst xmlns:a="http://schemas.openxmlformats.org/drawingml/2006/main">
              <a:ext uri="{FF2B5EF4-FFF2-40B4-BE49-F238E27FC236}">
                <a16:creationId xmlns:a16="http://schemas.microsoft.com/office/drawing/2014/main" id="{B56F19E5-0EFC-4E53-A64C-91B1FD3C4001}"/>
              </a:ext>
            </a:extLst>
          </p:cNvPr>
          <p:cNvSpPr>
            <a:spLocks xmlns:a="http://schemas.openxmlformats.org/drawingml/2006/main" noGrp="1"/>
          </p:cNvSpPr>
          <p:nvPr/>
        </p:nvSpPr>
        <p:spPr>
          <a:xfrm xmlns:a="http://schemas.openxmlformats.org/drawingml/2006/main">
            <a:off x="7524750" y="3124200"/>
            <a:ext cx="3695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The test contains 36,156 reference pixels.</a:t>
            </a:r>
          </a:p>
        </p:txBody>
      </p:sp>
      <p:sp>
        <p:nvSpPr>
          <p:cNvPr id="10" name="">
            <a:extLst xmlns:a="http://schemas.openxmlformats.org/drawingml/2006/main">
              <a:ext uri="{FF2B5EF4-FFF2-40B4-BE49-F238E27FC236}">
                <a16:creationId xmlns:a16="http://schemas.microsoft.com/office/drawing/2014/main" id="{DCA64F29-787B-4132-9897-64F43C91756D}"/>
              </a:ext>
            </a:extLst>
          </p:cNvPr>
          <p:cNvSpPr>
            <a:spLocks xmlns:a="http://schemas.openxmlformats.org/drawingml/2006/main" noGrp="1"/>
          </p:cNvSpPr>
          <p:nvPr/>
        </p:nvSpPr>
        <p:spPr>
          <a:xfrm xmlns:a="http://schemas.openxmlformats.org/drawingml/2006/main">
            <a:off x="7524750" y="3810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975" b="1">
                <a:solidFill>
                  <a:srgbClr val="F06449"/>
                </a:solidFill>
                <a:latin typeface="Arial"/>
                <a:ea typeface="Arial"/>
                <a:cs typeface="Arial"/>
              </a:defRPr>
            </a:defPPr>
            <a:lvl1pPr algn="l">
              <a:buNone/>
              <a:defRPr sz="975" b="1">
                <a:solidFill>
                  <a:srgbClr val="F06449"/>
                </a:solidFill>
                <a:latin typeface="Arial"/>
                <a:ea typeface="Arial"/>
                <a:cs typeface="Arial"/>
              </a:defRPr>
            </a:lvl1pPr>
            <a:lvl2pPr algn="l">
              <a:buNone/>
              <a:defRPr sz="975" b="1">
                <a:solidFill>
                  <a:srgbClr val="F06449"/>
                </a:solidFill>
                <a:latin typeface="Arial"/>
                <a:ea typeface="Arial"/>
                <a:cs typeface="Arial"/>
              </a:defRPr>
            </a:lvl2pPr>
            <a:lvl3pPr algn="l">
              <a:buNone/>
              <a:defRPr sz="975" b="1">
                <a:solidFill>
                  <a:srgbClr val="F06449"/>
                </a:solidFill>
                <a:latin typeface="Arial"/>
                <a:ea typeface="Arial"/>
                <a:cs typeface="Arial"/>
              </a:defRPr>
            </a:lvl3pPr>
            <a:lvl4pPr algn="l">
              <a:buNone/>
              <a:defRPr sz="975" b="1">
                <a:solidFill>
                  <a:srgbClr val="F06449"/>
                </a:solidFill>
                <a:latin typeface="Arial"/>
                <a:ea typeface="Arial"/>
                <a:cs typeface="Arial"/>
              </a:defRPr>
            </a:lvl4pPr>
            <a:lvl5pPr algn="l">
              <a:buNone/>
              <a:defRPr sz="975" b="1">
                <a:solidFill>
                  <a:srgbClr val="F06449"/>
                </a:solidFill>
                <a:latin typeface="Arial"/>
                <a:ea typeface="Arial"/>
                <a:cs typeface="Arial"/>
              </a:defRPr>
            </a:lvl5pPr>
            <a:lvl6pPr algn="l">
              <a:buNone/>
              <a:defRPr sz="975" b="1">
                <a:solidFill>
                  <a:srgbClr val="F06449"/>
                </a:solidFill>
                <a:latin typeface="Arial"/>
                <a:ea typeface="Arial"/>
                <a:cs typeface="Arial"/>
              </a:defRPr>
            </a:lvl6pPr>
            <a:lvl7pPr algn="l">
              <a:buNone/>
              <a:defRPr sz="975" b="1">
                <a:solidFill>
                  <a:srgbClr val="F06449"/>
                </a:solidFill>
                <a:latin typeface="Arial"/>
                <a:ea typeface="Arial"/>
                <a:cs typeface="Arial"/>
              </a:defRPr>
            </a:lvl7pPr>
            <a:lvl8pPr algn="l">
              <a:buNone/>
              <a:defRPr sz="975" b="1">
                <a:solidFill>
                  <a:srgbClr val="F06449"/>
                </a:solidFill>
                <a:latin typeface="Arial"/>
                <a:ea typeface="Arial"/>
                <a:cs typeface="Arial"/>
              </a:defRPr>
            </a:lvl8pPr>
            <a:lvl9pPr algn="l">
              <a:buNone/>
              <a:defRPr sz="975" b="1">
                <a:solidFill>
                  <a:srgbClr val="F06449"/>
                </a:solidFill>
                <a:latin typeface="Arial"/>
                <a:ea typeface="Arial"/>
                <a:cs typeface="Arial"/>
              </a:defRPr>
            </a:lvl9pPr>
          </a:lstStyle>
          <a:p xmlns:a="http://schemas.openxmlformats.org/drawingml/2006/main">
            <a:pPr algn="l">
              <a:buNone/>
              <a:defRPr sz="975" b="1">
                <a:solidFill>
                  <a:srgbClr val="F06449"/>
                </a:solidFill>
                <a:latin typeface="Arial"/>
                <a:ea typeface="Arial"/>
                <a:cs typeface="Arial"/>
              </a:defRPr>
            </a:pPr>
            <a:r>
              <a:rPr sz="975" b="1">
                <a:solidFill>
                  <a:srgbClr val="F06449"/>
                </a:solidFill>
                <a:latin typeface="Arial"/>
                <a:ea typeface="Arial"/>
                <a:cs typeface="Arial"/>
              </a:rPr>
              <a:t>LIMITS</a:t>
            </a:r>
          </a:p>
        </p:txBody>
      </p:sp>
      <p:sp>
        <p:nvSpPr>
          <p:cNvPr id="11" name="">
            <a:extLst xmlns:a="http://schemas.openxmlformats.org/drawingml/2006/main">
              <a:ext uri="{FF2B5EF4-FFF2-40B4-BE49-F238E27FC236}">
                <a16:creationId xmlns:a16="http://schemas.microsoft.com/office/drawing/2014/main" id="{1549B9C1-2F6B-4102-9438-F3E2A4BC3B51}"/>
              </a:ext>
            </a:extLst>
          </p:cNvPr>
          <p:cNvSpPr>
            <a:spLocks xmlns:a="http://schemas.openxmlformats.org/drawingml/2006/main" noGrp="1"/>
          </p:cNvSpPr>
          <p:nvPr/>
        </p:nvSpPr>
        <p:spPr>
          <a:xfrm xmlns:a="http://schemas.openxmlformats.org/drawingml/2006/main">
            <a:off x="7524750" y="41719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Field accuracy.</a:t>
            </a:r>
          </a:p>
        </p:txBody>
      </p:sp>
      <p:sp>
        <p:nvSpPr>
          <p:cNvPr id="12" name="">
            <a:extLst xmlns:a="http://schemas.openxmlformats.org/drawingml/2006/main">
              <a:ext uri="{FF2B5EF4-FFF2-40B4-BE49-F238E27FC236}">
                <a16:creationId xmlns:a16="http://schemas.microsoft.com/office/drawing/2014/main" id="{49744737-EDF1-40CD-AEFD-413E79E49B18}"/>
              </a:ext>
            </a:extLst>
          </p:cNvPr>
          <p:cNvSpPr>
            <a:spLocks xmlns:a="http://schemas.openxmlformats.org/drawingml/2006/main" noGrp="1"/>
          </p:cNvSpPr>
          <p:nvPr/>
        </p:nvSpPr>
        <p:spPr>
          <a:xfrm xmlns:a="http://schemas.openxmlformats.org/drawingml/2006/main">
            <a:off x="7524750" y="462915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Air temperature or health outcomes.</a:t>
            </a:r>
          </a:p>
        </p:txBody>
      </p:sp>
      <p:sp>
        <p:nvSpPr>
          <p:cNvPr id="13" name="">
            <a:extLst xmlns:a="http://schemas.openxmlformats.org/drawingml/2006/main">
              <a:ext uri="{FF2B5EF4-FFF2-40B4-BE49-F238E27FC236}">
                <a16:creationId xmlns:a16="http://schemas.microsoft.com/office/drawing/2014/main" id="{8910AE60-AE34-4CBA-8645-5F26A67B5E5A}"/>
              </a:ext>
            </a:extLst>
          </p:cNvPr>
          <p:cNvSpPr>
            <a:spLocks xmlns:a="http://schemas.openxmlformats.org/drawingml/2006/main" noGrp="1"/>
          </p:cNvSpPr>
          <p:nvPr/>
        </p:nvSpPr>
        <p:spPr>
          <a:xfrm xmlns:a="http://schemas.openxmlformats.org/drawingml/2006/main">
            <a:off x="7524750" y="5086350"/>
            <a:ext cx="369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00">
                <a:solidFill>
                  <a:srgbClr val="F3F6F2"/>
                </a:solidFill>
                <a:latin typeface="Arial"/>
                <a:ea typeface="Arial"/>
                <a:cs typeface="Arial"/>
              </a:defRPr>
            </a:defPPr>
            <a:lvl1pPr algn="l">
              <a:buNone/>
              <a:defRPr sz="1200">
                <a:solidFill>
                  <a:srgbClr val="F3F6F2"/>
                </a:solidFill>
                <a:latin typeface="Arial"/>
                <a:ea typeface="Arial"/>
                <a:cs typeface="Arial"/>
              </a:defRPr>
            </a:lvl1pPr>
            <a:lvl2pPr algn="l">
              <a:buNone/>
              <a:defRPr sz="1200">
                <a:solidFill>
                  <a:srgbClr val="F3F6F2"/>
                </a:solidFill>
                <a:latin typeface="Arial"/>
                <a:ea typeface="Arial"/>
                <a:cs typeface="Arial"/>
              </a:defRPr>
            </a:lvl2pPr>
            <a:lvl3pPr algn="l">
              <a:buNone/>
              <a:defRPr sz="1200">
                <a:solidFill>
                  <a:srgbClr val="F3F6F2"/>
                </a:solidFill>
                <a:latin typeface="Arial"/>
                <a:ea typeface="Arial"/>
                <a:cs typeface="Arial"/>
              </a:defRPr>
            </a:lvl3pPr>
            <a:lvl4pPr algn="l">
              <a:buNone/>
              <a:defRPr sz="1200">
                <a:solidFill>
                  <a:srgbClr val="F3F6F2"/>
                </a:solidFill>
                <a:latin typeface="Arial"/>
                <a:ea typeface="Arial"/>
                <a:cs typeface="Arial"/>
              </a:defRPr>
            </a:lvl4pPr>
            <a:lvl5pPr algn="l">
              <a:buNone/>
              <a:defRPr sz="1200">
                <a:solidFill>
                  <a:srgbClr val="F3F6F2"/>
                </a:solidFill>
                <a:latin typeface="Arial"/>
                <a:ea typeface="Arial"/>
                <a:cs typeface="Arial"/>
              </a:defRPr>
            </a:lvl5pPr>
            <a:lvl6pPr algn="l">
              <a:buNone/>
              <a:defRPr sz="1200">
                <a:solidFill>
                  <a:srgbClr val="F3F6F2"/>
                </a:solidFill>
                <a:latin typeface="Arial"/>
                <a:ea typeface="Arial"/>
                <a:cs typeface="Arial"/>
              </a:defRPr>
            </a:lvl6pPr>
            <a:lvl7pPr algn="l">
              <a:buNone/>
              <a:defRPr sz="1200">
                <a:solidFill>
                  <a:srgbClr val="F3F6F2"/>
                </a:solidFill>
                <a:latin typeface="Arial"/>
                <a:ea typeface="Arial"/>
                <a:cs typeface="Arial"/>
              </a:defRPr>
            </a:lvl7pPr>
            <a:lvl8pPr algn="l">
              <a:buNone/>
              <a:defRPr sz="1200">
                <a:solidFill>
                  <a:srgbClr val="F3F6F2"/>
                </a:solidFill>
                <a:latin typeface="Arial"/>
                <a:ea typeface="Arial"/>
                <a:cs typeface="Arial"/>
              </a:defRPr>
            </a:lvl8pPr>
            <a:lvl9pPr algn="l">
              <a:buNone/>
              <a:defRPr sz="1200">
                <a:solidFill>
                  <a:srgbClr val="F3F6F2"/>
                </a:solidFill>
                <a:latin typeface="Arial"/>
                <a:ea typeface="Arial"/>
                <a:cs typeface="Arial"/>
              </a:defRPr>
            </a:lvl9pPr>
          </a:lstStyle>
          <a:p xmlns:a="http://schemas.openxmlformats.org/drawingml/2006/main">
            <a:pPr marL="228600" indent="-114300" algn="l">
              <a:spcAft>
                <a:spcPts val="0"/>
              </a:spcAft>
              <a:buChar char="•"/>
              <a:defRPr sz="1200">
                <a:solidFill>
                  <a:srgbClr val="F3F6F2"/>
                </a:solidFill>
                <a:latin typeface="Arial"/>
                <a:ea typeface="Arial"/>
                <a:cs typeface="Arial"/>
              </a:defRPr>
            </a:pPr>
            <a:r>
              <a:rPr sz="1200">
                <a:solidFill>
                  <a:srgbClr val="F3F6F2"/>
                </a:solidFill>
                <a:latin typeface="Arial"/>
                <a:ea typeface="Arial"/>
                <a:cs typeface="Arial"/>
              </a:rPr>
              <a:t>Municipal approval or user acceptance.</a:t>
            </a:r>
          </a:p>
        </p:txBody>
      </p:sp>
      <p:sp>
        <p:nvSpPr>
          <p:cNvPr id="14" name="">
            <a:extLst xmlns:a="http://schemas.openxmlformats.org/drawingml/2006/main">
              <a:ext uri="{FF2B5EF4-FFF2-40B4-BE49-F238E27FC236}">
                <a16:creationId xmlns:a16="http://schemas.microsoft.com/office/drawing/2014/main" id="{647AE99D-807B-4DED-98F1-76BDDF3BCBA8}"/>
              </a:ext>
            </a:extLst>
          </p:cNvPr>
          <p:cNvSpPr>
            <a:spLocks xmlns:a="http://schemas.openxmlformats.org/drawingml/2006/main" noGrp="1"/>
          </p:cNvSpPr>
          <p:nvPr/>
        </p:nvSpPr>
        <p:spPr>
          <a:xfrm xmlns:a="http://schemas.openxmlformats.org/drawingml/2006/main">
            <a:off x="7524750" y="5753100"/>
            <a:ext cx="3695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350" b="1">
                <a:solidFill>
                  <a:srgbClr val="E2AD2B"/>
                </a:solidFill>
                <a:latin typeface="Arial"/>
                <a:ea typeface="Arial"/>
                <a:cs typeface="Arial"/>
              </a:defRPr>
            </a:defPPr>
            <a:lvl1pPr algn="l">
              <a:buNone/>
              <a:defRPr sz="1350" b="1">
                <a:solidFill>
                  <a:srgbClr val="E2AD2B"/>
                </a:solidFill>
                <a:latin typeface="Arial"/>
                <a:ea typeface="Arial"/>
                <a:cs typeface="Arial"/>
              </a:defRPr>
            </a:lvl1pPr>
            <a:lvl2pPr algn="l">
              <a:buNone/>
              <a:defRPr sz="1350" b="1">
                <a:solidFill>
                  <a:srgbClr val="E2AD2B"/>
                </a:solidFill>
                <a:latin typeface="Arial"/>
                <a:ea typeface="Arial"/>
                <a:cs typeface="Arial"/>
              </a:defRPr>
            </a:lvl2pPr>
            <a:lvl3pPr algn="l">
              <a:buNone/>
              <a:defRPr sz="1350" b="1">
                <a:solidFill>
                  <a:srgbClr val="E2AD2B"/>
                </a:solidFill>
                <a:latin typeface="Arial"/>
                <a:ea typeface="Arial"/>
                <a:cs typeface="Arial"/>
              </a:defRPr>
            </a:lvl3pPr>
            <a:lvl4pPr algn="l">
              <a:buNone/>
              <a:defRPr sz="1350" b="1">
                <a:solidFill>
                  <a:srgbClr val="E2AD2B"/>
                </a:solidFill>
                <a:latin typeface="Arial"/>
                <a:ea typeface="Arial"/>
                <a:cs typeface="Arial"/>
              </a:defRPr>
            </a:lvl4pPr>
            <a:lvl5pPr algn="l">
              <a:buNone/>
              <a:defRPr sz="1350" b="1">
                <a:solidFill>
                  <a:srgbClr val="E2AD2B"/>
                </a:solidFill>
                <a:latin typeface="Arial"/>
                <a:ea typeface="Arial"/>
                <a:cs typeface="Arial"/>
              </a:defRPr>
            </a:lvl5pPr>
            <a:lvl6pPr algn="l">
              <a:buNone/>
              <a:defRPr sz="1350" b="1">
                <a:solidFill>
                  <a:srgbClr val="E2AD2B"/>
                </a:solidFill>
                <a:latin typeface="Arial"/>
                <a:ea typeface="Arial"/>
                <a:cs typeface="Arial"/>
              </a:defRPr>
            </a:lvl6pPr>
            <a:lvl7pPr algn="l">
              <a:buNone/>
              <a:defRPr sz="1350" b="1">
                <a:solidFill>
                  <a:srgbClr val="E2AD2B"/>
                </a:solidFill>
                <a:latin typeface="Arial"/>
                <a:ea typeface="Arial"/>
                <a:cs typeface="Arial"/>
              </a:defRPr>
            </a:lvl7pPr>
            <a:lvl8pPr algn="l">
              <a:buNone/>
              <a:defRPr sz="1350" b="1">
                <a:solidFill>
                  <a:srgbClr val="E2AD2B"/>
                </a:solidFill>
                <a:latin typeface="Arial"/>
                <a:ea typeface="Arial"/>
                <a:cs typeface="Arial"/>
              </a:defRPr>
            </a:lvl8pPr>
            <a:lvl9pPr algn="l">
              <a:buNone/>
              <a:defRPr sz="1350" b="1">
                <a:solidFill>
                  <a:srgbClr val="E2AD2B"/>
                </a:solidFill>
                <a:latin typeface="Arial"/>
                <a:ea typeface="Arial"/>
                <a:cs typeface="Arial"/>
              </a:defRPr>
            </a:lvl9pPr>
          </a:lstStyle>
          <a:p xmlns:a="http://schemas.openxmlformats.org/drawingml/2006/main">
            <a:pPr algn="l">
              <a:buNone/>
              <a:defRPr sz="1350" b="1">
                <a:solidFill>
                  <a:srgbClr val="E2AD2B"/>
                </a:solidFill>
                <a:latin typeface="Arial"/>
                <a:ea typeface="Arial"/>
                <a:cs typeface="Arial"/>
              </a:defRPr>
            </a:pPr>
            <a:r>
              <a:rPr sz="1350" b="1">
                <a:solidFill>
                  <a:srgbClr val="E2AD2B"/>
                </a:solidFill>
                <a:latin typeface="Arial"/>
                <a:ea typeface="Arial"/>
                <a:cs typeface="Arial"/>
              </a:rPr>
              <a:t>Next: field and user review of the top-ranked cells.</a:t>
            </a:r>
          </a:p>
        </p:txBody>
      </p:sp>
      <p:sp>
        <p:nvSpPr>
          <p:cNvPr id="15" name="">
            <a:extLst xmlns:a="http://schemas.openxmlformats.org/drawingml/2006/main">
              <a:ext uri="{FF2B5EF4-FFF2-40B4-BE49-F238E27FC236}">
                <a16:creationId xmlns:a16="http://schemas.microsoft.com/office/drawing/2014/main" id="{E1EF806B-311A-489A-835B-41AB82C01B00}"/>
              </a:ext>
            </a:extLst>
          </p:cNvPr>
          <p:cNvSpPr>
            <a:spLocks xmlns:a="http://schemas.openxmlformats.org/drawingml/2006/main" noGrp="1"/>
          </p:cNvSpPr>
          <p:nvPr/>
        </p:nvSpPr>
        <p:spPr>
          <a:xfrm xmlns:a="http://schemas.openxmlformats.org/drawingml/2006/main">
            <a:off x="590550" y="2857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l">
              <a:defRPr sz="1050" b="1">
                <a:solidFill>
                  <a:srgbClr val="1AA58F"/>
                </a:solidFill>
                <a:latin typeface="Arial"/>
                <a:ea typeface="Arial"/>
                <a:cs typeface="Arial"/>
              </a:defRPr>
            </a:defPPr>
            <a:lvl1pPr algn="l">
              <a:buNone/>
              <a:defRPr sz="1050" b="1">
                <a:solidFill>
                  <a:srgbClr val="1AA58F"/>
                </a:solidFill>
                <a:latin typeface="Arial"/>
                <a:ea typeface="Arial"/>
                <a:cs typeface="Arial"/>
              </a:defRPr>
            </a:lvl1pPr>
            <a:lvl2pPr algn="l">
              <a:buNone/>
              <a:defRPr sz="1050" b="1">
                <a:solidFill>
                  <a:srgbClr val="1AA58F"/>
                </a:solidFill>
                <a:latin typeface="Arial"/>
                <a:ea typeface="Arial"/>
                <a:cs typeface="Arial"/>
              </a:defRPr>
            </a:lvl2pPr>
            <a:lvl3pPr algn="l">
              <a:buNone/>
              <a:defRPr sz="1050" b="1">
                <a:solidFill>
                  <a:srgbClr val="1AA58F"/>
                </a:solidFill>
                <a:latin typeface="Arial"/>
                <a:ea typeface="Arial"/>
                <a:cs typeface="Arial"/>
              </a:defRPr>
            </a:lvl3pPr>
            <a:lvl4pPr algn="l">
              <a:buNone/>
              <a:defRPr sz="1050" b="1">
                <a:solidFill>
                  <a:srgbClr val="1AA58F"/>
                </a:solidFill>
                <a:latin typeface="Arial"/>
                <a:ea typeface="Arial"/>
                <a:cs typeface="Arial"/>
              </a:defRPr>
            </a:lvl4pPr>
            <a:lvl5pPr algn="l">
              <a:buNone/>
              <a:defRPr sz="1050" b="1">
                <a:solidFill>
                  <a:srgbClr val="1AA58F"/>
                </a:solidFill>
                <a:latin typeface="Arial"/>
                <a:ea typeface="Arial"/>
                <a:cs typeface="Arial"/>
              </a:defRPr>
            </a:lvl5pPr>
            <a:lvl6pPr algn="l">
              <a:buNone/>
              <a:defRPr sz="1050" b="1">
                <a:solidFill>
                  <a:srgbClr val="1AA58F"/>
                </a:solidFill>
                <a:latin typeface="Arial"/>
                <a:ea typeface="Arial"/>
                <a:cs typeface="Arial"/>
              </a:defRPr>
            </a:lvl6pPr>
            <a:lvl7pPr algn="l">
              <a:buNone/>
              <a:defRPr sz="1050" b="1">
                <a:solidFill>
                  <a:srgbClr val="1AA58F"/>
                </a:solidFill>
                <a:latin typeface="Arial"/>
                <a:ea typeface="Arial"/>
                <a:cs typeface="Arial"/>
              </a:defRPr>
            </a:lvl7pPr>
            <a:lvl8pPr algn="l">
              <a:buNone/>
              <a:defRPr sz="1050" b="1">
                <a:solidFill>
                  <a:srgbClr val="1AA58F"/>
                </a:solidFill>
                <a:latin typeface="Arial"/>
                <a:ea typeface="Arial"/>
                <a:cs typeface="Arial"/>
              </a:defRPr>
            </a:lvl8pPr>
            <a:lvl9pPr algn="l">
              <a:buNone/>
              <a:defRPr sz="1050" b="1">
                <a:solidFill>
                  <a:srgbClr val="1AA58F"/>
                </a:solidFill>
                <a:latin typeface="Arial"/>
                <a:ea typeface="Arial"/>
                <a:cs typeface="Arial"/>
              </a:defRPr>
            </a:lvl9pPr>
          </a:lstStyle>
          <a:p xmlns:a="http://schemas.openxmlformats.org/drawingml/2006/main">
            <a:pPr algn="l">
              <a:buNone/>
              <a:defRPr sz="1050" b="1">
                <a:solidFill>
                  <a:srgbClr val="1AA58F"/>
                </a:solidFill>
                <a:latin typeface="Arial"/>
                <a:ea typeface="Arial"/>
                <a:cs typeface="Arial"/>
              </a:defRPr>
            </a:pPr>
            <a:r>
              <a:rPr sz="1050" b="1">
                <a:solidFill>
                  <a:srgbClr val="1AA58F"/>
                </a:solidFill>
                <a:latin typeface="Arial"/>
                <a:ea typeface="Arial"/>
                <a:cs typeface="Arial"/>
              </a:rPr>
              <a:t>APPENDIX</a:t>
            </a:r>
          </a:p>
        </p:txBody>
      </p:sp>
      <p:sp>
        <p:nvSpPr>
          <p:cNvPr id="16" name="">
            <a:extLst xmlns:a="http://schemas.openxmlformats.org/drawingml/2006/main">
              <a:ext uri="{FF2B5EF4-FFF2-40B4-BE49-F238E27FC236}">
                <a16:creationId xmlns:a16="http://schemas.microsoft.com/office/drawing/2014/main" id="{0E89B16B-8D15-4A89-8EF0-69560B8E9E94}"/>
              </a:ext>
            </a:extLst>
          </p:cNvPr>
          <p:cNvSpPr>
            <a:spLocks xmlns:a="http://schemas.openxmlformats.org/drawingml/2006/main" noGrp="1"/>
          </p:cNvSpPr>
          <p:nvPr/>
        </p:nvSpPr>
        <p:spPr>
          <a:xfrm xmlns:a="http://schemas.openxmlformats.org/drawingml/2006/main">
            <a:off x="11191875" y="295275"/>
            <a:ext cx="428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lstStyle xmlns:a="http://schemas.openxmlformats.org/drawingml/2006/main">
            <a:defPPr algn="r">
              <a:defRPr sz="1050" b="1">
                <a:solidFill>
                  <a:srgbClr val="AFC4C6"/>
                </a:solidFill>
                <a:latin typeface="Arial"/>
                <a:ea typeface="Arial"/>
                <a:cs typeface="Arial"/>
              </a:defRPr>
            </a:defPPr>
            <a:lvl1pPr algn="r">
              <a:buNone/>
              <a:defRPr sz="1050" b="1">
                <a:solidFill>
                  <a:srgbClr val="AFC4C6"/>
                </a:solidFill>
                <a:latin typeface="Arial"/>
                <a:ea typeface="Arial"/>
                <a:cs typeface="Arial"/>
              </a:defRPr>
            </a:lvl1pPr>
            <a:lvl2pPr algn="r">
              <a:buNone/>
              <a:defRPr sz="1050" b="1">
                <a:solidFill>
                  <a:srgbClr val="AFC4C6"/>
                </a:solidFill>
                <a:latin typeface="Arial"/>
                <a:ea typeface="Arial"/>
                <a:cs typeface="Arial"/>
              </a:defRPr>
            </a:lvl2pPr>
            <a:lvl3pPr algn="r">
              <a:buNone/>
              <a:defRPr sz="1050" b="1">
                <a:solidFill>
                  <a:srgbClr val="AFC4C6"/>
                </a:solidFill>
                <a:latin typeface="Arial"/>
                <a:ea typeface="Arial"/>
                <a:cs typeface="Arial"/>
              </a:defRPr>
            </a:lvl3pPr>
            <a:lvl4pPr algn="r">
              <a:buNone/>
              <a:defRPr sz="1050" b="1">
                <a:solidFill>
                  <a:srgbClr val="AFC4C6"/>
                </a:solidFill>
                <a:latin typeface="Arial"/>
                <a:ea typeface="Arial"/>
                <a:cs typeface="Arial"/>
              </a:defRPr>
            </a:lvl4pPr>
            <a:lvl5pPr algn="r">
              <a:buNone/>
              <a:defRPr sz="1050" b="1">
                <a:solidFill>
                  <a:srgbClr val="AFC4C6"/>
                </a:solidFill>
                <a:latin typeface="Arial"/>
                <a:ea typeface="Arial"/>
                <a:cs typeface="Arial"/>
              </a:defRPr>
            </a:lvl5pPr>
            <a:lvl6pPr algn="r">
              <a:buNone/>
              <a:defRPr sz="1050" b="1">
                <a:solidFill>
                  <a:srgbClr val="AFC4C6"/>
                </a:solidFill>
                <a:latin typeface="Arial"/>
                <a:ea typeface="Arial"/>
                <a:cs typeface="Arial"/>
              </a:defRPr>
            </a:lvl6pPr>
            <a:lvl7pPr algn="r">
              <a:buNone/>
              <a:defRPr sz="1050" b="1">
                <a:solidFill>
                  <a:srgbClr val="AFC4C6"/>
                </a:solidFill>
                <a:latin typeface="Arial"/>
                <a:ea typeface="Arial"/>
                <a:cs typeface="Arial"/>
              </a:defRPr>
            </a:lvl7pPr>
            <a:lvl8pPr algn="r">
              <a:buNone/>
              <a:defRPr sz="1050" b="1">
                <a:solidFill>
                  <a:srgbClr val="AFC4C6"/>
                </a:solidFill>
                <a:latin typeface="Arial"/>
                <a:ea typeface="Arial"/>
                <a:cs typeface="Arial"/>
              </a:defRPr>
            </a:lvl8pPr>
            <a:lvl9pPr algn="r">
              <a:buNone/>
              <a:defRPr sz="1050" b="1">
                <a:solidFill>
                  <a:srgbClr val="AFC4C6"/>
                </a:solidFill>
                <a:latin typeface="Arial"/>
                <a:ea typeface="Arial"/>
                <a:cs typeface="Arial"/>
              </a:defRPr>
            </a:lvl9pPr>
          </a:lstStyle>
          <a:p xmlns:a="http://schemas.openxmlformats.org/drawingml/2006/main">
            <a:pPr algn="r">
              <a:buNone/>
              <a:defRPr sz="1050" b="1">
                <a:solidFill>
                  <a:srgbClr val="AFC4C6"/>
                </a:solidFill>
                <a:latin typeface="Arial"/>
                <a:ea typeface="Arial"/>
                <a:cs typeface="Arial"/>
              </a:defRPr>
            </a:pPr>
            <a:r>
              <a:rPr sz="1050" b="1">
                <a:solidFill>
                  <a:srgbClr val="AFC4C6"/>
                </a:solidFill>
                <a:latin typeface="Arial"/>
                <a:ea typeface="Arial"/>
                <a:cs typeface="Arial"/>
              </a:rPr>
              <a:t>10</a:t>
            </a:r>
          </a:p>
        </p:txBody>
      </p:sp>
    </p:spTree>
    <p:extLst>
      <p:ext uri="{BB962C8B-B14F-4D97-AF65-F5344CB8AC3E}">
        <p14:creationId xmlns:p14="http://schemas.microsoft.com/office/powerpoint/2010/main" val="1053386576"/>
      </p:ext>
    </p:extLst>
  </p:cSld>
</p:sld>
</file>

<file path=ppt/theme/theme1.xml><?xml version="1.0" encoding="utf-8"?>
<a:theme xmlns:a="http://schemas.openxmlformats.org/drawingml/2006/main" name="ChatGPT">
  <a:themeElements>
    <a:clrScheme name="HeatReady">
      <a:dk1>
        <a:srgbClr val="000000"/>
      </a:dk1>
      <a:lt1>
        <a:srgbClr val="FFFFFF"/>
      </a:lt1>
      <a:dk2>
        <a:srgbClr val="0D2A3A"/>
      </a:dk2>
      <a:lt2>
        <a:srgbClr val="DCE7E7"/>
      </a:lt2>
      <a:accent1>
        <a:srgbClr val="1AA58F"/>
      </a:accent1>
      <a:accent2>
        <a:srgbClr val="F06449"/>
      </a:accent2>
      <a:accent3>
        <a:srgbClr val="E2AD2B"/>
      </a:accent3>
      <a:accent4>
        <a:srgbClr val="6D5DD3"/>
      </a:accent4>
      <a:accent5>
        <a:srgbClr val="3183B8"/>
      </a:accent5>
      <a:accent6>
        <a:srgbClr val="D96787"/>
      </a:accent6>
      <a:hlink>
        <a:srgbClr val="1AA58F"/>
      </a:hlink>
      <a:folHlink>
        <a:srgbClr val="6D5DD3"/>
      </a:folHlink>
    </a:clrScheme>
    <a:fontScheme name="">
      <a:majorFont>
        <a:latin typeface="Aptos"/>
        <a:ea typeface=""/>
        <a:cs typeface=""/>
      </a:majorFont>
      <a:minorFont>
        <a:latin typeface="Aptos"/>
        <a:ea typeface=""/>
        <a:cs typeface=""/>
      </a:minorFont>
    </a:fontScheme>
    <a:fmtScheme name="HeatReady">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2026-10-23T07:59:45.7670000Z</dcterms:created>
  <dcterms:modified xsi:type="dcterms:W3CDTF">2026-10-23T07:59:45.7670000Z</dcterms:modified>
</coreProperties>
</file>