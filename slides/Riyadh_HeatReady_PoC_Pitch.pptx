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6c54c02e7e4b0f" /><Relationship Type="http://schemas.openxmlformats.org/officeDocument/2006/relationships/extended-properties" Target="/docProps/app.xml" Id="R29dc610175e74a29" /><Relationship Type="http://schemas.openxmlformats.org/officeDocument/2006/relationships/officeDocument" Target="/ppt/presentation.xml" Id="R74e7873ddb8246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0a0f93f4e641c8"/>
  </p:sldMasterIdLst>
  <p:notesMasterIdLst>
    <p:notesMasterId xmlns:r="http://schemas.openxmlformats.org/officeDocument/2006/relationships" r:id="Rdba2c2d2960e4af2"/>
  </p:notesMasterIdLst>
  <p:sldIdLst>
    <p:sldId xmlns:r="http://schemas.openxmlformats.org/officeDocument/2006/relationships" id="256" r:id="R9e2e658b55b5415b"/>
    <p:sldId xmlns:r="http://schemas.openxmlformats.org/officeDocument/2006/relationships" id="257" r:id="R44e6c13c751e40b9"/>
    <p:sldId xmlns:r="http://schemas.openxmlformats.org/officeDocument/2006/relationships" id="258" r:id="R3f6b0070f94f41f8"/>
    <p:sldId xmlns:r="http://schemas.openxmlformats.org/officeDocument/2006/relationships" id="259" r:id="Rae3539287a944700"/>
    <p:sldId xmlns:r="http://schemas.openxmlformats.org/officeDocument/2006/relationships" id="260" r:id="R96d717e6f4f34c20"/>
    <p:sldId xmlns:r="http://schemas.openxmlformats.org/officeDocument/2006/relationships" id="261" r:id="Rdb56ae9f10ef46ec"/>
    <p:sldId xmlns:r="http://schemas.openxmlformats.org/officeDocument/2006/relationships" id="262" r:id="R0fa78ffbd39d4396"/>
    <p:sldId xmlns:r="http://schemas.openxmlformats.org/officeDocument/2006/relationships" id="263" r:id="Recb1f2885c3145ca"/>
    <p:sldId xmlns:r="http://schemas.openxmlformats.org/officeDocument/2006/relationships" id="264" r:id="Rcfa6eb91b2b74a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8be6efd90f4ac0" /><Relationship Type="http://schemas.openxmlformats.org/officeDocument/2006/relationships/slideMaster" Target="/ppt/slideMasters/slideMaster1.xml" Id="R6c0a0f93f4e641c8" /><Relationship Type="http://schemas.openxmlformats.org/officeDocument/2006/relationships/notesMaster" Target="/ppt/notesMasters/notesMaster1.xml" Id="Rdba2c2d2960e4af2" /><Relationship Type="http://schemas.openxmlformats.org/officeDocument/2006/relationships/presProps" Target="/ppt/presProps.xml" Id="R4dcdfae475b34df8" /><Relationship Type="http://schemas.openxmlformats.org/officeDocument/2006/relationships/tableStyles" Target="/ppt/tableStyles.xml" Id="Rc53cc7d6716d42c5" /><Relationship Type="http://schemas.openxmlformats.org/officeDocument/2006/relationships/slide" Target="/ppt/slides/slide1.xml" Id="R9e2e658b55b5415b" /><Relationship Type="http://schemas.openxmlformats.org/officeDocument/2006/relationships/slide" Target="/ppt/slides/slide2.xml" Id="R44e6c13c751e40b9" /><Relationship Type="http://schemas.openxmlformats.org/officeDocument/2006/relationships/slide" Target="/ppt/slides/slide3.xml" Id="R3f6b0070f94f41f8" /><Relationship Type="http://schemas.openxmlformats.org/officeDocument/2006/relationships/slide" Target="/ppt/slides/slide4.xml" Id="Rae3539287a944700" /><Relationship Type="http://schemas.openxmlformats.org/officeDocument/2006/relationships/slide" Target="/ppt/slides/slide5.xml" Id="R96d717e6f4f34c20" /><Relationship Type="http://schemas.openxmlformats.org/officeDocument/2006/relationships/slide" Target="/ppt/slides/slide6.xml" Id="Rdb56ae9f10ef46ec" /><Relationship Type="http://schemas.openxmlformats.org/officeDocument/2006/relationships/slide" Target="/ppt/slides/slide7.xml" Id="R0fa78ffbd39d4396" /><Relationship Type="http://schemas.openxmlformats.org/officeDocument/2006/relationships/slide" Target="/ppt/slides/slide8.xml" Id="Recb1f2885c3145ca" /><Relationship Type="http://schemas.openxmlformats.org/officeDocument/2006/relationships/slide" Target="/ppt/slides/slide9.xml" Id="Rcfa6eb91b2b7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aad9723fa049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c2063724a54202" /><Relationship Type="http://schemas.openxmlformats.org/officeDocument/2006/relationships/notesMaster" Target="/ppt/notesMasters/notesMaster1.xml" Id="R13ef47c8d83540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b35f9a0b27438b" /><Relationship Type="http://schemas.openxmlformats.org/officeDocument/2006/relationships/notesMaster" Target="/ppt/notesMasters/notesMaster1.xml" Id="R437a9b2d264647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0ecc6d35d542f5" /><Relationship Type="http://schemas.openxmlformats.org/officeDocument/2006/relationships/notesMaster" Target="/ppt/notesMasters/notesMaster1.xml" Id="R480f6bdfc95045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3314a1df7042ba" /><Relationship Type="http://schemas.openxmlformats.org/officeDocument/2006/relationships/notesMaster" Target="/ppt/notesMasters/notesMaster1.xml" Id="Rf129e58e6fad45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3b28bd79be47fb" /><Relationship Type="http://schemas.openxmlformats.org/officeDocument/2006/relationships/notesMaster" Target="/ppt/notesMasters/notesMaster1.xml" Id="Rab42914c3f4247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e39ea35e724905" /><Relationship Type="http://schemas.openxmlformats.org/officeDocument/2006/relationships/notesMaster" Target="/ppt/notesMasters/notesMaster1.xml" Id="Ra5350f5e325546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6082ca891b4a5c" /><Relationship Type="http://schemas.openxmlformats.org/officeDocument/2006/relationships/notesMaster" Target="/ppt/notesMasters/notesMaster1.xml" Id="R539f5ff11de048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5439ac5fa64dbb" /><Relationship Type="http://schemas.openxmlformats.org/officeDocument/2006/relationships/notesMaster" Target="/ppt/notesMasters/notesMaster1.xml" Id="Rd88518101e9c41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5135ca1d8b4b35" /><Relationship Type="http://schemas.openxmlformats.org/officeDocument/2006/relationships/notesMaster" Target="/ppt/notesMasters/notesMaster1.xml" Id="R71f84683b7d547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output outputs/decision_map.png; official challenge and submission guide https://spaceacademy-hackathons.space.gov.ae/guides/poc-submission-guide.html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outputs/results_summary.json and outputs/analysis_overview.png. The affected group is a problem hypothesis, not a measured health-outcome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business use case; official guide requirement to identify the end user and decision. No user validation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docs/DATA_AND_LICENSES.md; Copernicus https://dataspace.copernicus.eu/terms-and-conditions; Landsat https://www.usgs.gov/faqs/are-landsat-data-cloud-still-considered-be-within-public-domain; WorldCover https://esa-worldcover.org/en/data-access; WorldPop https://hub.worldpop.org/geodata/summary?id=79157; Planet Tanager STAC https://www.planet.com/data/stac/tanager-core-imagery/urban/collection.json; project output outputs/tanager_material_analysis.png.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docs/METHODOLOGY.md; src/run_analysis.py; outputs/validation_metrics.json. The validation reference is satellite-derived, not field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outputs/decision_map.png, results/example_priority_output.png, outputs/results_summary.json, and the executed notebooks/02_main_analysis.ipynb. Values are PoC results, not official city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outputs/validation.png and outputs/validation_metrics.json; ESA WorldCover https://esa-worldcover.org/en/data-access. Metrics are agreement with a satellite-derived reference in a spatial holdout, not independent field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outputs/annual_built_area_timeseries.png and outputs/results_summary.json. Impact and product adoption are hypotheses; no municipality, customer, time saving, revenue, or deployment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 submission guide https://spaceacademy-hackathons.space.gov.ae/guides/poc-submission-guide.html and project docs/PROJECT_BRIEF.md. No user-validation bonus is claimed in the current PoC.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9d654217546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b4d1e7a19a4460" /><Relationship Type="http://schemas.openxmlformats.org/officeDocument/2006/relationships/slideLayout" Target="/ppt/slideLayouts/slideLayout1.xml" Id="R554e97831e814a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4e97831e814a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b6ffafa354832" /><Relationship Type="http://schemas.openxmlformats.org/officeDocument/2006/relationships/image" Target="/ppt/media/image.png" Id="R4af842fb6eb14e3a" /><Relationship Type="http://schemas.openxmlformats.org/officeDocument/2006/relationships/notesSlide" Target="/ppt/notesSlides/notesSlide1.xml" Id="R33fa4016240e46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9f2eca89f44a5" /><Relationship Type="http://schemas.openxmlformats.org/officeDocument/2006/relationships/image" Target="/ppt/media/image2.png" Id="Rb0e5966fce8e4642" /><Relationship Type="http://schemas.openxmlformats.org/officeDocument/2006/relationships/notesSlide" Target="/ppt/notesSlides/notesSlide2.xml" Id="R7f3884722ed04c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51f2526d048eb" /><Relationship Type="http://schemas.openxmlformats.org/officeDocument/2006/relationships/notesSlide" Target="/ppt/notesSlides/notesSlide3.xml" Id="Rd28e873b99dd47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6cb0b26da467d" /><Relationship Type="http://schemas.openxmlformats.org/officeDocument/2006/relationships/image" Target="/ppt/media/image3.png" Id="R4ca66a95b7604549" /><Relationship Type="http://schemas.openxmlformats.org/officeDocument/2006/relationships/notesSlide" Target="/ppt/notesSlides/notesSlide4.xml" Id="R48da246d1ad94e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74dd0ca564cb0" /><Relationship Type="http://schemas.openxmlformats.org/officeDocument/2006/relationships/notesSlide" Target="/ppt/notesSlides/notesSlide5.xml" Id="Rdb79dadf034d49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23d24ca1f4766" /><Relationship Type="http://schemas.openxmlformats.org/officeDocument/2006/relationships/image" Target="/ppt/media/image4.png" Id="R408a665d3d8444d4" /><Relationship Type="http://schemas.openxmlformats.org/officeDocument/2006/relationships/image" Target="/ppt/media/image5.png" Id="R6e0c9d3a238348c3" /><Relationship Type="http://schemas.openxmlformats.org/officeDocument/2006/relationships/notesSlide" Target="/ppt/notesSlides/notesSlide6.xml" Id="Rb2571079dd8f47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298c65f924d91" /><Relationship Type="http://schemas.openxmlformats.org/officeDocument/2006/relationships/image" Target="/ppt/media/image6.png" Id="Rfcf6a2876dec41f4" /><Relationship Type="http://schemas.openxmlformats.org/officeDocument/2006/relationships/notesSlide" Target="/ppt/notesSlides/notesSlide7.xml" Id="R901299c8459348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3c12b16e14439" /><Relationship Type="http://schemas.openxmlformats.org/officeDocument/2006/relationships/image" Target="/ppt/media/image7.png" Id="R8170754c226d415c" /><Relationship Type="http://schemas.openxmlformats.org/officeDocument/2006/relationships/notesSlide" Target="/ppt/notesSlides/notesSlide8.xml" Id="R2bcfb6915b2c47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3c25f176940c8" /><Relationship Type="http://schemas.openxmlformats.org/officeDocument/2006/relationships/notesSlide" Target="/ppt/notesSlides/notesSlide9.xml" Id="Rc8c68a8aa1224e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F0D72-B3AC-4FE8-BFE1-356C3F11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4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842fb6eb14e3a"/>
          <a:srcRect xmlns:a="http://schemas.openxmlformats.org/drawingml/2006/main" l="4671" t="0" r="46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1C1BB-767A-481D-AFC7-57D226F7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9E334-8D6B-4B40-AAB5-178FD2C1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3350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SATELLITE-DERIVED PRIORITY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04D75-956C-4FF0-8023-05056D83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0"/>
            <a:ext cx="64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E51D0-5E6B-4F94-A2A2-EAAF7A1F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RIYADH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F6F62-8ACC-47EC-BB84-553E2364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0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HeatReady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539E2-4271-466F-B390-CD032C2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A growth-to-heat priority map for southeastern Riyadh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B9FF8-99B3-4F1C-A728-15A60747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472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9FED2-2A3B-48FF-A6D0-F82B5A63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AD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2AD2B"/>
                </a:solidFill>
                <a:latin typeface="Arial"/>
                <a:ea typeface="Arial"/>
                <a:cs typeface="Arial"/>
              </a:rPr>
              <a:t>One clear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C8862-B3BA-4A82-AB2A-1858E0D8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Which 1 km zones should a municipal planning and heat-resilience team inspect first?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E7180-A41B-447A-A81E-9C117D96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Milkaholics  •  Urban Expansion, Land Use Change &amp; Heat Risk  •  United Arab Emirates</a:t>
            </a:r>
          </a:p>
        </p:txBody>
      </p:sp>
    </p:spTree>
    <p:extLst>
      <p:ext uri="{BB962C8B-B14F-4D97-AF65-F5344CB8AC3E}">
        <p14:creationId xmlns:p14="http://schemas.microsoft.com/office/powerpoint/2010/main" val="1401002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A960C-A9BF-4132-AC4C-6F77C139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EB792-6781-46A6-9B89-E34B57D0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Growth and heat are visible - but the decision is fragmented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8B240-A9CB-4920-9E1B-A978E3AE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72775-300C-42F9-9743-29AD6AF7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88731-4273-4DAA-ACF0-69E2039B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4476750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8EDD2-FBF2-45CA-926E-CB4CDBE9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06449"/>
                </a:solidFill>
                <a:latin typeface="Arial"/>
                <a:ea typeface="Arial"/>
                <a:cs typeface="Arial"/>
              </a:rPr>
              <a:t>168.30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CB216-6CA6-42C5-922F-F362052B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5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km² study 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8EBD4-E73B-46F7-A970-201DB61B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3733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6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Planners may need to compare separate growth, heat, population, and vegetation layers before choosing where to inspect.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04C1C-40BC-49A0-A284-59A64F96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373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5F979-B5D1-4A2C-800C-306ED811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Affected group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7C3A6-AE5A-4446-86BF-C82B4868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3733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Residents and workers in fast-changing, hot urban-fringe zones.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5966fce8e4642"/>
          <a:srcRect xmlns:a="http://schemas.openxmlformats.org/drawingml/2006/main" l="0" t="12154" r="0" b="12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1600200"/>
            <a:ext cx="6172200" cy="4238625"/>
          </a:xfrm>
          <a:prstGeom xmlns:a="http://schemas.openxmlformats.org/drawingml/2006/main" prst="roundRect">
            <a:avLst>
              <a:gd name="adj" fmla="val 269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604CF-0D66-4783-B20C-7192325C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MILKAHOLICS  •  ARAB YOUTH SPACE HACKATHON: 813 CHALLENGE</a:t>
            </a:r>
          </a:p>
        </p:txBody>
      </p:sp>
    </p:spTree>
    <p:extLst>
      <p:ext uri="{BB962C8B-B14F-4D97-AF65-F5344CB8AC3E}">
        <p14:creationId xmlns:p14="http://schemas.microsoft.com/office/powerpoint/2010/main" val="725332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6A7E9-F634-4097-9EA0-A71BF50D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BUSINESS USE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4E90E-98C1-443C-B384-A79FD3C0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One user. One decision. One testable PoC.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D75AF-ED79-400F-A74C-24B2537F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452E8-6BA9-48DE-8BEB-AD53BFDF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7D685-F58A-46DB-A7F0-7539BB2D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DDD67-34AA-4B81-8DB3-5481431F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857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12E3C-E0EA-4B40-9E33-A4A8797E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73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Municipal planning + heat-resilience 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279B9-D7AB-489B-A127-0C35A614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2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Reviews zones, local plans, infrastructure, and field conditions.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1A541-1A0C-43B6-9D72-43C5FEFA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5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36AFA-B9B5-47EE-B820-C4FED03A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AD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2AD2B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93ACF-204D-4899-85F3-99B540A0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238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F26D7-7C0C-4828-B26C-A74823D2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2705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2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2AD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2AD2B"/>
                </a:solidFill>
                <a:latin typeface="Arial"/>
                <a:ea typeface="Arial"/>
                <a:cs typeface="Arial"/>
              </a:rPr>
              <a:t>Where should we inspect first?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9B0AC-8548-432C-A2A6-87B46020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14700"/>
            <a:ext cx="2705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3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Output: ranked 1 km cells with the evidence behind each score.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4D4B0-D2EC-40B3-9432-E5C79AE6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09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58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8AF30-B585-4EDB-AD65-BB49BF77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6449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6062F-A658-4AA6-B5D6-4D38DF1F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31813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401EC-EF41-49AF-9489-EF3AB37C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241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06449"/>
                </a:solidFill>
                <a:latin typeface="Arial"/>
                <a:ea typeface="Arial"/>
                <a:cs typeface="Arial"/>
              </a:rPr>
              <a:t>Local review before intervention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739FC-43FC-4A4E-8A7D-8FD852DB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8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Shade, trees, cool roofs, or pavements are options to assess - not automatic recommendations.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D1051-BCBA-45A9-9414-F5F8737B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1010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9881D-B7BE-48B8-AC61-AF826775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6449"/>
                </a:solidFill>
                <a:latin typeface="Arial"/>
                <a:ea typeface="Arial"/>
                <a:cs typeface="Arial"/>
              </a:rPr>
              <a:t>HONEST GAP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D9F5C-B243-40A0-8DF0-581473EC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No municipal user interview has happened yet. The current workflow and value are hypotheses to test during incubation.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C7923-33FB-4BB6-8D5B-6FC379D3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MILKAHOLICS  •  ARAB YOUTH SPACE HACKATHON: 813 CHALLENGE</a:t>
            </a:r>
          </a:p>
        </p:txBody>
      </p:sp>
    </p:spTree>
    <p:extLst>
      <p:ext uri="{BB962C8B-B14F-4D97-AF65-F5344CB8AC3E}">
        <p14:creationId xmlns:p14="http://schemas.microsoft.com/office/powerpoint/2010/main" val="6120997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639FEE-8B81-4F5C-A39A-D410384D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SPACE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E5A49-A368-49CB-8098-DE32CB53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Every source has one job - and the result depends on 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8F0B6-2EFF-4712-BCD9-81447AF3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8F9FB-6647-4D2D-9A2F-0CB58DAF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2BA86-D091-4923-8850-3687B53B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544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BDE20-62E9-460E-95BB-9F2010B9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5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A300C-60F0-4AD1-AE59-8CF75761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Sentinel-2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686A0-8491-40E1-830A-8F7E7EED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668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Optical reflectance, quality mask, vegetation + built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33C70-E774-46A4-AF40-1071FB15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544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92A6F-8331-44C6-B894-A4C69799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3B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C899F-B48D-4015-956E-40A027AB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83B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83B8"/>
                </a:solidFill>
                <a:latin typeface="Arial"/>
                <a:ea typeface="Arial"/>
                <a:cs typeface="Arial"/>
              </a:rPr>
              <a:t>Sentinel-1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4B5B0-AE78-4FD9-9AA4-B4E92B53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526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6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Radar structure to reduce bright-desert confusion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68774-C682-46B7-98C5-7D755CA2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544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D7FF3-9051-4811-BBD3-71C866AC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D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C51AD-B12C-411E-AA1F-CFDE332E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847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2A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2AD2B"/>
                </a:solidFill>
                <a:latin typeface="Arial"/>
                <a:ea typeface="Arial"/>
                <a:cs typeface="Arial"/>
              </a:rPr>
              <a:t>Annual LULC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5B007-B208-4A5F-BBB5-A4D139C4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384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4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Six mapped years propose 2018-2023 growth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BFA9C-0702-4FD3-B27C-2CE0944F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544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428FE-0236-4DD9-AAB4-34AFA81E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4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142E3-3C6A-4421-8FF2-49D68C83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6449"/>
                </a:solidFill>
                <a:latin typeface="Arial"/>
                <a:ea typeface="Arial"/>
                <a:cs typeface="Arial"/>
              </a:rPr>
              <a:t>Landsat 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3FA1E-D6D9-41D0-9EB4-4F8A13D3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24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2025 land-surface temperature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20261F-2E91-469E-9661-7C229062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544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005C00-8D2B-41D9-8D4E-3B3134E0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D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88F72-0E12-45F2-A25E-15B72072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5DD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D5DD3"/>
                </a:solidFill>
                <a:latin typeface="Arial"/>
                <a:ea typeface="Arial"/>
                <a:cs typeface="Arial"/>
              </a:rPr>
              <a:t>WorldPop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38E0E-99E6-4046-A39F-58529404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100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Modelled 2025 population exposure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3859E5-339F-4F19-957A-42B410B8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544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9F3BF-378E-46F7-A7E9-E6BA8017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78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11D3A-5172-430E-B192-B775A55C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40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678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6787"/>
                </a:solidFill>
                <a:latin typeface="Arial"/>
                <a:ea typeface="Arial"/>
                <a:cs typeface="Arial"/>
              </a:rPr>
              <a:t>Planet Tanager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A8EDCA-CDA6-4BB3-8FD5-4B5F3DB8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958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426-band 2025 spectra: material context + failure-mode test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66a95b7604549"/>
          <a:stretch xmlns:a="http://schemas.openxmlformats.org/drawingml/2006/main"/>
        </p:blipFill>
        <p:spPr>
          <a:xfrm xmlns:a="http://schemas.openxmlformats.org/drawingml/2006/main">
            <a:off x="6343650" y="1878300"/>
            <a:ext cx="5257800" cy="2091750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10673C-9716-4F81-A0F0-1B756438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52578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71282A-01D7-4659-A1A5-9E22CEEC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72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67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787"/>
                </a:solidFill>
                <a:latin typeface="Arial"/>
                <a:ea typeface="Arial"/>
                <a:cs typeface="Arial"/>
              </a:rPr>
              <a:t>Hyperspectral role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9E9186-4839-4FA8-8C81-7E4AAEA1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57750"/>
            <a:ext cx="4743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Tanager improves the analysis by testing a known desert failure mode. Likely-unbuilt surfaces had higher median narrow-band NDBI than established-built surfaces.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73473F-5EFC-401D-A67B-9C5B63CA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MILKAHOLICS  •  ARAB YOUTH SPACE HACKATHON: 813 CHALLENGE</a:t>
            </a:r>
          </a:p>
        </p:txBody>
      </p:sp>
    </p:spTree>
    <p:extLst>
      <p:ext uri="{BB962C8B-B14F-4D97-AF65-F5344CB8AC3E}">
        <p14:creationId xmlns:p14="http://schemas.microsoft.com/office/powerpoint/2010/main" val="18003573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B592FC-2240-40E3-9F71-49B45B00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16FE3-2AD7-4A28-B92D-8698A17B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A conservative chain from open scenes to inspection priority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ED742-B8FD-4EEB-BB0A-BE607078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7576A-C30B-4E77-AAC1-2A411EBC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17FF8-762F-471E-A593-B8131F4D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03232-A53E-4946-A5B7-3C8E4EA8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183B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B813F-39BB-4ACB-86F1-58DE2A80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89603-898F-4B5D-8146-CAFD33DC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8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83B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83B8"/>
                </a:solidFill>
                <a:latin typeface="Arial"/>
                <a:ea typeface="Arial"/>
                <a:cs typeface="Arial"/>
              </a:rPr>
              <a:t>Align + mask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084B4-8630-4D31-8ABC-FFC043AC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562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Exact scenes</a:t>
            </a:r>
          </a:p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30 m grid</a:t>
            </a:r>
          </a:p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quality filters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BF8F6-9049-4B18-B189-583B1923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1945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5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C07D3-F6E1-40B7-893A-87ABE7D6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621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6BCC7-D79C-4C75-9A61-0369D7C5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33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D5DD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27B5C-4726-41BB-B55C-9C07BC2C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33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F23CB-D1A6-4AA4-B3E4-32F7A5DA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5DD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D5DD3"/>
                </a:solidFill>
                <a:latin typeface="Arial"/>
                <a:ea typeface="Arial"/>
                <a:cs typeface="Arial"/>
              </a:rPr>
              <a:t>Learn built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088A6-B529-474E-BD1C-9AFEC968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24250"/>
            <a:ext cx="1562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Sentinel-2 + SAR</a:t>
            </a:r>
          </a:p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west train</a:t>
            </a:r>
          </a:p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middle tune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693FB-94FB-4035-8C39-0DAA246A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5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5BC56-81F8-4F3C-8290-F2DE4FE3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621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70D6C-39DF-4164-AC49-E7416643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33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AD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1DE5B-CAD9-459A-BBCB-85D7B979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33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E3D5B-030F-43AD-B3FD-AD48AEE7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AD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2AD2B"/>
                </a:solidFill>
                <a:latin typeface="Arial"/>
                <a:ea typeface="Arial"/>
                <a:cs typeface="Arial"/>
              </a:rPr>
              <a:t>Propose 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686A3-E08F-412A-987B-D321CFD0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24250"/>
            <a:ext cx="1562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Six annual maps</a:t>
            </a:r>
          </a:p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2018 → 2023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CA16F-1A24-4940-A64D-BFCF6AE9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1945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58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2B589-4C5C-4242-B1A4-9D1CC97C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318CC-3C8C-495E-8025-A95BE17A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33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644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13804-F776-4830-93F6-F163B507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33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7DD731-9587-4BD9-9756-397A1236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6449"/>
                </a:solidFill>
                <a:latin typeface="Arial"/>
                <a:ea typeface="Arial"/>
                <a:cs typeface="Arial"/>
              </a:rPr>
              <a:t>Confirm growth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CE0E68-AF88-49F5-8311-4BD1062C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24250"/>
            <a:ext cx="1562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Keep change only if</a:t>
            </a:r>
          </a:p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2025 fusion agrees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3CC714-4922-439F-84F4-2283180F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1945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58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025658-6EB6-4169-A4B1-9FA2BC66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621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1DE24F-6A51-40F5-8318-FC597409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33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A58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A2DE44-A3C9-4BFD-93F4-C2B046D8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33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9F3F25-5D66-411A-B360-339D459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813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Rank 1 km cells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E16F42-F46C-4D72-8C20-781FEBD9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24250"/>
            <a:ext cx="1562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40% heat</a:t>
            </a:r>
          </a:p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30% people</a:t>
            </a:r>
          </a:p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20% growth</a:t>
            </a:r>
          </a:p>
          <a:p xmlns:a="http://schemas.openxmlformats.org/drawingml/2006/main">
            <a:pPr algn="l">
              <a:defRPr sz="135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10% lack green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A5BA62-1962-4C18-B771-D8769038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896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6F0642-7E8C-4422-906C-DD28E445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Validation design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F26417-BEA2-472E-9819-F949A816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19700"/>
            <a:ext cx="834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The east side is held out for testing against WorldCover. The final growth layer must pass two independent tests: annual change + optical-radar confirmation.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87052E-55E2-4BD7-8F9A-9163F501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MILKAHOLICS  •  ARAB YOUTH SPACE HACKATHON: 813 CHALLENGE</a:t>
            </a:r>
          </a:p>
        </p:txBody>
      </p:sp>
    </p:spTree>
    <p:extLst>
      <p:ext uri="{BB962C8B-B14F-4D97-AF65-F5344CB8AC3E}">
        <p14:creationId xmlns:p14="http://schemas.microsoft.com/office/powerpoint/2010/main" val="20786514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397995-EA4E-49D3-B236-959AD4CA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WORKING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481A4-3B1A-4366-98E0-D7D5C120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Six data sources become one ranked inspection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31E0D-223B-402C-A9DF-F2646368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18456-B4FE-49D1-A62E-5E577653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a665d3d8444d4"/>
          <a:stretch xmlns:a="http://schemas.openxmlformats.org/drawingml/2006/main"/>
        </p:blipFill>
        <p:spPr>
          <a:xfrm xmlns:a="http://schemas.openxmlformats.org/drawingml/2006/main">
            <a:off x="714630" y="1562100"/>
            <a:ext cx="4304790" cy="4762500"/>
          </a:xfrm>
          <a:prstGeom xmlns:a="http://schemas.openxmlformats.org/drawingml/2006/main" prst="roundRect">
            <a:avLst>
              <a:gd name="adj" fmla="val 2510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c9d3a238348c3"/>
          <a:stretch xmlns:a="http://schemas.openxmlformats.org/drawingml/2006/main"/>
        </p:blipFill>
        <p:spPr>
          <a:xfrm xmlns:a="http://schemas.openxmlformats.org/drawingml/2006/main">
            <a:off x="5975560" y="1562100"/>
            <a:ext cx="504148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EF666-D403-481E-B693-69BB5B17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95800"/>
            <a:ext cx="1924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DEFFF-7775-48F0-B0F6-5A848916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958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67BC2-8638-48E3-AA05-AECF7943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910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6449"/>
                </a:solidFill>
                <a:latin typeface="Arial"/>
                <a:ea typeface="Arial"/>
                <a:cs typeface="Arial"/>
              </a:rPr>
              <a:t>3.74 km²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82DE2-1273-4759-BD64-88405A19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5777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confirmed growth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5627F-C0A8-4A9B-A784-B2F941F8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95800"/>
            <a:ext cx="1924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702FB-298A-4C5B-9B49-0F0592CC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958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5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D677A-43A2-4DCC-92BA-DB9DD88F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910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14 / 67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9BEF0-8B0C-485E-ACEF-CDE540CA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5777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High / eligible cells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F3EA0-B2E1-4224-86C6-F2710200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95800"/>
            <a:ext cx="2019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7053E-148F-468F-B932-E8EDA3C6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958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D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6028F9-AE14-4999-9DDB-117B75B1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910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2AD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2AD2B"/>
                </a:solidFill>
                <a:latin typeface="Arial"/>
                <a:ea typeface="Arial"/>
                <a:cs typeface="Arial"/>
              </a:rPr>
              <a:t>78.7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08704-EB6A-4991-B63D-36E287C6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577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top score: R05C10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CDF7B-742A-4EBA-9098-84AB01E2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772150"/>
            <a:ext cx="621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Screening result - verify locally before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F78F19-5EA4-4ED1-9A81-95D44FAD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MILKAHOLICS  •  ARAB YOUTH SPACE HACKATHON: 813 CHALLENGE</a:t>
            </a:r>
          </a:p>
        </p:txBody>
      </p:sp>
    </p:spTree>
    <p:extLst>
      <p:ext uri="{BB962C8B-B14F-4D97-AF65-F5344CB8AC3E}">
        <p14:creationId xmlns:p14="http://schemas.microsoft.com/office/powerpoint/2010/main" val="220991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F84C4-BAAF-45DC-8A65-E639C36C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VALIDATION +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B1EB8-6042-4985-B3A6-A5A61C26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0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Strong satellite agreement - with clear boundaries on the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FFE2A-9632-43B5-BB29-B8AAD035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CF4F7-D6D9-41F2-A8A0-A63275F9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6a2876dec41f4"/>
          <a:stretch xmlns:a="http://schemas.openxmlformats.org/drawingml/2006/main"/>
        </p:blipFill>
        <p:spPr>
          <a:xfrm xmlns:a="http://schemas.openxmlformats.org/drawingml/2006/main">
            <a:off x="590550" y="1941554"/>
            <a:ext cx="7010400" cy="2974893"/>
          </a:xfrm>
          <a:prstGeom xmlns:a="http://schemas.openxmlformats.org/drawingml/2006/main" prst="roundRect">
            <a:avLst>
              <a:gd name="adj" fmla="val 312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8BE57-F452-4141-8A78-1817C6B7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00200"/>
            <a:ext cx="1752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466B5-928B-4CE3-B5EE-48A787B0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00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58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3F763-C04A-4F66-8B2D-D561577B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9545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0.88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992AC-545E-447E-A6FA-962AED11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6217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F1 agreement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79EC0-2686-49E6-8FDA-FC91D490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002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F33A1-0BA0-408D-9A56-373788E6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00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D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9E788-7258-4E68-8808-ED3AFEE5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9545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2AD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2AD2B"/>
                </a:solidFill>
                <a:latin typeface="Arial"/>
                <a:ea typeface="Arial"/>
                <a:cs typeface="Arial"/>
              </a:rPr>
              <a:t>0.78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B9A61-A566-4836-B98B-AF2D5F48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62175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34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intersection over union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5E420-29A2-4D2D-A55B-A01DF43F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37528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5C51F-23B4-4610-AAF1-E975B93D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6449"/>
                </a:solidFill>
                <a:latin typeface="Arial"/>
                <a:ea typeface="Arial"/>
                <a:cs typeface="Arial"/>
              </a:rPr>
              <a:t>Four limits to remember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47AA1-687B-4FC7-9849-760B135A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13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1  WorldCover agreement is not field accuracy.</a:t>
            </a:r>
          </a:p>
          <a:p xmlns:a="http://schemas.openxmlformats.org/drawingml/2006/main">
            <a:pPr algn="l">
              <a:defRPr sz="1500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2  Surface temperature is not air temperature.</a:t>
            </a:r>
          </a:p>
          <a:p xmlns:a="http://schemas.openxmlformats.org/drawingml/2006/main">
            <a:pPr algn="l">
              <a:defRPr sz="1500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3  WorldPop is modelled, not a census.</a:t>
            </a:r>
          </a:p>
          <a:p xmlns:a="http://schemas.openxmlformats.org/drawingml/2006/main">
            <a:pPr algn="l">
              <a:defRPr sz="1500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4  Bright desert can still confuse built surfaces.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D1B52-8415-4EAA-8AB1-9A766E4C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11010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37CD7-C965-47C1-88E4-0EB9E044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The 2022 mapped-area dip is useful evidence of uncertainty - not something to hide.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A6B93-0485-4DC5-A3E7-3D303F42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MILKAHOLICS  •  ARAB YOUTH SPACE HACKATHON: 813 CHALLENGE</a:t>
            </a:r>
          </a:p>
        </p:txBody>
      </p:sp>
    </p:spTree>
    <p:extLst>
      <p:ext uri="{BB962C8B-B14F-4D97-AF65-F5344CB8AC3E}">
        <p14:creationId xmlns:p14="http://schemas.microsoft.com/office/powerpoint/2010/main" val="18499689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4083F-6FD2-49E8-A5F0-BCE67479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3A5E2-83F6-4C49-8CD8-801F3E91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A repeatable screen can focus scarce local inspection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5763F-2BA5-4CE1-83A2-7A801BA6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B1231-7A6D-4AA1-9AB2-3DB9EF2B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D3396-8E16-4B2C-B016-781C24EB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4095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2DABB-0025-43CD-9F61-ED2D6215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PILOT HYPOTHESIS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7C886-0843-46B5-A2DD-15E83AE5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81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Inspect the top five zones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24A3F-D360-4171-B3A1-47537878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224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A planning team compares the ranking with local plans and field conditions, then records useful hits, false alarms, and time saved.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11D32-C678-4EC1-AACD-3283A56E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3B20C-FF4D-4D2A-87A7-643C3DB6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AD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2AD2B"/>
                </a:solidFill>
                <a:latin typeface="Arial"/>
                <a:ea typeface="Arial"/>
                <a:cs typeface="Arial"/>
              </a:rPr>
              <a:t>Deliverable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2CD97-EF1C-41F6-AFA0-44DD77FF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Refreshable dashboard + CSV + GeoJSON + GeoTIFF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0754c226d415c"/>
          <a:stretch xmlns:a="http://schemas.openxmlformats.org/drawingml/2006/main"/>
        </p:blipFill>
        <p:spPr>
          <a:xfrm xmlns:a="http://schemas.openxmlformats.org/drawingml/2006/main">
            <a:off x="5611074" y="1619250"/>
            <a:ext cx="5389452" cy="2990850"/>
          </a:xfrm>
          <a:prstGeom xmlns:a="http://schemas.openxmlformats.org/drawingml/2006/main" prst="roundRect">
            <a:avLst>
              <a:gd name="adj" fmla="val 382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5C222-BB4F-4460-A1E1-1C854ECF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57750"/>
            <a:ext cx="2038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FCB0F-BB9C-40C1-85DA-63716839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57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3B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6C6F4-E6E0-43C0-962E-D2E7F8B9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530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83B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83B8"/>
                </a:solidFill>
                <a:latin typeface="Arial"/>
                <a:ea typeface="Arial"/>
                <a:cs typeface="Arial"/>
              </a:rPr>
              <a:t>85.39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61D27-6306-48E2-A37E-8EA9588D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1972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km² mapped in 2018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EB70D-6318-4404-B236-2EE1DE4C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2038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79F62-4473-4EB3-9CCB-39C9D79B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4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58298-E601-45BD-AA54-EA46FDA0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6449"/>
                </a:solidFill>
                <a:latin typeface="Arial"/>
                <a:ea typeface="Arial"/>
                <a:cs typeface="Arial"/>
              </a:rPr>
              <a:t>98.03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06542-0BC2-49B5-82CF-C90A7D84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41972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km² mapped in 2023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4AA44-D154-40F5-AC8F-F8BFF70A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57750"/>
            <a:ext cx="2133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4B41A-41A5-4AC9-B5D2-39E57684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57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D2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6D900C-B31E-4A33-948D-649C2D43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530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2AD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2AD2B"/>
                </a:solidFill>
                <a:latin typeface="Arial"/>
                <a:ea typeface="Arial"/>
                <a:cs typeface="Arial"/>
              </a:rPr>
              <a:t>1 area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A7EB6-E243-445B-8652-87ABC4D4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41972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4C6"/>
                </a:solidFill>
                <a:latin typeface="Arial"/>
                <a:ea typeface="Arial"/>
                <a:cs typeface="Arial"/>
              </a:rPr>
              <a:t>tested; not all Riyadh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0AADE-D5AC-4DAB-B0F6-59CE4DE8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MILKAHOLICS  •  ARAB YOUTH SPACE HACKATHON: 813 CHALLENGE</a:t>
            </a:r>
          </a:p>
        </p:txBody>
      </p:sp>
    </p:spTree>
    <p:extLst>
      <p:ext uri="{BB962C8B-B14F-4D97-AF65-F5344CB8AC3E}">
        <p14:creationId xmlns:p14="http://schemas.microsoft.com/office/powerpoint/2010/main" val="21185144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F76E20-23A0-49AA-99E1-B6F6BC40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INCUBATION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A5637-493F-4AE4-8B7E-A2786821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6F2"/>
                </a:solidFill>
                <a:latin typeface="Arial"/>
                <a:ea typeface="Arial"/>
                <a:cs typeface="Arial"/>
              </a:rPr>
              <a:t>Turn a credible screen into a user-validated municipal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D8137-601A-4940-8EAE-46542542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F8225-7D05-4CF9-96FA-7EEF67CE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B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16FAD-5FA7-4807-ACB2-6A0B09E3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1BF0B-33AB-4832-B3FC-4CF8356F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38300"/>
            <a:ext cx="981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C1537-9CBD-467A-BBAF-82F26DC4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954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AA58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A58F"/>
                </a:solidFill>
                <a:latin typeface="Arial"/>
                <a:ea typeface="Arial"/>
                <a:cs typeface="Arial"/>
              </a:rPr>
              <a:t>Interview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C3612-9C2B-4278-92A4-5FEB37F1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9545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3+ planners, GIS staff, or heat stakeholders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C98DA-A367-4F08-A262-672D35C6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2AD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2AD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9AAA8-26C1-4F22-BFA7-93666092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81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969D3-C977-4CFF-85A5-193751BD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2AD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2AD2B"/>
                </a:solidFill>
                <a:latin typeface="Arial"/>
                <a:ea typeface="Arial"/>
                <a:cs typeface="Arial"/>
              </a:rPr>
              <a:t>Agree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CEDC4-E33F-4D5D-8E61-9FE8EEEA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User decision, weights, thresholds, and success measure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B99BD-A74A-4271-A301-B22318CF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64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8F45B-9713-458C-97C3-0672CD31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90900"/>
            <a:ext cx="981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80E2F-F01E-4B10-90F0-DE2F2DBA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480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6449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64C23-92C6-4E66-91DE-604021F4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4805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Field-check top zones and label false alarms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9C13B-D172-40C9-ABA5-424FA663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D5DD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5DD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90CC8-5D7D-47E1-BBFD-02FE1CCD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67200"/>
            <a:ext cx="981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4AA5B-A67C-4416-B63E-3F29B446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D5DD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D5DD3"/>
                </a:solidFill>
                <a:latin typeface="Arial"/>
                <a:ea typeface="Arial"/>
                <a:cs typeface="Arial"/>
              </a:rPr>
              <a:t>Enrich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EE6D9-5D08-4CC3-93DE-F604A50E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2435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City plans, worker exposure, and higher-resolution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EAF8BE-D9F7-48AA-822A-07EAD41C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183B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83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59685-2B94-47AB-9D07-E3A6856D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0"/>
            <a:ext cx="981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E2D3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D08093-73CA-4BF8-9CA2-A41EB10D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006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83B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83B8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53DDEE-3B2C-4ECF-B42D-976303A9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0065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6F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2"/>
                </a:solidFill>
                <a:latin typeface="Arial"/>
                <a:ea typeface="Arial"/>
                <a:cs typeface="Arial"/>
              </a:rPr>
              <a:t>Run another Riyadh area and test update cost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0D30A-EC4D-4728-9FCF-2D8064B9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53150"/>
            <a:ext cx="981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58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CF67D-186E-4E3F-AC8C-17884FD9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912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Goal: prove usefulness with real users - then scale the data and product.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77F5A4-3C4B-4959-9A1C-8FC0055B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4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4C6"/>
                </a:solidFill>
                <a:latin typeface="Arial"/>
                <a:ea typeface="Arial"/>
                <a:cs typeface="Arial"/>
              </a:rPr>
              <a:t>MILKAHOLICS  •  ARAB YOUTH SPACE HACKATHON: 813 CHALLENGE</a:t>
            </a:r>
          </a:p>
        </p:txBody>
      </p:sp>
    </p:spTree>
    <p:extLst>
      <p:ext uri="{BB962C8B-B14F-4D97-AF65-F5344CB8AC3E}">
        <p14:creationId xmlns:p14="http://schemas.microsoft.com/office/powerpoint/2010/main" val="621913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2026-10-01T16:16:26.0870000Z</dcterms:created>
  <dcterms:modified xsi:type="dcterms:W3CDTF">2026-10-01T16:16:26.0880000Z</dcterms:modified>
</coreProperties>
</file>