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d48022e5ec42c4" /><Relationship Type="http://schemas.openxmlformats.org/officeDocument/2006/relationships/extended-properties" Target="/docProps/app.xml" Id="Rbe6f991c37c440b3" /><Relationship Type="http://schemas.openxmlformats.org/officeDocument/2006/relationships/officeDocument" Target="/ppt/presentation.xml" Id="R6d3abbac6fae4e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7a64c343064252"/>
  </p:sldMasterIdLst>
  <p:notesMasterIdLst>
    <p:notesMasterId xmlns:r="http://schemas.openxmlformats.org/officeDocument/2006/relationships" r:id="Rd5df7dd66570447b"/>
  </p:notesMasterIdLst>
  <p:sldIdLst>
    <p:sldId xmlns:r="http://schemas.openxmlformats.org/officeDocument/2006/relationships" id="256" r:id="R5ac19075d3a44f56"/>
    <p:sldId xmlns:r="http://schemas.openxmlformats.org/officeDocument/2006/relationships" id="257" r:id="R080eb2e928e1448b"/>
    <p:sldId xmlns:r="http://schemas.openxmlformats.org/officeDocument/2006/relationships" id="258" r:id="Rdf4e1f1ee2b54b5e"/>
    <p:sldId xmlns:r="http://schemas.openxmlformats.org/officeDocument/2006/relationships" id="259" r:id="R3c9690366c6b4e39"/>
    <p:sldId xmlns:r="http://schemas.openxmlformats.org/officeDocument/2006/relationships" id="260" r:id="R4c2d88691bc4476b"/>
    <p:sldId xmlns:r="http://schemas.openxmlformats.org/officeDocument/2006/relationships" id="261" r:id="R99d6ea4fc18443bf"/>
    <p:sldId xmlns:r="http://schemas.openxmlformats.org/officeDocument/2006/relationships" id="262" r:id="R5d15f3b29f8549ed"/>
    <p:sldId xmlns:r="http://schemas.openxmlformats.org/officeDocument/2006/relationships" id="263" r:id="R272cbb2935024c63"/>
    <p:sldId xmlns:r="http://schemas.openxmlformats.org/officeDocument/2006/relationships" id="264" r:id="R6c80d65a10dc4875"/>
    <p:sldId xmlns:r="http://schemas.openxmlformats.org/officeDocument/2006/relationships" id="265" r:id="R9f973a93f714496f"/>
    <p:sldId xmlns:r="http://schemas.openxmlformats.org/officeDocument/2006/relationships" id="266" r:id="Rc7422d16e90c492a"/>
    <p:sldId xmlns:r="http://schemas.openxmlformats.org/officeDocument/2006/relationships" id="267" r:id="R960361712c6648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bcaee0b8584496" /><Relationship Type="http://schemas.openxmlformats.org/officeDocument/2006/relationships/slideMaster" Target="/ppt/slideMasters/slideMaster1.xml" Id="R847a64c343064252" /><Relationship Type="http://schemas.openxmlformats.org/officeDocument/2006/relationships/notesMaster" Target="/ppt/notesMasters/notesMaster1.xml" Id="Rd5df7dd66570447b" /><Relationship Type="http://schemas.openxmlformats.org/officeDocument/2006/relationships/presProps" Target="/ppt/presProps.xml" Id="R580dc767d2a04c7d" /><Relationship Type="http://schemas.openxmlformats.org/officeDocument/2006/relationships/tableStyles" Target="/ppt/tableStyles.xml" Id="Re1d2e09d3a48487d" /><Relationship Type="http://schemas.openxmlformats.org/officeDocument/2006/relationships/slide" Target="/ppt/slides/slide1.xml" Id="R5ac19075d3a44f56" /><Relationship Type="http://schemas.openxmlformats.org/officeDocument/2006/relationships/slide" Target="/ppt/slides/slide2.xml" Id="R080eb2e928e1448b" /><Relationship Type="http://schemas.openxmlformats.org/officeDocument/2006/relationships/slide" Target="/ppt/slides/slide3.xml" Id="Rdf4e1f1ee2b54b5e" /><Relationship Type="http://schemas.openxmlformats.org/officeDocument/2006/relationships/slide" Target="/ppt/slides/slide4.xml" Id="R3c9690366c6b4e39" /><Relationship Type="http://schemas.openxmlformats.org/officeDocument/2006/relationships/slide" Target="/ppt/slides/slide5.xml" Id="R4c2d88691bc4476b" /><Relationship Type="http://schemas.openxmlformats.org/officeDocument/2006/relationships/slide" Target="/ppt/slides/slide6.xml" Id="R99d6ea4fc18443bf" /><Relationship Type="http://schemas.openxmlformats.org/officeDocument/2006/relationships/slide" Target="/ppt/slides/slide7.xml" Id="R5d15f3b29f8549ed" /><Relationship Type="http://schemas.openxmlformats.org/officeDocument/2006/relationships/slide" Target="/ppt/slides/slide8.xml" Id="R272cbb2935024c63" /><Relationship Type="http://schemas.openxmlformats.org/officeDocument/2006/relationships/slide" Target="/ppt/slides/slide9.xml" Id="R6c80d65a10dc4875" /><Relationship Type="http://schemas.openxmlformats.org/officeDocument/2006/relationships/slide" Target="/ppt/slides/slide10.xml" Id="R9f973a93f714496f" /><Relationship Type="http://schemas.openxmlformats.org/officeDocument/2006/relationships/slide" Target="/ppt/slides/slide11.xml" Id="Rc7422d16e90c492a" /><Relationship Type="http://schemas.openxmlformats.org/officeDocument/2006/relationships/slide" Target="/ppt/slides/slide12.xml" Id="R960361712c6648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3a0e7e223a48b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3c69e69b1a4e86" /><Relationship Type="http://schemas.openxmlformats.org/officeDocument/2006/relationships/notesMaster" Target="/ppt/notesMasters/notesMaster1.xml" Id="Rd87fcab7fa2142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e3be5311e04b68" /><Relationship Type="http://schemas.openxmlformats.org/officeDocument/2006/relationships/notesMaster" Target="/ppt/notesMasters/notesMaster1.xml" Id="Rad0a1ab70b95443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9d786bb4e84b40" /><Relationship Type="http://schemas.openxmlformats.org/officeDocument/2006/relationships/notesMaster" Target="/ppt/notesMasters/notesMaster1.xml" Id="Rb1addb5095504b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6aa39c7e1f040d8" /><Relationship Type="http://schemas.openxmlformats.org/officeDocument/2006/relationships/notesMaster" Target="/ppt/notesMasters/notesMaster1.xml" Id="R837ad00e973845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b42f137a2f4394" /><Relationship Type="http://schemas.openxmlformats.org/officeDocument/2006/relationships/notesMaster" Target="/ppt/notesMasters/notesMaster1.xml" Id="Rbcd9d3bf02df48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eb9ad02b0644cd" /><Relationship Type="http://schemas.openxmlformats.org/officeDocument/2006/relationships/notesMaster" Target="/ppt/notesMasters/notesMaster1.xml" Id="Rcf337aae02f54f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25082518f64fe2" /><Relationship Type="http://schemas.openxmlformats.org/officeDocument/2006/relationships/notesMaster" Target="/ppt/notesMasters/notesMaster1.xml" Id="R36f14a35ab72413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cca7a65e014cc2" /><Relationship Type="http://schemas.openxmlformats.org/officeDocument/2006/relationships/notesMaster" Target="/ppt/notesMasters/notesMaster1.xml" Id="Rad8a44fe53cc4ea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004cede0f44525" /><Relationship Type="http://schemas.openxmlformats.org/officeDocument/2006/relationships/notesMaster" Target="/ppt/notesMasters/notesMaster1.xml" Id="Re65a9a9eb149441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8fc9e17c234b34" /><Relationship Type="http://schemas.openxmlformats.org/officeDocument/2006/relationships/notesMaster" Target="/ppt/notesMasters/notesMaster1.xml" Id="Rceee3755dc844ed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3eeb5500ca4ae6" /><Relationship Type="http://schemas.openxmlformats.org/officeDocument/2006/relationships/notesMaster" Target="/ppt/notesMasters/notesMaster1.xml" Id="R5a242f6a3a4f4a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1d761cb308a48f7" /><Relationship Type="http://schemas.openxmlformats.org/officeDocument/2006/relationships/notesMaster" Target="/ppt/notesMasters/notesMaster1.xml" Id="R0229c70d83664f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Project output outputs/decision_map.png; official challenge and submission guide https://spaceacademy-hackathons.space.gov.ae/guides/poc-submission-guide.html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project outputs/results_summary.json and outputs/analysis_overview.png. The affected group is a problem hypothesis, not a measured health-outcome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business use case; official guide requirement to identify the end user and decision. No user validation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docs/DATA_AND_LICENSES.md; Copernicus https://dataspace.copernicus.eu/terms-and-conditions; Landsat https://www.usgs.gov/faqs/are-landsat-data-cloud-still-considered-be-within-public-domain; WorldCover https://esa-worldcover.org/en/data-access; WorldPop https://hub.worldpop.org/geodata/summary?id=79157; Planet Tanager STAC https://www.planet.com/data/stac/tanager-core-imagery/urban/collection.json; project output outputs/tanager_material_analysis.png.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docs/METHODOLOGY.md; src/run_analysis.py; outputs/validation_metrics.json. The validation reference is satellite-derived, not field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outputs/decision_map.png, results/example_priority_output.png, outputs/results_summary.json, and the executed notebooks/02_main_analysis.ipynb. Values are PoC results, not official city statistics.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outputs/validation.png and outputs/validation_metrics.json; ESA WorldCover https://esa-worldcover.org/en/data-access. Metrics are agreement with a satellite-derived reference in a spatial holdout, not independent field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outputs/annual_built_area_timeseries.png and outputs/results_summary.json. Impact and product adoption are hypotheses; no municipality, customer, time saving, revenue, or deployment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official submission guide https://spaceacademy-hackathons.space.gov.ae/guides/poc-submission-guide.html and project docs/PROJECT_BRIEF.md. No user-validation bonus is claimed in the current PoC.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config.json and docs/DATA_AND_LICENSES.md. Provider references are listed in that document. Official submission guidance permits appendix slides: https://www.youtube.com/watch?v=942fmaGOHGk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outputs/validation_metrics.json, outputs/results_summary.json and docs/METHODOLOGY.md. Agreement is measured against ESA WorldCover 2021, a satellite-derived reference.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README.md, docs/METHODOLOGY.md, outputs/results_summary.json and docs/PRESENTER_GUIDE.md. The official first orientation confirms that Q&amp;A answers count toward scoring: https://www.youtube.com/watch?v=942fmaGOHGk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3e8b2e36584f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97428224be40db" /><Relationship Type="http://schemas.openxmlformats.org/officeDocument/2006/relationships/slideLayout" Target="/ppt/slideLayouts/slideLayout1.xml" Id="R48bf499753b44cd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bf499753b44cd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26a9218e4e493b" /><Relationship Type="http://schemas.openxmlformats.org/officeDocument/2006/relationships/image" Target="/ppt/media/image.png" Id="R3391a11222624904" /><Relationship Type="http://schemas.openxmlformats.org/officeDocument/2006/relationships/notesSlide" Target="/ppt/notesSlides/notesSlide1.xml" Id="Rf273d19e58bc40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b785be40964e7b" /><Relationship Type="http://schemas.openxmlformats.org/officeDocument/2006/relationships/image" Target="/ppt/media/image2.png" Id="R9e47c7399ed14707" /><Relationship Type="http://schemas.openxmlformats.org/officeDocument/2006/relationships/notesSlide" Target="/ppt/notesSlides/notesSlide2.xml" Id="R7323f860da6c4d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e2138c47d447a6" /><Relationship Type="http://schemas.openxmlformats.org/officeDocument/2006/relationships/notesSlide" Target="/ppt/notesSlides/notesSlide3.xml" Id="R7aaa71cde23541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386e3378ba49de" /><Relationship Type="http://schemas.openxmlformats.org/officeDocument/2006/relationships/image" Target="/ppt/media/image3.png" Id="R391a49bdc0154fce" /><Relationship Type="http://schemas.openxmlformats.org/officeDocument/2006/relationships/notesSlide" Target="/ppt/notesSlides/notesSlide4.xml" Id="Rf2f05e593a614fa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2bc53cc724980" /><Relationship Type="http://schemas.openxmlformats.org/officeDocument/2006/relationships/notesSlide" Target="/ppt/notesSlides/notesSlide5.xml" Id="Re3ba0deb83064ec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289aaa6464626" /><Relationship Type="http://schemas.openxmlformats.org/officeDocument/2006/relationships/image" Target="/ppt/media/image4.png" Id="R9b0182ec80d74495" /><Relationship Type="http://schemas.openxmlformats.org/officeDocument/2006/relationships/image" Target="/ppt/media/image5.png" Id="Reac0472df056479b" /><Relationship Type="http://schemas.openxmlformats.org/officeDocument/2006/relationships/notesSlide" Target="/ppt/notesSlides/notesSlide6.xml" Id="Rd829248e39a24a6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af243d948041b8" /><Relationship Type="http://schemas.openxmlformats.org/officeDocument/2006/relationships/image" Target="/ppt/media/image6.png" Id="R04be48311fbb49e1" /><Relationship Type="http://schemas.openxmlformats.org/officeDocument/2006/relationships/notesSlide" Target="/ppt/notesSlides/notesSlide7.xml" Id="R2d5c996f9d6449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809fd5b7140be" /><Relationship Type="http://schemas.openxmlformats.org/officeDocument/2006/relationships/image" Target="/ppt/media/image7.png" Id="R9e2d223af7184881" /><Relationship Type="http://schemas.openxmlformats.org/officeDocument/2006/relationships/notesSlide" Target="/ppt/notesSlides/notesSlide8.xml" Id="Ra6e07ccc92fd45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f82f4b8684d1a" /><Relationship Type="http://schemas.openxmlformats.org/officeDocument/2006/relationships/notesSlide" Target="/ppt/notesSlides/notesSlide9.xml" Id="R646e50feffd949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7bd987ff5844fb" /><Relationship Type="http://schemas.openxmlformats.org/officeDocument/2006/relationships/notesSlide" Target="/ppt/notesSlides/notesSlide10.xml" Id="Ra842948ca0d442f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1b198588d4ee4" /><Relationship Type="http://schemas.openxmlformats.org/officeDocument/2006/relationships/notesSlide" Target="/ppt/notesSlides/notesSlide11.xml" Id="R8f30c99f5d30443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3d54280eb437e" /><Relationship Type="http://schemas.openxmlformats.org/officeDocument/2006/relationships/notesSlide" Target="/ppt/notesSlides/notesSlide12.xml" Id="Rb2fdf894b99f4b4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BED5AF-5857-4D28-AF4D-A12BA446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191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4"/>
          </a:solidFill>
          <a:ln xmlns:a="http://schemas.openxmlformats.org/drawingml/2006/main" w="0">
            <a:noFill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91a11222624904"/>
          <a:srcRect xmlns:a="http://schemas.openxmlformats.org/drawingml/2006/main" l="4671" t="0" r="46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99C85A-377E-4846-9E6E-ED984803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D5E1D7-65DC-40B5-B0A9-EDA29B8C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33350"/>
            <a:ext cx="497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SATELLITE-DERIVED PRIORITY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B1659-BB6A-4B26-AD75-F32730A0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0"/>
            <a:ext cx="647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49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EC027F-CE8A-4920-8528-7133C280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RIYADH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AAEE84-7632-4095-A0F1-A838CE26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4300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402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HeatReady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A6381-8B79-41A2-83D8-9100D48B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A growth-to-heat priority map for southeastern Riyadh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A19F3E-E3FA-4587-930C-C34BDAF5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95625"/>
            <a:ext cx="4724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6DEA67-4110-44CA-AAAE-9DEFD36E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One clear 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34F66B-2303-4625-8AF0-4282B0A0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Which 1 km zones should a municipal planning and heat-resilience team inspect first?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A3A719-39CA-4D78-9502-2869AC14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Milkaholics  •  Urban Expansion, Land Use Change &amp; Heat Risk  •  United Arab Emirates</a:t>
            </a:r>
          </a:p>
        </p:txBody>
      </p:sp>
    </p:spTree>
    <p:extLst>
      <p:ext uri="{BB962C8B-B14F-4D97-AF65-F5344CB8AC3E}">
        <p14:creationId xmlns:p14="http://schemas.microsoft.com/office/powerpoint/2010/main" val="5485085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CBAEA6-2F33-44CB-B84C-4ADEF743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7F25F4-A4D7-4439-BE44-51BB1CB3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"/>
            <a:ext cx="10715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Growth and heat are visible - but the decision is fragmented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F0DC44-C641-4B96-B490-E6917232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B5A7E-73C0-4989-A417-2279F119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7635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FFE4F3-5DD4-4E8D-A612-20430533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4476750" cy="4238625"/>
          </a:xfrm>
          <a:prstGeom xmlns:a="http://schemas.openxmlformats.org/drawingml/2006/main" prst="roundRect">
            <a:avLst>
              <a:gd name="adj" fmla="val 1798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EBB63-F30C-496E-9AE9-8CAD5637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4785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168.30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A8F064-76CB-4544-8385-D228CBCF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75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km² study area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CAC48D-08E7-419E-BEDC-5023AC99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3733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3654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Planners may need to compare separate growth, heat, population, and vegetation layers before choosing where to inspect.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B2E9FF-305D-4F13-A9EF-920BAB1E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9100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25BF1A-68DC-429B-AA24-CA2AF058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Affected group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09647-6FC4-45E4-886E-F377461D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86300"/>
            <a:ext cx="3733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Residents and workers in fast-changing, hot urban-fringe zones.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7c7399ed14707"/>
          <a:srcRect xmlns:a="http://schemas.openxmlformats.org/drawingml/2006/main" l="0" t="12154" r="0" b="121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29250" y="1600200"/>
            <a:ext cx="6172200" cy="4238625"/>
          </a:xfrm>
          <a:prstGeom xmlns:a="http://schemas.openxmlformats.org/drawingml/2006/main" prst="roundRect">
            <a:avLst>
              <a:gd name="adj" fmla="val 2697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41EFC1-AFD6-45AC-B0FE-3EFD56EA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MILKAHOLICS  •  ARAB YOUTH SPACE HACKATHON: 813 CHALLENGE</a:t>
            </a:r>
          </a:p>
        </p:txBody>
      </p:sp>
    </p:spTree>
    <p:extLst>
      <p:ext uri="{BB962C8B-B14F-4D97-AF65-F5344CB8AC3E}">
        <p14:creationId xmlns:p14="http://schemas.microsoft.com/office/powerpoint/2010/main" val="334141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8640C5-00B7-4DBC-BEAF-AF77483C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BUSINESS USE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EF78F5-0D45-407A-8870-41A935EE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"/>
            <a:ext cx="10715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One user. One decision. One testable PoC.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886752-A596-4FD1-955B-D6948783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D87FCD-6286-4248-BCD3-927F1210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7635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EDBC0C-CCC4-45BF-82C3-B8D4181C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7880E5-97C6-482C-AE17-914E3BAF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285750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AC7B88-D997-4B19-AADF-46921DC3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2362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373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Municipal planning + heat-resilience team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CE7E4-2FFB-40C2-A180-B0856470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2362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228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Reviews zones, local plans, infrastructure, and field conditions.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81305F-66A6-4122-B563-DD90B557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ED6871-21ED-4221-8761-08724664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14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0EA370-9BAA-4DE5-8A45-4B3649E7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95500"/>
            <a:ext cx="323850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B5C57-1B22-41B9-81F5-424BC69B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270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24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Where should we inspect first?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2AE098-5037-4A7A-A830-A11A049E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314700"/>
            <a:ext cx="2705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934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Output: ranked 1 km cells with the evidence behind each score.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2AE68F-6AAB-4042-BDCE-2D542932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796434-C280-4E2E-8236-385474AD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14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ABBA2B-CF8C-4E0D-9995-FF1D176C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95500"/>
            <a:ext cx="31813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512DBB-A6F7-4C2A-94CB-1516DAD2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24100"/>
            <a:ext cx="2647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276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Local review before intervention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E2C183-3E82-431F-92B9-50A9FB4C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19450"/>
            <a:ext cx="2647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986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Shade, trees, cool roofs, or pavements are options to assess - not automatic recommendations.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8B799E-477C-4859-9306-7901F43B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67250"/>
            <a:ext cx="110109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CC77E8-FBA1-402E-BB6F-8184074D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HONEST GAP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360027-CB39-4F45-BCC0-D063E3BA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No municipal user interview has happened yet. The current workflow and value are hypotheses to test during incubation.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5B1ACA-FA54-4D1E-BCAA-798C5772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MILKAHOLICS  •  ARAB YOUTH SPACE HACKATHON: 813 CHALLENGE</a:t>
            </a:r>
          </a:p>
        </p:txBody>
      </p:sp>
    </p:spTree>
    <p:extLst>
      <p:ext uri="{BB962C8B-B14F-4D97-AF65-F5344CB8AC3E}">
        <p14:creationId xmlns:p14="http://schemas.microsoft.com/office/powerpoint/2010/main" val="14336171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EE09A0-C948-490E-BB81-FE3B288A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SPACE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1BDDF-CAD8-409C-94F3-ED0F17C3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"/>
            <a:ext cx="10715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Every source has one job - and the result depends on EO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3C1B4-3738-420E-B9BB-F521DB7B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FFB25C-5F1C-4C1F-814D-D98256A0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7635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85914-3461-4B44-9164-C9181BD9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5448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B63E00-A85A-4749-9645-183A9194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3ED767-76DE-4259-87C2-DF1338E5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66875"/>
            <a:ext cx="158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Sentinel-2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3B8D97-8149-4A58-8347-A6A7EBD1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66875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21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Optical reflectance, quality mask, vegetation + built features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B12004-8231-47B7-9FA5-C0C36991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05050"/>
            <a:ext cx="5448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37D6D0-C933-4153-8299-F3B9DF90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050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B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12BC71-ACC6-4D6A-8617-3C20DA12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158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83B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183B8"/>
                </a:solidFill>
                <a:latin typeface="Arial"/>
                <a:ea typeface="Arial"/>
                <a:cs typeface="Arial"/>
              </a:rPr>
              <a:t>Sentinel-1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65E9C-A434-4FA3-B705-B5EF1DE1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52675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6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Radar structure to reduce bright-desert confusion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635F4E-AFD9-4B0D-8DC2-1F31BA120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5448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F66267-775F-488F-A814-125174B1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D2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BDAE32-0301-42E1-93B8-83BE4521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158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Annual LULC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4F8E05-0058-4829-92C8-5DE6AA16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38475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45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Six mapped years propose 2018-2023 growth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0210FF-15E7-44DF-9514-B879B312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76650"/>
            <a:ext cx="5448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423F3A-1A82-4797-A839-1B6FDE69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766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49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747686-DBAC-4BEF-B24A-66106900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158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Landsat 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F48DAF-70A3-4462-926A-6A15CE1A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24275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2025 land-surface temperature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4EC4F7-4ADE-4E6F-8B5C-955C51EB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62450"/>
            <a:ext cx="5448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ED645A-5440-41C9-9DC9-3FBED94E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624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DD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DF9250-FCD6-4D20-A1EC-20A874AA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10075"/>
            <a:ext cx="158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D5DD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D5DD3"/>
                </a:solidFill>
                <a:latin typeface="Arial"/>
                <a:ea typeface="Arial"/>
                <a:cs typeface="Arial"/>
              </a:rPr>
              <a:t>WorldPop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18D845-5B72-4B60-B25F-A2519F43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410075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Modelled 2025 population exposure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787A1F-7596-4FD4-8706-18342B87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48250"/>
            <a:ext cx="5448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8928B1-A39F-4DA7-9C20-43AD0AB8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4825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787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B34088-E38C-4105-93AC-DB033AEC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95875"/>
            <a:ext cx="158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407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9678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96787"/>
                </a:solidFill>
                <a:latin typeface="Arial"/>
                <a:ea typeface="Arial"/>
                <a:cs typeface="Arial"/>
              </a:rPr>
              <a:t>Planet Tanager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A42F07-357C-49FF-BFE0-E412B974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95875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21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426-band 2025 spectra: material context + failure-mode test</a:t>
            </a:r>
          </a:p>
        </p:txBody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1a49bdc0154fce"/>
          <a:stretch xmlns:a="http://schemas.openxmlformats.org/drawingml/2006/main"/>
        </p:blipFill>
        <p:spPr>
          <a:xfrm xmlns:a="http://schemas.openxmlformats.org/drawingml/2006/main">
            <a:off x="6343650" y="1878300"/>
            <a:ext cx="5257800" cy="2091750"/>
          </a:xfrm>
          <a:prstGeom xmlns:a="http://schemas.openxmlformats.org/drawingml/2006/main" prst="roundRect">
            <a:avLst>
              <a:gd name="adj" fmla="val 4380"/>
            </a:avLst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26F783-5941-4537-85DF-D0F3424B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38650"/>
            <a:ext cx="525780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7C1AB5-A44B-4D87-860F-70D80511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720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678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6787"/>
                </a:solidFill>
                <a:latin typeface="Arial"/>
                <a:ea typeface="Arial"/>
                <a:cs typeface="Arial"/>
              </a:rPr>
              <a:t>Hyperspectral role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D37BE3-152B-4843-88EC-09509E3A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57750"/>
            <a:ext cx="4743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24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Tanager improves the analysis by testing a known desert failure mode. Likely-unbuilt surfaces had higher median narrow-band NDBI than established-built surfaces.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496A55-A475-462E-A4F0-2792B015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MILKAHOLICS  •  ARAB YOUTH SPACE HACKATHON: 813 CHALLENGE</a:t>
            </a:r>
          </a:p>
        </p:txBody>
      </p:sp>
    </p:spTree>
    <p:extLst>
      <p:ext uri="{BB962C8B-B14F-4D97-AF65-F5344CB8AC3E}">
        <p14:creationId xmlns:p14="http://schemas.microsoft.com/office/powerpoint/2010/main" val="28660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9CB258-199F-4A29-AD15-9895ECB7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TECHNICAL APPROACH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F008E-B062-4CC1-A7C4-B209AC5B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"/>
            <a:ext cx="10715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A conservative chain from open scenes to inspection priority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0A9EE-E991-429A-9430-81B974DB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6D4094-76D0-422E-B154-90134432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7635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01B9C0-B86C-41DE-9B41-182306A9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62150"/>
            <a:ext cx="1905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382604-9C0A-4065-A5B3-DDF9CBD7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183B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249374-7291-4B8C-B009-AE4C102F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67407-1424-46A0-8712-20B775D4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185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183B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183B8"/>
                </a:solidFill>
                <a:latin typeface="Arial"/>
                <a:ea typeface="Arial"/>
                <a:cs typeface="Arial"/>
              </a:rPr>
              <a:t>Align + mask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DBAB09-F510-47ED-9BBE-DC6EB4F00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1562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Exact scenes</a:t>
            </a:r>
          </a:p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30 m grid</a:t>
            </a:r>
          </a:p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quality filters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33C805-52A9-4554-B4A2-4287838F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19450"/>
            <a:ext cx="3048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11F92-ABFF-482B-BB32-95876024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962150"/>
            <a:ext cx="1905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2A0EA1-86B4-4F0A-9A81-C5F6AE21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133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D5DD3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25789B-10FB-4654-A373-9652F2F29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1336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4199C8-D019-4B08-9EDE-99067688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813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5DD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D5DD3"/>
                </a:solidFill>
                <a:latin typeface="Arial"/>
                <a:ea typeface="Arial"/>
                <a:cs typeface="Arial"/>
              </a:rPr>
              <a:t>Learn built 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600D6D-9B9D-4C93-8552-9D8AF8FF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524250"/>
            <a:ext cx="1562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Sentinel-2 + SAR</a:t>
            </a:r>
          </a:p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west train</a:t>
            </a:r>
          </a:p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middle tune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75CE5-79D5-4DA3-9C42-D66C131E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19450"/>
            <a:ext cx="3048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75E244-4A07-4599-BBD2-BA63AD2E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62150"/>
            <a:ext cx="1905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F9564F-1E2F-4338-A569-5F715EEC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33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2AD2B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6917B9-4EAF-4653-80BA-31AEE5EE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336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2B1A2B-E061-4863-B464-3E8C409A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7813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Propose change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19E9CE-0B9F-4529-9A73-FB529BEE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24250"/>
            <a:ext cx="1562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Six annual maps</a:t>
            </a:r>
          </a:p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2018 → 2023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D6327D-B306-4B16-B595-4A824054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19450"/>
            <a:ext cx="3048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EE06BB-50CF-4DFE-AF4C-A4B0849D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62150"/>
            <a:ext cx="1905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630440-83C2-4A27-BC22-44BB34E4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133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06449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D32601-BD1F-4A97-9D2D-AACAEEDD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1336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E4B06A-DB46-4830-B07C-F836C25A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813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Confirm growth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9AAF31-A975-4A89-907C-24C6E1F0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24250"/>
            <a:ext cx="1562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Keep change only if</a:t>
            </a:r>
          </a:p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2025 fusion agrees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734804-74FA-413D-AB76-E191FE41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19450"/>
            <a:ext cx="3048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675AAF-B392-43AB-B56C-A9FBF4DB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62150"/>
            <a:ext cx="1905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A54B55-317A-47C9-886D-4DAB05FD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133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D6A080-0568-4829-A493-901791C1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1336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20E7C3-FFE5-495B-9073-7F5B4161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81300"/>
            <a:ext cx="1562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Rank 1 km cells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3CA110-278F-4034-AD1C-CD699219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24250"/>
            <a:ext cx="1562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40% heat</a:t>
            </a:r>
          </a:p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30% people</a:t>
            </a:r>
          </a:p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20% growth</a:t>
            </a:r>
          </a:p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10% lack green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128515-1641-46BE-85D1-B60E82FC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24450"/>
            <a:ext cx="108966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565213-8F9D-42AC-8702-3272454E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Validation design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527234-0966-4B9F-9D89-1A9FB68D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219700"/>
            <a:ext cx="834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45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The east side is held out for testing against WorldCover. The final growth layer must pass two independent tests: annual change + optical-radar confirmation.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D458EF-933B-4513-B58C-19E38C3A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MILKAHOLICS  •  ARAB YOUTH SPACE HACKATHON: 813 CHALLENGE</a:t>
            </a:r>
          </a:p>
        </p:txBody>
      </p:sp>
    </p:spTree>
    <p:extLst>
      <p:ext uri="{BB962C8B-B14F-4D97-AF65-F5344CB8AC3E}">
        <p14:creationId xmlns:p14="http://schemas.microsoft.com/office/powerpoint/2010/main" val="8650377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C4D9A9-F00B-43BB-8F32-3338A7F1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WORKING OUTPUT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86F99B-D1AD-4982-8A25-00418DEF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"/>
            <a:ext cx="10715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Six data sources become one ranked inspection 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E825BF-EF8A-476D-B774-79EC27F3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885B0-10E2-400E-8AA8-BA71BFCC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7635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0182ec80d74495"/>
          <a:stretch xmlns:a="http://schemas.openxmlformats.org/drawingml/2006/main"/>
        </p:blipFill>
        <p:spPr>
          <a:xfrm xmlns:a="http://schemas.openxmlformats.org/drawingml/2006/main">
            <a:off x="714630" y="1562100"/>
            <a:ext cx="4304790" cy="4762500"/>
          </a:xfrm>
          <a:prstGeom xmlns:a="http://schemas.openxmlformats.org/drawingml/2006/main" prst="roundRect">
            <a:avLst>
              <a:gd name="adj" fmla="val 2510"/>
            </a:avLst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0472df056479b"/>
          <a:stretch xmlns:a="http://schemas.openxmlformats.org/drawingml/2006/main"/>
        </p:blipFill>
        <p:spPr>
          <a:xfrm xmlns:a="http://schemas.openxmlformats.org/drawingml/2006/main">
            <a:off x="5975560" y="1562100"/>
            <a:ext cx="504148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D31F87-767A-41F6-A6A9-C6D5AB66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495800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28DC40-00CE-4E66-AC0B-B97CDE1B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4958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49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F021F6-56D3-444A-816D-DC972902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91050"/>
            <a:ext cx="1562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3.74 km²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B62B7E-B728-4CCA-8630-9B72F878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057775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27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confirmed growth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4FE173-35F7-4BBF-89E3-A4450C26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95800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B7C1CC-F81E-4790-97EC-4D4F82A3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958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5AD6CA-36D8-4693-9748-F606EF74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91050"/>
            <a:ext cx="1562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14 / 67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1F883-53AD-4A49-9FB5-1D2D150D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057775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High / eligible cells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4F5890-802A-4CF3-BBAD-0D4EDF96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95800"/>
            <a:ext cx="20193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5EC586-323B-49B8-9C5C-C9B42A53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958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D2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94686-4EB8-4E94-B141-19FC119D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91050"/>
            <a:ext cx="1657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78.7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B81ECF-4068-4224-ACD8-7C2F682E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057775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top score: R05C10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5F9E95-74D3-4756-B411-08773A7A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772150"/>
            <a:ext cx="621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Screening result - verify locally before action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3E164-57A2-44AF-9DD6-C799B281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MILKAHOLICS  •  ARAB YOUTH SPACE HACKATHON: 813 CHALLENGE</a:t>
            </a:r>
          </a:p>
        </p:txBody>
      </p:sp>
    </p:spTree>
    <p:extLst>
      <p:ext uri="{BB962C8B-B14F-4D97-AF65-F5344CB8AC3E}">
        <p14:creationId xmlns:p14="http://schemas.microsoft.com/office/powerpoint/2010/main" val="18926380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BAAEFF-C7D2-479E-A127-D2533425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VALIDATION +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EF165-99EA-4F08-A629-9B9DE601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"/>
            <a:ext cx="10715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404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Strong satellite agreement - with clear boundaries on the claim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1B2683-508B-490B-AECB-D3EDB926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164DA-A21F-49E2-9A02-CD59B15F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7635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be48311fbb49e1"/>
          <a:stretch xmlns:a="http://schemas.openxmlformats.org/drawingml/2006/main"/>
        </p:blipFill>
        <p:spPr>
          <a:xfrm xmlns:a="http://schemas.openxmlformats.org/drawingml/2006/main">
            <a:off x="590550" y="1941554"/>
            <a:ext cx="7010400" cy="2974893"/>
          </a:xfrm>
          <a:prstGeom xmlns:a="http://schemas.openxmlformats.org/drawingml/2006/main" prst="roundRect">
            <a:avLst>
              <a:gd name="adj" fmla="val 3125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F3E57-A9F1-4343-B849-158224D6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00200"/>
            <a:ext cx="1752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B5586-28A6-42D2-A712-19FABB80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002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DCA147-5045-43C4-9BE9-07B6298B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695450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0.88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0549F-F4C1-4028-9411-B3356341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62175"/>
            <a:ext cx="1390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F1 agreement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E299C-BB47-484E-B6C3-CF494C06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600200"/>
            <a:ext cx="1809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5AD0BF-73D0-478A-BF5E-BFF741A7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6002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D2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D8E910-6DF6-4AD0-B924-0D8C3F98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695450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0.78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6D65EE-C6E4-44FD-8DE5-FCA19EF8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162175"/>
            <a:ext cx="1447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2347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intersection over union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D289D3-0E12-4B7C-B900-A0B48893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375285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A9839D-0FF9-4156-AF71-DB704165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480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Four limits to remember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C3D4D7-8454-43EB-8ED8-882FED79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90900"/>
            <a:ext cx="3238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13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1  WorldCover agreement is not field accuracy.</a:t>
            </a:r>
          </a:p>
          <a:p xmlns:a="http://schemas.openxmlformats.org/drawingml/2006/main">
            <a:pPr algn="l">
              <a:defRPr sz="150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2  Surface temperature is not air temperature.</a:t>
            </a:r>
          </a:p>
          <a:p xmlns:a="http://schemas.openxmlformats.org/drawingml/2006/main">
            <a:pPr algn="l">
              <a:defRPr sz="150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3  WorldPop is modelled, not a census.</a:t>
            </a:r>
          </a:p>
          <a:p xmlns:a="http://schemas.openxmlformats.org/drawingml/2006/main">
            <a:pPr algn="l">
              <a:defRPr sz="150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4  Bright desert can still confuse built surfaces.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050729-90D0-4B9D-980D-8257BF2D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67350"/>
            <a:ext cx="11010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C0A278-4800-43C6-AA1D-ACC584F2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The 2022 mapped-area dip is useful evidence of uncertainty - not something to hide.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F877EA-5819-43B4-B0A0-9160FDF5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MILKAHOLICS  •  ARAB YOUTH SPACE HACKATHON: 813 CHALLENGE</a:t>
            </a:r>
          </a:p>
        </p:txBody>
      </p:sp>
    </p:spTree>
    <p:extLst>
      <p:ext uri="{BB962C8B-B14F-4D97-AF65-F5344CB8AC3E}">
        <p14:creationId xmlns:p14="http://schemas.microsoft.com/office/powerpoint/2010/main" val="1135932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EA3D05-AC20-4D5A-88DB-86F328A7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IMPACT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E3ADF4-718A-42E0-8EC1-1ECACFA8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"/>
            <a:ext cx="10715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A repeatable screen can focus scarce local inspection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E08B1C-F05D-4D03-A022-32FD7CD6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84179-A470-405B-BA3B-E9765D50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7635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79D4F-8C80-45D5-A75B-1126AB0A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40957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445C74-9884-4810-A351-1A34521F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PILOT HYPOTHESIS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CE2D0F-28BC-4B8C-840A-EE17A8E7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781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Inspect the top five zones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AC5554-F0DF-4BFA-9C63-A9170A4F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224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A planning team compares the ranking with local plans and field conditions, then records useful hits, false alarms, and time saved.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3FF54-D861-41BC-A148-26603AA0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4436F4-BD7C-4C05-B496-5E22007D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Deliverable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D57B82-6656-4380-BCC6-527CF09F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Refreshable dashboard + CSV + GeoJSON + GeoTIFF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d223af7184881"/>
          <a:stretch xmlns:a="http://schemas.openxmlformats.org/drawingml/2006/main"/>
        </p:blipFill>
        <p:spPr>
          <a:xfrm xmlns:a="http://schemas.openxmlformats.org/drawingml/2006/main">
            <a:off x="5611074" y="1619250"/>
            <a:ext cx="5389452" cy="2990850"/>
          </a:xfrm>
          <a:prstGeom xmlns:a="http://schemas.openxmlformats.org/drawingml/2006/main" prst="roundRect">
            <a:avLst>
              <a:gd name="adj" fmla="val 3822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9971FD-5368-49D9-BAB2-176462B5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857750"/>
            <a:ext cx="20383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81EC05-4C79-4176-9FAD-E34990CA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857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B8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618E56-3472-4FE2-B5CB-32629C3D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95300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183B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83B8"/>
                </a:solidFill>
                <a:latin typeface="Arial"/>
                <a:ea typeface="Arial"/>
                <a:cs typeface="Arial"/>
              </a:rPr>
              <a:t>85.39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D46F77-6ED5-4B37-9A0D-1F3A0FD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419725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km² mapped in 2018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F06939-E26E-4569-B31F-D0A4C434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57750"/>
            <a:ext cx="20383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DE36E5-487F-47BD-A6C3-E08D3D5F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57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49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BF3AAE-37C4-4B1A-A29B-3ECBA985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98.03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528B0C-5301-436D-B851-9E3225CF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419725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km² mapped in 2023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7F1087-430E-493A-B1C2-E89AF1AC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2133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310D71-7AF5-4B9C-970A-E5D7B2A3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D2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55FC33-D36C-43ED-935B-2C719B372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53000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1 area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C2F73C-1290-478E-9FD0-44C47AB5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419725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tested; not all Riyadh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87BB79-76D6-424F-9B54-A0354527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MILKAHOLICS  •  ARAB YOUTH SPACE HACKATHON: 813 CHALLENGE</a:t>
            </a:r>
          </a:p>
        </p:txBody>
      </p:sp>
    </p:spTree>
    <p:extLst>
      <p:ext uri="{BB962C8B-B14F-4D97-AF65-F5344CB8AC3E}">
        <p14:creationId xmlns:p14="http://schemas.microsoft.com/office/powerpoint/2010/main" val="11608182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7676FD-74A0-45DE-AF11-2848DDD6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INCUBATION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288477-EAB7-4169-A3C6-CB51BFB1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"/>
            <a:ext cx="10715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Turn a credible screen into a user-validated municipal tool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6A51B-1158-41C8-9FEC-CEF6E095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FE0570-C35D-477C-8D96-08DD35C7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7635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C02F8-DB15-4217-BB0C-4B273186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6833E-9DE5-43D8-888A-184DE1E5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638300"/>
            <a:ext cx="9810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D2E3B2-C76C-40FA-BF93-1D34AC36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695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Interview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525709-FEC8-4408-B8DD-FB9D733B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95450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3+ planners, GIS staff, or heat stakeholders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32AF85-2D25-4768-B015-0ADCBBF6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893406-4329-42BE-B8AC-3C8EA251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14600"/>
            <a:ext cx="9810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F2E3A1-7EFD-4B6F-9522-CFF05E09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717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Agree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722A8-502B-43BA-B2A5-6FE11F68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571750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User decision, weights, thresholds, and success measure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B316B0-C30B-4E7D-B7DE-5D25C7CA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4091B6-9A49-483B-B546-65153909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90900"/>
            <a:ext cx="9810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ACCA20-9227-4460-83EF-D4B5E52D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4480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D713B9-1459-4CD8-AF78-841B9A47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448050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Field-check top zones and label false alarms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C4A3A4-662D-4686-86DB-76EEBCD5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D5DD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6D5DD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13C065-DB5D-4EEB-8C20-D0188C71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267200"/>
            <a:ext cx="9810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5FDEB7-E40A-47F3-A72B-3315F7DF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324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D5DD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D5DD3"/>
                </a:solidFill>
                <a:latin typeface="Arial"/>
                <a:ea typeface="Arial"/>
                <a:cs typeface="Arial"/>
              </a:rPr>
              <a:t>Enrich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13406E-4C0F-4CB0-88BD-FDCA4301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24350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City plans, worker exposure, and higher-resolution 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D03228-7842-4D82-9175-0A1A9F74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183B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83B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641D7-AF9C-46CF-BAB7-2BDF11E6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143500"/>
            <a:ext cx="9810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9ABE94-A769-40D3-A672-2B2ABBFD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2006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183B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183B8"/>
                </a:solidFill>
                <a:latin typeface="Arial"/>
                <a:ea typeface="Arial"/>
                <a:cs typeface="Arial"/>
              </a:rPr>
              <a:t>Repeat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69400B-F425-4CE1-B2E2-7AD791D5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200650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Run another Riyadh area and test update cost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1DE8A-B02A-40F5-9D7B-EEB1DE7D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6153150"/>
            <a:ext cx="9810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8F5198-34B5-43FA-9F89-C36A2BA2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619125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Goal: prove usefulness with real users - then scale the data and product.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DF8F0-896E-4685-B0A3-2D773B9F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MILKAHOLICS  •  ARAB YOUTH SPACE HACKATHON: 813 CHALLENGE</a:t>
            </a:r>
          </a:p>
        </p:txBody>
      </p:sp>
    </p:spTree>
    <p:extLst>
      <p:ext uri="{BB962C8B-B14F-4D97-AF65-F5344CB8AC3E}">
        <p14:creationId xmlns:p14="http://schemas.microsoft.com/office/powerpoint/2010/main" val="19698998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1BF066-DF6A-4E40-9198-43C5DFBA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APPENDIX 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C27B88-9B1C-4BEA-BA46-01E9D031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"/>
            <a:ext cx="10715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Data traceability and licence record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158B07-C12B-4D64-ABE3-73CF706F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18AE73-EB74-43EB-9FF5-4AB9D8D9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7635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443FE9-EE9C-4A36-B89E-FA3CAD50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CHANGE AND BUILT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A8CBAE-DD7B-4EFA-9A49-F302CAEB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85950"/>
            <a:ext cx="5257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D4C61E-3FD4-451B-AB46-4C831127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85950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C14DDA-0CBE-40F5-A95C-163501A6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526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Sentinel-2 L2A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968A77-22C1-4FBC-83C8-3143330C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4533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11 May 2018, 10 May 2021, 9 May 2025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A969A-EC6A-4CAD-9439-11C9A82D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952625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725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Copernicus open access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8C1B1A-BF9B-4F0D-8DA7-2408556F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5257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74902B-3D36-43F8-B7A3-5EBB3006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B8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A4CEA8-0972-4B39-A796-0030E38D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479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183B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183B8"/>
                </a:solidFill>
                <a:latin typeface="Arial"/>
                <a:ea typeface="Arial"/>
                <a:cs typeface="Arial"/>
              </a:rPr>
              <a:t>Sentinel-1 RTC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9103E1-5F4C-4C8E-8C24-55E06DBF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14675"/>
            <a:ext cx="4533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10 May 2018, 6 May 2021, 9 May 2025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4AC454-2A90-43B0-86AB-0D529A9E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47975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CC BY 4.0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DF06EA-778A-4020-8123-EB27B5F2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76650"/>
            <a:ext cx="5257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C0BC16-86D3-4100-9604-07F53274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76650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D2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619871-C800-4E83-B576-EADAD21F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433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Annual LULC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D564DD-F1D1-4BDC-B9F8-9CD740F5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0025"/>
            <a:ext cx="4533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Impact Observatory / Esri, 2018 to 2023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F83795-28E9-4A97-B225-099A4EFE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743325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CC BY 4.0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C92894-B010-4E2B-9D24-890D1B53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72000"/>
            <a:ext cx="5257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CEBEF3-4F48-4D30-88F3-60F384CF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72000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DD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01F630-0C73-4424-951A-F8156058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38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5DD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D5DD3"/>
                </a:solidFill>
                <a:latin typeface="Arial"/>
                <a:ea typeface="Arial"/>
                <a:cs typeface="Arial"/>
              </a:rPr>
              <a:t>Built reference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F1B36B-1264-4021-A927-B04ACC53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05375"/>
            <a:ext cx="4533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ESA WorldCover 2021, class 50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3035F-8F2C-4D2F-9A86-6505D753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638675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CC BY 4.0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492218-C1C6-4805-B388-968C7358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62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HEAT, EXPOSURE AND SPECTRA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D7ADF2-20FC-4C59-89A2-F1FACED7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85950"/>
            <a:ext cx="54292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2623D6-B252-483E-8727-229E66631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859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49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984B41-BE6F-470B-B0B3-81FBE082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526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Landsat 8 C2 L2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393E70-9D80-4BFF-99DA-BBCD1F0A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383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LC08_L2SP_166043_20250510_02_T1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33143D-C8CC-4A57-9B50-37D47709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10 May 2025, US public domain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CC5971-5FE6-448E-A329-BF4A6809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52750"/>
            <a:ext cx="54292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0F1381-8223-4A21-A91A-B08F3301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527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DD3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82F32F-E403-45CA-8966-3FFDC315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194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5DD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D5DD3"/>
                </a:solidFill>
                <a:latin typeface="Arial"/>
                <a:ea typeface="Arial"/>
                <a:cs typeface="Arial"/>
              </a:rPr>
              <a:t>WorldPop Global2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CA47E5-D3E0-47EC-B3E4-35A64A4E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051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sau_pop_2025_CN_1km_R2025A_UA_v1.tif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F9C00A-D5BC-49A4-A178-888F5B80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2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2025 alpha release, CC BY 4.0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1F34D1-6722-4F1B-AEDC-4F0BD85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19550"/>
            <a:ext cx="54292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65E5785-5413-4254-8592-2CC7B929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195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787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DF65C6-DE89-4A27-89C8-DA6F31BE3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862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67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6787"/>
                </a:solidFill>
                <a:latin typeface="Arial"/>
                <a:ea typeface="Arial"/>
                <a:cs typeface="Arial"/>
              </a:rPr>
              <a:t>Planet Tanager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957AAA-515F-4E2F-A810-38733EC3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719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20250515_080954_16_4001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8CAD30-7DDB-4178-8916-84500F52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29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15 May 2025, CC BY 4.0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00FE70-7EA6-4907-869A-3D671D4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38750"/>
            <a:ext cx="5429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8CDC61-6772-43C6-BC92-B0E9815E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353050"/>
            <a:ext cx="493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92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Full item IDs, providers, processing roles and licence links are recorded in config.json and docs/DATA_AND_LICENSES.md.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D11B177-0332-4F8C-A637-10527CC8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MILKAHOLICS  •  ARAB YOUTH SPACE HACKATHON: 813 CHALLENGE</a:t>
            </a:r>
          </a:p>
        </p:txBody>
      </p:sp>
    </p:spTree>
    <p:extLst>
      <p:ext uri="{BB962C8B-B14F-4D97-AF65-F5344CB8AC3E}">
        <p14:creationId xmlns:p14="http://schemas.microsoft.com/office/powerpoint/2010/main" val="14205641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E4AA9F-DACB-418E-A48F-1F53DA96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APPENDIX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5B783C-ACC4-48FB-8F99-67CB2908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"/>
            <a:ext cx="10715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Validation and conservative change logic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DB34A-57D0-4B1E-8F2F-EFC492A6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2F1C77-D818-43C3-B4EF-82457CDF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7635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92314-8C6E-43E2-895F-348C70AC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SPATIAL MODEL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045C76-AB9C-4428-A174-DEDB28FE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62150"/>
            <a:ext cx="22479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3183B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F54AFB-3849-4756-9B17-09C33A9B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WEST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CAF51-24E3-4928-A624-70231ED1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201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Train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B08998-EE1E-4FCD-8F03-8012D74D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62150"/>
            <a:ext cx="1619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2AD2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6A444B-7C51-47E3-9782-9DFABFEA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955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MIDDLE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121E13-9283-42A4-AE4B-02F22220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19350"/>
            <a:ext cx="1390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487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Tune threshold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4D7FC4-FF4A-47BB-8F86-6A018B74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62150"/>
            <a:ext cx="22479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789FB2-1F11-4CAE-AD27-FEBE5E3E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955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EAST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4FF7D-1C84-4D4D-AEC8-DD65FDC4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19350"/>
            <a:ext cx="201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Test once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D0F965-DCCE-4B7A-9273-7965FFCD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05150"/>
            <a:ext cx="641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Gaps separate the three areas to reduce spatial leakage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F8B171-C51E-4884-B4A7-BC3E8123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76650"/>
            <a:ext cx="19431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CEABC9-9DBE-4449-A3CD-92E32478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766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A04833-D715-4F3A-A995-A9255DE4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0.88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677D40-9CAE-47CF-8FCB-820A0141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3862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F1 agreement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0DD681-15DE-405B-AE84-671FA240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676650"/>
            <a:ext cx="19431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2BFCD2-3F0F-4007-8019-B1007CC14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6766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D2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3FA890-131D-430D-A8A9-E0E9AF04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71900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0.78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FCB278-99B5-4E40-AE57-207AAFAD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23862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884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intersection over union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396CD9-8039-4495-8A33-0694183B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76650"/>
            <a:ext cx="22288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B32D33-701E-413B-A514-D0D538AB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766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B8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25BA62-CF9A-4286-B8CC-95B2295B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7719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183B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83B8"/>
                </a:solidFill>
                <a:latin typeface="Arial"/>
                <a:ea typeface="Arial"/>
                <a:cs typeface="Arial"/>
              </a:rPr>
              <a:t>0.89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285B4D-6679-4BE2-885B-8CC1E9FE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238625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balanced accuracy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45DA87-D5E8-4751-ABEC-1BD05157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53000"/>
            <a:ext cx="64198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07F28-36A6-432C-BC50-96288E4E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863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36,156 east-side test pixels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1CC8F4-6F0B-42EE-AAF8-A1A9E342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25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These metrics show agreement with WorldCover. Field accuracy still requires local reference data.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223023-29D1-4A49-A84E-9A780D168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562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GROWTH CONFIRMATION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CB2C38-AA71-4196-A3A1-602BEA7D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62150"/>
            <a:ext cx="42291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F62224-1E36-415A-B6F0-BFC062A5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955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375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13.82 km²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732D12-E528-4EF4-BEDF-022B326B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152650"/>
            <a:ext cx="203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4C6"/>
                </a:solidFill>
                <a:latin typeface="Arial"/>
                <a:ea typeface="Arial"/>
                <a:cs typeface="Arial"/>
              </a:rPr>
              <a:t>annual map candidate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3A509B-BF9E-445E-8E1F-73D68B76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24125"/>
            <a:ext cx="3733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2018 non-built to 2023 built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C937DA-4DCD-4789-9ECD-6B0072AD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95625"/>
            <a:ext cx="6096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78D943-C3E6-4168-899B-22CB66DB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81400"/>
            <a:ext cx="42291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73AB5E-6AE6-4A60-A4BC-D10FDFF4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0644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6449"/>
                </a:solidFill>
                <a:latin typeface="Arial"/>
                <a:ea typeface="Arial"/>
                <a:cs typeface="Arial"/>
              </a:rPr>
              <a:t>Three confirmation rules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48358A-3E1D-461F-9F28-44EACA12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19550"/>
            <a:ext cx="3638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21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2025 optical-radar model says built</a:t>
            </a:r>
          </a:p>
          <a:p xmlns:a="http://schemas.openxmlformats.org/drawingml/2006/main">
            <a:pPr algn="l">
              <a:defRPr sz="135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Probability gain is at least 0.10</a:t>
            </a:r>
          </a:p>
          <a:p xmlns:a="http://schemas.openxmlformats.org/drawingml/2006/main">
            <a:pPr algn="l">
              <a:defRPr sz="135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Connected group has at least six pixels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4D80C7-E8E3-4977-8647-A0F2A279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933950"/>
            <a:ext cx="6096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1F0D2E-E377-49E3-B30D-ECBC2FC2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91150"/>
            <a:ext cx="42291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F1EB2C-8F58-4A80-AD5A-6274A6C0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486400"/>
            <a:ext cx="3771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3745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3.74 km² retained as confirmed growth signal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A2E5BAC-36EE-4472-92B1-3B0D9FB1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MILKAHOLICS  •  ARAB YOUTH SPACE HACKATHON: 813 CHALLENGE</a:t>
            </a:r>
          </a:p>
        </p:txBody>
      </p:sp>
    </p:spTree>
    <p:extLst>
      <p:ext uri="{BB962C8B-B14F-4D97-AF65-F5344CB8AC3E}">
        <p14:creationId xmlns:p14="http://schemas.microsoft.com/office/powerpoint/2010/main" val="193444189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CED05-66DD-40F0-A002-844EFE18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APPENDIX 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F5716E-D32B-4812-9383-42F9EACD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"/>
            <a:ext cx="10715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3F6F2"/>
                </a:solidFill>
                <a:latin typeface="Arial"/>
                <a:ea typeface="Arial"/>
                <a:cs typeface="Arial"/>
              </a:rPr>
              <a:t>Judge questions and evidence-based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5FC346-7CF8-4223-B921-C2DB285D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F2693-6DBB-4203-869B-F66C8126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7635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6E79DB-2AC6-4B07-BE3C-D4CB7067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11010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A352C2-BBF8-4558-96A1-E5EAA43C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D2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B16FBD-A0D6-4FEE-AA81-A10149F8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2724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2AD2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2AD2B"/>
                </a:solidFill>
                <a:latin typeface="Arial"/>
                <a:ea typeface="Arial"/>
                <a:cs typeface="Arial"/>
              </a:rPr>
              <a:t>Why these weights?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2B685D-84DD-4F67-BC4A-6AB35B5E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57350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They are transparent PoC assumptions. A municipal pilot should review heat, population, growth and vegetation weights.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19054A-F85D-46A5-8EB8-8A33C2F7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52700"/>
            <a:ext cx="11010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E3F374-AA2D-4456-9FAD-8F5BEDBC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527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A58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CE6390-6696-42CE-8E93-E38BB858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724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AA58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AA58F"/>
                </a:solidFill>
                <a:latin typeface="Arial"/>
                <a:ea typeface="Arial"/>
                <a:cs typeface="Arial"/>
              </a:rPr>
              <a:t>What does 0.88 mean?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D1BC9-0D5C-4562-B552-9C5A5B58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47950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F1 agreement with WorldCover on an east-side holdout. Independent field accuracy remains unmeasured.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EC5AAD-2176-48CA-955B-F3F4AE62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43300"/>
            <a:ext cx="11010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E5CE3-9A14-414A-9D5C-301DC2D9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433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78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E96D32-037B-4FCC-A3CC-47EF7103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724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9678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96787"/>
                </a:solidFill>
                <a:latin typeface="Arial"/>
                <a:ea typeface="Arial"/>
                <a:cs typeface="Arial"/>
              </a:rPr>
              <a:t>Why use Tanager?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C0BAEC-D7E8-48C9-94B5-21ADB202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38550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Its narrow bands test a desert failure mode. Likely-unbuilt land had higher median NDBI than established built land.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8BA0C0-B49D-4EEE-A9AD-82CFB080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33900"/>
            <a:ext cx="11010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E2D3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A2FAE7-90A9-49CC-8301-51874AD6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339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B8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BC0AC0-D142-407E-AEA5-C42D7E41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2724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183B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183B8"/>
                </a:solidFill>
                <a:latin typeface="Arial"/>
                <a:ea typeface="Arial"/>
                <a:cs typeface="Arial"/>
              </a:rPr>
              <a:t>Can judges rerun it?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9D871D-7D20-460A-9674-D46956E7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629150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3F6F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3F6F2"/>
                </a:solidFill>
                <a:latin typeface="Arial"/>
                <a:ea typeface="Arial"/>
                <a:cs typeface="Arial"/>
              </a:rPr>
              <a:t>The committed notebook rebuilds the 67-cell ranking in under one minute. The full pipeline records every scene and parameter.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8E7EBF-7902-45BF-B86B-0EE5D23C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76900"/>
            <a:ext cx="11010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43B45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5097A9-7E13-40CD-97AD-8318AF2C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721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769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First real pilot: inspect the top five zones with one planning team and record useful hits, false alarms and workflow fit.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DF1CF0-69B1-4A80-B1AF-8692935B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FC4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FC4C6"/>
                </a:solidFill>
                <a:latin typeface="Arial"/>
                <a:ea typeface="Arial"/>
                <a:cs typeface="Arial"/>
              </a:rPr>
              <a:t>MILKAHOLICS  •  ARAB YOUTH SPACE HACKATHON: 813 CHALLENGE</a:t>
            </a:r>
          </a:p>
        </p:txBody>
      </p:sp>
    </p:spTree>
    <p:extLst>
      <p:ext uri="{BB962C8B-B14F-4D97-AF65-F5344CB8AC3E}">
        <p14:creationId xmlns:p14="http://schemas.microsoft.com/office/powerpoint/2010/main" val="7009904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2026-10-02T15:37:31.1620000Z</dcterms:created>
  <dcterms:modified xsi:type="dcterms:W3CDTF">2026-10-02T15:37:31.1620000Z</dcterms:modified>
</coreProperties>
</file>