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2cbefe3b0a45cb" /><Relationship Type="http://schemas.openxmlformats.org/officeDocument/2006/relationships/extended-properties" Target="/docProps/app.xml" Id="R29331643772d46d8" /><Relationship Type="http://schemas.openxmlformats.org/officeDocument/2006/relationships/officeDocument" Target="/ppt/presentation.xml" Id="R02084b4ef98f4013" /></Relationships>
</file>

<file path=ppt/presentation.xml><?xml version="1.0" encoding="utf-8"?>
<p:presentation xmlns:p="http://schemas.openxmlformats.org/presentationml/2006/main">
  <p:sldMasterIdLst>
    <p:sldMasterId xmlns:r="http://schemas.openxmlformats.org/officeDocument/2006/relationships" id="2147483648" r:id="R46390f33e33f4509"/>
  </p:sldMasterIdLst>
  <p:notesMasterIdLst>
    <p:notesMasterId xmlns:r="http://schemas.openxmlformats.org/officeDocument/2006/relationships" r:id="R5fae129438b043d1"/>
  </p:notesMasterIdLst>
  <p:sldIdLst>
    <p:sldId xmlns:r="http://schemas.openxmlformats.org/officeDocument/2006/relationships" id="256" r:id="R92297e27a19b41f1"/>
    <p:sldId xmlns:r="http://schemas.openxmlformats.org/officeDocument/2006/relationships" id="257" r:id="R4d72e676b4c44e53"/>
    <p:sldId xmlns:r="http://schemas.openxmlformats.org/officeDocument/2006/relationships" id="258" r:id="Rea32e1a45610415b"/>
    <p:sldId xmlns:r="http://schemas.openxmlformats.org/officeDocument/2006/relationships" id="259" r:id="R1141d63071264f43"/>
    <p:sldId xmlns:r="http://schemas.openxmlformats.org/officeDocument/2006/relationships" id="260" r:id="R770c807d945e41b4"/>
    <p:sldId xmlns:r="http://schemas.openxmlformats.org/officeDocument/2006/relationships" id="261" r:id="Rb878352ebf0d4ae6"/>
    <p:sldId xmlns:r="http://schemas.openxmlformats.org/officeDocument/2006/relationships" id="262" r:id="Re16a9ddb6ed84447"/>
    <p:sldId xmlns:r="http://schemas.openxmlformats.org/officeDocument/2006/relationships" id="263" r:id="Rdba9494d92bc4bda"/>
    <p:sldId xmlns:r="http://schemas.openxmlformats.org/officeDocument/2006/relationships" id="264" r:id="R07592d96b15841cb"/>
    <p:sldId xmlns:r="http://schemas.openxmlformats.org/officeDocument/2006/relationships" id="265" r:id="R0b77f68ec8e144cd"/>
    <p:sldId xmlns:r="http://schemas.openxmlformats.org/officeDocument/2006/relationships" id="266" r:id="Rc42eb957aab84a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6467ec08ec40cb" /><Relationship Type="http://schemas.openxmlformats.org/officeDocument/2006/relationships/slideMaster" Target="/ppt/slideMasters/slideMaster1.xml" Id="R46390f33e33f4509" /><Relationship Type="http://schemas.openxmlformats.org/officeDocument/2006/relationships/notesMaster" Target="/ppt/notesMasters/notesMaster1.xml" Id="R5fae129438b043d1" /><Relationship Type="http://schemas.openxmlformats.org/officeDocument/2006/relationships/presProps" Target="/ppt/presProps.xml" Id="R5bba0868306640af" /><Relationship Type="http://schemas.openxmlformats.org/officeDocument/2006/relationships/tableStyles" Target="/ppt/tableStyles.xml" Id="R9de5a0e32dec4cc2" /><Relationship Type="http://schemas.openxmlformats.org/officeDocument/2006/relationships/slide" Target="/ppt/slides/slide1.xml" Id="R92297e27a19b41f1" /><Relationship Type="http://schemas.openxmlformats.org/officeDocument/2006/relationships/slide" Target="/ppt/slides/slide2.xml" Id="R4d72e676b4c44e53" /><Relationship Type="http://schemas.openxmlformats.org/officeDocument/2006/relationships/slide" Target="/ppt/slides/slide3.xml" Id="Rea32e1a45610415b" /><Relationship Type="http://schemas.openxmlformats.org/officeDocument/2006/relationships/slide" Target="/ppt/slides/slide4.xml" Id="R1141d63071264f43" /><Relationship Type="http://schemas.openxmlformats.org/officeDocument/2006/relationships/slide" Target="/ppt/slides/slide5.xml" Id="R770c807d945e41b4" /><Relationship Type="http://schemas.openxmlformats.org/officeDocument/2006/relationships/slide" Target="/ppt/slides/slide6.xml" Id="Rb878352ebf0d4ae6" /><Relationship Type="http://schemas.openxmlformats.org/officeDocument/2006/relationships/slide" Target="/ppt/slides/slide7.xml" Id="Re16a9ddb6ed84447" /><Relationship Type="http://schemas.openxmlformats.org/officeDocument/2006/relationships/slide" Target="/ppt/slides/slide8.xml" Id="Rdba9494d92bc4bda" /><Relationship Type="http://schemas.openxmlformats.org/officeDocument/2006/relationships/slide" Target="/ppt/slides/slide9.xml" Id="R07592d96b15841cb" /><Relationship Type="http://schemas.openxmlformats.org/officeDocument/2006/relationships/slide" Target="/ppt/slides/slide10.xml" Id="R0b77f68ec8e144cd" /><Relationship Type="http://schemas.openxmlformats.org/officeDocument/2006/relationships/slide" Target="/ppt/slides/slide11.xml" Id="Rc42eb957aab84a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65cd3c3e4444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277ef5e8e243fa" /><Relationship Type="http://schemas.openxmlformats.org/officeDocument/2006/relationships/notesMaster" Target="/ppt/notesMasters/notesMaster1.xml" Id="Rc544764a423049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08158a7cfb4566" /><Relationship Type="http://schemas.openxmlformats.org/officeDocument/2006/relationships/notesMaster" Target="/ppt/notesMasters/notesMaster1.xml" Id="Rc4d557b5870f48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b19e8fbc7240d8" /><Relationship Type="http://schemas.openxmlformats.org/officeDocument/2006/relationships/notesMaster" Target="/ppt/notesMasters/notesMaster1.xml" Id="R4c967c9355fc4e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f70050fdac46c5" /><Relationship Type="http://schemas.openxmlformats.org/officeDocument/2006/relationships/notesMaster" Target="/ppt/notesMasters/notesMaster1.xml" Id="R7e37655f9f934c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8ebc2acd034cf1" /><Relationship Type="http://schemas.openxmlformats.org/officeDocument/2006/relationships/notesMaster" Target="/ppt/notesMasters/notesMaster1.xml" Id="R5b469b63ee5042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5eb0da76014294" /><Relationship Type="http://schemas.openxmlformats.org/officeDocument/2006/relationships/notesMaster" Target="/ppt/notesMasters/notesMaster1.xml" Id="Racc1c26cd7a348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0fee1fd31a458f" /><Relationship Type="http://schemas.openxmlformats.org/officeDocument/2006/relationships/notesMaster" Target="/ppt/notesMasters/notesMaster1.xml" Id="R1f1615c2fa0340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d9a8f549d54ab9" /><Relationship Type="http://schemas.openxmlformats.org/officeDocument/2006/relationships/notesMaster" Target="/ppt/notesMasters/notesMaster1.xml" Id="R26f3b4adc15b43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833e5ea8a54588" /><Relationship Type="http://schemas.openxmlformats.org/officeDocument/2006/relationships/notesMaster" Target="/ppt/notesMasters/notesMaster1.xml" Id="R0b94f5cd5f4946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86b2db4bea423e" /><Relationship Type="http://schemas.openxmlformats.org/officeDocument/2006/relationships/notesMaster" Target="/ppt/notesMasters/notesMaster1.xml" Id="Rb75c008f91f74f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88da835a944313" /><Relationship Type="http://schemas.openxmlformats.org/officeDocument/2006/relationships/notesMaster" Target="/ppt/notesMasters/notesMaster1.xml" Id="R92724035b94346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 Yusuf. Good afternoon. We are Team Milkaholics, and this is Riyadh HeatReady. It uses satellite evidence to rank one-kilometre zones in southeastern Riyadh where recent growth, hotter surfaces and modelled population overlap. Our question is simple: where should a municipal team inspect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0:20–0:55 | Yusuf. I am Yusuf Karanib, the project lead and data and method presenter. I will explain the problem, satellite sources, analysis, priority score and working output. Raed Mardoum is our validation, workflow and impact lead. He will explain what the metrics do and do not prove, what makes the solution different, and how we would test it with a municipality. We have separated these responsibilities so each of us can answer the judges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0:55–1:50 | Yusuf. The study area covers 168.30 square kilometres along southeastern Riyadh's urban-industrial fringe; it does not represent the whole city. The intended user is a municipal planning and heat-resilience team. Today, growth, surface heat, population and vegetation can sit in separate layers. A planner still has to compare them before deciding where to inspect. Our MVP turns these layers into a ranked list of 1-kilometre cells. The action is not 'build trees here' or 'install a cool roof here.' The action is 'inspect this zone first, then compare it with local plans and field conditions.' We have not interviewed a municipality yet, so this workflow and its value are hypotheses that must be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1:50–3:10 | Yusuf. Each open source has one job. Sentinel-2 provides optical reflectance, vegetation information and built-up features. Sentinel-1 adds radar structure, which helps because bright desert can look built-up in optical data. Six annual land-cover maps propose built-up change from 2018 to 2023. Landsat 8 provides quality-masked land-surface temperature for 10 May 2025. WorldPop provides modelled 2025 population. Planet Tanager provides a 426-band spectral view for a material-context and failure-mode check. The chain is deliberately conservative. Annual change first proposes 13.82 square kilometres of possible growth. We retain only pixels for which separate 2025 Sentinel-2 and Sentinel-1 evidence also supports a built-up interpretation, leaving a 3.74 square-kilometre confirmed-growth signal. Eligible one-kilometre cells are then ranked with a transparent score: 40 percent heat, 30 percent population, 20 percent confirmed growth and 10 percent lack of vegetation. These weights are PoC assumptions, not official municipal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3:10–4:45 | Yusuf. [On slide 5] The result is a decision map and a component chart. Sixty-seven cells contain confirmed growth, and fourteen are labelled High priority. R05C10 ranks first with a score of about 78.7. Its score does not come from one hidden prediction; the chart shows the heat, population, growth and vegetation components. [Open outputs/dashboard.html and stay at Decision output.] This dashboard is a self-contained static report, not an interactive application. Here are the headline metrics, the decision map and the top-five table. The stricter rule retained 3.74 square kilometres of confirmed growth, and the top row is R05C10. The repository also contains separate CSV, GeoJSON and GeoTIFF files so a planner can review the same result in a spreadsheet or GIS. [Return to slide 5.] This output is a screening result. It cannot choose an intervention by itself; every high-ranked zone still needs local inspection. Raed will now explain what our validation proves, what the method adds, and how we would test it with a municipality.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4:45–5:55 | Raed. To test the built-up model, we trained in the western part of the study area, tuned in a separate middle strip and tested in the east against ESA WorldCover. The east-side holdout reached an F1 score of 0.88, an intersection over union of 0.78 and balanced accuracy of 0.89. F1 balances missed built-up pixels and false alarms. Intersection over union measures overlap. Balanced accuracy gives equal weight to built and unbuilt classes. These numbers show agreement with another satellite product; they are not field accuracy. Landsat measures land-surface temperature, not air temperature or personal heat exposure. WorldPop is modelled and may miss worker exposure. Bright desert and roofs can still confuse classification. The score weights are assumptions that a real user must review. Because of these limits, HeatReady supports inspection rather than making an automatic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5:55–6:55 | Raed. What makes this different is not a new index. It is the evidence chain and the visible decision logic. Annual maps propose change, while separate optical and radar evidence confirm it. We also tested a common shortcut: treating high NDBI as built-up. In the Tanager scene, likely-unbuilt desert had a higher median narrow-band NDBI than established built land. That is a warning that one threshold can fail in this environment. Tanager provides material context from one date; it does not prove change or identify a specific material. Every ranked cell keeps its component scores and GIS evidence. The potential impact is faster, more repeatable screening, but we cannot claim time savings or municipal value until real users test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6:55–7:55 | Raed. The next stage should be a measured pilot, not a deployment claim. First, we would interview at least three planners, GIS staff or heat-resilience stakeholders and confirm their real decision and acceptable false alarms. Second, they would review the top five zones against local plans and field observations, marking useful results and false alarms. Third, we would adjust the weights and add missing local information, including worker exposure and city-plan constraints. Finally, we would test the same update process in another Riyadh area and measure analyst time, operating cost and repeatability. Our request is support for one municipal pilot that tests whether HeatReady helps a real team choose where to inspect first. Thank you; we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Yusuf handles the problem, data, method, scoring calculation, demo and reproducibility. Raed handles validation meaning, limitations, innovation, user impact, false alarms and the pilot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0dc0ad2f2547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d52a5ea35446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17643b851e4a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2e865d1e5f4e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8423da794f4d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1654cea2ca41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FF19C5-C2CB-4588-9C79-9CAB43E06D9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1822A2-770E-4874-9BDA-AE6FC11F9A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9AAD39-8AAB-4760-98E6-7ADC727C9B1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741043-69EB-4302-9854-13513B4068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EFE626-597B-4BB4-A274-14DA12FA8E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871BFF-76E9-4020-97D1-C57306364D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627376-153D-424D-96D0-29EDFD391D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919E2C-6CDC-4FC0-BCCB-591AAFE779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B99896-2FCA-4D2D-B8F7-661FFC67E8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148F82-529C-4450-A352-14DA206826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28f674afa497e" /><Relationship Type="http://schemas.openxmlformats.org/officeDocument/2006/relationships/slideLayout" Target="/ppt/slideLayouts/slideLayout1.xml" Id="R30e780e2970344e1" /><Relationship Type="http://schemas.openxmlformats.org/officeDocument/2006/relationships/slideLayout" Target="/ppt/slideLayouts/slideLayout2.xml" Id="R237a1e56559a4fda" /><Relationship Type="http://schemas.openxmlformats.org/officeDocument/2006/relationships/slideLayout" Target="/ppt/slideLayouts/slideLayout3.xml" Id="R803b1b24993449bc" /><Relationship Type="http://schemas.openxmlformats.org/officeDocument/2006/relationships/slideLayout" Target="/ppt/slideLayouts/slideLayout4.xml" Id="R1389eb83e4b5402d" /><Relationship Type="http://schemas.openxmlformats.org/officeDocument/2006/relationships/slideLayout" Target="/ppt/slideLayouts/slideLayout5.xml" Id="Ra1399645932d4a43" /><Relationship Type="http://schemas.openxmlformats.org/officeDocument/2006/relationships/slideLayout" Target="/ppt/slideLayouts/slideLayout6.xml" Id="Rc2fcb56ee2ad4c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e780e2970344e1"/>
    <p:sldLayoutId xmlns:r="http://schemas.openxmlformats.org/officeDocument/2006/relationships" id="2147483650" r:id="R237a1e56559a4fda"/>
    <p:sldLayoutId xmlns:r="http://schemas.openxmlformats.org/officeDocument/2006/relationships" id="2147483651" r:id="R803b1b24993449bc"/>
    <p:sldLayoutId xmlns:r="http://schemas.openxmlformats.org/officeDocument/2006/relationships" id="2147483652" r:id="R1389eb83e4b5402d"/>
    <p:sldLayoutId xmlns:r="http://schemas.openxmlformats.org/officeDocument/2006/relationships" id="2147483653" r:id="Ra1399645932d4a43"/>
    <p:sldLayoutId xmlns:r="http://schemas.openxmlformats.org/officeDocument/2006/relationships" id="2147483654" r:id="Rc2fcb56ee2ad4c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ddeb318ea24e34" /><Relationship Type="http://schemas.openxmlformats.org/officeDocument/2006/relationships/image" Target="/ppt/media/image.png" Id="Rb9cc254b98654fa8" /><Relationship Type="http://schemas.openxmlformats.org/officeDocument/2006/relationships/notesSlide" Target="/ppt/notesSlides/notesSlide1.xml" Id="Red17e2e934534f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484c45e750431b" /><Relationship Type="http://schemas.openxmlformats.org/officeDocument/2006/relationships/notesSlide" Target="/ppt/notesSlides/notesSlide2.xml" Id="R59b2792c40534b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e9d6dca8464997" /><Relationship Type="http://schemas.openxmlformats.org/officeDocument/2006/relationships/notesSlide" Target="/ppt/notesSlides/notesSlide3.xml" Id="Rc3a6d3947d5946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7669410db34492" /><Relationship Type="http://schemas.openxmlformats.org/officeDocument/2006/relationships/image" Target="/ppt/media/image2.png" Id="Rffa15c2264bc46ae" /><Relationship Type="http://schemas.openxmlformats.org/officeDocument/2006/relationships/notesSlide" Target="/ppt/notesSlides/notesSlide4.xml" Id="Rf76c533643a94d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1c8e66c6ef4d73" /><Relationship Type="http://schemas.openxmlformats.org/officeDocument/2006/relationships/image" Target="/ppt/media/image3.png" Id="R1f43a9d44c044b2f" /><Relationship Type="http://schemas.openxmlformats.org/officeDocument/2006/relationships/image" Target="/ppt/media/image4.png" Id="Rf529d246a14f48a1" /><Relationship Type="http://schemas.openxmlformats.org/officeDocument/2006/relationships/notesSlide" Target="/ppt/notesSlides/notesSlide5.xml" Id="Rf4e50030d84b4f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cd5a854c044144" /><Relationship Type="http://schemas.openxmlformats.org/officeDocument/2006/relationships/image" Target="/ppt/media/image5.png" Id="R585dbd845b4549e2" /><Relationship Type="http://schemas.openxmlformats.org/officeDocument/2006/relationships/notesSlide" Target="/ppt/notesSlides/notesSlide6.xml" Id="R45b285ab87a34f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a7bcf67a974ed1" /><Relationship Type="http://schemas.openxmlformats.org/officeDocument/2006/relationships/image" Target="/ppt/media/image6.png" Id="Rd7bd0409ab2a4601" /><Relationship Type="http://schemas.openxmlformats.org/officeDocument/2006/relationships/notesSlide" Target="/ppt/notesSlides/notesSlide7.xml" Id="R55f98b4b825d4a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02fba28f034f42" /><Relationship Type="http://schemas.openxmlformats.org/officeDocument/2006/relationships/notesSlide" Target="/ppt/notesSlides/notesSlide8.xml" Id="Rfb68cee90f1449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06aee8cb4941c3" /><Relationship Type="http://schemas.openxmlformats.org/officeDocument/2006/relationships/notesSlide" Target="/ppt/notesSlides/notesSlide9.xml" Id="R0930215256ee42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2051aae0314d70" /><Relationship Type="http://schemas.openxmlformats.org/officeDocument/2006/relationships/image" Target="/ppt/media/image7.png" Id="Rbd136320f4014105" /><Relationship Type="http://schemas.openxmlformats.org/officeDocument/2006/relationships/image" Target="/ppt/media/image8.png" Id="Rd1d2d8d567d14bd6" /><Relationship Type="http://schemas.openxmlformats.org/officeDocument/2006/relationships/notesSlide" Target="/ppt/notesSlides/notesSlide10.xml" Id="R6abab94b4d174c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5af33267b14463" /><Relationship Type="http://schemas.openxmlformats.org/officeDocument/2006/relationships/notesSlide" Target="/ppt/notesSlides/notesSlide11.xml" Id="Ra0f7af2b5ffd4edd"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38971ED-B9BF-4646-85F2-5978E6DFE868}"/>
              </a:ext>
            </a:extLst>
          </p:cNvPr>
          <p:cNvPicPr>
            <a:picLocks xmlns:a="http://schemas.openxmlformats.org/drawingml/2006/main" noChangeAspect="1"/>
          </p:cNvPicPr>
          <p:nvPr/>
        </p:nvPicPr>
        <p:blipFill>
          <a:blip xmlns:r="http://schemas.openxmlformats.org/officeDocument/2006/relationships" xmlns:a="http://schemas.openxmlformats.org/drawingml/2006/main" r:embed="Rb9cc254b98654fa8"/>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9386FC-6C39-4B11-A289-38B9B961092E}"/>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F72EC0-A8D6-44F6-B383-6D1964E3C22A}"/>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9A8E38-DBFF-4084-A629-AD0FC2F6B6CF}"/>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stStyle>
          <a:p xmlns:a="http://schemas.openxmlformats.org/drawingml/2006/main">
            <a:pPr algn="ctr">
              <a:defRPr sz="1125" b="1">
                <a:solidFill>
                  <a:srgbClr val="1AA58F"/>
                </a:solidFill>
                <a:latin typeface="Arial"/>
                <a:ea typeface="Arial"/>
                <a:cs typeface="Arial"/>
              </a:defRPr>
            </a:pPr>
            <a:r>
              <a:rPr sz="1125" b="1">
                <a:solidFill>
                  <a:srgbClr val="1AA58F"/>
                </a:solidFill>
                <a:latin typeface="Arial"/>
                <a:ea typeface="Arial"/>
                <a:cs typeface="Arial"/>
              </a:rPr>
              <a:t>SATELLITE-DERIVED PRIORITY MAP</a:t>
            </a:r>
          </a:p>
        </p:txBody>
      </p:sp>
      <p:sp>
        <p:nvSpPr>
          <p:cNvPr id="5" name="">
            <a:extLst xmlns:a="http://schemas.openxmlformats.org/drawingml/2006/main">
              <a:ext uri="{FF2B5EF4-FFF2-40B4-BE49-F238E27FC236}">
                <a16:creationId xmlns:a16="http://schemas.microsoft.com/office/drawing/2014/main" id="{02411722-CC33-4519-B7A5-9780CC90F25F}"/>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stStyle>
          <a:p xmlns:a="http://schemas.openxmlformats.org/drawingml/2006/main">
            <a:pPr algn="l">
              <a:defRPr sz="1275" b="1">
                <a:solidFill>
                  <a:srgbClr val="1AA58F"/>
                </a:solidFill>
                <a:latin typeface="Arial"/>
                <a:ea typeface="Arial"/>
                <a:cs typeface="Arial"/>
              </a:defRPr>
            </a:pPr>
            <a:r>
              <a:rPr sz="1275" b="1">
                <a:solidFill>
                  <a:srgbClr val="1AA58F"/>
                </a:solidFill>
                <a:latin typeface="Arial"/>
                <a:ea typeface="Arial"/>
                <a:cs typeface="Arial"/>
              </a:rPr>
              <a:t>RIYADH</a:t>
            </a:r>
          </a:p>
        </p:txBody>
      </p:sp>
      <p:sp>
        <p:nvSpPr>
          <p:cNvPr id="6" name="">
            <a:extLst xmlns:a="http://schemas.openxmlformats.org/drawingml/2006/main">
              <a:ext uri="{FF2B5EF4-FFF2-40B4-BE49-F238E27FC236}">
                <a16:creationId xmlns:a16="http://schemas.microsoft.com/office/drawing/2014/main" id="{88A6041B-F4E6-4035-8AA1-5C11DA4421D1}"/>
              </a:ext>
            </a:extLst>
          </p:cNvPr>
          <p:cNvSpPr>
            <a:spLocks xmlns:a="http://schemas.openxmlformats.org/drawingml/2006/main" noGrp="1"/>
          </p:cNvSpPr>
          <p:nvPr/>
        </p:nvSpPr>
        <p:spPr>
          <a:xfrm xmlns:a="http://schemas.openxmlformats.org/drawingml/2006/main">
            <a:off x="647700" y="1123950"/>
            <a:ext cx="495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4200" b="1">
                <a:solidFill>
                  <a:srgbClr val="F3F6F2"/>
                </a:solidFill>
                <a:latin typeface="Arial"/>
                <a:ea typeface="Arial"/>
                <a:cs typeface="Arial"/>
              </a:defRPr>
            </a:defPPr>
          </a:lstStyle>
          <a:p xmlns:a="http://schemas.openxmlformats.org/drawingml/2006/main">
            <a:pPr algn="l">
              <a:defRPr sz="4200" b="1">
                <a:solidFill>
                  <a:srgbClr val="F3F6F2"/>
                </a:solidFill>
                <a:latin typeface="Arial"/>
                <a:ea typeface="Arial"/>
                <a:cs typeface="Arial"/>
              </a:defRPr>
            </a:pPr>
            <a:r>
              <a:rPr sz="4200" b="1">
                <a:solidFill>
                  <a:srgbClr val="F3F6F2"/>
                </a:solidFill>
                <a:latin typeface="Arial"/>
                <a:ea typeface="Arial"/>
                <a:cs typeface="Arial"/>
              </a:rPr>
              <a:t>HeatReady</a:t>
            </a:r>
          </a:p>
        </p:txBody>
      </p:sp>
      <p:sp>
        <p:nvSpPr>
          <p:cNvPr id="7" name="">
            <a:extLst xmlns:a="http://schemas.openxmlformats.org/drawingml/2006/main">
              <a:ext uri="{FF2B5EF4-FFF2-40B4-BE49-F238E27FC236}">
                <a16:creationId xmlns:a16="http://schemas.microsoft.com/office/drawing/2014/main" id="{543B3562-C35D-460A-B98B-61155754092A}"/>
              </a:ext>
            </a:extLst>
          </p:cNvPr>
          <p:cNvSpPr>
            <a:spLocks xmlns:a="http://schemas.openxmlformats.org/drawingml/2006/main" noGrp="1"/>
          </p:cNvSpPr>
          <p:nvPr/>
        </p:nvSpPr>
        <p:spPr>
          <a:xfrm xmlns:a="http://schemas.openxmlformats.org/drawingml/2006/main">
            <a:off x="647700" y="1952625"/>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a:solidFill>
                  <a:srgbClr val="AFC4C6"/>
                </a:solidFill>
                <a:latin typeface="Arial"/>
                <a:ea typeface="Arial"/>
                <a:cs typeface="Arial"/>
              </a:defRPr>
            </a:defPPr>
          </a:lstStyle>
          <a:p xmlns:a="http://schemas.openxmlformats.org/drawingml/2006/main">
            <a:pPr algn="l">
              <a:defRPr sz="1950">
                <a:solidFill>
                  <a:srgbClr val="AFC4C6"/>
                </a:solidFill>
                <a:latin typeface="Arial"/>
                <a:ea typeface="Arial"/>
                <a:cs typeface="Arial"/>
              </a:defRPr>
            </a:pPr>
            <a:r>
              <a:rPr sz="1950">
                <a:solidFill>
                  <a:srgbClr val="AFC4C6"/>
                </a:solidFill>
                <a:latin typeface="Arial"/>
                <a:ea typeface="Arial"/>
                <a:cs typeface="Arial"/>
              </a:rPr>
              <a:t>From satellite evidence to a clear municipal inspection priority</a:t>
            </a:r>
          </a:p>
        </p:txBody>
      </p:sp>
      <p:sp>
        <p:nvSpPr>
          <p:cNvPr id="8" name="">
            <a:extLst xmlns:a="http://schemas.openxmlformats.org/drawingml/2006/main">
              <a:ext uri="{FF2B5EF4-FFF2-40B4-BE49-F238E27FC236}">
                <a16:creationId xmlns:a16="http://schemas.microsoft.com/office/drawing/2014/main" id="{69B863BB-64A4-4A39-BE83-E62CADA6A70B}"/>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2D1D3665-C53F-46EE-8F17-34B1ADB81888}"/>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stStyle>
          <a:p xmlns:a="http://schemas.openxmlformats.org/drawingml/2006/main">
            <a:pPr algn="l">
              <a:defRPr sz="975" b="1">
                <a:solidFill>
                  <a:srgbClr val="E2AD2B"/>
                </a:solidFill>
                <a:latin typeface="Arial"/>
                <a:ea typeface="Arial"/>
                <a:cs typeface="Arial"/>
              </a:defRPr>
            </a:pPr>
            <a:r>
              <a:rPr sz="975" b="1">
                <a:solidFill>
                  <a:srgbClr val="E2AD2B"/>
                </a:solidFill>
                <a:latin typeface="Arial"/>
                <a:ea typeface="Arial"/>
                <a:cs typeface="Arial"/>
              </a:rPr>
              <a:t>ONE DECISION</a:t>
            </a:r>
          </a:p>
        </p:txBody>
      </p:sp>
      <p:sp>
        <p:nvSpPr>
          <p:cNvPr id="10" name="">
            <a:extLst xmlns:a="http://schemas.openxmlformats.org/drawingml/2006/main">
              <a:ext uri="{FF2B5EF4-FFF2-40B4-BE49-F238E27FC236}">
                <a16:creationId xmlns:a16="http://schemas.microsoft.com/office/drawing/2014/main" id="{6DA0969C-E4F3-488E-A82F-6AEC712405DB}"/>
              </a:ext>
            </a:extLst>
          </p:cNvPr>
          <p:cNvSpPr>
            <a:spLocks xmlns:a="http://schemas.openxmlformats.org/drawingml/2006/main" noGrp="1"/>
          </p:cNvSpPr>
          <p:nvPr/>
        </p:nvSpPr>
        <p:spPr>
          <a:xfrm xmlns:a="http://schemas.openxmlformats.org/drawingml/2006/main">
            <a:off x="647700" y="361950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F3F6F2"/>
                </a:solidFill>
                <a:latin typeface="Arial"/>
                <a:ea typeface="Arial"/>
                <a:cs typeface="Arial"/>
              </a:defRPr>
            </a:defPPr>
          </a:lstStyle>
          <a:p xmlns:a="http://schemas.openxmlformats.org/drawingml/2006/main">
            <a:pPr algn="l">
              <a:defRPr sz="2025" b="1">
                <a:solidFill>
                  <a:srgbClr val="F3F6F2"/>
                </a:solidFill>
                <a:latin typeface="Arial"/>
                <a:ea typeface="Arial"/>
                <a:cs typeface="Arial"/>
              </a:defRPr>
            </a:pPr>
            <a:r>
              <a:rPr sz="2025" b="1">
                <a:solidFill>
                  <a:srgbClr val="F3F6F2"/>
                </a:solidFill>
                <a:latin typeface="Arial"/>
                <a:ea typeface="Arial"/>
                <a:cs typeface="Arial"/>
              </a:rPr>
              <a:t>Which 1 km zones should a planning and heat-resilience team inspect first?</a:t>
            </a:r>
          </a:p>
        </p:txBody>
      </p:sp>
      <p:sp>
        <p:nvSpPr>
          <p:cNvPr id="11" name="">
            <a:extLst xmlns:a="http://schemas.openxmlformats.org/drawingml/2006/main">
              <a:ext uri="{FF2B5EF4-FFF2-40B4-BE49-F238E27FC236}">
                <a16:creationId xmlns:a16="http://schemas.microsoft.com/office/drawing/2014/main" id="{371ED20E-345C-4EDC-BF64-D16DE6EFD37E}"/>
              </a:ext>
            </a:extLst>
          </p:cNvPr>
          <p:cNvSpPr>
            <a:spLocks xmlns:a="http://schemas.openxmlformats.org/drawingml/2006/main" noGrp="1"/>
          </p:cNvSpPr>
          <p:nvPr/>
        </p:nvSpPr>
        <p:spPr>
          <a:xfrm xmlns:a="http://schemas.openxmlformats.org/drawingml/2006/main">
            <a:off x="647700" y="592455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a:solidFill>
                  <a:srgbClr val="AFC4C6"/>
                </a:solidFill>
                <a:latin typeface="Arial"/>
                <a:ea typeface="Arial"/>
                <a:cs typeface="Arial"/>
              </a:defRPr>
            </a:defPPr>
          </a:lstStyle>
          <a:p xmlns:a="http://schemas.openxmlformats.org/drawingml/2006/main">
            <a:pPr algn="l">
              <a:defRPr sz="1050">
                <a:solidFill>
                  <a:srgbClr val="AFC4C6"/>
                </a:solidFill>
                <a:latin typeface="Arial"/>
                <a:ea typeface="Arial"/>
                <a:cs typeface="Arial"/>
              </a:defRPr>
            </a:pPr>
            <a:r>
              <a:rPr sz="1050">
                <a:solidFill>
                  <a:srgbClr val="AFC4C6"/>
                </a:solidFill>
                <a:latin typeface="Arial"/>
                <a:ea typeface="Arial"/>
                <a:cs typeface="Arial"/>
              </a:rPr>
              <a:t>Milkaholics  •  Urban Expansion, Land Use Change &amp; Heat Risk  •  United Arab Emirates</a:t>
            </a:r>
          </a:p>
        </p:txBody>
      </p:sp>
    </p:spTree>
    <p:extLst>
      <p:ext uri="{BB962C8B-B14F-4D97-AF65-F5344CB8AC3E}">
        <p14:creationId xmlns:p14="http://schemas.microsoft.com/office/powerpoint/2010/main" val="1273131071"/>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B009174-9652-4473-8F78-4894FFB5E37A}"/>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TEAM CAPABILITY</a:t>
            </a:r>
          </a:p>
        </p:txBody>
      </p:sp>
      <p:sp>
        <p:nvSpPr>
          <p:cNvPr id="2" name="">
            <a:extLst xmlns:a="http://schemas.openxmlformats.org/drawingml/2006/main">
              <a:ext uri="{FF2B5EF4-FFF2-40B4-BE49-F238E27FC236}">
                <a16:creationId xmlns:a16="http://schemas.microsoft.com/office/drawing/2014/main" id="{C7ACBEB0-C00D-4D4F-B97E-C8AB6A26B6AA}"/>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Two clear owners for one testable decision</a:t>
            </a:r>
          </a:p>
        </p:txBody>
      </p:sp>
      <p:sp>
        <p:nvSpPr>
          <p:cNvPr id="3" name="">
            <a:extLst xmlns:a="http://schemas.openxmlformats.org/drawingml/2006/main">
              <a:ext uri="{FF2B5EF4-FFF2-40B4-BE49-F238E27FC236}">
                <a16:creationId xmlns:a16="http://schemas.microsoft.com/office/drawing/2014/main" id="{FA18D96D-7DC5-440A-8724-2880F2A13810}"/>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31F52CB-26FC-447A-B290-2837767A4D9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9AF23691-D92B-404E-8B02-E15B285BBD60}"/>
              </a:ext>
            </a:extLst>
          </p:cNvPr>
          <p:cNvSpPr>
            <a:spLocks xmlns:a="http://schemas.openxmlformats.org/drawingml/2006/main" noGrp="1"/>
          </p:cNvSpPr>
          <p:nvPr/>
        </p:nvSpPr>
        <p:spPr>
          <a:xfrm xmlns:a="http://schemas.openxmlformats.org/drawingml/2006/main">
            <a:off x="590550" y="1638300"/>
            <a:ext cx="5257800" cy="4095750"/>
          </a:xfrm>
          <a:prstGeom xmlns:a="http://schemas.openxmlformats.org/drawingml/2006/main" prst="roundRect">
            <a:avLst>
              <a:gd name="adj" fmla="val 4186"/>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0B87C8A3-4A67-4708-B9CE-D473DD0981C9}"/>
              </a:ext>
            </a:extLst>
          </p:cNvPr>
          <p:cNvSpPr>
            <a:spLocks xmlns:a="http://schemas.openxmlformats.org/drawingml/2006/main" noGrp="1"/>
          </p:cNvSpPr>
          <p:nvPr/>
        </p:nvSpPr>
        <p:spPr>
          <a:xfrm xmlns:a="http://schemas.openxmlformats.org/drawingml/2006/main">
            <a:off x="876300" y="1924050"/>
            <a:ext cx="876300" cy="876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F3F6F2"/>
                </a:solidFill>
              </a:defRPr>
            </a:defPPr>
          </a:lstStyle>
          <a:p xmlns:a="http://schemas.openxmlformats.org/drawingml/2006/main">
            <a:pPr algn="ctr">
              <a:defRPr sz="2250" b="1">
                <a:solidFill>
                  <a:srgbClr val="F3F6F2"/>
                </a:solidFill>
              </a:defRPr>
            </a:pPr>
            <a:r>
              <a:rPr sz="2250" b="1">
                <a:solidFill>
                  <a:srgbClr val="F3F6F2"/>
                </a:solidFill>
              </a:rPr>
              <a:t>YK</a:t>
            </a:r>
          </a:p>
        </p:txBody>
      </p:sp>
      <p:sp>
        <p:nvSpPr>
          <p:cNvPr id="7" name="">
            <a:extLst xmlns:a="http://schemas.openxmlformats.org/drawingml/2006/main">
              <a:ext uri="{FF2B5EF4-FFF2-40B4-BE49-F238E27FC236}">
                <a16:creationId xmlns:a16="http://schemas.microsoft.com/office/drawing/2014/main" id="{D3C539AB-918C-4702-8ECE-F688B9004004}"/>
              </a:ext>
            </a:extLst>
          </p:cNvPr>
          <p:cNvSpPr>
            <a:spLocks xmlns:a="http://schemas.openxmlformats.org/drawingml/2006/main" noGrp="1"/>
          </p:cNvSpPr>
          <p:nvPr/>
        </p:nvSpPr>
        <p:spPr>
          <a:xfrm xmlns:a="http://schemas.openxmlformats.org/drawingml/2006/main">
            <a:off x="1981200" y="1885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F3F6F2"/>
                </a:solidFill>
                <a:latin typeface="Arial"/>
                <a:ea typeface="Arial"/>
                <a:cs typeface="Arial"/>
              </a:defRPr>
            </a:defPPr>
          </a:lstStyle>
          <a:p xmlns:a="http://schemas.openxmlformats.org/drawingml/2006/main">
            <a:pPr algn="l">
              <a:defRPr sz="2175" b="1">
                <a:solidFill>
                  <a:srgbClr val="F3F6F2"/>
                </a:solidFill>
                <a:latin typeface="Arial"/>
                <a:ea typeface="Arial"/>
                <a:cs typeface="Arial"/>
              </a:defRPr>
            </a:pPr>
            <a:r>
              <a:rPr sz="2175" b="1">
                <a:solidFill>
                  <a:srgbClr val="F3F6F2"/>
                </a:solidFill>
                <a:latin typeface="Arial"/>
                <a:ea typeface="Arial"/>
                <a:cs typeface="Arial"/>
              </a:rPr>
              <a:t>Yusuf Karanib</a:t>
            </a:r>
          </a:p>
        </p:txBody>
      </p:sp>
      <p:sp>
        <p:nvSpPr>
          <p:cNvPr id="8" name="">
            <a:extLst xmlns:a="http://schemas.openxmlformats.org/drawingml/2006/main">
              <a:ext uri="{FF2B5EF4-FFF2-40B4-BE49-F238E27FC236}">
                <a16:creationId xmlns:a16="http://schemas.microsoft.com/office/drawing/2014/main" id="{DC577386-B233-4E56-A7C9-115BCF3C89A3}"/>
              </a:ext>
            </a:extLst>
          </p:cNvPr>
          <p:cNvSpPr>
            <a:spLocks xmlns:a="http://schemas.openxmlformats.org/drawingml/2006/main" noGrp="1"/>
          </p:cNvSpPr>
          <p:nvPr/>
        </p:nvSpPr>
        <p:spPr>
          <a:xfrm xmlns:a="http://schemas.openxmlformats.org/drawingml/2006/main">
            <a:off x="1981200" y="23241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stStyle>
          <a:p xmlns:a="http://schemas.openxmlformats.org/drawingml/2006/main">
            <a:pPr algn="l">
              <a:defRPr sz="1350" b="1">
                <a:solidFill>
                  <a:srgbClr val="1AA58F"/>
                </a:solidFill>
                <a:latin typeface="Arial"/>
                <a:ea typeface="Arial"/>
                <a:cs typeface="Arial"/>
              </a:defRPr>
            </a:pPr>
            <a:r>
              <a:rPr sz="1350" b="1">
                <a:solidFill>
                  <a:srgbClr val="1AA58F"/>
                </a:solidFill>
                <a:latin typeface="Arial"/>
                <a:ea typeface="Arial"/>
                <a:cs typeface="Arial"/>
              </a:rPr>
              <a:t>Project Lead and Data/Method Presenter</a:t>
            </a:r>
          </a:p>
        </p:txBody>
      </p:sp>
      <p:sp>
        <p:nvSpPr>
          <p:cNvPr id="9" name="">
            <a:extLst xmlns:a="http://schemas.openxmlformats.org/drawingml/2006/main">
              <a:ext uri="{FF2B5EF4-FFF2-40B4-BE49-F238E27FC236}">
                <a16:creationId xmlns:a16="http://schemas.microsoft.com/office/drawing/2014/main" id="{FB67ED39-765C-45AC-8B2B-964E4EACA1C8}"/>
              </a:ext>
            </a:extLst>
          </p:cNvPr>
          <p:cNvSpPr>
            <a:spLocks xmlns:a="http://schemas.openxmlformats.org/drawingml/2006/main" noGrp="1"/>
          </p:cNvSpPr>
          <p:nvPr/>
        </p:nvSpPr>
        <p:spPr>
          <a:xfrm xmlns:a="http://schemas.openxmlformats.org/drawingml/2006/main">
            <a:off x="876300" y="3105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stStyle>
          <a:p xmlns:a="http://schemas.openxmlformats.org/drawingml/2006/main">
            <a:pPr algn="l">
              <a:defRPr sz="975" b="1">
                <a:solidFill>
                  <a:srgbClr val="E2AD2B"/>
                </a:solidFill>
                <a:latin typeface="Arial"/>
                <a:ea typeface="Arial"/>
                <a:cs typeface="Arial"/>
              </a:defRPr>
            </a:pPr>
            <a:r>
              <a:rPr sz="975" b="1">
                <a:solidFill>
                  <a:srgbClr val="E2AD2B"/>
                </a:solidFill>
                <a:latin typeface="Arial"/>
                <a:ea typeface="Arial"/>
                <a:cs typeface="Arial"/>
              </a:rPr>
              <a:t>Project responsibility</a:t>
            </a:r>
          </a:p>
        </p:txBody>
      </p:sp>
      <p:sp>
        <p:nvSpPr>
          <p:cNvPr id="10" name="">
            <a:extLst xmlns:a="http://schemas.openxmlformats.org/drawingml/2006/main">
              <a:ext uri="{FF2B5EF4-FFF2-40B4-BE49-F238E27FC236}">
                <a16:creationId xmlns:a16="http://schemas.microsoft.com/office/drawing/2014/main" id="{0D2EC25C-A9B8-446C-9F02-6C05883A55F1}"/>
              </a:ext>
            </a:extLst>
          </p:cNvPr>
          <p:cNvSpPr>
            <a:spLocks xmlns:a="http://schemas.openxmlformats.org/drawingml/2006/main" noGrp="1"/>
          </p:cNvSpPr>
          <p:nvPr/>
        </p:nvSpPr>
        <p:spPr>
          <a:xfrm xmlns:a="http://schemas.openxmlformats.org/drawingml/2006/main">
            <a:off x="876300" y="3448050"/>
            <a:ext cx="209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5D55DB0A-FA20-4A68-A868-7CBA4C2392F5}"/>
              </a:ext>
            </a:extLst>
          </p:cNvPr>
          <p:cNvSpPr>
            <a:spLocks xmlns:a="http://schemas.openxmlformats.org/drawingml/2006/main" noGrp="1"/>
          </p:cNvSpPr>
          <p:nvPr/>
        </p:nvSpPr>
        <p:spPr>
          <a:xfrm xmlns:a="http://schemas.openxmlformats.org/drawingml/2006/main">
            <a:off x="1123950" y="3448050"/>
            <a:ext cx="4267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Coordinates the final submission and live demonstration.</a:t>
            </a:r>
          </a:p>
        </p:txBody>
      </p:sp>
      <p:sp>
        <p:nvSpPr>
          <p:cNvPr id="12" name="">
            <a:extLst xmlns:a="http://schemas.openxmlformats.org/drawingml/2006/main">
              <a:ext uri="{FF2B5EF4-FFF2-40B4-BE49-F238E27FC236}">
                <a16:creationId xmlns:a16="http://schemas.microsoft.com/office/drawing/2014/main" id="{0121A790-EA4C-460E-A9AE-42936C4EC50C}"/>
              </a:ext>
            </a:extLst>
          </p:cNvPr>
          <p:cNvSpPr>
            <a:spLocks xmlns:a="http://schemas.openxmlformats.org/drawingml/2006/main" noGrp="1"/>
          </p:cNvSpPr>
          <p:nvPr/>
        </p:nvSpPr>
        <p:spPr>
          <a:xfrm xmlns:a="http://schemas.openxmlformats.org/drawingml/2006/main">
            <a:off x="876300" y="4057650"/>
            <a:ext cx="209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34F1799A-40C8-4E43-AC13-DFFB8C930C6C}"/>
              </a:ext>
            </a:extLst>
          </p:cNvPr>
          <p:cNvSpPr>
            <a:spLocks xmlns:a="http://schemas.openxmlformats.org/drawingml/2006/main" noGrp="1"/>
          </p:cNvSpPr>
          <p:nvPr/>
        </p:nvSpPr>
        <p:spPr>
          <a:xfrm xmlns:a="http://schemas.openxmlformats.org/drawingml/2006/main">
            <a:off x="1123950" y="40576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Explains the problem, EO data, method, score and live demonstration.</a:t>
            </a:r>
          </a:p>
        </p:txBody>
      </p:sp>
      <p:sp>
        <p:nvSpPr>
          <p:cNvPr id="14" name="">
            <a:extLst xmlns:a="http://schemas.openxmlformats.org/drawingml/2006/main">
              <a:ext uri="{FF2B5EF4-FFF2-40B4-BE49-F238E27FC236}">
                <a16:creationId xmlns:a16="http://schemas.microsoft.com/office/drawing/2014/main" id="{178D2A2A-A422-4611-B64A-E7DFA5DB2C5A}"/>
              </a:ext>
            </a:extLst>
          </p:cNvPr>
          <p:cNvSpPr>
            <a:spLocks xmlns:a="http://schemas.openxmlformats.org/drawingml/2006/main" noGrp="1"/>
          </p:cNvSpPr>
          <p:nvPr/>
        </p:nvSpPr>
        <p:spPr>
          <a:xfrm xmlns:a="http://schemas.openxmlformats.org/drawingml/2006/main">
            <a:off x="876300" y="4914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AFC4C6"/>
                </a:solidFill>
                <a:latin typeface="Arial"/>
                <a:ea typeface="Arial"/>
                <a:cs typeface="Arial"/>
              </a:defRPr>
            </a:defPPr>
          </a:lstStyle>
          <a:p xmlns:a="http://schemas.openxmlformats.org/drawingml/2006/main">
            <a:pPr algn="l">
              <a:defRPr sz="1275" b="1">
                <a:solidFill>
                  <a:srgbClr val="AFC4C6"/>
                </a:solidFill>
                <a:latin typeface="Arial"/>
                <a:ea typeface="Arial"/>
                <a:cs typeface="Arial"/>
              </a:defRPr>
            </a:pPr>
            <a:r>
              <a:rPr sz="1275" b="1">
                <a:solidFill>
                  <a:srgbClr val="AFC4C6"/>
                </a:solidFill>
                <a:latin typeface="Arial"/>
                <a:ea typeface="Arial"/>
                <a:cs typeface="Arial"/>
              </a:rPr>
              <a:t>Finals focus: EO workflow, data processing and reproducibility.</a:t>
            </a:r>
          </a:p>
        </p:txBody>
      </p:sp>
      <p:sp>
        <p:nvSpPr>
          <p:cNvPr id="15" name="">
            <a:extLst xmlns:a="http://schemas.openxmlformats.org/drawingml/2006/main">
              <a:ext uri="{FF2B5EF4-FFF2-40B4-BE49-F238E27FC236}">
                <a16:creationId xmlns:a16="http://schemas.microsoft.com/office/drawing/2014/main" id="{BAB37A72-99D0-49D3-B611-064C88F9A1DF}"/>
              </a:ext>
            </a:extLst>
          </p:cNvPr>
          <p:cNvSpPr>
            <a:spLocks xmlns:a="http://schemas.openxmlformats.org/drawingml/2006/main" noGrp="1"/>
          </p:cNvSpPr>
          <p:nvPr/>
        </p:nvSpPr>
        <p:spPr>
          <a:xfrm xmlns:a="http://schemas.openxmlformats.org/drawingml/2006/main">
            <a:off x="6343650" y="1638300"/>
            <a:ext cx="5257800" cy="4095750"/>
          </a:xfrm>
          <a:prstGeom xmlns:a="http://schemas.openxmlformats.org/drawingml/2006/main" prst="roundRect">
            <a:avLst>
              <a:gd name="adj" fmla="val 4186"/>
            </a:avLst>
          </a:prstGeom>
          <a:solidFill xmlns:a="http://schemas.openxmlformats.org/drawingml/2006/main">
            <a:srgbClr val="113646"/>
          </a:solidFill>
          <a:ln xmlns:a="http://schemas.openxmlformats.org/drawingml/2006/main" w="9525">
            <a:solidFill>
              <a:srgbClr val="31505F"/>
            </a:solidFill>
            <a:prstDash val="solid"/>
          </a:ln>
        </p:spPr>
      </p:sp>
      <p:sp>
        <p:nvSpPr>
          <p:cNvPr id="16" name="">
            <a:extLst xmlns:a="http://schemas.openxmlformats.org/drawingml/2006/main">
              <a:ext uri="{FF2B5EF4-FFF2-40B4-BE49-F238E27FC236}">
                <a16:creationId xmlns:a16="http://schemas.microsoft.com/office/drawing/2014/main" id="{3D69D74D-F8B7-4CD1-A73A-C10E82F7F386}"/>
              </a:ext>
            </a:extLst>
          </p:cNvPr>
          <p:cNvSpPr>
            <a:spLocks xmlns:a="http://schemas.openxmlformats.org/drawingml/2006/main" noGrp="1"/>
          </p:cNvSpPr>
          <p:nvPr/>
        </p:nvSpPr>
        <p:spPr>
          <a:xfrm xmlns:a="http://schemas.openxmlformats.org/drawingml/2006/main">
            <a:off x="6629400" y="1924050"/>
            <a:ext cx="876300" cy="876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F3F6F2"/>
                </a:solidFill>
              </a:defRPr>
            </a:defPPr>
          </a:lstStyle>
          <a:p xmlns:a="http://schemas.openxmlformats.org/drawingml/2006/main">
            <a:pPr algn="ctr">
              <a:defRPr sz="2250" b="1">
                <a:solidFill>
                  <a:srgbClr val="F3F6F2"/>
                </a:solidFill>
              </a:defRPr>
            </a:pPr>
            <a:r>
              <a:rPr sz="2250" b="1">
                <a:solidFill>
                  <a:srgbClr val="F3F6F2"/>
                </a:solidFill>
              </a:rPr>
              <a:t>RM</a:t>
            </a:r>
          </a:p>
        </p:txBody>
      </p:sp>
      <p:sp>
        <p:nvSpPr>
          <p:cNvPr id="17" name="">
            <a:extLst xmlns:a="http://schemas.openxmlformats.org/drawingml/2006/main">
              <a:ext uri="{FF2B5EF4-FFF2-40B4-BE49-F238E27FC236}">
                <a16:creationId xmlns:a16="http://schemas.microsoft.com/office/drawing/2014/main" id="{0E6624BA-2149-49A0-9FFE-0F3B261DBFCD}"/>
              </a:ext>
            </a:extLst>
          </p:cNvPr>
          <p:cNvSpPr>
            <a:spLocks xmlns:a="http://schemas.openxmlformats.org/drawingml/2006/main" noGrp="1"/>
          </p:cNvSpPr>
          <p:nvPr/>
        </p:nvSpPr>
        <p:spPr>
          <a:xfrm xmlns:a="http://schemas.openxmlformats.org/drawingml/2006/main">
            <a:off x="7734300" y="1885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F3F6F2"/>
                </a:solidFill>
                <a:latin typeface="Arial"/>
                <a:ea typeface="Arial"/>
                <a:cs typeface="Arial"/>
              </a:defRPr>
            </a:defPPr>
          </a:lstStyle>
          <a:p xmlns:a="http://schemas.openxmlformats.org/drawingml/2006/main">
            <a:pPr algn="l">
              <a:defRPr sz="2175" b="1">
                <a:solidFill>
                  <a:srgbClr val="F3F6F2"/>
                </a:solidFill>
                <a:latin typeface="Arial"/>
                <a:ea typeface="Arial"/>
                <a:cs typeface="Arial"/>
              </a:defRPr>
            </a:pPr>
            <a:r>
              <a:rPr sz="2175" b="1">
                <a:solidFill>
                  <a:srgbClr val="F3F6F2"/>
                </a:solidFill>
                <a:latin typeface="Arial"/>
                <a:ea typeface="Arial"/>
                <a:cs typeface="Arial"/>
              </a:rPr>
              <a:t>Raed Mardoum</a:t>
            </a:r>
          </a:p>
        </p:txBody>
      </p:sp>
      <p:sp>
        <p:nvSpPr>
          <p:cNvPr id="18" name="">
            <a:extLst xmlns:a="http://schemas.openxmlformats.org/drawingml/2006/main">
              <a:ext uri="{FF2B5EF4-FFF2-40B4-BE49-F238E27FC236}">
                <a16:creationId xmlns:a16="http://schemas.microsoft.com/office/drawing/2014/main" id="{8A08A505-875B-4BF7-85A2-D18A3A223F2F}"/>
              </a:ext>
            </a:extLst>
          </p:cNvPr>
          <p:cNvSpPr>
            <a:spLocks xmlns:a="http://schemas.openxmlformats.org/drawingml/2006/main" noGrp="1"/>
          </p:cNvSpPr>
          <p:nvPr/>
        </p:nvSpPr>
        <p:spPr>
          <a:xfrm xmlns:a="http://schemas.openxmlformats.org/drawingml/2006/main">
            <a:off x="7734300" y="23241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stStyle>
          <a:p xmlns:a="http://schemas.openxmlformats.org/drawingml/2006/main">
            <a:pPr algn="l">
              <a:defRPr sz="1350" b="1">
                <a:solidFill>
                  <a:srgbClr val="6D5DD3"/>
                </a:solidFill>
                <a:latin typeface="Arial"/>
                <a:ea typeface="Arial"/>
                <a:cs typeface="Arial"/>
              </a:defRPr>
            </a:pPr>
            <a:r>
              <a:rPr sz="1350" b="1">
                <a:solidFill>
                  <a:srgbClr val="6D5DD3"/>
                </a:solidFill>
                <a:latin typeface="Arial"/>
                <a:ea typeface="Arial"/>
                <a:cs typeface="Arial"/>
              </a:rPr>
              <a:t>Validation, Workflow and Impact Lead</a:t>
            </a:r>
          </a:p>
        </p:txBody>
      </p:sp>
      <p:sp>
        <p:nvSpPr>
          <p:cNvPr id="19" name="">
            <a:extLst xmlns:a="http://schemas.openxmlformats.org/drawingml/2006/main">
              <a:ext uri="{FF2B5EF4-FFF2-40B4-BE49-F238E27FC236}">
                <a16:creationId xmlns:a16="http://schemas.microsoft.com/office/drawing/2014/main" id="{20675A55-48D6-4FC5-95FA-8FF093307185}"/>
              </a:ext>
            </a:extLst>
          </p:cNvPr>
          <p:cNvSpPr>
            <a:spLocks xmlns:a="http://schemas.openxmlformats.org/drawingml/2006/main" noGrp="1"/>
          </p:cNvSpPr>
          <p:nvPr/>
        </p:nvSpPr>
        <p:spPr>
          <a:xfrm xmlns:a="http://schemas.openxmlformats.org/drawingml/2006/main">
            <a:off x="6629400" y="3105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stStyle>
          <a:p xmlns:a="http://schemas.openxmlformats.org/drawingml/2006/main">
            <a:pPr algn="l">
              <a:defRPr sz="975" b="1">
                <a:solidFill>
                  <a:srgbClr val="E2AD2B"/>
                </a:solidFill>
                <a:latin typeface="Arial"/>
                <a:ea typeface="Arial"/>
                <a:cs typeface="Arial"/>
              </a:defRPr>
            </a:pPr>
            <a:r>
              <a:rPr sz="975" b="1">
                <a:solidFill>
                  <a:srgbClr val="E2AD2B"/>
                </a:solidFill>
                <a:latin typeface="Arial"/>
                <a:ea typeface="Arial"/>
                <a:cs typeface="Arial"/>
              </a:rPr>
              <a:t>Finals responsibility</a:t>
            </a:r>
          </a:p>
        </p:txBody>
      </p:sp>
      <p:sp>
        <p:nvSpPr>
          <p:cNvPr id="20" name="">
            <a:extLst xmlns:a="http://schemas.openxmlformats.org/drawingml/2006/main">
              <a:ext uri="{FF2B5EF4-FFF2-40B4-BE49-F238E27FC236}">
                <a16:creationId xmlns:a16="http://schemas.microsoft.com/office/drawing/2014/main" id="{74A7BE34-65E5-402B-BD41-9A8B02155105}"/>
              </a:ext>
            </a:extLst>
          </p:cNvPr>
          <p:cNvSpPr>
            <a:spLocks xmlns:a="http://schemas.openxmlformats.org/drawingml/2006/main" noGrp="1"/>
          </p:cNvSpPr>
          <p:nvPr/>
        </p:nvSpPr>
        <p:spPr>
          <a:xfrm xmlns:a="http://schemas.openxmlformats.org/drawingml/2006/main">
            <a:off x="6629400" y="3448050"/>
            <a:ext cx="209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ED0D95E9-019E-46B1-B7DC-9CA436FB8FBF}"/>
              </a:ext>
            </a:extLst>
          </p:cNvPr>
          <p:cNvSpPr>
            <a:spLocks xmlns:a="http://schemas.openxmlformats.org/drawingml/2006/main" noGrp="1"/>
          </p:cNvSpPr>
          <p:nvPr/>
        </p:nvSpPr>
        <p:spPr>
          <a:xfrm xmlns:a="http://schemas.openxmlformats.org/drawingml/2006/main">
            <a:off x="6877050" y="3448050"/>
            <a:ext cx="426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Explains validation evidence, limitations and safe interpretation.</a:t>
            </a:r>
          </a:p>
        </p:txBody>
      </p:sp>
      <p:sp>
        <p:nvSpPr>
          <p:cNvPr id="22" name="">
            <a:extLst xmlns:a="http://schemas.openxmlformats.org/drawingml/2006/main">
              <a:ext uri="{FF2B5EF4-FFF2-40B4-BE49-F238E27FC236}">
                <a16:creationId xmlns:a16="http://schemas.microsoft.com/office/drawing/2014/main" id="{ADB12792-7BBF-4570-9D12-6E938B7B4D4D}"/>
              </a:ext>
            </a:extLst>
          </p:cNvPr>
          <p:cNvSpPr>
            <a:spLocks xmlns:a="http://schemas.openxmlformats.org/drawingml/2006/main" noGrp="1"/>
          </p:cNvSpPr>
          <p:nvPr/>
        </p:nvSpPr>
        <p:spPr>
          <a:xfrm xmlns:a="http://schemas.openxmlformats.org/drawingml/2006/main">
            <a:off x="6629400" y="4133850"/>
            <a:ext cx="209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B00323D-8807-4047-A804-6B60CE2B9783}"/>
              </a:ext>
            </a:extLst>
          </p:cNvPr>
          <p:cNvSpPr>
            <a:spLocks xmlns:a="http://schemas.openxmlformats.org/drawingml/2006/main" noGrp="1"/>
          </p:cNvSpPr>
          <p:nvPr/>
        </p:nvSpPr>
        <p:spPr>
          <a:xfrm xmlns:a="http://schemas.openxmlformats.org/drawingml/2006/main">
            <a:off x="6877050" y="4133850"/>
            <a:ext cx="4267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Explains innovation, expected impact and the municipal pilot plan.</a:t>
            </a:r>
          </a:p>
        </p:txBody>
      </p:sp>
      <p:sp>
        <p:nvSpPr>
          <p:cNvPr id="24" name="">
            <a:extLst xmlns:a="http://schemas.openxmlformats.org/drawingml/2006/main">
              <a:ext uri="{FF2B5EF4-FFF2-40B4-BE49-F238E27FC236}">
                <a16:creationId xmlns:a16="http://schemas.microsoft.com/office/drawing/2014/main" id="{8BD31B05-FF20-4A74-AECB-E33509AA3108}"/>
              </a:ext>
            </a:extLst>
          </p:cNvPr>
          <p:cNvSpPr>
            <a:spLocks xmlns:a="http://schemas.openxmlformats.org/drawingml/2006/main" noGrp="1"/>
          </p:cNvSpPr>
          <p:nvPr/>
        </p:nvSpPr>
        <p:spPr>
          <a:xfrm xmlns:a="http://schemas.openxmlformats.org/drawingml/2006/main">
            <a:off x="6629400" y="4914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AFC4C6"/>
                </a:solidFill>
                <a:latin typeface="Arial"/>
                <a:ea typeface="Arial"/>
                <a:cs typeface="Arial"/>
              </a:defRPr>
            </a:defPPr>
          </a:lstStyle>
          <a:p xmlns:a="http://schemas.openxmlformats.org/drawingml/2006/main">
            <a:pPr algn="l">
              <a:defRPr sz="1275" b="1">
                <a:solidFill>
                  <a:srgbClr val="AFC4C6"/>
                </a:solidFill>
                <a:latin typeface="Arial"/>
                <a:ea typeface="Arial"/>
                <a:cs typeface="Arial"/>
              </a:defRPr>
            </a:pPr>
            <a:r>
              <a:rPr sz="1275" b="1">
                <a:solidFill>
                  <a:srgbClr val="AFC4C6"/>
                </a:solidFill>
                <a:latin typeface="Arial"/>
                <a:ea typeface="Arial"/>
                <a:cs typeface="Arial"/>
              </a:rPr>
              <a:t>Finals focus: validation interpretation, decision workflow and pilot design.</a:t>
            </a:r>
          </a:p>
        </p:txBody>
      </p:sp>
      <p:sp>
        <p:nvSpPr>
          <p:cNvPr id="25" name="">
            <a:extLst xmlns:a="http://schemas.openxmlformats.org/drawingml/2006/main">
              <a:ext uri="{FF2B5EF4-FFF2-40B4-BE49-F238E27FC236}">
                <a16:creationId xmlns:a16="http://schemas.microsoft.com/office/drawing/2014/main" id="{F63B36D1-2839-4725-84E3-67F6A3ED4594}"/>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1332199947"/>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FD42D60-44B0-49DE-9E5B-30996BE17EA6}"/>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PROBLEM, USER AND NEED</a:t>
            </a:r>
          </a:p>
        </p:txBody>
      </p:sp>
      <p:sp>
        <p:nvSpPr>
          <p:cNvPr id="2" name="">
            <a:extLst xmlns:a="http://schemas.openxmlformats.org/drawingml/2006/main">
              <a:ext uri="{FF2B5EF4-FFF2-40B4-BE49-F238E27FC236}">
                <a16:creationId xmlns:a16="http://schemas.microsoft.com/office/drawing/2014/main" id="{6E0C7A2F-DF66-41AF-8CE3-EA7CC3ED5A5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The problem is not missing maps — it is a fragmented decision</a:t>
            </a:r>
          </a:p>
        </p:txBody>
      </p:sp>
      <p:sp>
        <p:nvSpPr>
          <p:cNvPr id="3" name="">
            <a:extLst xmlns:a="http://schemas.openxmlformats.org/drawingml/2006/main">
              <a:ext uri="{FF2B5EF4-FFF2-40B4-BE49-F238E27FC236}">
                <a16:creationId xmlns:a16="http://schemas.microsoft.com/office/drawing/2014/main" id="{51FBE043-7F34-4B4D-AACF-77B6583953A8}"/>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8E44DBE-BD13-4E12-834B-B5D1B86546C1}"/>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283BBB5B-3F2D-44A0-8ADC-7A295E105520}"/>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DF3F739F-9C06-4D90-8EDA-D2DE6CCAB78B}"/>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stStyle>
          <a:p xmlns:a="http://schemas.openxmlformats.org/drawingml/2006/main">
            <a:pPr algn="l">
              <a:defRPr sz="2550" b="1">
                <a:solidFill>
                  <a:srgbClr val="F06449"/>
                </a:solidFill>
                <a:latin typeface="Arial"/>
                <a:ea typeface="Arial"/>
                <a:cs typeface="Arial"/>
              </a:defRPr>
            </a:pPr>
            <a:r>
              <a:rPr sz="2550" b="1">
                <a:solidFill>
                  <a:srgbClr val="F06449"/>
                </a:solidFill>
                <a:latin typeface="Arial"/>
                <a:ea typeface="Arial"/>
                <a:cs typeface="Arial"/>
              </a:rPr>
              <a:t>168.30 km²</a:t>
            </a:r>
          </a:p>
        </p:txBody>
      </p:sp>
      <p:sp>
        <p:nvSpPr>
          <p:cNvPr id="7" name="">
            <a:extLst xmlns:a="http://schemas.openxmlformats.org/drawingml/2006/main">
              <a:ext uri="{FF2B5EF4-FFF2-40B4-BE49-F238E27FC236}">
                <a16:creationId xmlns:a16="http://schemas.microsoft.com/office/drawing/2014/main" id="{904775F1-650D-4B21-8322-E2B96D395E9C}"/>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SOUTHEASTERN RIYADH STUDY AREA</a:t>
            </a:r>
          </a:p>
        </p:txBody>
      </p:sp>
      <p:sp>
        <p:nvSpPr>
          <p:cNvPr id="8" name="">
            <a:extLst xmlns:a="http://schemas.openxmlformats.org/drawingml/2006/main">
              <a:ext uri="{FF2B5EF4-FFF2-40B4-BE49-F238E27FC236}">
                <a16:creationId xmlns:a16="http://schemas.microsoft.com/office/drawing/2014/main" id="{B5179180-C005-4EAA-930A-21437186CA91}"/>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56C95623-604D-46F4-BA80-F3D64CB4128D}"/>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D42AD94D-4FCD-42EE-AD17-AA8322EB3519}"/>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TRANSPARENT SCREENING CELLS</a:t>
            </a:r>
          </a:p>
        </p:txBody>
      </p:sp>
      <p:sp>
        <p:nvSpPr>
          <p:cNvPr id="11" name="">
            <a:extLst xmlns:a="http://schemas.openxmlformats.org/drawingml/2006/main">
              <a:ext uri="{FF2B5EF4-FFF2-40B4-BE49-F238E27FC236}">
                <a16:creationId xmlns:a16="http://schemas.microsoft.com/office/drawing/2014/main" id="{FC6CFF25-A98F-4781-AF29-E34FA82D4886}"/>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966F2654-E0A1-4E41-B54E-3C54C6AFD6FA}"/>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1 user</a:t>
            </a:r>
          </a:p>
        </p:txBody>
      </p:sp>
      <p:sp>
        <p:nvSpPr>
          <p:cNvPr id="13" name="">
            <a:extLst xmlns:a="http://schemas.openxmlformats.org/drawingml/2006/main">
              <a:ext uri="{FF2B5EF4-FFF2-40B4-BE49-F238E27FC236}">
                <a16:creationId xmlns:a16="http://schemas.microsoft.com/office/drawing/2014/main" id="{E7DB94CE-3325-441E-A2A3-0A6A7BD7DDCF}"/>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MUNICIPAL PLANNING + HEAT TEAM</a:t>
            </a:r>
          </a:p>
        </p:txBody>
      </p:sp>
      <p:sp>
        <p:nvSpPr>
          <p:cNvPr id="14" name="">
            <a:extLst xmlns:a="http://schemas.openxmlformats.org/drawingml/2006/main">
              <a:ext uri="{FF2B5EF4-FFF2-40B4-BE49-F238E27FC236}">
                <a16:creationId xmlns:a16="http://schemas.microsoft.com/office/drawing/2014/main" id="{260F6E2E-E4D1-41AB-B1A7-A375816159E3}"/>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AA0372FA-31C5-4561-9EB2-B169C7EFC9E5}"/>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stStyle>
          <a:p xmlns:a="http://schemas.openxmlformats.org/drawingml/2006/main">
            <a:pPr algn="l">
              <a:defRPr sz="2550" b="1">
                <a:solidFill>
                  <a:srgbClr val="6D5DD3"/>
                </a:solidFill>
                <a:latin typeface="Arial"/>
                <a:ea typeface="Arial"/>
                <a:cs typeface="Arial"/>
              </a:defRPr>
            </a:pPr>
            <a:r>
              <a:rPr sz="2550" b="1">
                <a:solidFill>
                  <a:srgbClr val="6D5DD3"/>
                </a:solidFill>
                <a:latin typeface="Arial"/>
                <a:ea typeface="Arial"/>
                <a:cs typeface="Arial"/>
              </a:rPr>
              <a:t>1 action</a:t>
            </a:r>
          </a:p>
        </p:txBody>
      </p:sp>
      <p:sp>
        <p:nvSpPr>
          <p:cNvPr id="16" name="">
            <a:extLst xmlns:a="http://schemas.openxmlformats.org/drawingml/2006/main">
              <a:ext uri="{FF2B5EF4-FFF2-40B4-BE49-F238E27FC236}">
                <a16:creationId xmlns:a16="http://schemas.microsoft.com/office/drawing/2014/main" id="{A96B5932-E66B-4A4F-BC2F-40F3E9909013}"/>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INSPECT LOCALLY BEFORE INTERVENTION</a:t>
            </a:r>
          </a:p>
        </p:txBody>
      </p:sp>
      <p:sp>
        <p:nvSpPr>
          <p:cNvPr id="17" name="">
            <a:extLst xmlns:a="http://schemas.openxmlformats.org/drawingml/2006/main">
              <a:ext uri="{FF2B5EF4-FFF2-40B4-BE49-F238E27FC236}">
                <a16:creationId xmlns:a16="http://schemas.microsoft.com/office/drawing/2014/main" id="{28DF99E6-FA91-4FC5-8E77-14636984AA9C}"/>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DEDC016F-5816-4D89-B4EB-D0F674C12863}"/>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CURRENT PAIN</a:t>
            </a:r>
          </a:p>
        </p:txBody>
      </p:sp>
      <p:sp>
        <p:nvSpPr>
          <p:cNvPr id="19" name="">
            <a:extLst xmlns:a="http://schemas.openxmlformats.org/drawingml/2006/main">
              <a:ext uri="{FF2B5EF4-FFF2-40B4-BE49-F238E27FC236}">
                <a16:creationId xmlns:a16="http://schemas.microsoft.com/office/drawing/2014/main" id="{D876C640-00BC-41C7-904F-3E0625B4B136}"/>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stStyle>
          <a:p xmlns:a="http://schemas.openxmlformats.org/drawingml/2006/main">
            <a:pPr algn="l">
              <a:defRPr sz="1800" b="1">
                <a:solidFill>
                  <a:srgbClr val="F3F6F2"/>
                </a:solidFill>
                <a:latin typeface="Arial"/>
                <a:ea typeface="Arial"/>
                <a:cs typeface="Arial"/>
              </a:defRPr>
            </a:pPr>
            <a:r>
              <a:rPr sz="1800" b="1">
                <a:solidFill>
                  <a:srgbClr val="F3F6F2"/>
                </a:solidFill>
                <a:latin typeface="Arial"/>
                <a:ea typeface="Arial"/>
                <a:cs typeface="Arial"/>
              </a:rPr>
              <a:t>Growth, heat, population and vegetation sit in separate layers. A planner still needs a short, explainable list of places to inspect.</a:t>
            </a:r>
          </a:p>
        </p:txBody>
      </p:sp>
      <p:sp>
        <p:nvSpPr>
          <p:cNvPr id="20" name="">
            <a:extLst xmlns:a="http://schemas.openxmlformats.org/drawingml/2006/main">
              <a:ext uri="{FF2B5EF4-FFF2-40B4-BE49-F238E27FC236}">
                <a16:creationId xmlns:a16="http://schemas.microsoft.com/office/drawing/2014/main" id="{D436714E-5B72-4FE9-BA52-B8AFCE8207F7}"/>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B097D538-12B6-4B01-8B60-9804642EAF0A}"/>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TESTABLE MVP</a:t>
            </a:r>
          </a:p>
        </p:txBody>
      </p:sp>
      <p:sp>
        <p:nvSpPr>
          <p:cNvPr id="22" name="">
            <a:extLst xmlns:a="http://schemas.openxmlformats.org/drawingml/2006/main">
              <a:ext uri="{FF2B5EF4-FFF2-40B4-BE49-F238E27FC236}">
                <a16:creationId xmlns:a16="http://schemas.microsoft.com/office/drawing/2014/main" id="{C68D8F2F-CFAF-4224-B178-9D0164A8587A}"/>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stStyle>
          <a:p xmlns:a="http://schemas.openxmlformats.org/drawingml/2006/main">
            <a:pPr algn="l">
              <a:defRPr sz="1800" b="1">
                <a:solidFill>
                  <a:srgbClr val="F3F6F2"/>
                </a:solidFill>
                <a:latin typeface="Arial"/>
                <a:ea typeface="Arial"/>
                <a:cs typeface="Arial"/>
              </a:defRPr>
            </a:pPr>
            <a:r>
              <a:rPr sz="1800" b="1">
                <a:solidFill>
                  <a:srgbClr val="F3F6F2"/>
                </a:solidFill>
                <a:latin typeface="Arial"/>
                <a:ea typeface="Arial"/>
                <a:cs typeface="Arial"/>
              </a:rPr>
              <a:t>A ranked layer, dashboard and GIS files that show the score and its evidence — without automatically selecting a cooling intervention.</a:t>
            </a:r>
          </a:p>
        </p:txBody>
      </p:sp>
      <p:sp>
        <p:nvSpPr>
          <p:cNvPr id="23" name="">
            <a:extLst xmlns:a="http://schemas.openxmlformats.org/drawingml/2006/main">
              <a:ext uri="{FF2B5EF4-FFF2-40B4-BE49-F238E27FC236}">
                <a16:creationId xmlns:a16="http://schemas.microsoft.com/office/drawing/2014/main" id="{50A23948-203B-46DB-B988-74CF13E89685}"/>
              </a:ext>
            </a:extLst>
          </p:cNvPr>
          <p:cNvSpPr>
            <a:spLocks xmlns:a="http://schemas.openxmlformats.org/drawingml/2006/main" noGrp="1"/>
          </p:cNvSpPr>
          <p:nvPr/>
        </p:nvSpPr>
        <p:spPr>
          <a:xfrm xmlns:a="http://schemas.openxmlformats.org/drawingml/2006/main">
            <a:off x="876300" y="51911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E2AD2B"/>
                </a:solidFill>
                <a:latin typeface="Arial"/>
                <a:ea typeface="Arial"/>
                <a:cs typeface="Arial"/>
              </a:defRPr>
            </a:defPPr>
          </a:lstStyle>
          <a:p xmlns:a="http://schemas.openxmlformats.org/drawingml/2006/main">
            <a:pPr algn="l">
              <a:defRPr sz="1200" b="1">
                <a:solidFill>
                  <a:srgbClr val="E2AD2B"/>
                </a:solidFill>
                <a:latin typeface="Arial"/>
                <a:ea typeface="Arial"/>
                <a:cs typeface="Arial"/>
              </a:defRPr>
            </a:pPr>
            <a:r>
              <a:rPr sz="1200" b="1">
                <a:solidFill>
                  <a:srgbClr val="E2AD2B"/>
                </a:solidFill>
                <a:latin typeface="Arial"/>
                <a:ea typeface="Arial"/>
                <a:cs typeface="Arial"/>
              </a:rPr>
              <a:t>Honest gap: no municipal user interview has happened yet. The workflow and value must be tested during incubation.</a:t>
            </a:r>
          </a:p>
        </p:txBody>
      </p:sp>
      <p:sp>
        <p:nvSpPr>
          <p:cNvPr id="24" name="">
            <a:extLst xmlns:a="http://schemas.openxmlformats.org/drawingml/2006/main">
              <a:ext uri="{FF2B5EF4-FFF2-40B4-BE49-F238E27FC236}">
                <a16:creationId xmlns:a16="http://schemas.microsoft.com/office/drawing/2014/main" id="{0D864289-EDCE-4704-A315-42BA56BDDFBA}"/>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372549925"/>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CD3581C-126C-4F6B-965D-F2749DBCFD2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SPACE DATA AND ANALYTICS</a:t>
            </a:r>
          </a:p>
        </p:txBody>
      </p:sp>
      <p:sp>
        <p:nvSpPr>
          <p:cNvPr id="2" name="">
            <a:extLst xmlns:a="http://schemas.openxmlformats.org/drawingml/2006/main">
              <a:ext uri="{FF2B5EF4-FFF2-40B4-BE49-F238E27FC236}">
                <a16:creationId xmlns:a16="http://schemas.microsoft.com/office/drawing/2014/main" id="{F188B83B-28C9-42FA-8539-8C7E8285628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Six open sources, one conservative chain</a:t>
            </a:r>
          </a:p>
        </p:txBody>
      </p:sp>
      <p:sp>
        <p:nvSpPr>
          <p:cNvPr id="3" name="">
            <a:extLst xmlns:a="http://schemas.openxmlformats.org/drawingml/2006/main">
              <a:ext uri="{FF2B5EF4-FFF2-40B4-BE49-F238E27FC236}">
                <a16:creationId xmlns:a16="http://schemas.microsoft.com/office/drawing/2014/main" id="{8B873EF1-01DE-4D30-BDE7-1A382A6E4B6A}"/>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D7F9C4F-E70E-41C4-AEBE-26310D87CFF9}"/>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2469619D-330C-47D4-A9CA-1773247F11A4}"/>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2D64C9E8-D21D-47C0-BD50-2C6F112419DB}"/>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BE78DC2-A711-446E-AD0B-CF3CF98BA636}"/>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stStyle>
          <a:p xmlns:a="http://schemas.openxmlformats.org/drawingml/2006/main">
            <a:pPr algn="l">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A70899BF-964E-4E9E-9E49-FF1AE19C23EF}"/>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Optical reflectance, vegetation and built features</a:t>
            </a:r>
          </a:p>
        </p:txBody>
      </p:sp>
      <p:sp>
        <p:nvSpPr>
          <p:cNvPr id="9" name="">
            <a:extLst xmlns:a="http://schemas.openxmlformats.org/drawingml/2006/main">
              <a:ext uri="{FF2B5EF4-FFF2-40B4-BE49-F238E27FC236}">
                <a16:creationId xmlns:a16="http://schemas.microsoft.com/office/drawing/2014/main" id="{2554EFA6-B38E-4C3D-9D04-01B30DDB1B95}"/>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93B3ECCD-5D41-433C-A1E4-78F1172EA4B5}"/>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E0A3E24-2718-4A29-A04E-8CAF4F06B2D1}"/>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stStyle>
          <a:p xmlns:a="http://schemas.openxmlformats.org/drawingml/2006/main">
            <a:pPr algn="l">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F7CA628C-2FE5-4AF6-83E5-48D2FD523ABE}"/>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Radar structure to reduce bright-desert confusion</a:t>
            </a:r>
          </a:p>
        </p:txBody>
      </p:sp>
      <p:sp>
        <p:nvSpPr>
          <p:cNvPr id="13" name="">
            <a:extLst xmlns:a="http://schemas.openxmlformats.org/drawingml/2006/main">
              <a:ext uri="{FF2B5EF4-FFF2-40B4-BE49-F238E27FC236}">
                <a16:creationId xmlns:a16="http://schemas.microsoft.com/office/drawing/2014/main" id="{DD6E5F84-46C5-45FC-B388-3E7BAEB464F5}"/>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9BC2012B-B1D3-45C9-9E6F-C83DD2A4D54A}"/>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0E9546E-CEDC-4D87-8012-5730A34E48E9}"/>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stStyle>
          <a:p xmlns:a="http://schemas.openxmlformats.org/drawingml/2006/main">
            <a:pPr algn="l">
              <a:defRPr sz="1350" b="1">
                <a:solidFill>
                  <a:srgbClr val="E2AD2B"/>
                </a:solidFill>
                <a:latin typeface="Arial"/>
                <a:ea typeface="Arial"/>
                <a:cs typeface="Arial"/>
              </a:defRPr>
            </a:pPr>
            <a:r>
              <a:rPr sz="1350" b="1">
                <a:solidFill>
                  <a:srgbClr val="E2AD2B"/>
                </a:solidFill>
                <a:latin typeface="Arial"/>
                <a:ea typeface="Arial"/>
                <a:cs typeface="Arial"/>
              </a:rPr>
              <a:t>Annual LULC</a:t>
            </a:r>
          </a:p>
        </p:txBody>
      </p:sp>
      <p:sp>
        <p:nvSpPr>
          <p:cNvPr id="16" name="">
            <a:extLst xmlns:a="http://schemas.openxmlformats.org/drawingml/2006/main">
              <a:ext uri="{FF2B5EF4-FFF2-40B4-BE49-F238E27FC236}">
                <a16:creationId xmlns:a16="http://schemas.microsoft.com/office/drawing/2014/main" id="{510851B7-5AD9-49F9-9F44-F96081FD6D54}"/>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Six maps propose 2018–2023 built-up change</a:t>
            </a:r>
          </a:p>
        </p:txBody>
      </p:sp>
      <p:sp>
        <p:nvSpPr>
          <p:cNvPr id="17" name="">
            <a:extLst xmlns:a="http://schemas.openxmlformats.org/drawingml/2006/main">
              <a:ext uri="{FF2B5EF4-FFF2-40B4-BE49-F238E27FC236}">
                <a16:creationId xmlns:a16="http://schemas.microsoft.com/office/drawing/2014/main" id="{B7194996-E071-4837-8272-74DD9F3A881C}"/>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E87ED5FC-C98A-471A-8B3F-FCE0A090FCA4}"/>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494DF3-6DD7-4B73-A0CE-1E903E55BC98}"/>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stStyle>
          <a:p xmlns:a="http://schemas.openxmlformats.org/drawingml/2006/main">
            <a:pPr algn="l">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51914520-375F-4143-A6D3-0BF70696A796}"/>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Quality-masked 2025 land-surface temperature</a:t>
            </a:r>
          </a:p>
        </p:txBody>
      </p:sp>
      <p:sp>
        <p:nvSpPr>
          <p:cNvPr id="21" name="">
            <a:extLst xmlns:a="http://schemas.openxmlformats.org/drawingml/2006/main">
              <a:ext uri="{FF2B5EF4-FFF2-40B4-BE49-F238E27FC236}">
                <a16:creationId xmlns:a16="http://schemas.microsoft.com/office/drawing/2014/main" id="{03F288B9-E335-4285-A088-09421EF1B0C0}"/>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66E79C1F-4602-43AF-B995-25AF02C4D2B9}"/>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42DAF07-6A86-43B0-A6BB-7DC0DF913F14}"/>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stStyle>
          <a:p xmlns:a="http://schemas.openxmlformats.org/drawingml/2006/main">
            <a:pPr algn="l">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037F6C01-AF96-440E-BCE3-2C37829E16AB}"/>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Modelled 2025 population exposure</a:t>
            </a:r>
          </a:p>
        </p:txBody>
      </p:sp>
      <p:sp>
        <p:nvSpPr>
          <p:cNvPr id="25" name="">
            <a:extLst xmlns:a="http://schemas.openxmlformats.org/drawingml/2006/main">
              <a:ext uri="{FF2B5EF4-FFF2-40B4-BE49-F238E27FC236}">
                <a16:creationId xmlns:a16="http://schemas.microsoft.com/office/drawing/2014/main" id="{7C33AAFD-EFCB-46A0-9BEC-28ADBE667226}"/>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FA49CE0E-CA06-42BD-AF0D-19097F5F5241}"/>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A8F2909-5588-4EE8-A6FB-F79C5E84F433}"/>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stStyle>
          <a:p xmlns:a="http://schemas.openxmlformats.org/drawingml/2006/main">
            <a:pPr algn="l">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3F2BEC4E-6401-4601-80E8-F2097535BACB}"/>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426-band material context and failure-mode test</a:t>
            </a:r>
          </a:p>
        </p:txBody>
      </p:sp>
      <p:pic>
        <p:nvPicPr>
          <p:cNvPr id="29" name="">
            <a:extLst xmlns:a="http://schemas.openxmlformats.org/drawingml/2006/main">
              <a:ext uri="{FF2B5EF4-FFF2-40B4-BE49-F238E27FC236}">
                <a16:creationId xmlns:a16="http://schemas.microsoft.com/office/drawing/2014/main" id="{9E2FF26D-752D-4543-9389-0479DA8EF365}"/>
              </a:ext>
            </a:extLst>
          </p:cNvPr>
          <p:cNvPicPr>
            <a:picLocks xmlns:a="http://schemas.openxmlformats.org/drawingml/2006/main" noChangeAspect="1"/>
          </p:cNvPicPr>
          <p:nvPr/>
        </p:nvPicPr>
        <p:blipFill>
          <a:blip xmlns:r="http://schemas.openxmlformats.org/officeDocument/2006/relationships" xmlns:a="http://schemas.openxmlformats.org/drawingml/2006/main" r:embed="Rffa15c2264bc46ae"/>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52ED987F-837D-47B5-9814-E404A382388F}"/>
              </a:ext>
            </a:extLst>
          </p:cNvPr>
          <p:cNvSpPr>
            <a:spLocks xmlns:a="http://schemas.openxmlformats.org/drawingml/2006/main" noGrp="1"/>
          </p:cNvSpPr>
          <p:nvPr/>
        </p:nvSpPr>
        <p:spPr>
          <a:xfrm xmlns:a="http://schemas.openxmlformats.org/drawingml/2006/main">
            <a:off x="5905500" y="5715000"/>
            <a:ext cx="5695950" cy="51435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8425EDEB-939F-4E05-BADC-516899C0D410}"/>
              </a:ext>
            </a:extLst>
          </p:cNvPr>
          <p:cNvSpPr>
            <a:spLocks xmlns:a="http://schemas.openxmlformats.org/drawingml/2006/main" noGrp="1"/>
          </p:cNvSpPr>
          <p:nvPr/>
        </p:nvSpPr>
        <p:spPr>
          <a:xfrm xmlns:a="http://schemas.openxmlformats.org/drawingml/2006/main">
            <a:off x="6115050" y="5791200"/>
            <a:ext cx="527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F3F6F2"/>
                </a:solidFill>
                <a:latin typeface="Arial"/>
                <a:ea typeface="Arial"/>
                <a:cs typeface="Arial"/>
              </a:defRPr>
            </a:defPPr>
          </a:lstStyle>
          <a:p xmlns:a="http://schemas.openxmlformats.org/drawingml/2006/main">
            <a:pPr algn="l">
              <a:defRPr sz="1125" b="1">
                <a:solidFill>
                  <a:srgbClr val="F3F6F2"/>
                </a:solidFill>
                <a:latin typeface="Arial"/>
                <a:ea typeface="Arial"/>
                <a:cs typeface="Arial"/>
              </a:defRPr>
            </a:pPr>
            <a:r>
              <a:rPr sz="1125" b="1">
                <a:solidFill>
                  <a:srgbClr val="F3F6F2"/>
                </a:solidFill>
                <a:latin typeface="Arial"/>
                <a:ea typeface="Arial"/>
                <a:cs typeface="Arial"/>
              </a:rPr>
              <a:t>Annual change proposes growth → separate 2025 optical + radar evidence confirms it → heat, population and vegetation rank eligible cells.</a:t>
            </a:r>
          </a:p>
        </p:txBody>
      </p:sp>
      <p:sp>
        <p:nvSpPr>
          <p:cNvPr id="32" name="">
            <a:extLst xmlns:a="http://schemas.openxmlformats.org/drawingml/2006/main">
              <a:ext uri="{FF2B5EF4-FFF2-40B4-BE49-F238E27FC236}">
                <a16:creationId xmlns:a16="http://schemas.microsoft.com/office/drawing/2014/main" id="{E19C0810-B840-45BF-B860-8DF49D14F778}"/>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873519834"/>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8C385A0-EA99-4194-9615-9AC6C395108B}"/>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WORKING OUTPUT</a:t>
            </a:r>
          </a:p>
        </p:txBody>
      </p:sp>
      <p:sp>
        <p:nvSpPr>
          <p:cNvPr id="2" name="">
            <a:extLst xmlns:a="http://schemas.openxmlformats.org/drawingml/2006/main">
              <a:ext uri="{FF2B5EF4-FFF2-40B4-BE49-F238E27FC236}">
                <a16:creationId xmlns:a16="http://schemas.microsoft.com/office/drawing/2014/main" id="{E0D22DFA-17AE-47D6-983F-B4A575D088E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A ranked map plus separate GIS-ready files</a:t>
            </a:r>
          </a:p>
        </p:txBody>
      </p:sp>
      <p:sp>
        <p:nvSpPr>
          <p:cNvPr id="3" name="">
            <a:extLst xmlns:a="http://schemas.openxmlformats.org/drawingml/2006/main">
              <a:ext uri="{FF2B5EF4-FFF2-40B4-BE49-F238E27FC236}">
                <a16:creationId xmlns:a16="http://schemas.microsoft.com/office/drawing/2014/main" id="{697C4B7E-C8B8-4ABE-9CC1-C86C501CC7F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7F3E572-4301-48FC-8FFD-09B64DCA008F}"/>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4E27A8E4-570B-41F8-91F9-D2FE179D43F8}"/>
              </a:ext>
            </a:extLst>
          </p:cNvPr>
          <p:cNvPicPr>
            <a:picLocks xmlns:a="http://schemas.openxmlformats.org/drawingml/2006/main" noChangeAspect="1"/>
          </p:cNvPicPr>
          <p:nvPr/>
        </p:nvPicPr>
        <p:blipFill>
          <a:blip xmlns:r="http://schemas.openxmlformats.org/officeDocument/2006/relationships" xmlns:a="http://schemas.openxmlformats.org/drawingml/2006/main" r:embed="R1f43a9d44c044b2f"/>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ECB795F2-A12E-427A-86D2-E70818A539AC}"/>
              </a:ext>
            </a:extLst>
          </p:cNvPr>
          <p:cNvPicPr>
            <a:picLocks xmlns:a="http://schemas.openxmlformats.org/drawingml/2006/main" noChangeAspect="1"/>
          </p:cNvPicPr>
          <p:nvPr/>
        </p:nvPicPr>
        <p:blipFill>
          <a:blip xmlns:r="http://schemas.openxmlformats.org/officeDocument/2006/relationships" xmlns:a="http://schemas.openxmlformats.org/drawingml/2006/main" r:embed="Rf529d246a14f48a1"/>
          <a:stretch xmlns:a="http://schemas.openxmlformats.org/drawingml/2006/main"/>
        </p:blipFill>
        <p:spPr>
          <a:xfrm xmlns:a="http://schemas.openxmlformats.org/drawingml/2006/main">
            <a:off x="6535680" y="1562100"/>
            <a:ext cx="4759439"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C22FF8CC-A98C-4675-8FC0-D7BC1A4FB784}"/>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7811CF18-D931-430C-B0EB-E9A30A3D3D7F}"/>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stStyle>
          <a:p xmlns:a="http://schemas.openxmlformats.org/drawingml/2006/main">
            <a:pPr algn="l">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057740DE-7B78-4304-A404-B4F2868B866F}"/>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8124A94D-76A1-47D2-80AA-A31917FB32C2}"/>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F845778F-BD24-4318-B57F-98C95B2D6D41}"/>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D1E3F4B8-D254-46C6-8532-F46E0EB63405}"/>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7FE7D11E-9762-4586-8071-CA96DF566D3A}"/>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D00F66D4-A997-4A49-BF80-7FBC64AFC421}"/>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7A571C42-4E12-4C3F-8918-3F3D213C6546}"/>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1D53608A-B524-4C76-8B7F-B5A2443F77DB}"/>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C683D925-0F3E-4677-96D5-37329E7723A0}"/>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stStyle>
          <a:p xmlns:a="http://schemas.openxmlformats.org/drawingml/2006/main">
            <a:pPr algn="l">
              <a:defRPr sz="1200" b="1">
                <a:solidFill>
                  <a:srgbClr val="F3F6F2"/>
                </a:solidFill>
                <a:latin typeface="Arial"/>
                <a:ea typeface="Arial"/>
                <a:cs typeface="Arial"/>
              </a:defRPr>
            </a:pPr>
            <a:r>
              <a:rPr sz="1200" b="1">
                <a:solidFill>
                  <a:srgbClr val="F3F6F2"/>
                </a:solidFill>
                <a:latin typeface="Arial"/>
                <a:ea typeface="Arial"/>
                <a:cs typeface="Arial"/>
              </a:rPr>
              <a:t>Demo path: open the static dashboard → show the decision map and top-five table → explain R05C10 → mention the separate CSV, GeoJSON and GeoTIFF files.</a:t>
            </a:r>
          </a:p>
        </p:txBody>
      </p:sp>
      <p:sp>
        <p:nvSpPr>
          <p:cNvPr id="18" name="">
            <a:extLst xmlns:a="http://schemas.openxmlformats.org/drawingml/2006/main">
              <a:ext uri="{FF2B5EF4-FFF2-40B4-BE49-F238E27FC236}">
                <a16:creationId xmlns:a16="http://schemas.microsoft.com/office/drawing/2014/main" id="{6722FFDB-5DEB-44D9-83A9-E1FBD4D3435C}"/>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1444087271"/>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FD7B607-D4A5-4E81-904C-05B7B2B30675}"/>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SCIENTIFIC VALIDITY</a:t>
            </a:r>
          </a:p>
        </p:txBody>
      </p:sp>
      <p:sp>
        <p:nvSpPr>
          <p:cNvPr id="2" name="">
            <a:extLst xmlns:a="http://schemas.openxmlformats.org/drawingml/2006/main">
              <a:ext uri="{FF2B5EF4-FFF2-40B4-BE49-F238E27FC236}">
                <a16:creationId xmlns:a16="http://schemas.microsoft.com/office/drawing/2014/main" id="{2FDACD73-5BBC-4F52-B344-6185E216D1F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Measured agreement, explicit assumptions, bounded claims</a:t>
            </a:r>
          </a:p>
        </p:txBody>
      </p:sp>
      <p:sp>
        <p:nvSpPr>
          <p:cNvPr id="3" name="">
            <a:extLst xmlns:a="http://schemas.openxmlformats.org/drawingml/2006/main">
              <a:ext uri="{FF2B5EF4-FFF2-40B4-BE49-F238E27FC236}">
                <a16:creationId xmlns:a16="http://schemas.microsoft.com/office/drawing/2014/main" id="{AB609925-89B8-4B7B-BD75-E8665B0D40B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6EC8CE2-3E89-4590-906F-4102695D7B02}"/>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CD13B21C-1B38-401D-B6A6-F5848C372472}"/>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04884478-B1F0-4B2A-BE02-17CD67BBA164}"/>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F5366D10-6B4C-4297-9C83-26400401681A}"/>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F0C11A33-CFA2-43E9-8DDF-1B0DA3743DA8}"/>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2B193F3A-C720-403E-B5F8-9A115F804D16}"/>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stStyle>
          <a:p xmlns:a="http://schemas.openxmlformats.org/drawingml/2006/main">
            <a:pPr algn="l">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52B24417-3F66-4D6A-A158-ED103C44FC81}"/>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9145F893-6303-4D2D-A1D8-C6331B0126CC}"/>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4C721911-FC96-4934-A89E-CC92CB727C4B}"/>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CEC1E0D8-3863-47B7-8B2F-1EEC1017FFAF}"/>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A1E604E6-362B-4F6F-A926-1B8E690C6582}"/>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E28B5800-53DC-4E7F-BC8F-7DB42CDC5B82}"/>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stStyle>
          <a:p xmlns:a="http://schemas.openxmlformats.org/drawingml/2006/main">
            <a:pPr algn="l">
              <a:defRPr sz="1425" b="1">
                <a:solidFill>
                  <a:srgbClr val="F3F6F2"/>
                </a:solidFill>
                <a:latin typeface="Arial"/>
                <a:ea typeface="Arial"/>
                <a:cs typeface="Arial"/>
              </a:defRPr>
            </a:pPr>
            <a:r>
              <a:rPr sz="1425" b="1">
                <a:solidFill>
                  <a:srgbClr val="F3F6F2"/>
                </a:solidFill>
                <a:latin typeface="Arial"/>
                <a:ea typeface="Arial"/>
                <a:cs typeface="Arial"/>
              </a:rPr>
              <a:t>These compare the model with a spatially separate WorldCover reference. They are not field accuracy.</a:t>
            </a:r>
          </a:p>
        </p:txBody>
      </p:sp>
      <p:pic>
        <p:nvPicPr>
          <p:cNvPr id="16" name="">
            <a:extLst xmlns:a="http://schemas.openxmlformats.org/drawingml/2006/main">
              <a:ext uri="{FF2B5EF4-FFF2-40B4-BE49-F238E27FC236}">
                <a16:creationId xmlns:a16="http://schemas.microsoft.com/office/drawing/2014/main" id="{BE39F860-EAD1-4E05-8293-B5CAF3628C49}"/>
              </a:ext>
            </a:extLst>
          </p:cNvPr>
          <p:cNvPicPr>
            <a:picLocks xmlns:a="http://schemas.openxmlformats.org/drawingml/2006/main" noChangeAspect="1"/>
          </p:cNvPicPr>
          <p:nvPr/>
        </p:nvPicPr>
        <p:blipFill>
          <a:blip xmlns:r="http://schemas.openxmlformats.org/officeDocument/2006/relationships" xmlns:a="http://schemas.openxmlformats.org/drawingml/2006/main" r:embed="R585dbd845b4549e2"/>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97EA8A3D-3CBE-4456-AA8F-149AE40FBD25}"/>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27BE8902-88E7-4500-A5D0-8A180B4243A2}"/>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LIMITS JUDGES SHOULD HEAR</a:t>
            </a:r>
          </a:p>
        </p:txBody>
      </p:sp>
      <p:sp>
        <p:nvSpPr>
          <p:cNvPr id="19" name="">
            <a:extLst xmlns:a="http://schemas.openxmlformats.org/drawingml/2006/main">
              <a:ext uri="{FF2B5EF4-FFF2-40B4-BE49-F238E27FC236}">
                <a16:creationId xmlns:a16="http://schemas.microsoft.com/office/drawing/2014/main" id="{797A214D-AE71-495E-A634-B55378C51C4F}"/>
              </a:ext>
            </a:extLst>
          </p:cNvPr>
          <p:cNvSpPr>
            <a:spLocks xmlns:a="http://schemas.openxmlformats.org/drawingml/2006/main" noGrp="1"/>
          </p:cNvSpPr>
          <p:nvPr/>
        </p:nvSpPr>
        <p:spPr>
          <a:xfrm xmlns:a="http://schemas.openxmlformats.org/drawingml/2006/main">
            <a:off x="8115300" y="3390900"/>
            <a:ext cx="209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AD981D55-6597-443A-B279-C2A78E7E59E0}"/>
              </a:ext>
            </a:extLst>
          </p:cNvPr>
          <p:cNvSpPr>
            <a:spLocks xmlns:a="http://schemas.openxmlformats.org/drawingml/2006/main" noGrp="1"/>
          </p:cNvSpPr>
          <p:nvPr/>
        </p:nvSpPr>
        <p:spPr>
          <a:xfrm xmlns:a="http://schemas.openxmlformats.org/drawingml/2006/main">
            <a:off x="8362950" y="33909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Land-surface temperature is not air temperature or personal heat exposure.</a:t>
            </a:r>
          </a:p>
        </p:txBody>
      </p:sp>
      <p:sp>
        <p:nvSpPr>
          <p:cNvPr id="21" name="">
            <a:extLst xmlns:a="http://schemas.openxmlformats.org/drawingml/2006/main">
              <a:ext uri="{FF2B5EF4-FFF2-40B4-BE49-F238E27FC236}">
                <a16:creationId xmlns:a16="http://schemas.microsoft.com/office/drawing/2014/main" id="{FA97594C-4EB9-4A51-92DA-A11D2E9DF4BB}"/>
              </a:ext>
            </a:extLst>
          </p:cNvPr>
          <p:cNvSpPr>
            <a:spLocks xmlns:a="http://schemas.openxmlformats.org/drawingml/2006/main" noGrp="1"/>
          </p:cNvSpPr>
          <p:nvPr/>
        </p:nvSpPr>
        <p:spPr>
          <a:xfrm xmlns:a="http://schemas.openxmlformats.org/drawingml/2006/main">
            <a:off x="8115300" y="4095750"/>
            <a:ext cx="209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CEC526C3-3A0E-48F0-BFD2-A8AA7F5B232B}"/>
              </a:ext>
            </a:extLst>
          </p:cNvPr>
          <p:cNvSpPr>
            <a:spLocks xmlns:a="http://schemas.openxmlformats.org/drawingml/2006/main" noGrp="1"/>
          </p:cNvSpPr>
          <p:nvPr/>
        </p:nvSpPr>
        <p:spPr>
          <a:xfrm xmlns:a="http://schemas.openxmlformats.org/drawingml/2006/main">
            <a:off x="8362950" y="4095750"/>
            <a:ext cx="289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WorldPop is modelled; it is not a live census or worker count.</a:t>
            </a:r>
          </a:p>
        </p:txBody>
      </p:sp>
      <p:sp>
        <p:nvSpPr>
          <p:cNvPr id="23" name="">
            <a:extLst xmlns:a="http://schemas.openxmlformats.org/drawingml/2006/main">
              <a:ext uri="{FF2B5EF4-FFF2-40B4-BE49-F238E27FC236}">
                <a16:creationId xmlns:a16="http://schemas.microsoft.com/office/drawing/2014/main" id="{2EF31C6A-266C-4139-8121-8A7607C29DAC}"/>
              </a:ext>
            </a:extLst>
          </p:cNvPr>
          <p:cNvSpPr>
            <a:spLocks xmlns:a="http://schemas.openxmlformats.org/drawingml/2006/main" noGrp="1"/>
          </p:cNvSpPr>
          <p:nvPr/>
        </p:nvSpPr>
        <p:spPr>
          <a:xfrm xmlns:a="http://schemas.openxmlformats.org/drawingml/2006/main">
            <a:off x="8115300" y="4705350"/>
            <a:ext cx="209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36CA7FC0-4B00-4412-BC04-80AA0CBC7A28}"/>
              </a:ext>
            </a:extLst>
          </p:cNvPr>
          <p:cNvSpPr>
            <a:spLocks xmlns:a="http://schemas.openxmlformats.org/drawingml/2006/main" noGrp="1"/>
          </p:cNvSpPr>
          <p:nvPr/>
        </p:nvSpPr>
        <p:spPr>
          <a:xfrm xmlns:a="http://schemas.openxmlformats.org/drawingml/2006/main">
            <a:off x="8362950" y="470535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classification.</a:t>
            </a:r>
          </a:p>
        </p:txBody>
      </p:sp>
      <p:sp>
        <p:nvSpPr>
          <p:cNvPr id="25" name="">
            <a:extLst xmlns:a="http://schemas.openxmlformats.org/drawingml/2006/main">
              <a:ext uri="{FF2B5EF4-FFF2-40B4-BE49-F238E27FC236}">
                <a16:creationId xmlns:a16="http://schemas.microsoft.com/office/drawing/2014/main" id="{33AAC0C5-F9C7-4ED1-A147-3E8B524F01DD}"/>
              </a:ext>
            </a:extLst>
          </p:cNvPr>
          <p:cNvSpPr>
            <a:spLocks xmlns:a="http://schemas.openxmlformats.org/drawingml/2006/main" noGrp="1"/>
          </p:cNvSpPr>
          <p:nvPr/>
        </p:nvSpPr>
        <p:spPr>
          <a:xfrm xmlns:a="http://schemas.openxmlformats.org/drawingml/2006/main">
            <a:off x="8115300" y="5276850"/>
            <a:ext cx="209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5509C7FC-0D28-4C0F-BC61-50E0AE4C50E7}"/>
              </a:ext>
            </a:extLst>
          </p:cNvPr>
          <p:cNvSpPr>
            <a:spLocks xmlns:a="http://schemas.openxmlformats.org/drawingml/2006/main" noGrp="1"/>
          </p:cNvSpPr>
          <p:nvPr/>
        </p:nvSpPr>
        <p:spPr>
          <a:xfrm xmlns:a="http://schemas.openxmlformats.org/drawingml/2006/main">
            <a:off x="8362950" y="5276850"/>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stStyle>
          <a:p xmlns:a="http://schemas.openxmlformats.org/drawingml/2006/main">
            <a:pPr algn="l">
              <a:defRPr sz="1200">
                <a:solidFill>
                  <a:srgbClr val="F3F6F2"/>
                </a:solidFill>
                <a:latin typeface="Arial"/>
                <a:ea typeface="Arial"/>
                <a:cs typeface="Arial"/>
              </a:defRPr>
            </a:pPr>
            <a:r>
              <a:rPr sz="1200">
                <a:solidFill>
                  <a:srgbClr val="F3F6F2"/>
                </a:solidFill>
                <a:latin typeface="Arial"/>
                <a:ea typeface="Arial"/>
                <a:cs typeface="Arial"/>
              </a:rPr>
              <a:t>Score weights are PoC assumptions that a real user must review.</a:t>
            </a:r>
          </a:p>
        </p:txBody>
      </p:sp>
      <p:sp>
        <p:nvSpPr>
          <p:cNvPr id="27" name="">
            <a:extLst xmlns:a="http://schemas.openxmlformats.org/drawingml/2006/main">
              <a:ext uri="{FF2B5EF4-FFF2-40B4-BE49-F238E27FC236}">
                <a16:creationId xmlns:a16="http://schemas.microsoft.com/office/drawing/2014/main" id="{B64ECD3C-A0E2-4028-8879-BB6CA9EC092F}"/>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1460215145"/>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85BD7DD-C33B-417A-B012-A0AF87E39F86}"/>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INNOVATION AND DIFFERENTIATION</a:t>
            </a:r>
          </a:p>
        </p:txBody>
      </p:sp>
      <p:sp>
        <p:nvSpPr>
          <p:cNvPr id="2" name="">
            <a:extLst xmlns:a="http://schemas.openxmlformats.org/drawingml/2006/main">
              <a:ext uri="{FF2B5EF4-FFF2-40B4-BE49-F238E27FC236}">
                <a16:creationId xmlns:a16="http://schemas.microsoft.com/office/drawing/2014/main" id="{8F9E5F4E-C9F0-4C7D-A419-9A3493BB6E3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The value is the evidence chain — not a black-box score</a:t>
            </a:r>
          </a:p>
        </p:txBody>
      </p:sp>
      <p:sp>
        <p:nvSpPr>
          <p:cNvPr id="3" name="">
            <a:extLst xmlns:a="http://schemas.openxmlformats.org/drawingml/2006/main">
              <a:ext uri="{FF2B5EF4-FFF2-40B4-BE49-F238E27FC236}">
                <a16:creationId xmlns:a16="http://schemas.microsoft.com/office/drawing/2014/main" id="{5EA453AA-C03C-4B8F-A726-06D46217D092}"/>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A8994D13-ED34-4C44-B9D3-110D04E620CE}"/>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C66B120C-C78E-48E2-9094-20BC9462FFED}"/>
              </a:ext>
            </a:extLst>
          </p:cNvPr>
          <p:cNvPicPr>
            <a:picLocks xmlns:a="http://schemas.openxmlformats.org/drawingml/2006/main" noChangeAspect="1"/>
          </p:cNvPicPr>
          <p:nvPr/>
        </p:nvPicPr>
        <p:blipFill>
          <a:blip xmlns:r="http://schemas.openxmlformats.org/officeDocument/2006/relationships" xmlns:a="http://schemas.openxmlformats.org/drawingml/2006/main" r:embed="Rd7bd0409ab2a4601"/>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ADB8946D-B7DA-4A4D-8C9A-C140E58AD281}"/>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6C822A4E-6FBB-41AA-81FB-8B109308D13C}"/>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WHAT IS DIFFERENT</a:t>
            </a:r>
          </a:p>
        </p:txBody>
      </p:sp>
      <p:sp>
        <p:nvSpPr>
          <p:cNvPr id="8" name="">
            <a:extLst xmlns:a="http://schemas.openxmlformats.org/drawingml/2006/main">
              <a:ext uri="{FF2B5EF4-FFF2-40B4-BE49-F238E27FC236}">
                <a16:creationId xmlns:a16="http://schemas.microsoft.com/office/drawing/2014/main" id="{C2ABC74E-404B-4445-AA3F-8448F09D4479}"/>
              </a:ext>
            </a:extLst>
          </p:cNvPr>
          <p:cNvSpPr>
            <a:spLocks xmlns:a="http://schemas.openxmlformats.org/drawingml/2006/main" noGrp="1"/>
          </p:cNvSpPr>
          <p:nvPr/>
        </p:nvSpPr>
        <p:spPr>
          <a:xfrm xmlns:a="http://schemas.openxmlformats.org/drawingml/2006/main">
            <a:off x="7581900" y="2209800"/>
            <a:ext cx="209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6A8AAB2F-E0A2-4859-A26B-8C6E7AB3D3B3}"/>
              </a:ext>
            </a:extLst>
          </p:cNvPr>
          <p:cNvSpPr>
            <a:spLocks xmlns:a="http://schemas.openxmlformats.org/drawingml/2006/main" noGrp="1"/>
          </p:cNvSpPr>
          <p:nvPr/>
        </p:nvSpPr>
        <p:spPr>
          <a:xfrm xmlns:a="http://schemas.openxmlformats.org/drawingml/2006/main">
            <a:off x="7829550" y="2209800"/>
            <a:ext cx="3371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Annual maps propose change; independent optical and radar evidence confirms it.</a:t>
            </a:r>
          </a:p>
        </p:txBody>
      </p:sp>
      <p:sp>
        <p:nvSpPr>
          <p:cNvPr id="10" name="">
            <a:extLst xmlns:a="http://schemas.openxmlformats.org/drawingml/2006/main">
              <a:ext uri="{FF2B5EF4-FFF2-40B4-BE49-F238E27FC236}">
                <a16:creationId xmlns:a16="http://schemas.microsoft.com/office/drawing/2014/main" id="{B8061542-B4A9-4855-BA8A-C1150BFB7C56}"/>
              </a:ext>
            </a:extLst>
          </p:cNvPr>
          <p:cNvSpPr>
            <a:spLocks xmlns:a="http://schemas.openxmlformats.org/drawingml/2006/main" noGrp="1"/>
          </p:cNvSpPr>
          <p:nvPr/>
        </p:nvSpPr>
        <p:spPr>
          <a:xfrm xmlns:a="http://schemas.openxmlformats.org/drawingml/2006/main">
            <a:off x="7581900" y="2990850"/>
            <a:ext cx="209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DCAA8E13-48FB-4807-A0EC-CCB838C8A917}"/>
              </a:ext>
            </a:extLst>
          </p:cNvPr>
          <p:cNvSpPr>
            <a:spLocks xmlns:a="http://schemas.openxmlformats.org/drawingml/2006/main" noGrp="1"/>
          </p:cNvSpPr>
          <p:nvPr/>
        </p:nvSpPr>
        <p:spPr>
          <a:xfrm xmlns:a="http://schemas.openxmlformats.org/drawingml/2006/main">
            <a:off x="7829550" y="2990850"/>
            <a:ext cx="3371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Tanager tests why a simple high-NDBI-means-built rule can fail in bright desert.</a:t>
            </a:r>
          </a:p>
        </p:txBody>
      </p:sp>
      <p:sp>
        <p:nvSpPr>
          <p:cNvPr id="12" name="">
            <a:extLst xmlns:a="http://schemas.openxmlformats.org/drawingml/2006/main">
              <a:ext uri="{FF2B5EF4-FFF2-40B4-BE49-F238E27FC236}">
                <a16:creationId xmlns:a16="http://schemas.microsoft.com/office/drawing/2014/main" id="{D3BA973A-9E6D-4DB9-9EF6-F1BF0E761837}"/>
              </a:ext>
            </a:extLst>
          </p:cNvPr>
          <p:cNvSpPr>
            <a:spLocks xmlns:a="http://schemas.openxmlformats.org/drawingml/2006/main" noGrp="1"/>
          </p:cNvSpPr>
          <p:nvPr/>
        </p:nvSpPr>
        <p:spPr>
          <a:xfrm xmlns:a="http://schemas.openxmlformats.org/drawingml/2006/main">
            <a:off x="7581900" y="3771900"/>
            <a:ext cx="209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AA58F"/>
                </a:solidFill>
                <a:latin typeface="Arial"/>
                <a:ea typeface="Arial"/>
                <a:cs typeface="Arial"/>
              </a:defRPr>
            </a:defPPr>
          </a:lstStyle>
          <a:p xmlns:a="http://schemas.openxmlformats.org/drawingml/2006/main">
            <a:pPr algn="l">
              <a:defRPr sz="1650" b="1">
                <a:solidFill>
                  <a:srgbClr val="1AA58F"/>
                </a:solidFill>
                <a:latin typeface="Arial"/>
                <a:ea typeface="Arial"/>
                <a:cs typeface="Arial"/>
              </a:defRPr>
            </a:pPr>
            <a:r>
              <a:rPr sz="1650" b="1">
                <a:solidFill>
                  <a:srgbClr val="1AA58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C5A5E349-0DA0-496D-8379-CCFBA9AF151C}"/>
              </a:ext>
            </a:extLst>
          </p:cNvPr>
          <p:cNvSpPr>
            <a:spLocks xmlns:a="http://schemas.openxmlformats.org/drawingml/2006/main" noGrp="1"/>
          </p:cNvSpPr>
          <p:nvPr/>
        </p:nvSpPr>
        <p:spPr>
          <a:xfrm xmlns:a="http://schemas.openxmlformats.org/drawingml/2006/main">
            <a:off x="7829550" y="3771900"/>
            <a:ext cx="3371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stStyle>
          <a:p xmlns:a="http://schemas.openxmlformats.org/drawingml/2006/main">
            <a:pPr algn="l">
              <a:defRPr sz="1350">
                <a:solidFill>
                  <a:srgbClr val="F3F6F2"/>
                </a:solidFill>
                <a:latin typeface="Arial"/>
                <a:ea typeface="Arial"/>
                <a:cs typeface="Arial"/>
              </a:defRPr>
            </a:pPr>
            <a:r>
              <a:rPr sz="1350">
                <a:solidFill>
                  <a:srgbClr val="F3F6F2"/>
                </a:solidFill>
                <a:latin typeface="Arial"/>
                <a:ea typeface="Arial"/>
                <a:cs typeface="Arial"/>
              </a:rPr>
              <a:t>Every ranked cell keeps visible score components and GIS-ready evidence.</a:t>
            </a:r>
          </a:p>
        </p:txBody>
      </p:sp>
      <p:sp>
        <p:nvSpPr>
          <p:cNvPr id="14" name="">
            <a:extLst xmlns:a="http://schemas.openxmlformats.org/drawingml/2006/main">
              <a:ext uri="{FF2B5EF4-FFF2-40B4-BE49-F238E27FC236}">
                <a16:creationId xmlns:a16="http://schemas.microsoft.com/office/drawing/2014/main" id="{26BE04D1-58D7-4711-B3D3-BECE89F84326}"/>
              </a:ext>
            </a:extLst>
          </p:cNvPr>
          <p:cNvSpPr>
            <a:spLocks xmlns:a="http://schemas.openxmlformats.org/drawingml/2006/main" noGrp="1"/>
          </p:cNvSpPr>
          <p:nvPr/>
        </p:nvSpPr>
        <p:spPr>
          <a:xfrm xmlns:a="http://schemas.openxmlformats.org/drawingml/2006/main">
            <a:off x="7581900" y="44958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stStyle>
          <a:p xmlns:a="http://schemas.openxmlformats.org/drawingml/2006/main">
            <a:pPr algn="l">
              <a:defRPr sz="1050" b="1">
                <a:solidFill>
                  <a:srgbClr val="E2AD2B"/>
                </a:solidFill>
                <a:latin typeface="Arial"/>
                <a:ea typeface="Arial"/>
                <a:cs typeface="Arial"/>
              </a:defRPr>
            </a:pPr>
            <a:r>
              <a:rPr sz="1050" b="1">
                <a:solidFill>
                  <a:srgbClr val="E2AD2B"/>
                </a:solidFill>
                <a:latin typeface="Arial"/>
                <a:ea typeface="Arial"/>
                <a:cs typeface="Arial"/>
              </a:rPr>
              <a:t>Careful claim: one Tanager date adds material context. It does not prove change or identify specific materials.</a:t>
            </a:r>
          </a:p>
        </p:txBody>
      </p:sp>
      <p:sp>
        <p:nvSpPr>
          <p:cNvPr id="15" name="">
            <a:extLst xmlns:a="http://schemas.openxmlformats.org/drawingml/2006/main">
              <a:ext uri="{FF2B5EF4-FFF2-40B4-BE49-F238E27FC236}">
                <a16:creationId xmlns:a16="http://schemas.microsoft.com/office/drawing/2014/main" id="{BE3B5E1F-78FA-4101-8FB3-C9B92DEC6F5F}"/>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6" name="">
            <a:extLst xmlns:a="http://schemas.openxmlformats.org/drawingml/2006/main">
              <a:ext uri="{FF2B5EF4-FFF2-40B4-BE49-F238E27FC236}">
                <a16:creationId xmlns:a16="http://schemas.microsoft.com/office/drawing/2014/main" id="{176264BD-E9AD-4789-A346-864E0BAA5592}"/>
              </a:ext>
            </a:extLst>
          </p:cNvPr>
          <p:cNvSpPr>
            <a:spLocks xmlns:a="http://schemas.openxmlformats.org/drawingml/2006/main" noGrp="1"/>
          </p:cNvSpPr>
          <p:nvPr/>
        </p:nvSpPr>
        <p:spPr>
          <a:xfrm xmlns:a="http://schemas.openxmlformats.org/drawingml/2006/main">
            <a:off x="838200" y="5429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POTENTIAL IMPACT</a:t>
            </a:r>
          </a:p>
        </p:txBody>
      </p:sp>
      <p:sp>
        <p:nvSpPr>
          <p:cNvPr id="17" name="">
            <a:extLst xmlns:a="http://schemas.openxmlformats.org/drawingml/2006/main">
              <a:ext uri="{FF2B5EF4-FFF2-40B4-BE49-F238E27FC236}">
                <a16:creationId xmlns:a16="http://schemas.microsoft.com/office/drawing/2014/main" id="{28EE8F6C-AB30-49C9-929B-17AE86DF7323}"/>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stStyle>
          <a:p xmlns:a="http://schemas.openxmlformats.org/drawingml/2006/main">
            <a:pPr algn="l">
              <a:defRPr sz="1575" b="1">
                <a:solidFill>
                  <a:srgbClr val="F3F6F2"/>
                </a:solidFill>
                <a:latin typeface="Arial"/>
                <a:ea typeface="Arial"/>
                <a:cs typeface="Arial"/>
              </a:defRPr>
            </a:pPr>
            <a:r>
              <a:rPr sz="1575" b="1">
                <a:solidFill>
                  <a:srgbClr val="F3F6F2"/>
                </a:solidFill>
                <a:latin typeface="Arial"/>
                <a:ea typeface="Arial"/>
                <a:cs typeface="Arial"/>
              </a:rPr>
              <a:t>Reduce time spent comparing separate datasets and create a repeatable way to select field-inspection priorities. This is a hypothesis until real users test it.</a:t>
            </a:r>
          </a:p>
        </p:txBody>
      </p:sp>
      <p:sp>
        <p:nvSpPr>
          <p:cNvPr id="18" name="">
            <a:extLst xmlns:a="http://schemas.openxmlformats.org/drawingml/2006/main">
              <a:ext uri="{FF2B5EF4-FFF2-40B4-BE49-F238E27FC236}">
                <a16:creationId xmlns:a16="http://schemas.microsoft.com/office/drawing/2014/main" id="{D85CB873-00C4-4983-BAAD-C69147DC8177}"/>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777324894"/>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09E1171-50A6-4EA9-9DEC-AB591D51078C}"/>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DEVELOPMENT POTENTIAL</a:t>
            </a:r>
          </a:p>
        </p:txBody>
      </p:sp>
      <p:sp>
        <p:nvSpPr>
          <p:cNvPr id="2" name="">
            <a:extLst xmlns:a="http://schemas.openxmlformats.org/drawingml/2006/main">
              <a:ext uri="{FF2B5EF4-FFF2-40B4-BE49-F238E27FC236}">
                <a16:creationId xmlns:a16="http://schemas.microsoft.com/office/drawing/2014/main" id="{AE08114C-0541-485A-A8FC-130AB17DED61}"/>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Turn the PoC into a measured municipal pilot</a:t>
            </a:r>
          </a:p>
        </p:txBody>
      </p:sp>
      <p:sp>
        <p:nvSpPr>
          <p:cNvPr id="3" name="">
            <a:extLst xmlns:a="http://schemas.openxmlformats.org/drawingml/2006/main">
              <a:ext uri="{FF2B5EF4-FFF2-40B4-BE49-F238E27FC236}">
                <a16:creationId xmlns:a16="http://schemas.microsoft.com/office/drawing/2014/main" id="{1952910A-E77C-407B-A701-F67E96C03C42}"/>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3C6DCD38-34C8-4E93-A232-17198CC7D9EE}"/>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352378F5-92AF-479E-B1FD-F3F9292B6681}"/>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D267771C-3100-4587-B7F3-B93D8D0C5986}"/>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5865FC61-40DB-4784-B2EA-F9D3F6BF5800}"/>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Interview</a:t>
            </a:r>
          </a:p>
        </p:txBody>
      </p:sp>
      <p:sp>
        <p:nvSpPr>
          <p:cNvPr id="8" name="">
            <a:extLst xmlns:a="http://schemas.openxmlformats.org/drawingml/2006/main">
              <a:ext uri="{FF2B5EF4-FFF2-40B4-BE49-F238E27FC236}">
                <a16:creationId xmlns:a16="http://schemas.microsoft.com/office/drawing/2014/main" id="{6503A68F-8192-4969-842E-BF3EBC3788F9}"/>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Confirm the decision, current workflow and acceptable false alarms with at least three real users.</a:t>
            </a:r>
          </a:p>
        </p:txBody>
      </p:sp>
      <p:sp>
        <p:nvSpPr>
          <p:cNvPr id="9" name="">
            <a:extLst xmlns:a="http://schemas.openxmlformats.org/drawingml/2006/main">
              <a:ext uri="{FF2B5EF4-FFF2-40B4-BE49-F238E27FC236}">
                <a16:creationId xmlns:a16="http://schemas.microsoft.com/office/drawing/2014/main" id="{2EF1260B-EAE0-4CDF-BE16-6C76A392ED69}"/>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86DEBB82-3182-4240-96A1-544EC66E7C15}"/>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CC748761-FF0F-47A9-BFFF-1DEA352B8E15}"/>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Validate</a:t>
            </a:r>
          </a:p>
        </p:txBody>
      </p:sp>
      <p:sp>
        <p:nvSpPr>
          <p:cNvPr id="12" name="">
            <a:extLst xmlns:a="http://schemas.openxmlformats.org/drawingml/2006/main">
              <a:ext uri="{FF2B5EF4-FFF2-40B4-BE49-F238E27FC236}">
                <a16:creationId xmlns:a16="http://schemas.microsoft.com/office/drawing/2014/main" id="{03424A29-2AE0-4BA8-8907-EB32FC78874D}"/>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Inspect the top five zones, record useful results and false alarms, and compare with local plans.</a:t>
            </a:r>
          </a:p>
        </p:txBody>
      </p:sp>
      <p:sp>
        <p:nvSpPr>
          <p:cNvPr id="13" name="">
            <a:extLst xmlns:a="http://schemas.openxmlformats.org/drawingml/2006/main">
              <a:ext uri="{FF2B5EF4-FFF2-40B4-BE49-F238E27FC236}">
                <a16:creationId xmlns:a16="http://schemas.microsoft.com/office/drawing/2014/main" id="{1F946641-634B-49E1-A475-0F3C779D8AC4}"/>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9999A8C2-997A-488B-9C5B-C12B7972323D}"/>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646E7A73-9795-4207-BF9F-B8BDBED23285}"/>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Adapt</a:t>
            </a:r>
          </a:p>
        </p:txBody>
      </p:sp>
      <p:sp>
        <p:nvSpPr>
          <p:cNvPr id="16" name="">
            <a:extLst xmlns:a="http://schemas.openxmlformats.org/drawingml/2006/main">
              <a:ext uri="{FF2B5EF4-FFF2-40B4-BE49-F238E27FC236}">
                <a16:creationId xmlns:a16="http://schemas.microsoft.com/office/drawing/2014/main" id="{8415E022-F2AD-400D-9FB9-DB6B4A5D33F5}"/>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Agree on weights, add worker exposure and city-plan constraints, then rerun the ranking.</a:t>
            </a:r>
          </a:p>
        </p:txBody>
      </p:sp>
      <p:sp>
        <p:nvSpPr>
          <p:cNvPr id="17" name="">
            <a:extLst xmlns:a="http://schemas.openxmlformats.org/drawingml/2006/main">
              <a:ext uri="{FF2B5EF4-FFF2-40B4-BE49-F238E27FC236}">
                <a16:creationId xmlns:a16="http://schemas.microsoft.com/office/drawing/2014/main" id="{BCD23B89-7A92-42F6-91C3-70091192EE07}"/>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3E1F85E2-C93A-4BCE-B5E6-4CE862659161}"/>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stStyle>
          <a:p xmlns:a="http://schemas.openxmlformats.org/drawingml/2006/main">
            <a:pPr algn="ctr">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BFEB0F29-ABC5-4D38-939F-3DE02285E441}"/>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Scale</a:t>
            </a:r>
          </a:p>
        </p:txBody>
      </p:sp>
      <p:sp>
        <p:nvSpPr>
          <p:cNvPr id="20" name="">
            <a:extLst xmlns:a="http://schemas.openxmlformats.org/drawingml/2006/main">
              <a:ext uri="{FF2B5EF4-FFF2-40B4-BE49-F238E27FC236}">
                <a16:creationId xmlns:a16="http://schemas.microsoft.com/office/drawing/2014/main" id="{416115B9-AA1A-494E-91CE-61BB406EB337}"/>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Test a repeatable update in another Riyadh area before any operational deployment claim.</a:t>
            </a:r>
          </a:p>
        </p:txBody>
      </p:sp>
      <p:sp>
        <p:nvSpPr>
          <p:cNvPr id="21" name="">
            <a:extLst xmlns:a="http://schemas.openxmlformats.org/drawingml/2006/main">
              <a:ext uri="{FF2B5EF4-FFF2-40B4-BE49-F238E27FC236}">
                <a16:creationId xmlns:a16="http://schemas.microsoft.com/office/drawing/2014/main" id="{A115E34B-AE8B-4C9B-AFE0-29DCFB148086}"/>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3EE4E369-887C-4D78-BDD6-D4336F986AC3}"/>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THE FINAL ASK</a:t>
            </a:r>
          </a:p>
        </p:txBody>
      </p:sp>
      <p:sp>
        <p:nvSpPr>
          <p:cNvPr id="23" name="">
            <a:extLst xmlns:a="http://schemas.openxmlformats.org/drawingml/2006/main">
              <a:ext uri="{FF2B5EF4-FFF2-40B4-BE49-F238E27FC236}">
                <a16:creationId xmlns:a16="http://schemas.microsoft.com/office/drawing/2014/main" id="{DE8A7EB0-7D82-464E-8921-900B7FE1D132}"/>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Support one municipal pilot that tests whether HeatReady helps a real team choose where to inspect first — with measurable false alarms, user feedback and updated weights.</a:t>
            </a:r>
          </a:p>
        </p:txBody>
      </p:sp>
      <p:sp>
        <p:nvSpPr>
          <p:cNvPr id="24" name="">
            <a:extLst xmlns:a="http://schemas.openxmlformats.org/drawingml/2006/main">
              <a:ext uri="{FF2B5EF4-FFF2-40B4-BE49-F238E27FC236}">
                <a16:creationId xmlns:a16="http://schemas.microsoft.com/office/drawing/2014/main" id="{94262234-84BA-4389-824C-1FF9F07FD460}"/>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MILKAHOLICS  •  ARAB YOUTH SPACE HACKATHON: 813 CHALLENGE</a:t>
            </a:r>
          </a:p>
        </p:txBody>
      </p:sp>
    </p:spTree>
    <p:extLst>
      <p:ext uri="{BB962C8B-B14F-4D97-AF65-F5344CB8AC3E}">
        <p14:creationId xmlns:p14="http://schemas.microsoft.com/office/powerpoint/2010/main" val="20656112"/>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C6F3A3-C2BA-49EC-8DCD-B939DB7BBFE0}"/>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E1923449-C12F-43FB-B948-36843A3A9429}"/>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Exact data roles and dates</a:t>
            </a:r>
          </a:p>
        </p:txBody>
      </p:sp>
      <p:sp>
        <p:nvSpPr>
          <p:cNvPr id="3" name="">
            <a:extLst xmlns:a="http://schemas.openxmlformats.org/drawingml/2006/main">
              <a:ext uri="{FF2B5EF4-FFF2-40B4-BE49-F238E27FC236}">
                <a16:creationId xmlns:a16="http://schemas.microsoft.com/office/drawing/2014/main" id="{88EAD6CD-41D1-46B4-B2CB-03949E6B332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01AFA2A0-E792-4C5B-867E-1AE4B14E4A2D}"/>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FF1CF291-FE93-42EB-865E-1119883CBEE1}"/>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650250C1-5DFE-474A-8ECA-44D439F49E97}"/>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stStyle>
          <a:p xmlns:a="http://schemas.openxmlformats.org/drawingml/2006/main">
            <a:pPr algn="l">
              <a:defRPr sz="1125" b="1">
                <a:solidFill>
                  <a:srgbClr val="E2AD2B"/>
                </a:solidFill>
                <a:latin typeface="Arial"/>
                <a:ea typeface="Arial"/>
                <a:cs typeface="Arial"/>
              </a:defRPr>
            </a:pPr>
            <a:r>
              <a:rPr sz="1125" b="1">
                <a:solidFill>
                  <a:srgbClr val="E2AD2B"/>
                </a:solidFill>
                <a:latin typeface="Arial"/>
                <a:ea typeface="Arial"/>
                <a:cs typeface="Arial"/>
              </a:rPr>
              <a:t>Exact item IDs, URLs, processing and attribution are in config.json and docs/DATA_AND_LICENSES.md. The PoC does not use Satellite 813 or restricted imagery.</a:t>
            </a:r>
          </a:p>
        </p:txBody>
      </p:sp>
      <p:sp>
        <p:nvSpPr>
          <p:cNvPr id="7" name="">
            <a:extLst xmlns:a="http://schemas.openxmlformats.org/drawingml/2006/main">
              <a:ext uri="{FF2B5EF4-FFF2-40B4-BE49-F238E27FC236}">
                <a16:creationId xmlns:a16="http://schemas.microsoft.com/office/drawing/2014/main" id="{19EBD67C-AC5D-465F-AE48-7E654C03A83C}"/>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APPENDIX  •  MILKAHOLICS  •  ARAB YOUTH SPACE HACKATHON: 813 CHALLENGE</a:t>
            </a:r>
          </a:p>
        </p:txBody>
      </p:sp>
    </p:spTree>
    <p:extLst>
      <p:ext uri="{BB962C8B-B14F-4D97-AF65-F5344CB8AC3E}">
        <p14:creationId xmlns:p14="http://schemas.microsoft.com/office/powerpoint/2010/main" val="1859863682"/>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D7A69C2-785F-4097-A8DB-C94EF6EDA6B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What the validation can — and cannot — prove</a:t>
            </a:r>
          </a:p>
        </p:txBody>
      </p:sp>
      <p:sp>
        <p:nvSpPr>
          <p:cNvPr id="2" name="">
            <a:extLst xmlns:a="http://schemas.openxmlformats.org/drawingml/2006/main">
              <a:ext uri="{FF2B5EF4-FFF2-40B4-BE49-F238E27FC236}">
                <a16:creationId xmlns:a16="http://schemas.microsoft.com/office/drawing/2014/main" id="{9F60B4DA-0118-41D4-9387-66C578DCAC3F}"/>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E6489D10-B2AC-4C2C-A0EF-FBF34D765D26}"/>
              </a:ext>
            </a:extLst>
          </p:cNvPr>
          <p:cNvPicPr>
            <a:picLocks xmlns:a="http://schemas.openxmlformats.org/drawingml/2006/main" noChangeAspect="1"/>
          </p:cNvPicPr>
          <p:nvPr/>
        </p:nvPicPr>
        <p:blipFill>
          <a:blip xmlns:r="http://schemas.openxmlformats.org/officeDocument/2006/relationships" xmlns:a="http://schemas.openxmlformats.org/drawingml/2006/main" r:embed="Rbd136320f4014105"/>
          <a:stretch xmlns:a="http://schemas.openxmlformats.org/drawingml/2006/main"/>
        </p:blipFill>
        <p:spPr>
          <a:xfrm xmlns:a="http://schemas.openxmlformats.org/drawingml/2006/main">
            <a:off x="590550" y="1962958"/>
            <a:ext cx="6191250" cy="2627283"/>
          </a:xfrm>
          <a:prstGeom xmlns:a="http://schemas.openxmlformats.org/drawingml/2006/main" prst="roundRect">
            <a:avLst>
              <a:gd name="adj" fmla="val 2778"/>
            </a:avLst>
          </a:prstGeom>
        </p:spPr>
      </p:pic>
      <p:pic>
        <p:nvPicPr>
          <p:cNvPr id="4" name="">
            <a:extLst xmlns:a="http://schemas.openxmlformats.org/drawingml/2006/main">
              <a:ext uri="{FF2B5EF4-FFF2-40B4-BE49-F238E27FC236}">
                <a16:creationId xmlns:a16="http://schemas.microsoft.com/office/drawing/2014/main" id="{6DEB8233-3674-4EA0-8105-8C8712893FA6}"/>
              </a:ext>
            </a:extLst>
          </p:cNvPr>
          <p:cNvPicPr>
            <a:picLocks xmlns:a="http://schemas.openxmlformats.org/drawingml/2006/main" noChangeAspect="1"/>
          </p:cNvPicPr>
          <p:nvPr/>
        </p:nvPicPr>
        <p:blipFill>
          <a:blip xmlns:r="http://schemas.openxmlformats.org/officeDocument/2006/relationships" xmlns:a="http://schemas.openxmlformats.org/drawingml/2006/main" r:embed="Rd1d2d8d567d14bd6"/>
          <a:stretch xmlns:a="http://schemas.openxmlformats.org/drawingml/2006/main"/>
        </p:blipFill>
        <p:spPr>
          <a:xfrm xmlns:a="http://schemas.openxmlformats.org/drawingml/2006/main">
            <a:off x="2699253" y="5143500"/>
            <a:ext cx="1973844" cy="1095375"/>
          </a:xfrm>
          <a:prstGeom xmlns:a="http://schemas.openxmlformats.org/drawingml/2006/main" prst="roundRect">
            <a:avLst>
              <a:gd name="adj" fmla="val 8696"/>
            </a:avLst>
          </a:prstGeom>
        </p:spPr>
      </p:pic>
      <p:sp>
        <p:nvSpPr>
          <p:cNvPr id="5" name="">
            <a:extLst xmlns:a="http://schemas.openxmlformats.org/drawingml/2006/main">
              <a:ext uri="{FF2B5EF4-FFF2-40B4-BE49-F238E27FC236}">
                <a16:creationId xmlns:a16="http://schemas.microsoft.com/office/drawing/2014/main" id="{5A452356-2AF0-435B-86C5-D155310E5E06}"/>
              </a:ext>
            </a:extLst>
          </p:cNvPr>
          <p:cNvSpPr>
            <a:spLocks xmlns:a="http://schemas.openxmlformats.org/drawingml/2006/main" noGrp="1"/>
          </p:cNvSpPr>
          <p:nvPr/>
        </p:nvSpPr>
        <p:spPr>
          <a:xfrm xmlns:a="http://schemas.openxmlformats.org/drawingml/2006/main">
            <a:off x="7067550" y="1562100"/>
            <a:ext cx="4533900" cy="4676775"/>
          </a:xfrm>
          <a:prstGeom xmlns:a="http://schemas.openxmlformats.org/drawingml/2006/main" prst="roundRect">
            <a:avLst>
              <a:gd name="adj" fmla="val 2941"/>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DCD180B0-2C23-4814-AF07-ADC4F1119E94}"/>
              </a:ext>
            </a:extLst>
          </p:cNvPr>
          <p:cNvSpPr>
            <a:spLocks xmlns:a="http://schemas.openxmlformats.org/drawingml/2006/main" noGrp="1"/>
          </p:cNvSpPr>
          <p:nvPr/>
        </p:nvSpPr>
        <p:spPr>
          <a:xfrm xmlns:a="http://schemas.openxmlformats.org/drawingml/2006/main">
            <a:off x="7334250" y="1809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VALIDATION LOGIC</a:t>
            </a:r>
          </a:p>
        </p:txBody>
      </p:sp>
      <p:sp>
        <p:nvSpPr>
          <p:cNvPr id="7" name="">
            <a:extLst xmlns:a="http://schemas.openxmlformats.org/drawingml/2006/main">
              <a:ext uri="{FF2B5EF4-FFF2-40B4-BE49-F238E27FC236}">
                <a16:creationId xmlns:a16="http://schemas.microsoft.com/office/drawing/2014/main" id="{0DEA8334-F142-4DA5-B617-3DD35D7897B3}"/>
              </a:ext>
            </a:extLst>
          </p:cNvPr>
          <p:cNvSpPr>
            <a:spLocks xmlns:a="http://schemas.openxmlformats.org/drawingml/2006/main" noGrp="1"/>
          </p:cNvSpPr>
          <p:nvPr/>
        </p:nvSpPr>
        <p:spPr>
          <a:xfrm xmlns:a="http://schemas.openxmlformats.org/drawingml/2006/main">
            <a:off x="7334250" y="2171700"/>
            <a:ext cx="209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AA58F"/>
                </a:solidFill>
                <a:latin typeface="Arial"/>
                <a:ea typeface="Arial"/>
                <a:cs typeface="Arial"/>
              </a:defRPr>
            </a:defPPr>
          </a:lstStyle>
          <a:p xmlns:a="http://schemas.openxmlformats.org/drawingml/2006/main">
            <a:pPr algn="l">
              <a:defRPr sz="1575" b="1">
                <a:solidFill>
                  <a:srgbClr val="1AA58F"/>
                </a:solidFill>
                <a:latin typeface="Arial"/>
                <a:ea typeface="Arial"/>
                <a:cs typeface="Arial"/>
              </a:defRPr>
            </a:pPr>
            <a:r>
              <a:rPr sz="1575" b="1">
                <a:solidFill>
                  <a:srgbClr val="1AA58F"/>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5E24A0DE-A626-4A1F-A4DC-F7851ABA42E3}"/>
              </a:ext>
            </a:extLst>
          </p:cNvPr>
          <p:cNvSpPr>
            <a:spLocks xmlns:a="http://schemas.openxmlformats.org/drawingml/2006/main" noGrp="1"/>
          </p:cNvSpPr>
          <p:nvPr/>
        </p:nvSpPr>
        <p:spPr>
          <a:xfrm xmlns:a="http://schemas.openxmlformats.org/drawingml/2006/main">
            <a:off x="7581900" y="2171700"/>
            <a:ext cx="3638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a:solidFill>
                  <a:srgbClr val="F3F6F2"/>
                </a:solidFill>
                <a:latin typeface="Arial"/>
                <a:ea typeface="Arial"/>
                <a:cs typeface="Arial"/>
              </a:defRPr>
            </a:defPPr>
          </a:lstStyle>
          <a:p xmlns:a="http://schemas.openxmlformats.org/drawingml/2006/main">
            <a:pPr algn="l">
              <a:defRPr sz="1275">
                <a:solidFill>
                  <a:srgbClr val="F3F6F2"/>
                </a:solidFill>
                <a:latin typeface="Arial"/>
                <a:ea typeface="Arial"/>
                <a:cs typeface="Arial"/>
              </a:defRPr>
            </a:pPr>
            <a:r>
              <a:rPr sz="1275">
                <a:solidFill>
                  <a:srgbClr val="F3F6F2"/>
                </a:solidFill>
                <a:latin typeface="Arial"/>
                <a:ea typeface="Arial"/>
                <a:cs typeface="Arial"/>
              </a:rPr>
              <a:t>West strip trains; middle strip tunes; east strip tests against WorldCover.</a:t>
            </a:r>
          </a:p>
        </p:txBody>
      </p:sp>
      <p:sp>
        <p:nvSpPr>
          <p:cNvPr id="9" name="">
            <a:extLst xmlns:a="http://schemas.openxmlformats.org/drawingml/2006/main">
              <a:ext uri="{FF2B5EF4-FFF2-40B4-BE49-F238E27FC236}">
                <a16:creationId xmlns:a16="http://schemas.microsoft.com/office/drawing/2014/main" id="{DC767D16-24A7-4F3C-9407-B601BCA80C65}"/>
              </a:ext>
            </a:extLst>
          </p:cNvPr>
          <p:cNvSpPr>
            <a:spLocks xmlns:a="http://schemas.openxmlformats.org/drawingml/2006/main" noGrp="1"/>
          </p:cNvSpPr>
          <p:nvPr/>
        </p:nvSpPr>
        <p:spPr>
          <a:xfrm xmlns:a="http://schemas.openxmlformats.org/drawingml/2006/main">
            <a:off x="7334250" y="2857500"/>
            <a:ext cx="209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AA58F"/>
                </a:solidFill>
                <a:latin typeface="Arial"/>
                <a:ea typeface="Arial"/>
                <a:cs typeface="Arial"/>
              </a:defRPr>
            </a:defPPr>
          </a:lstStyle>
          <a:p xmlns:a="http://schemas.openxmlformats.org/drawingml/2006/main">
            <a:pPr algn="l">
              <a:defRPr sz="1575" b="1">
                <a:solidFill>
                  <a:srgbClr val="1AA58F"/>
                </a:solidFill>
                <a:latin typeface="Arial"/>
                <a:ea typeface="Arial"/>
                <a:cs typeface="Arial"/>
              </a:defRPr>
            </a:pPr>
            <a:r>
              <a:rPr sz="1575" b="1">
                <a:solidFill>
                  <a:srgbClr val="1AA58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F0C7F387-63EE-46E1-ADC5-9CEA985F3687}"/>
              </a:ext>
            </a:extLst>
          </p:cNvPr>
          <p:cNvSpPr>
            <a:spLocks xmlns:a="http://schemas.openxmlformats.org/drawingml/2006/main" noGrp="1"/>
          </p:cNvSpPr>
          <p:nvPr/>
        </p:nvSpPr>
        <p:spPr>
          <a:xfrm xmlns:a="http://schemas.openxmlformats.org/drawingml/2006/main">
            <a:off x="7581900" y="2857500"/>
            <a:ext cx="3638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a:solidFill>
                  <a:srgbClr val="F3F6F2"/>
                </a:solidFill>
                <a:latin typeface="Arial"/>
                <a:ea typeface="Arial"/>
                <a:cs typeface="Arial"/>
              </a:defRPr>
            </a:defPPr>
          </a:lstStyle>
          <a:p xmlns:a="http://schemas.openxmlformats.org/drawingml/2006/main">
            <a:pPr algn="l">
              <a:defRPr sz="1275">
                <a:solidFill>
                  <a:srgbClr val="F3F6F2"/>
                </a:solidFill>
                <a:latin typeface="Arial"/>
                <a:ea typeface="Arial"/>
                <a:cs typeface="Arial"/>
              </a:defRPr>
            </a:pPr>
            <a:r>
              <a:rPr sz="1275">
                <a:solidFill>
                  <a:srgbClr val="F3F6F2"/>
                </a:solidFill>
                <a:latin typeface="Arial"/>
                <a:ea typeface="Arial"/>
                <a:cs typeface="Arial"/>
              </a:rPr>
              <a:t>The test set is spatially separate and contains more than 10,000 reference pixels.</a:t>
            </a:r>
          </a:p>
        </p:txBody>
      </p:sp>
      <p:sp>
        <p:nvSpPr>
          <p:cNvPr id="11" name="">
            <a:extLst xmlns:a="http://schemas.openxmlformats.org/drawingml/2006/main">
              <a:ext uri="{FF2B5EF4-FFF2-40B4-BE49-F238E27FC236}">
                <a16:creationId xmlns:a16="http://schemas.microsoft.com/office/drawing/2014/main" id="{A345E151-2564-480C-A395-8D4384221A9F}"/>
              </a:ext>
            </a:extLst>
          </p:cNvPr>
          <p:cNvSpPr>
            <a:spLocks xmlns:a="http://schemas.openxmlformats.org/drawingml/2006/main" noGrp="1"/>
          </p:cNvSpPr>
          <p:nvPr/>
        </p:nvSpPr>
        <p:spPr>
          <a:xfrm xmlns:a="http://schemas.openxmlformats.org/drawingml/2006/main">
            <a:off x="7334250" y="3543300"/>
            <a:ext cx="209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AA58F"/>
                </a:solidFill>
                <a:latin typeface="Arial"/>
                <a:ea typeface="Arial"/>
                <a:cs typeface="Arial"/>
              </a:defRPr>
            </a:defPPr>
          </a:lstStyle>
          <a:p xmlns:a="http://schemas.openxmlformats.org/drawingml/2006/main">
            <a:pPr algn="l">
              <a:defRPr sz="1575" b="1">
                <a:solidFill>
                  <a:srgbClr val="1AA58F"/>
                </a:solidFill>
                <a:latin typeface="Arial"/>
                <a:ea typeface="Arial"/>
                <a:cs typeface="Arial"/>
              </a:defRPr>
            </a:pPr>
            <a:r>
              <a:rPr sz="1575" b="1">
                <a:solidFill>
                  <a:srgbClr val="1AA58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8D4717BD-2418-4CEA-9E28-3F81C49A6FB0}"/>
              </a:ext>
            </a:extLst>
          </p:cNvPr>
          <p:cNvSpPr>
            <a:spLocks xmlns:a="http://schemas.openxmlformats.org/drawingml/2006/main" noGrp="1"/>
          </p:cNvSpPr>
          <p:nvPr/>
        </p:nvSpPr>
        <p:spPr>
          <a:xfrm xmlns:a="http://schemas.openxmlformats.org/drawingml/2006/main">
            <a:off x="7581900" y="3543300"/>
            <a:ext cx="3638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a:solidFill>
                  <a:srgbClr val="F3F6F2"/>
                </a:solidFill>
                <a:latin typeface="Arial"/>
                <a:ea typeface="Arial"/>
                <a:cs typeface="Arial"/>
              </a:defRPr>
            </a:defPPr>
          </a:lstStyle>
          <a:p xmlns:a="http://schemas.openxmlformats.org/drawingml/2006/main">
            <a:pPr algn="l">
              <a:defRPr sz="1275">
                <a:solidFill>
                  <a:srgbClr val="F3F6F2"/>
                </a:solidFill>
                <a:latin typeface="Arial"/>
                <a:ea typeface="Arial"/>
                <a:cs typeface="Arial"/>
              </a:defRPr>
            </a:pPr>
            <a:r>
              <a:rPr sz="1275">
                <a:solidFill>
                  <a:srgbClr val="F3F6F2"/>
                </a:solidFill>
                <a:latin typeface="Arial"/>
                <a:ea typeface="Arial"/>
                <a:cs typeface="Arial"/>
              </a:rPr>
              <a:t>The annual time series supports trend interpretation; the 2022 dip shows why it is not construction truth.</a:t>
            </a:r>
          </a:p>
        </p:txBody>
      </p:sp>
      <p:sp>
        <p:nvSpPr>
          <p:cNvPr id="13" name="">
            <a:extLst xmlns:a="http://schemas.openxmlformats.org/drawingml/2006/main">
              <a:ext uri="{FF2B5EF4-FFF2-40B4-BE49-F238E27FC236}">
                <a16:creationId xmlns:a16="http://schemas.microsoft.com/office/drawing/2014/main" id="{56CA18FD-A301-4548-AE16-63FD74F77174}"/>
              </a:ext>
            </a:extLst>
          </p:cNvPr>
          <p:cNvSpPr>
            <a:spLocks xmlns:a="http://schemas.openxmlformats.org/drawingml/2006/main" noGrp="1"/>
          </p:cNvSpPr>
          <p:nvPr/>
        </p:nvSpPr>
        <p:spPr>
          <a:xfrm xmlns:a="http://schemas.openxmlformats.org/drawingml/2006/main">
            <a:off x="7334250" y="4400550"/>
            <a:ext cx="2095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AA58F"/>
                </a:solidFill>
                <a:latin typeface="Arial"/>
                <a:ea typeface="Arial"/>
                <a:cs typeface="Arial"/>
              </a:defRPr>
            </a:defPPr>
          </a:lstStyle>
          <a:p xmlns:a="http://schemas.openxmlformats.org/drawingml/2006/main">
            <a:pPr algn="l">
              <a:defRPr sz="1575" b="1">
                <a:solidFill>
                  <a:srgbClr val="1AA58F"/>
                </a:solidFill>
                <a:latin typeface="Arial"/>
                <a:ea typeface="Arial"/>
                <a:cs typeface="Arial"/>
              </a:defRPr>
            </a:pPr>
            <a:r>
              <a:rPr sz="1575" b="1">
                <a:solidFill>
                  <a:srgbClr val="1AA58F"/>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EA096E2B-1576-498C-9717-018198842EB1}"/>
              </a:ext>
            </a:extLst>
          </p:cNvPr>
          <p:cNvSpPr>
            <a:spLocks xmlns:a="http://schemas.openxmlformats.org/drawingml/2006/main" noGrp="1"/>
          </p:cNvSpPr>
          <p:nvPr/>
        </p:nvSpPr>
        <p:spPr>
          <a:xfrm xmlns:a="http://schemas.openxmlformats.org/drawingml/2006/main">
            <a:off x="7581900" y="4400550"/>
            <a:ext cx="36385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a:solidFill>
                  <a:srgbClr val="F3F6F2"/>
                </a:solidFill>
                <a:latin typeface="Arial"/>
                <a:ea typeface="Arial"/>
                <a:cs typeface="Arial"/>
              </a:defRPr>
            </a:defPPr>
          </a:lstStyle>
          <a:p xmlns:a="http://schemas.openxmlformats.org/drawingml/2006/main">
            <a:pPr algn="l">
              <a:defRPr sz="1275">
                <a:solidFill>
                  <a:srgbClr val="F3F6F2"/>
                </a:solidFill>
                <a:latin typeface="Arial"/>
                <a:ea typeface="Arial"/>
                <a:cs typeface="Arial"/>
              </a:defRPr>
            </a:pPr>
            <a:r>
              <a:rPr sz="1275">
                <a:solidFill>
                  <a:srgbClr val="F3F6F2"/>
                </a:solidFill>
                <a:latin typeface="Arial"/>
                <a:ea typeface="Arial"/>
                <a:cs typeface="Arial"/>
              </a:rPr>
              <a:t>No field survey, air-temperature model, health outcome or municipal acceptance test is claimed.</a:t>
            </a:r>
          </a:p>
        </p:txBody>
      </p:sp>
      <p:sp>
        <p:nvSpPr>
          <p:cNvPr id="15" name="">
            <a:extLst xmlns:a="http://schemas.openxmlformats.org/drawingml/2006/main">
              <a:ext uri="{FF2B5EF4-FFF2-40B4-BE49-F238E27FC236}">
                <a16:creationId xmlns:a16="http://schemas.microsoft.com/office/drawing/2014/main" id="{C5C956ED-B76E-4E6F-97B6-16840A53063F}"/>
              </a:ext>
            </a:extLst>
          </p:cNvPr>
          <p:cNvSpPr>
            <a:spLocks xmlns:a="http://schemas.openxmlformats.org/drawingml/2006/main" noGrp="1"/>
          </p:cNvSpPr>
          <p:nvPr/>
        </p:nvSpPr>
        <p:spPr>
          <a:xfrm xmlns:a="http://schemas.openxmlformats.org/drawingml/2006/main">
            <a:off x="7334250" y="5334000"/>
            <a:ext cx="3886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E2AD2B"/>
                </a:solidFill>
                <a:latin typeface="Arial"/>
                <a:ea typeface="Arial"/>
                <a:cs typeface="Arial"/>
              </a:defRPr>
            </a:defPPr>
          </a:lstStyle>
          <a:p xmlns:a="http://schemas.openxmlformats.org/drawingml/2006/main">
            <a:pPr algn="l">
              <a:defRPr sz="1500" b="1">
                <a:solidFill>
                  <a:srgbClr val="E2AD2B"/>
                </a:solidFill>
                <a:latin typeface="Arial"/>
                <a:ea typeface="Arial"/>
                <a:cs typeface="Arial"/>
              </a:defRPr>
            </a:pPr>
            <a:r>
              <a:rPr sz="1500" b="1">
                <a:solidFill>
                  <a:srgbClr val="E2AD2B"/>
                </a:solidFill>
                <a:latin typeface="Arial"/>
                <a:ea typeface="Arial"/>
                <a:cs typeface="Arial"/>
              </a:rPr>
              <a:t>Operational validation must measure useful inspections and false alarms with a real user.</a:t>
            </a:r>
          </a:p>
        </p:txBody>
      </p:sp>
      <p:sp>
        <p:nvSpPr>
          <p:cNvPr id="16" name="">
            <a:extLst xmlns:a="http://schemas.openxmlformats.org/drawingml/2006/main">
              <a:ext uri="{FF2B5EF4-FFF2-40B4-BE49-F238E27FC236}">
                <a16:creationId xmlns:a16="http://schemas.microsoft.com/office/drawing/2014/main" id="{26DFCF66-DE76-4647-8531-E5DF6A607934}"/>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17" name="">
            <a:extLst xmlns:a="http://schemas.openxmlformats.org/drawingml/2006/main">
              <a:ext uri="{FF2B5EF4-FFF2-40B4-BE49-F238E27FC236}">
                <a16:creationId xmlns:a16="http://schemas.microsoft.com/office/drawing/2014/main" id="{31D4E887-ECE7-4824-BA90-99CAB349034E}"/>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10</a:t>
            </a:r>
          </a:p>
        </p:txBody>
      </p:sp>
      <p:sp>
        <p:nvSpPr>
          <p:cNvPr id="18" name="">
            <a:extLst xmlns:a="http://schemas.openxmlformats.org/drawingml/2006/main">
              <a:ext uri="{FF2B5EF4-FFF2-40B4-BE49-F238E27FC236}">
                <a16:creationId xmlns:a16="http://schemas.microsoft.com/office/drawing/2014/main" id="{724A3475-6112-4D86-A53D-41F90F07E3D7}"/>
              </a:ext>
            </a:extLst>
          </p:cNvPr>
          <p:cNvSpPr>
            <a:spLocks xmlns:a="http://schemas.openxmlformats.org/drawingml/2006/main" noGrp="1"/>
          </p:cNvSpPr>
          <p:nvPr/>
        </p:nvSpPr>
        <p:spPr>
          <a:xfrm xmlns:a="http://schemas.openxmlformats.org/drawingml/2006/main">
            <a:off x="590550" y="6419850"/>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APPENDIX  •  MILKAHOLICS  •  ARAB YOUTH SPACE HACKATHON: 813 CHALLENGE</a:t>
            </a:r>
          </a:p>
        </p:txBody>
      </p:sp>
    </p:spTree>
    <p:extLst>
      <p:ext uri="{BB962C8B-B14F-4D97-AF65-F5344CB8AC3E}">
        <p14:creationId xmlns:p14="http://schemas.microsoft.com/office/powerpoint/2010/main" val="294904060"/>
      </p:ext>
    </p:extLst>
  </p:cSld>
</p:sld>
</file>

<file path=ppt/slides/slide1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E1AAAE2-4BF3-43F5-8E31-738C9FFCEC35}"/>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4C9C7284-FA20-48A9-BA5E-3098349BB83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Fast answers judges may ask for</a:t>
            </a:r>
          </a:p>
        </p:txBody>
      </p:sp>
      <p:sp>
        <p:nvSpPr>
          <p:cNvPr id="3" name="">
            <a:extLst xmlns:a="http://schemas.openxmlformats.org/drawingml/2006/main">
              <a:ext uri="{FF2B5EF4-FFF2-40B4-BE49-F238E27FC236}">
                <a16:creationId xmlns:a16="http://schemas.microsoft.com/office/drawing/2014/main" id="{A18D5343-6195-4C28-909D-834673C143CF}"/>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95C37D35-A394-4BEB-83C4-07AEB396E271}"/>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6AF3FBC5-F759-44E2-91FD-F65BE5EF0CDC}"/>
              </a:ext>
            </a:extLst>
          </p:cNvPr>
          <p:cNvSpPr>
            <a:spLocks xmlns:a="http://schemas.openxmlformats.org/drawingml/2006/main" noGrp="1"/>
          </p:cNvSpPr>
          <p:nvPr/>
        </p:nvSpPr>
        <p:spPr>
          <a:xfrm xmlns:a="http://schemas.openxmlformats.org/drawingml/2006/main">
            <a:off x="590550" y="15811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F8CC08D4-D308-49FC-9564-BD692904365C}"/>
              </a:ext>
            </a:extLst>
          </p:cNvPr>
          <p:cNvSpPr>
            <a:spLocks xmlns:a="http://schemas.openxmlformats.org/drawingml/2006/main" noGrp="1"/>
          </p:cNvSpPr>
          <p:nvPr/>
        </p:nvSpPr>
        <p:spPr>
          <a:xfrm xmlns:a="http://schemas.openxmlformats.org/drawingml/2006/main">
            <a:off x="800100" y="17526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Why 1 km cells?</a:t>
            </a:r>
          </a:p>
        </p:txBody>
      </p:sp>
      <p:sp>
        <p:nvSpPr>
          <p:cNvPr id="7" name="">
            <a:extLst xmlns:a="http://schemas.openxmlformats.org/drawingml/2006/main">
              <a:ext uri="{FF2B5EF4-FFF2-40B4-BE49-F238E27FC236}">
                <a16:creationId xmlns:a16="http://schemas.microsoft.com/office/drawing/2014/main" id="{4382E80A-1E2D-451A-A11E-CDB782BFB0BE}"/>
              </a:ext>
            </a:extLst>
          </p:cNvPr>
          <p:cNvSpPr>
            <a:spLocks xmlns:a="http://schemas.openxmlformats.org/drawingml/2006/main" noGrp="1"/>
          </p:cNvSpPr>
          <p:nvPr/>
        </p:nvSpPr>
        <p:spPr>
          <a:xfrm xmlns:a="http://schemas.openxmlformats.org/drawingml/2006/main">
            <a:off x="800100" y="21145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They match the population layer and support early area screening; they do not select an individual building.</a:t>
            </a:r>
          </a:p>
        </p:txBody>
      </p:sp>
      <p:sp>
        <p:nvSpPr>
          <p:cNvPr id="8" name="">
            <a:extLst xmlns:a="http://schemas.openxmlformats.org/drawingml/2006/main">
              <a:ext uri="{FF2B5EF4-FFF2-40B4-BE49-F238E27FC236}">
                <a16:creationId xmlns:a16="http://schemas.microsoft.com/office/drawing/2014/main" id="{68F597DE-4836-4895-9A8D-A0CA4E2D4932}"/>
              </a:ext>
            </a:extLst>
          </p:cNvPr>
          <p:cNvSpPr>
            <a:spLocks xmlns:a="http://schemas.openxmlformats.org/drawingml/2006/main" noGrp="1"/>
          </p:cNvSpPr>
          <p:nvPr/>
        </p:nvSpPr>
        <p:spPr>
          <a:xfrm xmlns:a="http://schemas.openxmlformats.org/drawingml/2006/main">
            <a:off x="6096000" y="15811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4D3EB24E-5345-434D-8AB9-421ADEEB4F28}"/>
              </a:ext>
            </a:extLst>
          </p:cNvPr>
          <p:cNvSpPr>
            <a:spLocks xmlns:a="http://schemas.openxmlformats.org/drawingml/2006/main" noGrp="1"/>
          </p:cNvSpPr>
          <p:nvPr/>
        </p:nvSpPr>
        <p:spPr>
          <a:xfrm xmlns:a="http://schemas.openxmlformats.org/drawingml/2006/main">
            <a:off x="6305550" y="17526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E2AD2B"/>
                </a:solidFill>
                <a:latin typeface="Arial"/>
                <a:ea typeface="Arial"/>
                <a:cs typeface="Arial"/>
              </a:defRPr>
            </a:defPPr>
          </a:lstStyle>
          <a:p xmlns:a="http://schemas.openxmlformats.org/drawingml/2006/main">
            <a:pPr algn="l">
              <a:defRPr sz="1500" b="1">
                <a:solidFill>
                  <a:srgbClr val="E2AD2B"/>
                </a:solidFill>
                <a:latin typeface="Arial"/>
                <a:ea typeface="Arial"/>
                <a:cs typeface="Arial"/>
              </a:defRPr>
            </a:pPr>
            <a:r>
              <a:rPr sz="1500" b="1">
                <a:solidFill>
                  <a:srgbClr val="E2AD2B"/>
                </a:solidFill>
                <a:latin typeface="Arial"/>
                <a:ea typeface="Arial"/>
                <a:cs typeface="Arial"/>
              </a:rPr>
              <a:t>Why these weights?</a:t>
            </a:r>
          </a:p>
        </p:txBody>
      </p:sp>
      <p:sp>
        <p:nvSpPr>
          <p:cNvPr id="10" name="">
            <a:extLst xmlns:a="http://schemas.openxmlformats.org/drawingml/2006/main">
              <a:ext uri="{FF2B5EF4-FFF2-40B4-BE49-F238E27FC236}">
                <a16:creationId xmlns:a16="http://schemas.microsoft.com/office/drawing/2014/main" id="{7178B1DE-342C-4428-A2C9-5D1881AD79E7}"/>
              </a:ext>
            </a:extLst>
          </p:cNvPr>
          <p:cNvSpPr>
            <a:spLocks xmlns:a="http://schemas.openxmlformats.org/drawingml/2006/main" noGrp="1"/>
          </p:cNvSpPr>
          <p:nvPr/>
        </p:nvSpPr>
        <p:spPr>
          <a:xfrm xmlns:a="http://schemas.openxmlformats.org/drawingml/2006/main">
            <a:off x="6305550" y="21145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They are transparent PoC assumptions: 40% heat, 30% population, 20% growth, 10% lack of vegetation. A real user must review them.</a:t>
            </a:r>
          </a:p>
        </p:txBody>
      </p:sp>
      <p:sp>
        <p:nvSpPr>
          <p:cNvPr id="11" name="">
            <a:extLst xmlns:a="http://schemas.openxmlformats.org/drawingml/2006/main">
              <a:ext uri="{FF2B5EF4-FFF2-40B4-BE49-F238E27FC236}">
                <a16:creationId xmlns:a16="http://schemas.microsoft.com/office/drawing/2014/main" id="{2575B9A2-4BB8-419C-9F49-9772DDF5D74A}"/>
              </a:ext>
            </a:extLst>
          </p:cNvPr>
          <p:cNvSpPr>
            <a:spLocks xmlns:a="http://schemas.openxmlformats.org/drawingml/2006/main" noGrp="1"/>
          </p:cNvSpPr>
          <p:nvPr/>
        </p:nvSpPr>
        <p:spPr>
          <a:xfrm xmlns:a="http://schemas.openxmlformats.org/drawingml/2006/main">
            <a:off x="590550" y="31432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A2BF8195-CCE2-465C-BAB1-93489F2E3172}"/>
              </a:ext>
            </a:extLst>
          </p:cNvPr>
          <p:cNvSpPr>
            <a:spLocks xmlns:a="http://schemas.openxmlformats.org/drawingml/2006/main" noGrp="1"/>
          </p:cNvSpPr>
          <p:nvPr/>
        </p:nvSpPr>
        <p:spPr>
          <a:xfrm xmlns:a="http://schemas.openxmlformats.org/drawingml/2006/main">
            <a:off x="800100" y="33147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Why not use NDBI alone?</a:t>
            </a:r>
          </a:p>
        </p:txBody>
      </p:sp>
      <p:sp>
        <p:nvSpPr>
          <p:cNvPr id="13" name="">
            <a:extLst xmlns:a="http://schemas.openxmlformats.org/drawingml/2006/main">
              <a:ext uri="{FF2B5EF4-FFF2-40B4-BE49-F238E27FC236}">
                <a16:creationId xmlns:a16="http://schemas.microsoft.com/office/drawing/2014/main" id="{F4DFE195-AB78-4D06-B9DF-D533AB020322}"/>
              </a:ext>
            </a:extLst>
          </p:cNvPr>
          <p:cNvSpPr>
            <a:spLocks xmlns:a="http://schemas.openxmlformats.org/drawingml/2006/main" noGrp="1"/>
          </p:cNvSpPr>
          <p:nvPr/>
        </p:nvSpPr>
        <p:spPr>
          <a:xfrm xmlns:a="http://schemas.openxmlformats.org/drawingml/2006/main">
            <a:off x="800100" y="36766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Bright desert can look built-like. Tanager and the optical-radar model show why multiple evidence sources are safer.</a:t>
            </a:r>
          </a:p>
        </p:txBody>
      </p:sp>
      <p:sp>
        <p:nvSpPr>
          <p:cNvPr id="14" name="">
            <a:extLst xmlns:a="http://schemas.openxmlformats.org/drawingml/2006/main">
              <a:ext uri="{FF2B5EF4-FFF2-40B4-BE49-F238E27FC236}">
                <a16:creationId xmlns:a16="http://schemas.microsoft.com/office/drawing/2014/main" id="{5AAAB665-344B-4517-8B82-A51354B5DF08}"/>
              </a:ext>
            </a:extLst>
          </p:cNvPr>
          <p:cNvSpPr>
            <a:spLocks xmlns:a="http://schemas.openxmlformats.org/drawingml/2006/main" noGrp="1"/>
          </p:cNvSpPr>
          <p:nvPr/>
        </p:nvSpPr>
        <p:spPr>
          <a:xfrm xmlns:a="http://schemas.openxmlformats.org/drawingml/2006/main">
            <a:off x="6096000" y="31432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0A5C5813-F0B5-43E9-A1A9-0D8FA48640B6}"/>
              </a:ext>
            </a:extLst>
          </p:cNvPr>
          <p:cNvSpPr>
            <a:spLocks xmlns:a="http://schemas.openxmlformats.org/drawingml/2006/main" noGrp="1"/>
          </p:cNvSpPr>
          <p:nvPr/>
        </p:nvSpPr>
        <p:spPr>
          <a:xfrm xmlns:a="http://schemas.openxmlformats.org/drawingml/2006/main">
            <a:off x="6305550" y="33147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E2AD2B"/>
                </a:solidFill>
                <a:latin typeface="Arial"/>
                <a:ea typeface="Arial"/>
                <a:cs typeface="Arial"/>
              </a:defRPr>
            </a:defPPr>
          </a:lstStyle>
          <a:p xmlns:a="http://schemas.openxmlformats.org/drawingml/2006/main">
            <a:pPr algn="l">
              <a:defRPr sz="1500" b="1">
                <a:solidFill>
                  <a:srgbClr val="E2AD2B"/>
                </a:solidFill>
                <a:latin typeface="Arial"/>
                <a:ea typeface="Arial"/>
                <a:cs typeface="Arial"/>
              </a:defRPr>
            </a:pPr>
            <a:r>
              <a:rPr sz="1500" b="1">
                <a:solidFill>
                  <a:srgbClr val="E2AD2B"/>
                </a:solidFill>
                <a:latin typeface="Arial"/>
                <a:ea typeface="Arial"/>
                <a:cs typeface="Arial"/>
              </a:rPr>
              <a:t>Can judges reproduce it?</a:t>
            </a:r>
          </a:p>
        </p:txBody>
      </p:sp>
      <p:sp>
        <p:nvSpPr>
          <p:cNvPr id="16" name="">
            <a:extLst xmlns:a="http://schemas.openxmlformats.org/drawingml/2006/main">
              <a:ext uri="{FF2B5EF4-FFF2-40B4-BE49-F238E27FC236}">
                <a16:creationId xmlns:a16="http://schemas.microsoft.com/office/drawing/2014/main" id="{3B994681-6CE2-435B-A708-7C34ED5C0F49}"/>
              </a:ext>
            </a:extLst>
          </p:cNvPr>
          <p:cNvSpPr>
            <a:spLocks xmlns:a="http://schemas.openxmlformats.org/drawingml/2006/main" noGrp="1"/>
          </p:cNvSpPr>
          <p:nvPr/>
        </p:nvSpPr>
        <p:spPr>
          <a:xfrm xmlns:a="http://schemas.openxmlformats.org/drawingml/2006/main">
            <a:off x="6305550" y="36766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Yes. The public repository has pinned requirements, a run-all sample notebook, example input/output and the full source pipeline.</a:t>
            </a:r>
          </a:p>
        </p:txBody>
      </p:sp>
      <p:sp>
        <p:nvSpPr>
          <p:cNvPr id="17" name="">
            <a:extLst xmlns:a="http://schemas.openxmlformats.org/drawingml/2006/main">
              <a:ext uri="{FF2B5EF4-FFF2-40B4-BE49-F238E27FC236}">
                <a16:creationId xmlns:a16="http://schemas.microsoft.com/office/drawing/2014/main" id="{83E8FB71-9ABC-45DB-ABF5-8DE1BDE17711}"/>
              </a:ext>
            </a:extLst>
          </p:cNvPr>
          <p:cNvSpPr>
            <a:spLocks xmlns:a="http://schemas.openxmlformats.org/drawingml/2006/main" noGrp="1"/>
          </p:cNvSpPr>
          <p:nvPr/>
        </p:nvSpPr>
        <p:spPr>
          <a:xfrm xmlns:a="http://schemas.openxmlformats.org/drawingml/2006/main">
            <a:off x="590550" y="47053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197DA171-E923-4EA1-B4EE-4AADDD3136C7}"/>
              </a:ext>
            </a:extLst>
          </p:cNvPr>
          <p:cNvSpPr>
            <a:spLocks xmlns:a="http://schemas.openxmlformats.org/drawingml/2006/main" noGrp="1"/>
          </p:cNvSpPr>
          <p:nvPr/>
        </p:nvSpPr>
        <p:spPr>
          <a:xfrm xmlns:a="http://schemas.openxmlformats.org/drawingml/2006/main">
            <a:off x="800100" y="48768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AA58F"/>
                </a:solidFill>
                <a:latin typeface="Arial"/>
                <a:ea typeface="Arial"/>
                <a:cs typeface="Arial"/>
              </a:defRPr>
            </a:defPPr>
          </a:lstStyle>
          <a:p xmlns:a="http://schemas.openxmlformats.org/drawingml/2006/main">
            <a:pPr algn="l">
              <a:defRPr sz="1500" b="1">
                <a:solidFill>
                  <a:srgbClr val="1AA58F"/>
                </a:solidFill>
                <a:latin typeface="Arial"/>
                <a:ea typeface="Arial"/>
                <a:cs typeface="Arial"/>
              </a:defRPr>
            </a:pPr>
            <a:r>
              <a:rPr sz="1500" b="1">
                <a:solidFill>
                  <a:srgbClr val="1AA58F"/>
                </a:solidFill>
                <a:latin typeface="Arial"/>
                <a:ea typeface="Arial"/>
                <a:cs typeface="Arial"/>
              </a:rPr>
              <a:t>What happens if the score is wrong?</a:t>
            </a:r>
          </a:p>
        </p:txBody>
      </p:sp>
      <p:sp>
        <p:nvSpPr>
          <p:cNvPr id="19" name="">
            <a:extLst xmlns:a="http://schemas.openxmlformats.org/drawingml/2006/main">
              <a:ext uri="{FF2B5EF4-FFF2-40B4-BE49-F238E27FC236}">
                <a16:creationId xmlns:a16="http://schemas.microsoft.com/office/drawing/2014/main" id="{8067BC0E-5EC7-4693-BD05-AD6FDADEA1B8}"/>
              </a:ext>
            </a:extLst>
          </p:cNvPr>
          <p:cNvSpPr>
            <a:spLocks xmlns:a="http://schemas.openxmlformats.org/drawingml/2006/main" noGrp="1"/>
          </p:cNvSpPr>
          <p:nvPr/>
        </p:nvSpPr>
        <p:spPr>
          <a:xfrm xmlns:a="http://schemas.openxmlformats.org/drawingml/2006/main">
            <a:off x="800100" y="52387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No automatic action follows. The cost is wasted inspection time, so the pilot measures false alarms before operational use.</a:t>
            </a:r>
          </a:p>
        </p:txBody>
      </p:sp>
      <p:sp>
        <p:nvSpPr>
          <p:cNvPr id="20" name="">
            <a:extLst xmlns:a="http://schemas.openxmlformats.org/drawingml/2006/main">
              <a:ext uri="{FF2B5EF4-FFF2-40B4-BE49-F238E27FC236}">
                <a16:creationId xmlns:a16="http://schemas.microsoft.com/office/drawing/2014/main" id="{F45279E6-0752-4014-A867-59F8B8DED1D0}"/>
              </a:ext>
            </a:extLst>
          </p:cNvPr>
          <p:cNvSpPr>
            <a:spLocks xmlns:a="http://schemas.openxmlformats.org/drawingml/2006/main" noGrp="1"/>
          </p:cNvSpPr>
          <p:nvPr/>
        </p:nvSpPr>
        <p:spPr>
          <a:xfrm xmlns:a="http://schemas.openxmlformats.org/drawingml/2006/main">
            <a:off x="6096000" y="4705350"/>
            <a:ext cx="5238750" cy="1352550"/>
          </a:xfrm>
          <a:prstGeom xmlns:a="http://schemas.openxmlformats.org/drawingml/2006/main" prst="roundRect">
            <a:avLst>
              <a:gd name="adj" fmla="val 8451"/>
            </a:avLst>
          </a:prstGeom>
          <a:solidFill xmlns:a="http://schemas.openxmlformats.org/drawingml/2006/main">
            <a:srgbClr val="113646"/>
          </a:solidFill>
          <a:ln xmlns:a="http://schemas.openxmlformats.org/drawingml/2006/main" w="9525">
            <a:solidFill>
              <a:srgbClr val="31505F"/>
            </a:solidFill>
            <a:prstDash val="solid"/>
          </a:ln>
        </p:spPr>
      </p:sp>
      <p:sp>
        <p:nvSpPr>
          <p:cNvPr id="21" name="">
            <a:extLst xmlns:a="http://schemas.openxmlformats.org/drawingml/2006/main">
              <a:ext uri="{FF2B5EF4-FFF2-40B4-BE49-F238E27FC236}">
                <a16:creationId xmlns:a16="http://schemas.microsoft.com/office/drawing/2014/main" id="{61677461-C19B-455E-82D7-E43777216BFF}"/>
              </a:ext>
            </a:extLst>
          </p:cNvPr>
          <p:cNvSpPr>
            <a:spLocks xmlns:a="http://schemas.openxmlformats.org/drawingml/2006/main" noGrp="1"/>
          </p:cNvSpPr>
          <p:nvPr/>
        </p:nvSpPr>
        <p:spPr>
          <a:xfrm xmlns:a="http://schemas.openxmlformats.org/drawingml/2006/main">
            <a:off x="6305550" y="4876800"/>
            <a:ext cx="481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E2AD2B"/>
                </a:solidFill>
                <a:latin typeface="Arial"/>
                <a:ea typeface="Arial"/>
                <a:cs typeface="Arial"/>
              </a:defRPr>
            </a:defPPr>
          </a:lstStyle>
          <a:p xmlns:a="http://schemas.openxmlformats.org/drawingml/2006/main">
            <a:pPr algn="l">
              <a:defRPr sz="1500" b="1">
                <a:solidFill>
                  <a:srgbClr val="E2AD2B"/>
                </a:solidFill>
                <a:latin typeface="Arial"/>
                <a:ea typeface="Arial"/>
                <a:cs typeface="Arial"/>
              </a:defRPr>
            </a:pPr>
            <a:r>
              <a:rPr sz="1500" b="1">
                <a:solidFill>
                  <a:srgbClr val="E2AD2B"/>
                </a:solidFill>
                <a:latin typeface="Arial"/>
                <a:ea typeface="Arial"/>
                <a:cs typeface="Arial"/>
              </a:rPr>
              <a:t>What is next?</a:t>
            </a:r>
          </a:p>
        </p:txBody>
      </p:sp>
      <p:sp>
        <p:nvSpPr>
          <p:cNvPr id="22" name="">
            <a:extLst xmlns:a="http://schemas.openxmlformats.org/drawingml/2006/main">
              <a:ext uri="{FF2B5EF4-FFF2-40B4-BE49-F238E27FC236}">
                <a16:creationId xmlns:a16="http://schemas.microsoft.com/office/drawing/2014/main" id="{73962977-AAD9-4D03-8643-40025B67AAB4}"/>
              </a:ext>
            </a:extLst>
          </p:cNvPr>
          <p:cNvSpPr>
            <a:spLocks xmlns:a="http://schemas.openxmlformats.org/drawingml/2006/main" noGrp="1"/>
          </p:cNvSpPr>
          <p:nvPr/>
        </p:nvSpPr>
        <p:spPr>
          <a:xfrm xmlns:a="http://schemas.openxmlformats.org/drawingml/2006/main">
            <a:off x="6305550" y="5238750"/>
            <a:ext cx="4819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a:solidFill>
                  <a:srgbClr val="F3F6F2"/>
                </a:solidFill>
                <a:latin typeface="Arial"/>
                <a:ea typeface="Arial"/>
                <a:cs typeface="Arial"/>
              </a:defRPr>
            </a:defPPr>
          </a:lstStyle>
          <a:p xmlns:a="http://schemas.openxmlformats.org/drawingml/2006/main">
            <a:pPr algn="l">
              <a:defRPr sz="1125">
                <a:solidFill>
                  <a:srgbClr val="F3F6F2"/>
                </a:solidFill>
                <a:latin typeface="Arial"/>
                <a:ea typeface="Arial"/>
                <a:cs typeface="Arial"/>
              </a:defRPr>
            </a:pPr>
            <a:r>
              <a:rPr sz="1125">
                <a:solidFill>
                  <a:srgbClr val="F3F6F2"/>
                </a:solidFill>
                <a:latin typeface="Arial"/>
                <a:ea typeface="Arial"/>
                <a:cs typeface="Arial"/>
              </a:rPr>
              <a:t>User interviews, top-five field checks, local constraints, updated weights and a repeatable test in another Riyadh area.</a:t>
            </a:r>
          </a:p>
        </p:txBody>
      </p:sp>
      <p:sp>
        <p:nvSpPr>
          <p:cNvPr id="23" name="">
            <a:extLst xmlns:a="http://schemas.openxmlformats.org/drawingml/2006/main">
              <a:ext uri="{FF2B5EF4-FFF2-40B4-BE49-F238E27FC236}">
                <a16:creationId xmlns:a16="http://schemas.microsoft.com/office/drawing/2014/main" id="{75EE4382-3D46-4B93-B551-DA75A00168B0}"/>
              </a:ext>
            </a:extLst>
          </p:cNvPr>
          <p:cNvSpPr>
            <a:spLocks xmlns:a="http://schemas.openxmlformats.org/drawingml/2006/main" noGrp="1"/>
          </p:cNvSpPr>
          <p:nvPr/>
        </p:nvSpPr>
        <p:spPr>
          <a:xfrm xmlns:a="http://schemas.openxmlformats.org/drawingml/2006/main">
            <a:off x="590550" y="6543675"/>
            <a:ext cx="781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675" b="1">
                <a:solidFill>
                  <a:srgbClr val="AFC4C6"/>
                </a:solidFill>
                <a:latin typeface="Arial"/>
                <a:ea typeface="Arial"/>
                <a:cs typeface="Arial"/>
              </a:defRPr>
            </a:defPPr>
          </a:lstStyle>
          <a:p xmlns:a="http://schemas.openxmlformats.org/drawingml/2006/main">
            <a:pPr algn="l">
              <a:defRPr sz="675" b="1">
                <a:solidFill>
                  <a:srgbClr val="AFC4C6"/>
                </a:solidFill>
                <a:latin typeface="Arial"/>
                <a:ea typeface="Arial"/>
                <a:cs typeface="Arial"/>
              </a:defRPr>
            </a:pPr>
            <a:r>
              <a:rPr sz="675" b="1">
                <a:solidFill>
                  <a:srgbClr val="AFC4C6"/>
                </a:solidFill>
                <a:latin typeface="Arial"/>
                <a:ea typeface="Arial"/>
                <a:cs typeface="Arial"/>
              </a:rPr>
              <a:t>APPENDIX  •  MILKAHOLICS  •  ARAB YOUTH SPACE HACKATHON: 813 CHALLENGE</a:t>
            </a:r>
          </a:p>
        </p:txBody>
      </p:sp>
    </p:spTree>
    <p:extLst>
      <p:ext uri="{BB962C8B-B14F-4D97-AF65-F5344CB8AC3E}">
        <p14:creationId xmlns:p14="http://schemas.microsoft.com/office/powerpoint/2010/main" val="346028503"/>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2026-10-16T13:25:31.4000000Z</dcterms:created>
  <dcterms:modified xsi:type="dcterms:W3CDTF">2026-10-16T13:25:31.4000000Z</dcterms:modified>
</coreProperties>
</file>