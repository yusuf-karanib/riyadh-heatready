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484067ec1840cd" /><Relationship Type="http://schemas.openxmlformats.org/officeDocument/2006/relationships/extended-properties" Target="/docProps/app.xml" Id="R10f0cadb381b4c52" /><Relationship Type="http://schemas.openxmlformats.org/officeDocument/2006/relationships/officeDocument" Target="/ppt/presentation.xml" Id="Rf276be5c2d344da5" /></Relationships>
</file>

<file path=ppt/presentation.xml><?xml version="1.0" encoding="utf-8"?>
<p:presentation xmlns:p="http://schemas.openxmlformats.org/presentationml/2006/main">
  <p:sldMasterIdLst>
    <p:sldMasterId xmlns:r="http://schemas.openxmlformats.org/officeDocument/2006/relationships" id="2147483648" r:id="R8945934541b84cfc"/>
  </p:sldMasterIdLst>
  <p:notesMasterIdLst>
    <p:notesMasterId xmlns:r="http://schemas.openxmlformats.org/officeDocument/2006/relationships" r:id="R1ddf91ddcaad4474"/>
  </p:notesMasterIdLst>
  <p:sldIdLst>
    <p:sldId xmlns:r="http://schemas.openxmlformats.org/officeDocument/2006/relationships" id="256" r:id="Ra2d09033b24f4055"/>
    <p:sldId xmlns:r="http://schemas.openxmlformats.org/officeDocument/2006/relationships" id="257" r:id="R811bcc1e05264a8c"/>
    <p:sldId xmlns:r="http://schemas.openxmlformats.org/officeDocument/2006/relationships" id="258" r:id="Rac63e76ab27f4b76"/>
    <p:sldId xmlns:r="http://schemas.openxmlformats.org/officeDocument/2006/relationships" id="259" r:id="R3fb79476953444d0"/>
    <p:sldId xmlns:r="http://schemas.openxmlformats.org/officeDocument/2006/relationships" id="260" r:id="R0367a906fbd14b1d"/>
    <p:sldId xmlns:r="http://schemas.openxmlformats.org/officeDocument/2006/relationships" id="261" r:id="Re374bcbec9ab41ff"/>
    <p:sldId xmlns:r="http://schemas.openxmlformats.org/officeDocument/2006/relationships" id="262" r:id="Rcbc876162fb04f4f"/>
    <p:sldId xmlns:r="http://schemas.openxmlformats.org/officeDocument/2006/relationships" id="263" r:id="Rf278fe6c221f46d3"/>
    <p:sldId xmlns:r="http://schemas.openxmlformats.org/officeDocument/2006/relationships" id="264" r:id="Re592197c74bf4209"/>
    <p:sldId xmlns:r="http://schemas.openxmlformats.org/officeDocument/2006/relationships" id="265" r:id="Rc79b04e1900a41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72fe5e302f4a3e" /><Relationship Type="http://schemas.openxmlformats.org/officeDocument/2006/relationships/slideMaster" Target="/ppt/slideMasters/slideMaster1.xml" Id="R8945934541b84cfc" /><Relationship Type="http://schemas.openxmlformats.org/officeDocument/2006/relationships/notesMaster" Target="/ppt/notesMasters/notesMaster1.xml" Id="R1ddf91ddcaad4474" /><Relationship Type="http://schemas.openxmlformats.org/officeDocument/2006/relationships/presProps" Target="/ppt/presProps.xml" Id="R71d87a18c1094490" /><Relationship Type="http://schemas.openxmlformats.org/officeDocument/2006/relationships/tableStyles" Target="/ppt/tableStyles.xml" Id="R6a6c51fd01ce4484" /><Relationship Type="http://schemas.openxmlformats.org/officeDocument/2006/relationships/slide" Target="/ppt/slides/slide1.xml" Id="Ra2d09033b24f4055" /><Relationship Type="http://schemas.openxmlformats.org/officeDocument/2006/relationships/slide" Target="/ppt/slides/slide2.xml" Id="R811bcc1e05264a8c" /><Relationship Type="http://schemas.openxmlformats.org/officeDocument/2006/relationships/slide" Target="/ppt/slides/slide3.xml" Id="Rac63e76ab27f4b76" /><Relationship Type="http://schemas.openxmlformats.org/officeDocument/2006/relationships/slide" Target="/ppt/slides/slide4.xml" Id="R3fb79476953444d0" /><Relationship Type="http://schemas.openxmlformats.org/officeDocument/2006/relationships/slide" Target="/ppt/slides/slide5.xml" Id="R0367a906fbd14b1d" /><Relationship Type="http://schemas.openxmlformats.org/officeDocument/2006/relationships/slide" Target="/ppt/slides/slide6.xml" Id="Re374bcbec9ab41ff" /><Relationship Type="http://schemas.openxmlformats.org/officeDocument/2006/relationships/slide" Target="/ppt/slides/slide7.xml" Id="Rcbc876162fb04f4f" /><Relationship Type="http://schemas.openxmlformats.org/officeDocument/2006/relationships/slide" Target="/ppt/slides/slide8.xml" Id="Rf278fe6c221f46d3" /><Relationship Type="http://schemas.openxmlformats.org/officeDocument/2006/relationships/slide" Target="/ppt/slides/slide9.xml" Id="Re592197c74bf4209" /><Relationship Type="http://schemas.openxmlformats.org/officeDocument/2006/relationships/slide" Target="/ppt/slides/slide10.xml" Id="Rc79b04e1900a41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810178edab43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984831ad9044c2" /><Relationship Type="http://schemas.openxmlformats.org/officeDocument/2006/relationships/notesMaster" Target="/ppt/notesMasters/notesMaster1.xml" Id="R927531ff65ac41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6d51a6f64f445a" /><Relationship Type="http://schemas.openxmlformats.org/officeDocument/2006/relationships/notesMaster" Target="/ppt/notesMasters/notesMaster1.xml" Id="R69f5e5fa71b849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dfa76bbbbc443b" /><Relationship Type="http://schemas.openxmlformats.org/officeDocument/2006/relationships/notesMaster" Target="/ppt/notesMasters/notesMaster1.xml" Id="R3dedf7c142ca45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ccac28e6ff41c2" /><Relationship Type="http://schemas.openxmlformats.org/officeDocument/2006/relationships/notesMaster" Target="/ppt/notesMasters/notesMaster1.xml" Id="Rc96488f8436d44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789239cdf141a5" /><Relationship Type="http://schemas.openxmlformats.org/officeDocument/2006/relationships/notesMaster" Target="/ppt/notesMasters/notesMaster1.xml" Id="Rf04766dfb05444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f316e915cd4473" /><Relationship Type="http://schemas.openxmlformats.org/officeDocument/2006/relationships/notesMaster" Target="/ppt/notesMasters/notesMaster1.xml" Id="Rc501aac5995c4c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6e564a30884c30" /><Relationship Type="http://schemas.openxmlformats.org/officeDocument/2006/relationships/notesMaster" Target="/ppt/notesMasters/notesMaster1.xml" Id="R72702c1fd04741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5be601281743d5" /><Relationship Type="http://schemas.openxmlformats.org/officeDocument/2006/relationships/notesMaster" Target="/ppt/notesMasters/notesMaster1.xml" Id="Rd3d4fe9057b040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7583a5364f4966" /><Relationship Type="http://schemas.openxmlformats.org/officeDocument/2006/relationships/notesMaster" Target="/ppt/notesMasters/notesMaster1.xml" Id="R940a15d59fa1461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d73258ddef43e4" /><Relationship Type="http://schemas.openxmlformats.org/officeDocument/2006/relationships/notesMaster" Target="/ppt/notesMasters/notesMaster1.xml" Id="Reb0be147ce4d42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 Yusuf - 0:00 to 0:35</a:t>
            </a:r>
          </a:p>
          <a:p xmlns:a="http://schemas.openxmlformats.org/drawingml/2006/main">
            <a:r>
              <a:t/>
            </a:r>
          </a:p>
          <a:p xmlns:a="http://schemas.openxmlformats.org/drawingml/2006/main">
            <a:r>
              <a:t>&gt; Hello, we're Team Milkaholics. I'm Yusuf Karanib, an early-career AI and cloud developer based in the UAE. I lead the project and will show the data and result. Raed Mardoum is a Computer Engineering student at AUS, specialising in AI and machine learning. He will explain the validation and our proposed city test.</a:t>
            </a:r>
          </a:p>
          <a:p xmlns:a="http://schemas.openxmlformats.org/drawingml/2006/main">
            <a:br/>
            <a:br/>
            <a:r>
              <a:t>Raed biography supplied by Yusuf on 26 October 2026. The confirmed organiser email of 26 October requires the team introduction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 Yusuf - 0:35 to 0:50</a:t>
            </a:r>
          </a:p>
          <a:p xmlns:a="http://schemas.openxmlformats.org/drawingml/2006/main">
            <a:r>
              <a:t/>
            </a:r>
          </a:p>
          <a:p xmlns:a="http://schemas.openxmlformats.org/drawingml/2006/main">
            <a:r>
              <a:t>&gt; Our project is Riyadh HeatReady. We worked on one question: if a planning team can visit only a few areas, where should it 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 Yusuf - 0:50 to 1:20</a:t>
            </a:r>
          </a:p>
          <a:p xmlns:a="http://schemas.openxmlformats.org/drawingml/2006/main">
            <a:r>
              <a:t/>
            </a:r>
          </a:p>
          <a:p xmlns:a="http://schemas.openxmlformats.org/drawingml/2006/main">
            <a:r>
              <a:t>&gt; We focused on 168 square kilometres in southeast Riyadh. A planner may need to compare separate maps of growth, surface heat, population and vegetation before choosing where to visit. HeatReady brings these together and ranks one-kilometre areas. The result gives the team a starting point for inspection. Local staff still decide what the area needs after checking conditions on the ground.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 Yusuf - 1:20 to 2:45</a:t>
            </a:r>
          </a:p>
          <a:p xmlns:a="http://schemas.openxmlformats.org/drawingml/2006/main">
            <a:r>
              <a:t/>
            </a:r>
          </a:p>
          <a:p xmlns:a="http://schemas.openxmlformats.org/drawingml/2006/main">
            <a:r>
              <a:t>&gt; Here is the result. Our stricter checks retained 3.74 square kilometres of possible built-up growth. Sixty-seven cells met the ranking rules, and fourteen received the High label. R05C10 came first at about 78.7 points. The chart shows how heat, population, growth and vegetation each contribute to a score.</a:t>
            </a:r>
          </a:p>
          <a:p xmlns:a="http://schemas.openxmlformats.org/drawingml/2006/main">
            <a:r>
              <a:t/>
            </a:r>
          </a:p>
          <a:p xmlns:a="http://schemas.openxmlformats.org/drawingml/2006/main">
            <a:r>
              <a:t>Open `outputs/dashboard.html`, already at Decision output. Keep the demonstration to about 25-30 seconds.</a:t>
            </a:r>
          </a:p>
          <a:p xmlns:a="http://schemas.openxmlformats.org/drawingml/2006/main">
            <a:r>
              <a:t/>
            </a:r>
          </a:p>
          <a:p xmlns:a="http://schemas.openxmlformats.org/drawingml/2006/main">
            <a:r>
              <a:t>&gt; This is the working report. Here is the ranked map, and here is the table with R05C10 at the top. The repository also contains the results as a spreadsheet table and GIS files.</a:t>
            </a:r>
          </a:p>
          <a:p xmlns:a="http://schemas.openxmlformats.org/drawingml/2006/main">
            <a:r>
              <a:t/>
            </a:r>
          </a:p>
          <a:p xmlns:a="http://schemas.openxmlformats.org/drawingml/2006/main">
            <a:r>
              <a:t>Return to slide 4.</a:t>
            </a:r>
          </a:p>
          <a:p xmlns:a="http://schemas.openxmlformats.org/drawingml/2006/main">
            <a:r>
              <a:t/>
            </a:r>
          </a:p>
          <a:p xmlns:a="http://schemas.openxmlformats.org/drawingml/2006/main">
            <a:r>
              <a:t>&gt; A high score is a reason to inspect an area early. The inspection determines what action makes sense there.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 Yusuf - 2:45 to 3:45</a:t>
            </a:r>
          </a:p>
          <a:p xmlns:a="http://schemas.openxmlformats.org/drawingml/2006/main">
            <a:r>
              <a:t/>
            </a:r>
          </a:p>
          <a:p xmlns:a="http://schemas.openxmlformats.org/drawingml/2006/main">
            <a:r>
              <a:t>&gt; Each dataset had a job. Annual land-cover maps flagged possible growth from 2018 to 2023. Sentinel-2 optical data and Sentinel-1 radar checked whether those places looked built-up in 2025 and had become more built-like since 2018. That narrowed 13.82 square kilometres to 3.74.</a:t>
            </a:r>
          </a:p>
          <a:p xmlns:a="http://schemas.openxmlformats.org/drawingml/2006/main">
            <a:r>
              <a:t/>
            </a:r>
          </a:p>
          <a:p xmlns:a="http://schemas.openxmlformats.org/drawingml/2006/main">
            <a:r>
              <a:t>&gt; Landsat supplied surface temperature. WorldPop supplied estimated population, and Sentinel-2 supplied vegetation. We ranked the cells using 40 percent heat, 30 percent population, 20 percent growth and 10 percent low vegetation. Those weights are starting choices for the proof of concept. Tanager added a separate check on desert confusion. Raed will explain what the tests tell us.</a:t>
            </a:r>
          </a:p>
          <a:p xmlns:a="http://schemas.openxmlformats.org/drawingml/2006/main">
            <a:r>
              <a:t/>
            </a:r>
          </a:p>
          <a:p xmlns:a="http://schemas.openxmlformats.org/drawingml/2006/main">
            <a:r>
              <a:t>Change to slide 6 and let Raed begin.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 Raed - 3:45 to 4:45</a:t>
            </a:r>
          </a:p>
          <a:p xmlns:a="http://schemas.openxmlformats.org/drawingml/2006/main">
            <a:r>
              <a:t/>
            </a:r>
          </a:p>
          <a:p xmlns:a="http://schemas.openxmlformats.org/drawingml/2006/main">
            <a:r>
              <a:t>&gt; Thank you, Yusuf. I'm Raed Mardoum. We tested the built-up model on the eastern part of the area, away from its training data. Against ESA WorldCover, it reached F1 of 0.88, overlap of 0.78 and balanced accuracy of 0.89.</a:t>
            </a:r>
          </a:p>
          <a:p xmlns:a="http://schemas.openxmlformats.org/drawingml/2006/main">
            <a:r>
              <a:t/>
            </a:r>
          </a:p>
          <a:p xmlns:a="http://schemas.openxmlformats.org/drawingml/2006/main">
            <a:r>
              <a:t>&gt; Those numbers show agreement with a satellite reference. Field checks are still needed. They also test the built-up model, rather than the usefulness of the final ranking. Surface temperature differs from air temperature, and WorldPop is an estimate. Desert surfaces can still confuse the model. These are reasons to check the suggested areas locally.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 Raed - 4:45 to 5:30</a:t>
            </a:r>
          </a:p>
          <a:p xmlns:a="http://schemas.openxmlformats.org/drawingml/2006/main">
            <a:r>
              <a:t/>
            </a:r>
          </a:p>
          <a:p xmlns:a="http://schemas.openxmlformats.org/drawingml/2006/main">
            <a:r>
              <a:t>&gt; We used more than one source because bright desert can resemble built land. Annual maps flag possible change, and optical and radar measurements check those places. In our Tanager comparison, likely-unbuilt ground had a higher median built-up index than established buildings. That shows why one threshold can mislead us here. The final score also shows its four parts, so a planner can see why an area ranks highly.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 Raed - 5:30 to 6:15</a:t>
            </a:r>
          </a:p>
          <a:p xmlns:a="http://schemas.openxmlformats.org/drawingml/2006/main">
            <a:r>
              <a:t/>
            </a:r>
          </a:p>
          <a:p xmlns:a="http://schemas.openxmlformats.org/drawingml/2006/main">
            <a:r>
              <a:t>&gt; Next, we would ask planners and GIS staff how they choose inspection areas today. They would check our top five against local plans and visits to the area. We would record useful findings, false alarms and the time taken. Then we would adjust the weights and add missing local information, such as worker exposure. Finally, we would repeat the test in another part of Riyadh. That would tell us whether HeatReady saves staff time and gives them useful places to inspect. Thank you. We're ready for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Open if a judge asks for exact source dates, roles or licences.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Use for questions about leakage, train-test geography, annual trend uncertainty or the difference between satellite agreement and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e744c3c2d146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c943d56e2aa47a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c91e07b1f144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c42356832a4c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7498e944a94a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5d3ef29d4a4f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910520-6BAD-4C5F-8785-12402504F0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CCCA530-3E25-42F2-B8F1-C6A3C6EC9B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FA8B9B-372C-4ADC-93E9-C73FF5E34E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358748-5826-49DF-96DE-F313D8BEE7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FA2CEE-1EDA-4E7A-9D6F-ABADA9FA53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093011-8CA6-4AD1-81D0-68CE197915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C3472C-0CE9-4E0C-BFB4-902E59DA8E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A5598A-EBFF-4606-80BD-6A14BB7133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98C279-F1D3-4367-AF25-8617270372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2302A9-A652-4742-B80F-7CCC819650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e5955856b14c19" /><Relationship Type="http://schemas.openxmlformats.org/officeDocument/2006/relationships/slideLayout" Target="/ppt/slideLayouts/slideLayout1.xml" Id="R7a4debc2e6634658" /><Relationship Type="http://schemas.openxmlformats.org/officeDocument/2006/relationships/slideLayout" Target="/ppt/slideLayouts/slideLayout2.xml" Id="R6090839a304e4177" /><Relationship Type="http://schemas.openxmlformats.org/officeDocument/2006/relationships/slideLayout" Target="/ppt/slideLayouts/slideLayout3.xml" Id="R24bfb6e7f60d495d" /><Relationship Type="http://schemas.openxmlformats.org/officeDocument/2006/relationships/slideLayout" Target="/ppt/slideLayouts/slideLayout4.xml" Id="R52ac12fe4ad14bdb" /><Relationship Type="http://schemas.openxmlformats.org/officeDocument/2006/relationships/slideLayout" Target="/ppt/slideLayouts/slideLayout5.xml" Id="Rb5d2083a779840bd" /><Relationship Type="http://schemas.openxmlformats.org/officeDocument/2006/relationships/slideLayout" Target="/ppt/slideLayouts/slideLayout6.xml" Id="Rcb7c6b8c8be141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4debc2e6634658"/>
    <p:sldLayoutId xmlns:r="http://schemas.openxmlformats.org/officeDocument/2006/relationships" id="2147483650" r:id="R6090839a304e4177"/>
    <p:sldLayoutId xmlns:r="http://schemas.openxmlformats.org/officeDocument/2006/relationships" id="2147483651" r:id="R24bfb6e7f60d495d"/>
    <p:sldLayoutId xmlns:r="http://schemas.openxmlformats.org/officeDocument/2006/relationships" id="2147483652" r:id="R52ac12fe4ad14bdb"/>
    <p:sldLayoutId xmlns:r="http://schemas.openxmlformats.org/officeDocument/2006/relationships" id="2147483653" r:id="Rb5d2083a779840bd"/>
    <p:sldLayoutId xmlns:r="http://schemas.openxmlformats.org/officeDocument/2006/relationships" id="2147483654" r:id="Rcb7c6b8c8be141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a691c1968e94fab" /><Relationship Type="http://schemas.openxmlformats.org/officeDocument/2006/relationships/image" Target="/ppt/media/image.png" Id="Ra7a203a1f08d46fc" /><Relationship Type="http://schemas.openxmlformats.org/officeDocument/2006/relationships/image" Target="/ppt/media/image2.png" Id="R6fe7b20c229c45ce" /><Relationship Type="http://schemas.openxmlformats.org/officeDocument/2006/relationships/notesSlide" Target="/ppt/notesSlides/notesSlide1.xml" Id="R8e1130cbb13045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7520e01f91c4f53" /><Relationship Type="http://schemas.openxmlformats.org/officeDocument/2006/relationships/image" Target="/ppt/media/image3.png" Id="R7e9650f154774733" /><Relationship Type="http://schemas.openxmlformats.org/officeDocument/2006/relationships/notesSlide" Target="/ppt/notesSlides/notesSlide2.xml" Id="Rb11befc9bd3c48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757595d38a43f7" /><Relationship Type="http://schemas.openxmlformats.org/officeDocument/2006/relationships/notesSlide" Target="/ppt/notesSlides/notesSlide3.xml" Id="R116ba7d59a0149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86e3f7466940e1" /><Relationship Type="http://schemas.openxmlformats.org/officeDocument/2006/relationships/image" Target="/ppt/media/image4.png" Id="Rb81bdd1b0b04421f" /><Relationship Type="http://schemas.openxmlformats.org/officeDocument/2006/relationships/image" Target="/ppt/media/image5.png" Id="R10dd0753409146f5" /><Relationship Type="http://schemas.openxmlformats.org/officeDocument/2006/relationships/notesSlide" Target="/ppt/notesSlides/notesSlide4.xml" Id="R42aac49d4a4740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9d7ae2e2b034dfd" /><Relationship Type="http://schemas.openxmlformats.org/officeDocument/2006/relationships/image" Target="/ppt/media/image6.png" Id="R7682288bf31e4920" /><Relationship Type="http://schemas.openxmlformats.org/officeDocument/2006/relationships/notesSlide" Target="/ppt/notesSlides/notesSlide5.xml" Id="R923b19d5ea3f42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500465ffcf44bc9" /><Relationship Type="http://schemas.openxmlformats.org/officeDocument/2006/relationships/image" Target="/ppt/media/image7.png" Id="R88cbfa8641544e3c" /><Relationship Type="http://schemas.openxmlformats.org/officeDocument/2006/relationships/notesSlide" Target="/ppt/notesSlides/notesSlide6.xml" Id="Rd14eadf349fd4f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02de5dfaffc49d0" /><Relationship Type="http://schemas.openxmlformats.org/officeDocument/2006/relationships/image" Target="/ppt/media/image8.png" Id="Rf48f23a94cfb4aac" /><Relationship Type="http://schemas.openxmlformats.org/officeDocument/2006/relationships/notesSlide" Target="/ppt/notesSlides/notesSlide7.xml" Id="R84d0557c0a774a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6e72aabef184597" /><Relationship Type="http://schemas.openxmlformats.org/officeDocument/2006/relationships/notesSlide" Target="/ppt/notesSlides/notesSlide8.xml" Id="R4407803ac69a46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143883f0faa4317" /><Relationship Type="http://schemas.openxmlformats.org/officeDocument/2006/relationships/notesSlide" Target="/ppt/notesSlides/notesSlide9.xml" Id="R662c3fea81994b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91c818f077042bb" /><Relationship Type="http://schemas.openxmlformats.org/officeDocument/2006/relationships/image" Target="/ppt/media/image9.png" Id="R58c1eb7409894d6e" /><Relationship Type="http://schemas.openxmlformats.org/officeDocument/2006/relationships/notesSlide" Target="/ppt/notesSlides/notesSlide10.xml" Id="Ra6afd9d508074542" /></Relationships>
</file>

<file path=ppt/slides/slide1.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38E49A-67C8-4F77-BAC0-CD0737FBC4EE}"/>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TEAM</a:t>
            </a:r>
          </a:p>
        </p:txBody>
      </p:sp>
      <p:sp>
        <p:nvSpPr>
          <p:cNvPr id="2" name="">
            <a:extLst xmlns:a="http://schemas.openxmlformats.org/drawingml/2006/main">
              <a:ext uri="{FF2B5EF4-FFF2-40B4-BE49-F238E27FC236}">
                <a16:creationId xmlns:a16="http://schemas.microsoft.com/office/drawing/2014/main" id="{38D1438E-32EF-4853-9459-7D42EFC2EF92}"/>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Our team</a:t>
            </a:r>
          </a:p>
        </p:txBody>
      </p:sp>
      <p:sp>
        <p:nvSpPr>
          <p:cNvPr id="3" name="">
            <a:extLst xmlns:a="http://schemas.openxmlformats.org/drawingml/2006/main">
              <a:ext uri="{FF2B5EF4-FFF2-40B4-BE49-F238E27FC236}">
                <a16:creationId xmlns:a16="http://schemas.microsoft.com/office/drawing/2014/main" id="{B03F42FD-2E26-485D-B97B-2E626E753797}"/>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34065C2-1B00-4849-BDFD-973CC19F5A15}"/>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AB26CB7B-F38B-44F6-A933-D1DBAEDF8173}"/>
              </a:ext>
            </a:extLst>
          </p:cNvPr>
          <p:cNvSpPr>
            <a:spLocks xmlns:a="http://schemas.openxmlformats.org/drawingml/2006/main" noGrp="1"/>
          </p:cNvSpPr>
          <p:nvPr/>
        </p:nvSpPr>
        <p:spPr>
          <a:xfrm xmlns:a="http://schemas.openxmlformats.org/drawingml/2006/main">
            <a:off x="6096000" y="1619250"/>
            <a:ext cx="9525" cy="39052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79D2D177-5CC1-40AA-ADC9-4454CA6C7E49}"/>
              </a:ext>
            </a:extLst>
          </p:cNvPr>
          <p:cNvSpPr>
            <a:spLocks xmlns:a="http://schemas.openxmlformats.org/drawingml/2006/main" noGrp="1"/>
          </p:cNvSpPr>
          <p:nvPr/>
        </p:nvSpPr>
        <p:spPr>
          <a:xfrm xmlns:a="http://schemas.openxmlformats.org/drawingml/2006/main">
            <a:off x="2952750" y="161925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250" b="1">
                <a:solidFill>
                  <a:srgbClr val="F3F6F2"/>
                </a:solidFill>
                <a:latin typeface="Arial"/>
                <a:ea typeface="Arial"/>
                <a:cs typeface="Arial"/>
              </a:defRPr>
            </a:defPPr>
            <a:lvl1pPr algn="l">
              <a:buNone/>
              <a:defRPr sz="2325" b="1">
                <a:solidFill>
                  <a:srgbClr val="F3F6F2"/>
                </a:solidFill>
                <a:latin typeface="Arial"/>
                <a:ea typeface="Arial"/>
                <a:cs typeface="Arial"/>
              </a:defRPr>
            </a:lvl1pPr>
            <a:lvl2pPr algn="l">
              <a:buNone/>
              <a:defRPr sz="2325" b="1">
                <a:solidFill>
                  <a:srgbClr val="F3F6F2"/>
                </a:solidFill>
                <a:latin typeface="Arial"/>
                <a:ea typeface="Arial"/>
                <a:cs typeface="Arial"/>
              </a:defRPr>
            </a:lvl2pPr>
            <a:lvl3pPr algn="l">
              <a:buNone/>
              <a:defRPr sz="2325" b="1">
                <a:solidFill>
                  <a:srgbClr val="F3F6F2"/>
                </a:solidFill>
                <a:latin typeface="Arial"/>
                <a:ea typeface="Arial"/>
                <a:cs typeface="Arial"/>
              </a:defRPr>
            </a:lvl3pPr>
            <a:lvl4pPr algn="l">
              <a:buNone/>
              <a:defRPr sz="2325" b="1">
                <a:solidFill>
                  <a:srgbClr val="F3F6F2"/>
                </a:solidFill>
                <a:latin typeface="Arial"/>
                <a:ea typeface="Arial"/>
                <a:cs typeface="Arial"/>
              </a:defRPr>
            </a:lvl4pPr>
            <a:lvl5pPr algn="l">
              <a:buNone/>
              <a:defRPr sz="2325" b="1">
                <a:solidFill>
                  <a:srgbClr val="F3F6F2"/>
                </a:solidFill>
                <a:latin typeface="Arial"/>
                <a:ea typeface="Arial"/>
                <a:cs typeface="Arial"/>
              </a:defRPr>
            </a:lvl5pPr>
            <a:lvl6pPr algn="l">
              <a:buNone/>
              <a:defRPr sz="2325" b="1">
                <a:solidFill>
                  <a:srgbClr val="F3F6F2"/>
                </a:solidFill>
                <a:latin typeface="Arial"/>
                <a:ea typeface="Arial"/>
                <a:cs typeface="Arial"/>
              </a:defRPr>
            </a:lvl6pPr>
            <a:lvl7pPr algn="l">
              <a:buNone/>
              <a:defRPr sz="2325" b="1">
                <a:solidFill>
                  <a:srgbClr val="F3F6F2"/>
                </a:solidFill>
                <a:latin typeface="Arial"/>
                <a:ea typeface="Arial"/>
                <a:cs typeface="Arial"/>
              </a:defRPr>
            </a:lvl7pPr>
            <a:lvl8pPr algn="l">
              <a:buNone/>
              <a:defRPr sz="2325" b="1">
                <a:solidFill>
                  <a:srgbClr val="F3F6F2"/>
                </a:solidFill>
                <a:latin typeface="Arial"/>
                <a:ea typeface="Arial"/>
                <a:cs typeface="Arial"/>
              </a:defRPr>
            </a:lvl8pPr>
            <a:lvl9pPr algn="l">
              <a:buNone/>
              <a:defRPr sz="2325" b="1">
                <a:solidFill>
                  <a:srgbClr val="F3F6F2"/>
                </a:solidFill>
                <a:latin typeface="Arial"/>
                <a:ea typeface="Arial"/>
                <a:cs typeface="Arial"/>
              </a:defRPr>
            </a:lvl9pPr>
          </a:lstStyle>
          <a:p xmlns:a="http://schemas.openxmlformats.org/drawingml/2006/main">
            <a:pPr algn="l">
              <a:buNone/>
              <a:defRPr sz="2250" b="1">
                <a:solidFill>
                  <a:srgbClr val="F3F6F2"/>
                </a:solidFill>
                <a:latin typeface="Arial"/>
                <a:ea typeface="Arial"/>
                <a:cs typeface="Arial"/>
              </a:defRPr>
            </a:pPr>
            <a:r>
              <a:rPr sz="2250" b="1">
                <a:solidFill>
                  <a:srgbClr val="F3F6F2"/>
                </a:solidFill>
                <a:latin typeface="Arial"/>
                <a:ea typeface="Arial"/>
                <a:cs typeface="Arial"/>
              </a:rPr>
              <a:t>Yusuf Karanib</a:t>
            </a:r>
          </a:p>
        </p:txBody>
      </p:sp>
      <p:sp>
        <p:nvSpPr>
          <p:cNvPr id="7" name="">
            <a:extLst xmlns:a="http://schemas.openxmlformats.org/drawingml/2006/main">
              <a:ext uri="{FF2B5EF4-FFF2-40B4-BE49-F238E27FC236}">
                <a16:creationId xmlns:a16="http://schemas.microsoft.com/office/drawing/2014/main" id="{BD44ED04-99DB-47DE-8723-50EBB17EE4F9}"/>
              </a:ext>
            </a:extLst>
          </p:cNvPr>
          <p:cNvSpPr>
            <a:spLocks xmlns:a="http://schemas.openxmlformats.org/drawingml/2006/main" noGrp="1"/>
          </p:cNvSpPr>
          <p:nvPr/>
        </p:nvSpPr>
        <p:spPr>
          <a:xfrm xmlns:a="http://schemas.openxmlformats.org/drawingml/2006/main">
            <a:off x="2952750" y="35242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vl1pPr algn="l">
              <a:buNone/>
              <a:defRPr sz="1425" b="1">
                <a:solidFill>
                  <a:srgbClr val="1AA58F"/>
                </a:solidFill>
                <a:latin typeface="Arial"/>
                <a:ea typeface="Arial"/>
                <a:cs typeface="Arial"/>
              </a:defRPr>
            </a:lvl1pPr>
            <a:lvl2pPr algn="l">
              <a:buNone/>
              <a:defRPr sz="1425" b="1">
                <a:solidFill>
                  <a:srgbClr val="1AA58F"/>
                </a:solidFill>
                <a:latin typeface="Arial"/>
                <a:ea typeface="Arial"/>
                <a:cs typeface="Arial"/>
              </a:defRPr>
            </a:lvl2pPr>
            <a:lvl3pPr algn="l">
              <a:buNone/>
              <a:defRPr sz="1425" b="1">
                <a:solidFill>
                  <a:srgbClr val="1AA58F"/>
                </a:solidFill>
                <a:latin typeface="Arial"/>
                <a:ea typeface="Arial"/>
                <a:cs typeface="Arial"/>
              </a:defRPr>
            </a:lvl3pPr>
            <a:lvl4pPr algn="l">
              <a:buNone/>
              <a:defRPr sz="1425" b="1">
                <a:solidFill>
                  <a:srgbClr val="1AA58F"/>
                </a:solidFill>
                <a:latin typeface="Arial"/>
                <a:ea typeface="Arial"/>
                <a:cs typeface="Arial"/>
              </a:defRPr>
            </a:lvl4pPr>
            <a:lvl5pPr algn="l">
              <a:buNone/>
              <a:defRPr sz="1425" b="1">
                <a:solidFill>
                  <a:srgbClr val="1AA58F"/>
                </a:solidFill>
                <a:latin typeface="Arial"/>
                <a:ea typeface="Arial"/>
                <a:cs typeface="Arial"/>
              </a:defRPr>
            </a:lvl5pPr>
            <a:lvl6pPr algn="l">
              <a:buNone/>
              <a:defRPr sz="1425" b="1">
                <a:solidFill>
                  <a:srgbClr val="1AA58F"/>
                </a:solidFill>
                <a:latin typeface="Arial"/>
                <a:ea typeface="Arial"/>
                <a:cs typeface="Arial"/>
              </a:defRPr>
            </a:lvl6pPr>
            <a:lvl7pPr algn="l">
              <a:buNone/>
              <a:defRPr sz="1425" b="1">
                <a:solidFill>
                  <a:srgbClr val="1AA58F"/>
                </a:solidFill>
                <a:latin typeface="Arial"/>
                <a:ea typeface="Arial"/>
                <a:cs typeface="Arial"/>
              </a:defRPr>
            </a:lvl7pPr>
            <a:lvl8pPr algn="l">
              <a:buNone/>
              <a:defRPr sz="1425" b="1">
                <a:solidFill>
                  <a:srgbClr val="1AA58F"/>
                </a:solidFill>
                <a:latin typeface="Arial"/>
                <a:ea typeface="Arial"/>
                <a:cs typeface="Arial"/>
              </a:defRPr>
            </a:lvl8pPr>
            <a:lvl9pPr algn="l">
              <a:buNone/>
              <a:defRPr sz="1425" b="1">
                <a:solidFill>
                  <a:srgbClr val="1AA58F"/>
                </a:solidFill>
                <a:latin typeface="Arial"/>
                <a:ea typeface="Arial"/>
                <a:cs typeface="Arial"/>
              </a:defRPr>
            </a:lvl9pPr>
          </a:lstStyle>
          <a:p xmlns:a="http://schemas.openxmlformats.org/drawingml/2006/main">
            <a:pPr algn="l">
              <a:buNone/>
              <a:defRPr sz="1350" b="1">
                <a:solidFill>
                  <a:srgbClr val="1AA58F"/>
                </a:solidFill>
                <a:latin typeface="Arial"/>
                <a:ea typeface="Arial"/>
                <a:cs typeface="Arial"/>
              </a:defRPr>
            </a:pPr>
            <a:r>
              <a:rPr sz="1350" b="1">
                <a:solidFill>
                  <a:srgbClr val="1AA58F"/>
                </a:solidFill>
                <a:latin typeface="Arial"/>
                <a:ea typeface="Arial"/>
                <a:cs typeface="Arial"/>
              </a:rPr>
              <a:t>Project lead and demo</a:t>
            </a:r>
          </a:p>
        </p:txBody>
      </p:sp>
      <p:sp>
        <p:nvSpPr>
          <p:cNvPr id="8" name="">
            <a:extLst xmlns:a="http://schemas.openxmlformats.org/drawingml/2006/main">
              <a:ext uri="{FF2B5EF4-FFF2-40B4-BE49-F238E27FC236}">
                <a16:creationId xmlns:a16="http://schemas.microsoft.com/office/drawing/2014/main" id="{A877565B-1527-4208-86E0-827C02D2C476}"/>
              </a:ext>
            </a:extLst>
          </p:cNvPr>
          <p:cNvSpPr>
            <a:spLocks xmlns:a="http://schemas.openxmlformats.org/drawingml/2006/main" noGrp="1"/>
          </p:cNvSpPr>
          <p:nvPr/>
        </p:nvSpPr>
        <p:spPr>
          <a:xfrm xmlns:a="http://schemas.openxmlformats.org/drawingml/2006/main">
            <a:off x="2952750" y="213360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650">
                <a:solidFill>
                  <a:srgbClr val="F3F6F2"/>
                </a:solidFill>
                <a:latin typeface="Arial"/>
                <a:ea typeface="Arial"/>
                <a:cs typeface="Arial"/>
              </a:defRPr>
            </a:lvl1pPr>
            <a:lvl2pPr algn="l">
              <a:buNone/>
              <a:defRPr sz="1650">
                <a:solidFill>
                  <a:srgbClr val="F3F6F2"/>
                </a:solidFill>
                <a:latin typeface="Arial"/>
                <a:ea typeface="Arial"/>
                <a:cs typeface="Arial"/>
              </a:defRPr>
            </a:lvl2pPr>
            <a:lvl3pPr algn="l">
              <a:buNone/>
              <a:defRPr sz="1650">
                <a:solidFill>
                  <a:srgbClr val="F3F6F2"/>
                </a:solidFill>
                <a:latin typeface="Arial"/>
                <a:ea typeface="Arial"/>
                <a:cs typeface="Arial"/>
              </a:defRPr>
            </a:lvl3pPr>
            <a:lvl4pPr algn="l">
              <a:buNone/>
              <a:defRPr sz="1650">
                <a:solidFill>
                  <a:srgbClr val="F3F6F2"/>
                </a:solidFill>
                <a:latin typeface="Arial"/>
                <a:ea typeface="Arial"/>
                <a:cs typeface="Arial"/>
              </a:defRPr>
            </a:lvl4pPr>
            <a:lvl5pPr algn="l">
              <a:buNone/>
              <a:defRPr sz="1650">
                <a:solidFill>
                  <a:srgbClr val="F3F6F2"/>
                </a:solidFill>
                <a:latin typeface="Arial"/>
                <a:ea typeface="Arial"/>
                <a:cs typeface="Arial"/>
              </a:defRPr>
            </a:lvl5pPr>
            <a:lvl6pPr algn="l">
              <a:buNone/>
              <a:defRPr sz="1650">
                <a:solidFill>
                  <a:srgbClr val="F3F6F2"/>
                </a:solidFill>
                <a:latin typeface="Arial"/>
                <a:ea typeface="Arial"/>
                <a:cs typeface="Arial"/>
              </a:defRPr>
            </a:lvl6pPr>
            <a:lvl7pPr algn="l">
              <a:buNone/>
              <a:defRPr sz="1650">
                <a:solidFill>
                  <a:srgbClr val="F3F6F2"/>
                </a:solidFill>
                <a:latin typeface="Arial"/>
                <a:ea typeface="Arial"/>
                <a:cs typeface="Arial"/>
              </a:defRPr>
            </a:lvl7pPr>
            <a:lvl8pPr algn="l">
              <a:buNone/>
              <a:defRPr sz="1650">
                <a:solidFill>
                  <a:srgbClr val="F3F6F2"/>
                </a:solidFill>
                <a:latin typeface="Arial"/>
                <a:ea typeface="Arial"/>
                <a:cs typeface="Arial"/>
              </a:defRPr>
            </a:lvl8pPr>
            <a:lvl9pPr algn="l">
              <a:buNone/>
              <a:defRPr sz="1650">
                <a:solidFill>
                  <a:srgbClr val="F3F6F2"/>
                </a:solidFill>
                <a:latin typeface="Arial"/>
                <a:ea typeface="Arial"/>
                <a:cs typeface="Arial"/>
              </a:defRPr>
            </a:lvl9pPr>
          </a:lstStyle>
          <a:p xmlns:a="http://schemas.openxmlformats.org/drawingml/2006/main">
            <a:pPr algn="l">
              <a:buNone/>
              <a:defRPr sz="1350">
                <a:solidFill>
                  <a:srgbClr val="F3F6F2"/>
                </a:solidFill>
                <a:latin typeface="Arial"/>
                <a:ea typeface="Arial"/>
                <a:cs typeface="Arial"/>
              </a:defRPr>
            </a:pPr>
            <a:r>
              <a:rPr sz="1350">
                <a:solidFill>
                  <a:srgbClr val="F3F6F2"/>
                </a:solidFill>
                <a:latin typeface="Arial"/>
                <a:ea typeface="Arial"/>
                <a:cs typeface="Arial"/>
              </a:rPr>
              <a:t>Early-career AI and cloud developer based in the UAE, with a background in game development and business studies in Canada.</a:t>
            </a:r>
          </a:p>
        </p:txBody>
      </p:sp>
      <p:sp>
        <p:nvSpPr>
          <p:cNvPr id="9" name="">
            <a:extLst xmlns:a="http://schemas.openxmlformats.org/drawingml/2006/main">
              <a:ext uri="{FF2B5EF4-FFF2-40B4-BE49-F238E27FC236}">
                <a16:creationId xmlns:a16="http://schemas.microsoft.com/office/drawing/2014/main" id="{AEECAE60-F9BB-4EB1-B485-2DA9F098602A}"/>
              </a:ext>
            </a:extLst>
          </p:cNvPr>
          <p:cNvSpPr>
            <a:spLocks xmlns:a="http://schemas.openxmlformats.org/drawingml/2006/main" noGrp="1"/>
          </p:cNvSpPr>
          <p:nvPr/>
        </p:nvSpPr>
        <p:spPr>
          <a:xfrm xmlns:a="http://schemas.openxmlformats.org/drawingml/2006/main">
            <a:off x="8953500" y="1619250"/>
            <a:ext cx="2647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250" b="1">
                <a:solidFill>
                  <a:srgbClr val="F3F6F2"/>
                </a:solidFill>
                <a:latin typeface="Arial"/>
                <a:ea typeface="Arial"/>
                <a:cs typeface="Arial"/>
              </a:defRPr>
            </a:defPPr>
            <a:lvl1pPr algn="l">
              <a:buNone/>
              <a:defRPr sz="2325" b="1">
                <a:solidFill>
                  <a:srgbClr val="F3F6F2"/>
                </a:solidFill>
                <a:latin typeface="Arial"/>
                <a:ea typeface="Arial"/>
                <a:cs typeface="Arial"/>
              </a:defRPr>
            </a:lvl1pPr>
            <a:lvl2pPr algn="l">
              <a:buNone/>
              <a:defRPr sz="2325" b="1">
                <a:solidFill>
                  <a:srgbClr val="F3F6F2"/>
                </a:solidFill>
                <a:latin typeface="Arial"/>
                <a:ea typeface="Arial"/>
                <a:cs typeface="Arial"/>
              </a:defRPr>
            </a:lvl2pPr>
            <a:lvl3pPr algn="l">
              <a:buNone/>
              <a:defRPr sz="2325" b="1">
                <a:solidFill>
                  <a:srgbClr val="F3F6F2"/>
                </a:solidFill>
                <a:latin typeface="Arial"/>
                <a:ea typeface="Arial"/>
                <a:cs typeface="Arial"/>
              </a:defRPr>
            </a:lvl3pPr>
            <a:lvl4pPr algn="l">
              <a:buNone/>
              <a:defRPr sz="2325" b="1">
                <a:solidFill>
                  <a:srgbClr val="F3F6F2"/>
                </a:solidFill>
                <a:latin typeface="Arial"/>
                <a:ea typeface="Arial"/>
                <a:cs typeface="Arial"/>
              </a:defRPr>
            </a:lvl4pPr>
            <a:lvl5pPr algn="l">
              <a:buNone/>
              <a:defRPr sz="2325" b="1">
                <a:solidFill>
                  <a:srgbClr val="F3F6F2"/>
                </a:solidFill>
                <a:latin typeface="Arial"/>
                <a:ea typeface="Arial"/>
                <a:cs typeface="Arial"/>
              </a:defRPr>
            </a:lvl5pPr>
            <a:lvl6pPr algn="l">
              <a:buNone/>
              <a:defRPr sz="2325" b="1">
                <a:solidFill>
                  <a:srgbClr val="F3F6F2"/>
                </a:solidFill>
                <a:latin typeface="Arial"/>
                <a:ea typeface="Arial"/>
                <a:cs typeface="Arial"/>
              </a:defRPr>
            </a:lvl6pPr>
            <a:lvl7pPr algn="l">
              <a:buNone/>
              <a:defRPr sz="2325" b="1">
                <a:solidFill>
                  <a:srgbClr val="F3F6F2"/>
                </a:solidFill>
                <a:latin typeface="Arial"/>
                <a:ea typeface="Arial"/>
                <a:cs typeface="Arial"/>
              </a:defRPr>
            </a:lvl7pPr>
            <a:lvl8pPr algn="l">
              <a:buNone/>
              <a:defRPr sz="2325" b="1">
                <a:solidFill>
                  <a:srgbClr val="F3F6F2"/>
                </a:solidFill>
                <a:latin typeface="Arial"/>
                <a:ea typeface="Arial"/>
                <a:cs typeface="Arial"/>
              </a:defRPr>
            </a:lvl8pPr>
            <a:lvl9pPr algn="l">
              <a:buNone/>
              <a:defRPr sz="2325" b="1">
                <a:solidFill>
                  <a:srgbClr val="F3F6F2"/>
                </a:solidFill>
                <a:latin typeface="Arial"/>
                <a:ea typeface="Arial"/>
                <a:cs typeface="Arial"/>
              </a:defRPr>
            </a:lvl9pPr>
          </a:lstStyle>
          <a:p xmlns:a="http://schemas.openxmlformats.org/drawingml/2006/main">
            <a:pPr algn="l">
              <a:buNone/>
              <a:defRPr sz="2250" b="1">
                <a:solidFill>
                  <a:srgbClr val="F3F6F2"/>
                </a:solidFill>
                <a:latin typeface="Arial"/>
                <a:ea typeface="Arial"/>
                <a:cs typeface="Arial"/>
              </a:defRPr>
            </a:pPr>
            <a:r>
              <a:rPr sz="2250" b="1">
                <a:solidFill>
                  <a:srgbClr val="F3F6F2"/>
                </a:solidFill>
                <a:latin typeface="Arial"/>
                <a:ea typeface="Arial"/>
                <a:cs typeface="Arial"/>
              </a:rPr>
              <a:t>Raed Mardoum</a:t>
            </a:r>
          </a:p>
        </p:txBody>
      </p:sp>
      <p:sp>
        <p:nvSpPr>
          <p:cNvPr id="10" name="">
            <a:extLst xmlns:a="http://schemas.openxmlformats.org/drawingml/2006/main">
              <a:ext uri="{FF2B5EF4-FFF2-40B4-BE49-F238E27FC236}">
                <a16:creationId xmlns:a16="http://schemas.microsoft.com/office/drawing/2014/main" id="{A3AB6684-22A0-47BD-80BD-D282C0C1280C}"/>
              </a:ext>
            </a:extLst>
          </p:cNvPr>
          <p:cNvSpPr>
            <a:spLocks xmlns:a="http://schemas.openxmlformats.org/drawingml/2006/main" noGrp="1"/>
          </p:cNvSpPr>
          <p:nvPr/>
        </p:nvSpPr>
        <p:spPr>
          <a:xfrm xmlns:a="http://schemas.openxmlformats.org/drawingml/2006/main">
            <a:off x="8953500" y="352425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vl1pPr algn="l">
              <a:buNone/>
              <a:defRPr sz="1425" b="1">
                <a:solidFill>
                  <a:srgbClr val="6D5DD3"/>
                </a:solidFill>
                <a:latin typeface="Arial"/>
                <a:ea typeface="Arial"/>
                <a:cs typeface="Arial"/>
              </a:defRPr>
            </a:lvl1pPr>
            <a:lvl2pPr algn="l">
              <a:buNone/>
              <a:defRPr sz="1425" b="1">
                <a:solidFill>
                  <a:srgbClr val="6D5DD3"/>
                </a:solidFill>
                <a:latin typeface="Arial"/>
                <a:ea typeface="Arial"/>
                <a:cs typeface="Arial"/>
              </a:defRPr>
            </a:lvl2pPr>
            <a:lvl3pPr algn="l">
              <a:buNone/>
              <a:defRPr sz="1425" b="1">
                <a:solidFill>
                  <a:srgbClr val="6D5DD3"/>
                </a:solidFill>
                <a:latin typeface="Arial"/>
                <a:ea typeface="Arial"/>
                <a:cs typeface="Arial"/>
              </a:defRPr>
            </a:lvl3pPr>
            <a:lvl4pPr algn="l">
              <a:buNone/>
              <a:defRPr sz="1425" b="1">
                <a:solidFill>
                  <a:srgbClr val="6D5DD3"/>
                </a:solidFill>
                <a:latin typeface="Arial"/>
                <a:ea typeface="Arial"/>
                <a:cs typeface="Arial"/>
              </a:defRPr>
            </a:lvl4pPr>
            <a:lvl5pPr algn="l">
              <a:buNone/>
              <a:defRPr sz="1425" b="1">
                <a:solidFill>
                  <a:srgbClr val="6D5DD3"/>
                </a:solidFill>
                <a:latin typeface="Arial"/>
                <a:ea typeface="Arial"/>
                <a:cs typeface="Arial"/>
              </a:defRPr>
            </a:lvl5pPr>
            <a:lvl6pPr algn="l">
              <a:buNone/>
              <a:defRPr sz="1425" b="1">
                <a:solidFill>
                  <a:srgbClr val="6D5DD3"/>
                </a:solidFill>
                <a:latin typeface="Arial"/>
                <a:ea typeface="Arial"/>
                <a:cs typeface="Arial"/>
              </a:defRPr>
            </a:lvl6pPr>
            <a:lvl7pPr algn="l">
              <a:buNone/>
              <a:defRPr sz="1425" b="1">
                <a:solidFill>
                  <a:srgbClr val="6D5DD3"/>
                </a:solidFill>
                <a:latin typeface="Arial"/>
                <a:ea typeface="Arial"/>
                <a:cs typeface="Arial"/>
              </a:defRPr>
            </a:lvl7pPr>
            <a:lvl8pPr algn="l">
              <a:buNone/>
              <a:defRPr sz="1425" b="1">
                <a:solidFill>
                  <a:srgbClr val="6D5DD3"/>
                </a:solidFill>
                <a:latin typeface="Arial"/>
                <a:ea typeface="Arial"/>
                <a:cs typeface="Arial"/>
              </a:defRPr>
            </a:lvl8pPr>
            <a:lvl9pPr algn="l">
              <a:buNone/>
              <a:defRPr sz="1425" b="1">
                <a:solidFill>
                  <a:srgbClr val="6D5DD3"/>
                </a:solidFill>
                <a:latin typeface="Arial"/>
                <a:ea typeface="Arial"/>
                <a:cs typeface="Arial"/>
              </a:defRPr>
            </a:lvl9pPr>
          </a:lstStyle>
          <a:p xmlns:a="http://schemas.openxmlformats.org/drawingml/2006/main">
            <a:pPr algn="l">
              <a:buNone/>
              <a:defRPr sz="1350" b="1">
                <a:solidFill>
                  <a:srgbClr val="6D5DD3"/>
                </a:solidFill>
                <a:latin typeface="Arial"/>
                <a:ea typeface="Arial"/>
                <a:cs typeface="Arial"/>
              </a:defRPr>
            </a:pPr>
            <a:r>
              <a:rPr sz="1350" b="1">
                <a:solidFill>
                  <a:srgbClr val="6D5DD3"/>
                </a:solidFill>
                <a:latin typeface="Arial"/>
                <a:ea typeface="Arial"/>
                <a:cs typeface="Arial"/>
              </a:rPr>
              <a:t>Validation and city test</a:t>
            </a:r>
          </a:p>
        </p:txBody>
      </p:sp>
      <p:sp>
        <p:nvSpPr>
          <p:cNvPr id="11" name="">
            <a:extLst xmlns:a="http://schemas.openxmlformats.org/drawingml/2006/main">
              <a:ext uri="{FF2B5EF4-FFF2-40B4-BE49-F238E27FC236}">
                <a16:creationId xmlns:a16="http://schemas.microsoft.com/office/drawing/2014/main" id="{4D2741A6-1116-4D00-A049-DD7231AF0416}"/>
              </a:ext>
            </a:extLst>
          </p:cNvPr>
          <p:cNvSpPr>
            <a:spLocks xmlns:a="http://schemas.openxmlformats.org/drawingml/2006/main" noGrp="1"/>
          </p:cNvSpPr>
          <p:nvPr/>
        </p:nvSpPr>
        <p:spPr>
          <a:xfrm xmlns:a="http://schemas.openxmlformats.org/drawingml/2006/main">
            <a:off x="8953500" y="2133600"/>
            <a:ext cx="26479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650">
                <a:solidFill>
                  <a:srgbClr val="F3F6F2"/>
                </a:solidFill>
                <a:latin typeface="Arial"/>
                <a:ea typeface="Arial"/>
                <a:cs typeface="Arial"/>
              </a:defRPr>
            </a:lvl1pPr>
            <a:lvl2pPr algn="l">
              <a:buNone/>
              <a:defRPr sz="1650">
                <a:solidFill>
                  <a:srgbClr val="F3F6F2"/>
                </a:solidFill>
                <a:latin typeface="Arial"/>
                <a:ea typeface="Arial"/>
                <a:cs typeface="Arial"/>
              </a:defRPr>
            </a:lvl2pPr>
            <a:lvl3pPr algn="l">
              <a:buNone/>
              <a:defRPr sz="1650">
                <a:solidFill>
                  <a:srgbClr val="F3F6F2"/>
                </a:solidFill>
                <a:latin typeface="Arial"/>
                <a:ea typeface="Arial"/>
                <a:cs typeface="Arial"/>
              </a:defRPr>
            </a:lvl3pPr>
            <a:lvl4pPr algn="l">
              <a:buNone/>
              <a:defRPr sz="1650">
                <a:solidFill>
                  <a:srgbClr val="F3F6F2"/>
                </a:solidFill>
                <a:latin typeface="Arial"/>
                <a:ea typeface="Arial"/>
                <a:cs typeface="Arial"/>
              </a:defRPr>
            </a:lvl4pPr>
            <a:lvl5pPr algn="l">
              <a:buNone/>
              <a:defRPr sz="1650">
                <a:solidFill>
                  <a:srgbClr val="F3F6F2"/>
                </a:solidFill>
                <a:latin typeface="Arial"/>
                <a:ea typeface="Arial"/>
                <a:cs typeface="Arial"/>
              </a:defRPr>
            </a:lvl5pPr>
            <a:lvl6pPr algn="l">
              <a:buNone/>
              <a:defRPr sz="1650">
                <a:solidFill>
                  <a:srgbClr val="F3F6F2"/>
                </a:solidFill>
                <a:latin typeface="Arial"/>
                <a:ea typeface="Arial"/>
                <a:cs typeface="Arial"/>
              </a:defRPr>
            </a:lvl6pPr>
            <a:lvl7pPr algn="l">
              <a:buNone/>
              <a:defRPr sz="1650">
                <a:solidFill>
                  <a:srgbClr val="F3F6F2"/>
                </a:solidFill>
                <a:latin typeface="Arial"/>
                <a:ea typeface="Arial"/>
                <a:cs typeface="Arial"/>
              </a:defRPr>
            </a:lvl7pPr>
            <a:lvl8pPr algn="l">
              <a:buNone/>
              <a:defRPr sz="1650">
                <a:solidFill>
                  <a:srgbClr val="F3F6F2"/>
                </a:solidFill>
                <a:latin typeface="Arial"/>
                <a:ea typeface="Arial"/>
                <a:cs typeface="Arial"/>
              </a:defRPr>
            </a:lvl8pPr>
            <a:lvl9pPr algn="l">
              <a:buNone/>
              <a:defRPr sz="1650">
                <a:solidFill>
                  <a:srgbClr val="F3F6F2"/>
                </a:solidFill>
                <a:latin typeface="Arial"/>
                <a:ea typeface="Arial"/>
                <a:cs typeface="Arial"/>
              </a:defRPr>
            </a:lvl9pPr>
          </a:lstStyle>
          <a:p xmlns:a="http://schemas.openxmlformats.org/drawingml/2006/main">
            <a:pPr algn="l">
              <a:buNone/>
              <a:defRPr sz="1350">
                <a:solidFill>
                  <a:srgbClr val="F3F6F2"/>
                </a:solidFill>
                <a:latin typeface="Arial"/>
                <a:ea typeface="Arial"/>
                <a:cs typeface="Arial"/>
              </a:defRPr>
            </a:pPr>
            <a:r>
              <a:rPr sz="1350">
                <a:solidFill>
                  <a:srgbClr val="F3F6F2"/>
                </a:solidFill>
                <a:latin typeface="Arial"/>
                <a:ea typeface="Arial"/>
                <a:cs typeface="Arial"/>
              </a:rPr>
              <a:t>Computer Engineering student at AUS, specialising in AI and machine learning. General experience in web development, computer graphics and object-oriented programming.</a:t>
            </a:r>
          </a:p>
        </p:txBody>
      </p:sp>
      <p:pic>
        <p:nvPicPr>
          <p:cNvPr id="13" name="">
            <a:extLst xmlns:a="http://schemas.openxmlformats.org/drawingml/2006/main">
              <a:ext uri="{FF2B5EF4-FFF2-40B4-BE49-F238E27FC236}">
                <a16:creationId xmlns:a16="http://schemas.microsoft.com/office/drawing/2014/main" id="{B687AC7C-DD93-4A92-8577-D44E90A7A893}"/>
              </a:ext>
            </a:extLst>
          </p:cNvPr>
          <p:cNvPicPr>
            <a:picLocks xmlns:a="http://schemas.openxmlformats.org/drawingml/2006/main" noChangeAspect="1"/>
          </p:cNvPicPr>
          <p:nvPr/>
        </p:nvPicPr>
        <p:blipFill>
          <a:blip xmlns:r="http://schemas.openxmlformats.org/officeDocument/2006/relationships" xmlns:a="http://schemas.openxmlformats.org/drawingml/2006/main" r:embed="Ra7a203a1f08d46fc"/>
          <a:srcRect xmlns:a="http://schemas.openxmlformats.org/drawingml/2006/main" l="0" t="0" r="0" b="0"/>
          <a:stretch xmlns:a="http://schemas.openxmlformats.org/drawingml/2006/main"/>
        </p:blipFill>
        <p:spPr>
          <a:xfrm xmlns:a="http://schemas.openxmlformats.org/drawingml/2006/main">
            <a:off x="628650" y="1562100"/>
            <a:ext cx="2095500" cy="323850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A6615E09-35DE-4AF4-8EEE-3A6058DF917C}"/>
              </a:ext>
            </a:extLst>
          </p:cNvPr>
          <p:cNvPicPr>
            <a:picLocks xmlns:a="http://schemas.openxmlformats.org/drawingml/2006/main" noChangeAspect="1"/>
          </p:cNvPicPr>
          <p:nvPr/>
        </p:nvPicPr>
        <p:blipFill>
          <a:blip xmlns:r="http://schemas.openxmlformats.org/officeDocument/2006/relationships" xmlns:a="http://schemas.openxmlformats.org/drawingml/2006/main" r:embed="R6fe7b20c229c45ce"/>
          <a:srcRect xmlns:a="http://schemas.openxmlformats.org/drawingml/2006/main" l="0" t="0" r="0" b="0"/>
          <a:stretch xmlns:a="http://schemas.openxmlformats.org/drawingml/2006/main"/>
        </p:blipFill>
        <p:spPr>
          <a:xfrm xmlns:a="http://schemas.openxmlformats.org/drawingml/2006/main">
            <a:off x="6296025" y="1562100"/>
            <a:ext cx="2428875" cy="3238500"/>
          </a:xfrm>
          <a:prstGeom xmlns:a="http://schemas.openxmlformats.org/drawingml/2006/main" prst="rect">
            <a:avLst/>
          </a:prstGeom>
        </p:spPr>
      </p:pic>
      <p:sp>
        <p:nvSpPr>
          <p:cNvPr id="15" name="Yusuf project role detail">
            <a:extLst xmlns:a="http://schemas.openxmlformats.org/drawingml/2006/main">
              <a:ext uri="{FF2B5EF4-FFF2-40B4-BE49-F238E27FC236}">
                <a16:creationId xmlns:a16="http://schemas.microsoft.com/office/drawing/2014/main" id="{EFAA5213-F085-406B-9903-50A16D27B989}"/>
              </a:ext>
            </a:extLst>
          </p:cNvPr>
          <p:cNvSpPr>
            <a:spLocks xmlns:a="http://schemas.openxmlformats.org/drawingml/2006/main" noGrp="1"/>
          </p:cNvSpPr>
          <p:nvPr/>
        </p:nvSpPr>
        <p:spPr>
          <a:xfrm xmlns:a="http://schemas.openxmlformats.org/drawingml/2006/main">
            <a:off x="2952750" y="3924300"/>
            <a:ext cx="2781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algn="l">
              <a:buNone/>
              <a:defRPr sz="1350">
                <a:solidFill>
                  <a:srgbClr val="F3F6F2"/>
                </a:solidFill>
                <a:latin typeface="Arial"/>
                <a:ea typeface="Arial"/>
                <a:cs typeface="Arial"/>
              </a:defRPr>
            </a:pPr>
            <a:r>
              <a:rPr sz="1350">
                <a:solidFill>
                  <a:srgbClr val="F3F6F2"/>
                </a:solidFill>
                <a:latin typeface="Arial"/>
                <a:ea typeface="Arial"/>
                <a:cs typeface="Arial"/>
              </a:rPr>
              <a:t>Explains the problem, data and result. Runs the live demonstration.</a:t>
            </a:r>
          </a:p>
        </p:txBody>
      </p:sp>
      <p:sp>
        <p:nvSpPr>
          <p:cNvPr id="16" name="Raed project role detail">
            <a:extLst xmlns:a="http://schemas.openxmlformats.org/drawingml/2006/main">
              <a:ext uri="{FF2B5EF4-FFF2-40B4-BE49-F238E27FC236}">
                <a16:creationId xmlns:a16="http://schemas.microsoft.com/office/drawing/2014/main" id="{32A9EB93-9130-4333-AF92-2ADB3A85FBEE}"/>
              </a:ext>
            </a:extLst>
          </p:cNvPr>
          <p:cNvSpPr>
            <a:spLocks xmlns:a="http://schemas.openxmlformats.org/drawingml/2006/main" noGrp="1"/>
          </p:cNvSpPr>
          <p:nvPr/>
        </p:nvSpPr>
        <p:spPr>
          <a:xfrm xmlns:a="http://schemas.openxmlformats.org/drawingml/2006/main">
            <a:off x="8953500" y="3924300"/>
            <a:ext cx="26479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algn="l">
              <a:buNone/>
              <a:defRPr sz="1350">
                <a:solidFill>
                  <a:srgbClr val="F3F6F2"/>
                </a:solidFill>
                <a:latin typeface="Arial"/>
                <a:ea typeface="Arial"/>
                <a:cs typeface="Arial"/>
              </a:defRPr>
            </a:pPr>
            <a:r>
              <a:rPr sz="1350">
                <a:solidFill>
                  <a:srgbClr val="F3F6F2"/>
                </a:solidFill>
                <a:latin typeface="Arial"/>
                <a:ea typeface="Arial"/>
                <a:cs typeface="Arial"/>
              </a:rPr>
              <a:t>Explains the validation results and how planners could test the idea.</a:t>
            </a:r>
          </a:p>
        </p:txBody>
      </p:sp>
    </p:spTree>
    <p:extLst>
      <p:ext uri="{BB962C8B-B14F-4D97-AF65-F5344CB8AC3E}">
        <p14:creationId xmlns:p14="http://schemas.microsoft.com/office/powerpoint/2010/main" val="1267529942"/>
      </p:ext>
    </p:extLst>
  </p:cSld>
</p:sld>
</file>

<file path=ppt/slides/slide2.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49D2666-8B4C-4153-831C-2898DB3DC5AE}"/>
              </a:ext>
            </a:extLst>
          </p:cNvPr>
          <p:cNvPicPr>
            <a:picLocks xmlns:a="http://schemas.openxmlformats.org/drawingml/2006/main" noChangeAspect="1"/>
          </p:cNvPicPr>
          <p:nvPr/>
        </p:nvPicPr>
        <p:blipFill>
          <a:blip xmlns:r="http://schemas.openxmlformats.org/officeDocument/2006/relationships" xmlns:a="http://schemas.openxmlformats.org/drawingml/2006/main" r:embed="R7e9650f154774733"/>
          <a:srcRect xmlns:a="http://schemas.openxmlformats.org/drawingml/2006/main" l="4671" t="0" r="467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814BA3-110E-43F9-91C5-B3D8CF4FE9A3}"/>
              </a:ext>
            </a:extLst>
          </p:cNvPr>
          <p:cNvSpPr>
            <a:spLocks xmlns:a="http://schemas.openxmlformats.org/drawingml/2006/main" noGrp="1"/>
          </p:cNvSpPr>
          <p:nvPr/>
        </p:nvSpPr>
        <p:spPr>
          <a:xfrm xmlns:a="http://schemas.openxmlformats.org/drawingml/2006/main">
            <a:off x="6191250" y="0"/>
            <a:ext cx="762000" cy="68580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0BCC33-9639-4C9B-A0EB-F69FB9FFB49A}"/>
              </a:ext>
            </a:extLst>
          </p:cNvPr>
          <p:cNvSpPr>
            <a:spLocks xmlns:a="http://schemas.openxmlformats.org/drawingml/2006/main" noGrp="1"/>
          </p:cNvSpPr>
          <p:nvPr/>
        </p:nvSpPr>
        <p:spPr>
          <a:xfrm xmlns:a="http://schemas.openxmlformats.org/drawingml/2006/main">
            <a:off x="6572250" y="0"/>
            <a:ext cx="5619750" cy="6096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37E6B4-3357-4B70-9520-02BE0355FDA0}"/>
              </a:ext>
            </a:extLst>
          </p:cNvPr>
          <p:cNvSpPr>
            <a:spLocks xmlns:a="http://schemas.openxmlformats.org/drawingml/2006/main" noGrp="1"/>
          </p:cNvSpPr>
          <p:nvPr/>
        </p:nvSpPr>
        <p:spPr>
          <a:xfrm xmlns:a="http://schemas.openxmlformats.org/drawingml/2006/main">
            <a:off x="6819900" y="152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1AA58F"/>
                </a:solidFill>
                <a:latin typeface="Arial"/>
                <a:ea typeface="Arial"/>
                <a:cs typeface="Arial"/>
              </a:defRPr>
            </a:defPPr>
            <a:lvl1pPr algn="ctr">
              <a:buNone/>
              <a:defRPr sz="1125" b="1">
                <a:solidFill>
                  <a:srgbClr val="1AA58F"/>
                </a:solidFill>
                <a:latin typeface="Arial"/>
                <a:ea typeface="Arial"/>
                <a:cs typeface="Arial"/>
              </a:defRPr>
            </a:lvl1pPr>
            <a:lvl2pPr algn="ctr">
              <a:buNone/>
              <a:defRPr sz="1125" b="1">
                <a:solidFill>
                  <a:srgbClr val="1AA58F"/>
                </a:solidFill>
                <a:latin typeface="Arial"/>
                <a:ea typeface="Arial"/>
                <a:cs typeface="Arial"/>
              </a:defRPr>
            </a:lvl2pPr>
            <a:lvl3pPr algn="ctr">
              <a:buNone/>
              <a:defRPr sz="1125" b="1">
                <a:solidFill>
                  <a:srgbClr val="1AA58F"/>
                </a:solidFill>
                <a:latin typeface="Arial"/>
                <a:ea typeface="Arial"/>
                <a:cs typeface="Arial"/>
              </a:defRPr>
            </a:lvl3pPr>
            <a:lvl4pPr algn="ctr">
              <a:buNone/>
              <a:defRPr sz="1125" b="1">
                <a:solidFill>
                  <a:srgbClr val="1AA58F"/>
                </a:solidFill>
                <a:latin typeface="Arial"/>
                <a:ea typeface="Arial"/>
                <a:cs typeface="Arial"/>
              </a:defRPr>
            </a:lvl4pPr>
            <a:lvl5pPr algn="ctr">
              <a:buNone/>
              <a:defRPr sz="1125" b="1">
                <a:solidFill>
                  <a:srgbClr val="1AA58F"/>
                </a:solidFill>
                <a:latin typeface="Arial"/>
                <a:ea typeface="Arial"/>
                <a:cs typeface="Arial"/>
              </a:defRPr>
            </a:lvl5pPr>
            <a:lvl6pPr algn="ctr">
              <a:buNone/>
              <a:defRPr sz="1125" b="1">
                <a:solidFill>
                  <a:srgbClr val="1AA58F"/>
                </a:solidFill>
                <a:latin typeface="Arial"/>
                <a:ea typeface="Arial"/>
                <a:cs typeface="Arial"/>
              </a:defRPr>
            </a:lvl6pPr>
            <a:lvl7pPr algn="ctr">
              <a:buNone/>
              <a:defRPr sz="1125" b="1">
                <a:solidFill>
                  <a:srgbClr val="1AA58F"/>
                </a:solidFill>
                <a:latin typeface="Arial"/>
                <a:ea typeface="Arial"/>
                <a:cs typeface="Arial"/>
              </a:defRPr>
            </a:lvl7pPr>
            <a:lvl8pPr algn="ctr">
              <a:buNone/>
              <a:defRPr sz="1125" b="1">
                <a:solidFill>
                  <a:srgbClr val="1AA58F"/>
                </a:solidFill>
                <a:latin typeface="Arial"/>
                <a:ea typeface="Arial"/>
                <a:cs typeface="Arial"/>
              </a:defRPr>
            </a:lvl8pPr>
            <a:lvl9pPr algn="ctr">
              <a:buNone/>
              <a:defRPr sz="1125" b="1">
                <a:solidFill>
                  <a:srgbClr val="1AA58F"/>
                </a:solidFill>
                <a:latin typeface="Arial"/>
                <a:ea typeface="Arial"/>
                <a:cs typeface="Arial"/>
              </a:defRPr>
            </a:lvl9pPr>
          </a:lstStyle>
          <a:p xmlns:a="http://schemas.openxmlformats.org/drawingml/2006/main">
            <a:pPr algn="ctr">
              <a:buNone/>
              <a:defRPr sz="1125" b="1">
                <a:solidFill>
                  <a:srgbClr val="1AA58F"/>
                </a:solidFill>
                <a:latin typeface="Arial"/>
                <a:ea typeface="Arial"/>
                <a:cs typeface="Arial"/>
              </a:defRPr>
            </a:pPr>
            <a:r>
              <a:rPr sz="1125" b="1">
                <a:solidFill>
                  <a:srgbClr val="1AA58F"/>
                </a:solidFill>
                <a:latin typeface="Arial"/>
                <a:ea typeface="Arial"/>
                <a:cs typeface="Arial"/>
              </a:rPr>
              <a:t>PRIORITY MAP</a:t>
            </a:r>
          </a:p>
        </p:txBody>
      </p:sp>
      <p:sp>
        <p:nvSpPr>
          <p:cNvPr id="5" name="">
            <a:extLst xmlns:a="http://schemas.openxmlformats.org/drawingml/2006/main">
              <a:ext uri="{FF2B5EF4-FFF2-40B4-BE49-F238E27FC236}">
                <a16:creationId xmlns:a16="http://schemas.microsoft.com/office/drawing/2014/main" id="{8E9CA7D5-B86E-406F-B1E0-BF49E95E072E}"/>
              </a:ext>
            </a:extLst>
          </p:cNvPr>
          <p:cNvSpPr>
            <a:spLocks xmlns:a="http://schemas.openxmlformats.org/drawingml/2006/main" noGrp="1"/>
          </p:cNvSpPr>
          <p:nvPr/>
        </p:nvSpPr>
        <p:spPr>
          <a:xfrm xmlns:a="http://schemas.openxmlformats.org/drawingml/2006/main">
            <a:off x="647700" y="7239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AA58F"/>
                </a:solidFill>
                <a:latin typeface="Arial"/>
                <a:ea typeface="Arial"/>
                <a:cs typeface="Arial"/>
              </a:defRPr>
            </a:defPPr>
            <a:lvl1pPr algn="l">
              <a:buNone/>
              <a:defRPr sz="1275" b="1">
                <a:solidFill>
                  <a:srgbClr val="1AA58F"/>
                </a:solidFill>
                <a:latin typeface="Arial"/>
                <a:ea typeface="Arial"/>
                <a:cs typeface="Arial"/>
              </a:defRPr>
            </a:lvl1pPr>
            <a:lvl2pPr algn="l">
              <a:buNone/>
              <a:defRPr sz="1275" b="1">
                <a:solidFill>
                  <a:srgbClr val="1AA58F"/>
                </a:solidFill>
                <a:latin typeface="Arial"/>
                <a:ea typeface="Arial"/>
                <a:cs typeface="Arial"/>
              </a:defRPr>
            </a:lvl2pPr>
            <a:lvl3pPr algn="l">
              <a:buNone/>
              <a:defRPr sz="1275" b="1">
                <a:solidFill>
                  <a:srgbClr val="1AA58F"/>
                </a:solidFill>
                <a:latin typeface="Arial"/>
                <a:ea typeface="Arial"/>
                <a:cs typeface="Arial"/>
              </a:defRPr>
            </a:lvl3pPr>
            <a:lvl4pPr algn="l">
              <a:buNone/>
              <a:defRPr sz="1275" b="1">
                <a:solidFill>
                  <a:srgbClr val="1AA58F"/>
                </a:solidFill>
                <a:latin typeface="Arial"/>
                <a:ea typeface="Arial"/>
                <a:cs typeface="Arial"/>
              </a:defRPr>
            </a:lvl4pPr>
            <a:lvl5pPr algn="l">
              <a:buNone/>
              <a:defRPr sz="1275" b="1">
                <a:solidFill>
                  <a:srgbClr val="1AA58F"/>
                </a:solidFill>
                <a:latin typeface="Arial"/>
                <a:ea typeface="Arial"/>
                <a:cs typeface="Arial"/>
              </a:defRPr>
            </a:lvl5pPr>
            <a:lvl6pPr algn="l">
              <a:buNone/>
              <a:defRPr sz="1275" b="1">
                <a:solidFill>
                  <a:srgbClr val="1AA58F"/>
                </a:solidFill>
                <a:latin typeface="Arial"/>
                <a:ea typeface="Arial"/>
                <a:cs typeface="Arial"/>
              </a:defRPr>
            </a:lvl6pPr>
            <a:lvl7pPr algn="l">
              <a:buNone/>
              <a:defRPr sz="1275" b="1">
                <a:solidFill>
                  <a:srgbClr val="1AA58F"/>
                </a:solidFill>
                <a:latin typeface="Arial"/>
                <a:ea typeface="Arial"/>
                <a:cs typeface="Arial"/>
              </a:defRPr>
            </a:lvl7pPr>
            <a:lvl8pPr algn="l">
              <a:buNone/>
              <a:defRPr sz="1275" b="1">
                <a:solidFill>
                  <a:srgbClr val="1AA58F"/>
                </a:solidFill>
                <a:latin typeface="Arial"/>
                <a:ea typeface="Arial"/>
                <a:cs typeface="Arial"/>
              </a:defRPr>
            </a:lvl8pPr>
            <a:lvl9pPr algn="l">
              <a:buNone/>
              <a:defRPr sz="1275" b="1">
                <a:solidFill>
                  <a:srgbClr val="1AA58F"/>
                </a:solidFill>
                <a:latin typeface="Arial"/>
                <a:ea typeface="Arial"/>
                <a:cs typeface="Arial"/>
              </a:defRPr>
            </a:lvl9pPr>
          </a:lstStyle>
          <a:p xmlns:a="http://schemas.openxmlformats.org/drawingml/2006/main">
            <a:pPr algn="l">
              <a:buNone/>
              <a:defRPr sz="1275" b="1">
                <a:solidFill>
                  <a:srgbClr val="1AA58F"/>
                </a:solidFill>
                <a:latin typeface="Arial"/>
                <a:ea typeface="Arial"/>
                <a:cs typeface="Arial"/>
              </a:defRPr>
            </a:pPr>
            <a:r>
              <a:rPr sz="1275" b="1">
                <a:solidFill>
                  <a:srgbClr val="1AA58F"/>
                </a:solidFill>
                <a:latin typeface="Arial"/>
                <a:ea typeface="Arial"/>
                <a:cs typeface="Arial"/>
              </a:rPr>
              <a:t>RIYADH HEATREADY</a:t>
            </a:r>
          </a:p>
        </p:txBody>
      </p:sp>
      <p:sp>
        <p:nvSpPr>
          <p:cNvPr id="6" name="">
            <a:extLst xmlns:a="http://schemas.openxmlformats.org/drawingml/2006/main">
              <a:ext uri="{FF2B5EF4-FFF2-40B4-BE49-F238E27FC236}">
                <a16:creationId xmlns:a16="http://schemas.microsoft.com/office/drawing/2014/main" id="{39EAF905-A577-45AE-B024-04ECE4909BAE}"/>
              </a:ext>
            </a:extLst>
          </p:cNvPr>
          <p:cNvSpPr>
            <a:spLocks xmlns:a="http://schemas.openxmlformats.org/drawingml/2006/main" noGrp="1"/>
          </p:cNvSpPr>
          <p:nvPr/>
        </p:nvSpPr>
        <p:spPr>
          <a:xfrm xmlns:a="http://schemas.openxmlformats.org/drawingml/2006/main">
            <a:off x="647700" y="1123950"/>
            <a:ext cx="5143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225" b="1">
                <a:solidFill>
                  <a:srgbClr val="F3F6F2"/>
                </a:solidFill>
                <a:latin typeface="Arial"/>
                <a:ea typeface="Arial"/>
                <a:cs typeface="Arial"/>
              </a:defRPr>
            </a:defPPr>
            <a:lvl1pPr algn="l">
              <a:buNone/>
              <a:defRPr sz="3225" b="1">
                <a:solidFill>
                  <a:srgbClr val="F3F6F2"/>
                </a:solidFill>
                <a:latin typeface="Arial"/>
                <a:ea typeface="Arial"/>
                <a:cs typeface="Arial"/>
              </a:defRPr>
            </a:lvl1pPr>
            <a:lvl2pPr algn="l">
              <a:buNone/>
              <a:defRPr sz="3225" b="1">
                <a:solidFill>
                  <a:srgbClr val="F3F6F2"/>
                </a:solidFill>
                <a:latin typeface="Arial"/>
                <a:ea typeface="Arial"/>
                <a:cs typeface="Arial"/>
              </a:defRPr>
            </a:lvl2pPr>
            <a:lvl3pPr algn="l">
              <a:buNone/>
              <a:defRPr sz="3225" b="1">
                <a:solidFill>
                  <a:srgbClr val="F3F6F2"/>
                </a:solidFill>
                <a:latin typeface="Arial"/>
                <a:ea typeface="Arial"/>
                <a:cs typeface="Arial"/>
              </a:defRPr>
            </a:lvl3pPr>
            <a:lvl4pPr algn="l">
              <a:buNone/>
              <a:defRPr sz="3225" b="1">
                <a:solidFill>
                  <a:srgbClr val="F3F6F2"/>
                </a:solidFill>
                <a:latin typeface="Arial"/>
                <a:ea typeface="Arial"/>
                <a:cs typeface="Arial"/>
              </a:defRPr>
            </a:lvl4pPr>
            <a:lvl5pPr algn="l">
              <a:buNone/>
              <a:defRPr sz="3225" b="1">
                <a:solidFill>
                  <a:srgbClr val="F3F6F2"/>
                </a:solidFill>
                <a:latin typeface="Arial"/>
                <a:ea typeface="Arial"/>
                <a:cs typeface="Arial"/>
              </a:defRPr>
            </a:lvl5pPr>
            <a:lvl6pPr algn="l">
              <a:buNone/>
              <a:defRPr sz="3225" b="1">
                <a:solidFill>
                  <a:srgbClr val="F3F6F2"/>
                </a:solidFill>
                <a:latin typeface="Arial"/>
                <a:ea typeface="Arial"/>
                <a:cs typeface="Arial"/>
              </a:defRPr>
            </a:lvl6pPr>
            <a:lvl7pPr algn="l">
              <a:buNone/>
              <a:defRPr sz="3225" b="1">
                <a:solidFill>
                  <a:srgbClr val="F3F6F2"/>
                </a:solidFill>
                <a:latin typeface="Arial"/>
                <a:ea typeface="Arial"/>
                <a:cs typeface="Arial"/>
              </a:defRPr>
            </a:lvl7pPr>
            <a:lvl8pPr algn="l">
              <a:buNone/>
              <a:defRPr sz="3225" b="1">
                <a:solidFill>
                  <a:srgbClr val="F3F6F2"/>
                </a:solidFill>
                <a:latin typeface="Arial"/>
                <a:ea typeface="Arial"/>
                <a:cs typeface="Arial"/>
              </a:defRPr>
            </a:lvl8pPr>
            <a:lvl9pPr algn="l">
              <a:buNone/>
              <a:defRPr sz="3225" b="1">
                <a:solidFill>
                  <a:srgbClr val="F3F6F2"/>
                </a:solidFill>
                <a:latin typeface="Arial"/>
                <a:ea typeface="Arial"/>
                <a:cs typeface="Arial"/>
              </a:defRPr>
            </a:lvl9pPr>
          </a:lstStyle>
          <a:p xmlns:a="http://schemas.openxmlformats.org/drawingml/2006/main">
            <a:pPr algn="l">
              <a:buNone/>
              <a:defRPr sz="3225" b="1">
                <a:solidFill>
                  <a:srgbClr val="F3F6F2"/>
                </a:solidFill>
                <a:latin typeface="Arial"/>
                <a:ea typeface="Arial"/>
                <a:cs typeface="Arial"/>
              </a:defRPr>
            </a:pPr>
            <a:r>
              <a:rPr sz="3225" b="1">
                <a:solidFill>
                  <a:srgbClr val="F3F6F2"/>
                </a:solidFill>
                <a:latin typeface="Arial"/>
                <a:ea typeface="Arial"/>
                <a:cs typeface="Arial"/>
              </a:rPr>
              <a:t>Where should planners</a:t>
            </a:r>
          </a:p>
          <a:p xmlns:a="http://schemas.openxmlformats.org/drawingml/2006/main">
            <a:pPr algn="l">
              <a:buNone/>
              <a:defRPr sz="3225" b="1">
                <a:solidFill>
                  <a:srgbClr val="F3F6F2"/>
                </a:solidFill>
                <a:latin typeface="Arial"/>
                <a:ea typeface="Arial"/>
                <a:cs typeface="Arial"/>
              </a:defRPr>
            </a:pPr>
            <a:r>
              <a:rPr sz="3225" b="1">
                <a:solidFill>
                  <a:srgbClr val="F3F6F2"/>
                </a:solidFill>
                <a:latin typeface="Arial"/>
                <a:ea typeface="Arial"/>
                <a:cs typeface="Arial"/>
              </a:rPr>
              <a:t>inspect first?</a:t>
            </a:r>
          </a:p>
        </p:txBody>
      </p:sp>
      <p:sp>
        <p:nvSpPr>
          <p:cNvPr id="7" name="">
            <a:extLst xmlns:a="http://schemas.openxmlformats.org/drawingml/2006/main">
              <a:ext uri="{FF2B5EF4-FFF2-40B4-BE49-F238E27FC236}">
                <a16:creationId xmlns:a16="http://schemas.microsoft.com/office/drawing/2014/main" id="{D6AF54D7-2C61-440E-A3CF-3B00B8BD2371}"/>
              </a:ext>
            </a:extLst>
          </p:cNvPr>
          <p:cNvSpPr>
            <a:spLocks xmlns:a="http://schemas.openxmlformats.org/drawingml/2006/main" noGrp="1"/>
          </p:cNvSpPr>
          <p:nvPr/>
        </p:nvSpPr>
        <p:spPr>
          <a:xfrm xmlns:a="http://schemas.openxmlformats.org/drawingml/2006/main">
            <a:off x="647700" y="253365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a:solidFill>
                  <a:srgbClr val="AFC4C6"/>
                </a:solidFill>
                <a:latin typeface="Arial"/>
                <a:ea typeface="Arial"/>
                <a:cs typeface="Arial"/>
              </a:defRPr>
            </a:defPPr>
            <a:lvl1pPr algn="l">
              <a:buNone/>
              <a:defRPr sz="1725">
                <a:solidFill>
                  <a:srgbClr val="AFC4C6"/>
                </a:solidFill>
                <a:latin typeface="Arial"/>
                <a:ea typeface="Arial"/>
                <a:cs typeface="Arial"/>
              </a:defRPr>
            </a:lvl1pPr>
            <a:lvl2pPr algn="l">
              <a:buNone/>
              <a:defRPr sz="1725">
                <a:solidFill>
                  <a:srgbClr val="AFC4C6"/>
                </a:solidFill>
                <a:latin typeface="Arial"/>
                <a:ea typeface="Arial"/>
                <a:cs typeface="Arial"/>
              </a:defRPr>
            </a:lvl2pPr>
            <a:lvl3pPr algn="l">
              <a:buNone/>
              <a:defRPr sz="1725">
                <a:solidFill>
                  <a:srgbClr val="AFC4C6"/>
                </a:solidFill>
                <a:latin typeface="Arial"/>
                <a:ea typeface="Arial"/>
                <a:cs typeface="Arial"/>
              </a:defRPr>
            </a:lvl3pPr>
            <a:lvl4pPr algn="l">
              <a:buNone/>
              <a:defRPr sz="1725">
                <a:solidFill>
                  <a:srgbClr val="AFC4C6"/>
                </a:solidFill>
                <a:latin typeface="Arial"/>
                <a:ea typeface="Arial"/>
                <a:cs typeface="Arial"/>
              </a:defRPr>
            </a:lvl4pPr>
            <a:lvl5pPr algn="l">
              <a:buNone/>
              <a:defRPr sz="1725">
                <a:solidFill>
                  <a:srgbClr val="AFC4C6"/>
                </a:solidFill>
                <a:latin typeface="Arial"/>
                <a:ea typeface="Arial"/>
                <a:cs typeface="Arial"/>
              </a:defRPr>
            </a:lvl5pPr>
            <a:lvl6pPr algn="l">
              <a:buNone/>
              <a:defRPr sz="1725">
                <a:solidFill>
                  <a:srgbClr val="AFC4C6"/>
                </a:solidFill>
                <a:latin typeface="Arial"/>
                <a:ea typeface="Arial"/>
                <a:cs typeface="Arial"/>
              </a:defRPr>
            </a:lvl6pPr>
            <a:lvl7pPr algn="l">
              <a:buNone/>
              <a:defRPr sz="1725">
                <a:solidFill>
                  <a:srgbClr val="AFC4C6"/>
                </a:solidFill>
                <a:latin typeface="Arial"/>
                <a:ea typeface="Arial"/>
                <a:cs typeface="Arial"/>
              </a:defRPr>
            </a:lvl7pPr>
            <a:lvl8pPr algn="l">
              <a:buNone/>
              <a:defRPr sz="1725">
                <a:solidFill>
                  <a:srgbClr val="AFC4C6"/>
                </a:solidFill>
                <a:latin typeface="Arial"/>
                <a:ea typeface="Arial"/>
                <a:cs typeface="Arial"/>
              </a:defRPr>
            </a:lvl8pPr>
            <a:lvl9pPr algn="l">
              <a:buNone/>
              <a:defRPr sz="1725">
                <a:solidFill>
                  <a:srgbClr val="AFC4C6"/>
                </a:solidFill>
                <a:latin typeface="Arial"/>
                <a:ea typeface="Arial"/>
                <a:cs typeface="Arial"/>
              </a:defRPr>
            </a:lvl9pPr>
          </a:lstStyle>
          <a:p xmlns:a="http://schemas.openxmlformats.org/drawingml/2006/main">
            <a:pPr algn="l">
              <a:buNone/>
              <a:defRPr sz="1725">
                <a:solidFill>
                  <a:srgbClr val="AFC4C6"/>
                </a:solidFill>
                <a:latin typeface="Arial"/>
                <a:ea typeface="Arial"/>
                <a:cs typeface="Arial"/>
              </a:defRPr>
            </a:pPr>
            <a:r>
              <a:rPr sz="1725">
                <a:solidFill>
                  <a:srgbClr val="AFC4C6"/>
                </a:solidFill>
                <a:latin typeface="Arial"/>
                <a:ea typeface="Arial"/>
                <a:cs typeface="Arial"/>
              </a:rPr>
              <a:t>Satellite and population data for southeast Riyadh</a:t>
            </a:r>
          </a:p>
        </p:txBody>
      </p:sp>
      <p:sp>
        <p:nvSpPr>
          <p:cNvPr id="8" name="">
            <a:extLst xmlns:a="http://schemas.openxmlformats.org/drawingml/2006/main">
              <a:ext uri="{FF2B5EF4-FFF2-40B4-BE49-F238E27FC236}">
                <a16:creationId xmlns:a16="http://schemas.microsoft.com/office/drawing/2014/main" id="{FED15E1C-D445-4BE5-9ACB-E8DDADBB807E}"/>
              </a:ext>
            </a:extLst>
          </p:cNvPr>
          <p:cNvSpPr>
            <a:spLocks xmlns:a="http://schemas.openxmlformats.org/drawingml/2006/main" noGrp="1"/>
          </p:cNvSpPr>
          <p:nvPr/>
        </p:nvSpPr>
        <p:spPr>
          <a:xfrm xmlns:a="http://schemas.openxmlformats.org/drawingml/2006/main">
            <a:off x="647700" y="3086100"/>
            <a:ext cx="47625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9" name="">
            <a:extLst xmlns:a="http://schemas.openxmlformats.org/drawingml/2006/main">
              <a:ext uri="{FF2B5EF4-FFF2-40B4-BE49-F238E27FC236}">
                <a16:creationId xmlns:a16="http://schemas.microsoft.com/office/drawing/2014/main" id="{835A82FE-7389-41E2-A1C1-04C503AB4775}"/>
              </a:ext>
            </a:extLst>
          </p:cNvPr>
          <p:cNvSpPr>
            <a:spLocks xmlns:a="http://schemas.openxmlformats.org/drawingml/2006/main" noGrp="1"/>
          </p:cNvSpPr>
          <p:nvPr/>
        </p:nvSpPr>
        <p:spPr>
          <a:xfrm xmlns:a="http://schemas.openxmlformats.org/drawingml/2006/main">
            <a:off x="647700" y="33147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E2AD2B"/>
                </a:solidFill>
                <a:latin typeface="Arial"/>
                <a:ea typeface="Arial"/>
                <a:cs typeface="Arial"/>
              </a:defRPr>
            </a:defPPr>
            <a:lvl1pPr algn="l">
              <a:buNone/>
              <a:defRPr sz="975" b="1">
                <a:solidFill>
                  <a:srgbClr val="E2AD2B"/>
                </a:solidFill>
                <a:latin typeface="Arial"/>
                <a:ea typeface="Arial"/>
                <a:cs typeface="Arial"/>
              </a:defRPr>
            </a:lvl1pPr>
            <a:lvl2pPr algn="l">
              <a:buNone/>
              <a:defRPr sz="975" b="1">
                <a:solidFill>
                  <a:srgbClr val="E2AD2B"/>
                </a:solidFill>
                <a:latin typeface="Arial"/>
                <a:ea typeface="Arial"/>
                <a:cs typeface="Arial"/>
              </a:defRPr>
            </a:lvl2pPr>
            <a:lvl3pPr algn="l">
              <a:buNone/>
              <a:defRPr sz="975" b="1">
                <a:solidFill>
                  <a:srgbClr val="E2AD2B"/>
                </a:solidFill>
                <a:latin typeface="Arial"/>
                <a:ea typeface="Arial"/>
                <a:cs typeface="Arial"/>
              </a:defRPr>
            </a:lvl3pPr>
            <a:lvl4pPr algn="l">
              <a:buNone/>
              <a:defRPr sz="975" b="1">
                <a:solidFill>
                  <a:srgbClr val="E2AD2B"/>
                </a:solidFill>
                <a:latin typeface="Arial"/>
                <a:ea typeface="Arial"/>
                <a:cs typeface="Arial"/>
              </a:defRPr>
            </a:lvl4pPr>
            <a:lvl5pPr algn="l">
              <a:buNone/>
              <a:defRPr sz="975" b="1">
                <a:solidFill>
                  <a:srgbClr val="E2AD2B"/>
                </a:solidFill>
                <a:latin typeface="Arial"/>
                <a:ea typeface="Arial"/>
                <a:cs typeface="Arial"/>
              </a:defRPr>
            </a:lvl5pPr>
            <a:lvl6pPr algn="l">
              <a:buNone/>
              <a:defRPr sz="975" b="1">
                <a:solidFill>
                  <a:srgbClr val="E2AD2B"/>
                </a:solidFill>
                <a:latin typeface="Arial"/>
                <a:ea typeface="Arial"/>
                <a:cs typeface="Arial"/>
              </a:defRPr>
            </a:lvl6pPr>
            <a:lvl7pPr algn="l">
              <a:buNone/>
              <a:defRPr sz="975" b="1">
                <a:solidFill>
                  <a:srgbClr val="E2AD2B"/>
                </a:solidFill>
                <a:latin typeface="Arial"/>
                <a:ea typeface="Arial"/>
                <a:cs typeface="Arial"/>
              </a:defRPr>
            </a:lvl7pPr>
            <a:lvl8pPr algn="l">
              <a:buNone/>
              <a:defRPr sz="975" b="1">
                <a:solidFill>
                  <a:srgbClr val="E2AD2B"/>
                </a:solidFill>
                <a:latin typeface="Arial"/>
                <a:ea typeface="Arial"/>
                <a:cs typeface="Arial"/>
              </a:defRPr>
            </a:lvl8pPr>
            <a:lvl9pPr algn="l">
              <a:buNone/>
              <a:defRPr sz="975" b="1">
                <a:solidFill>
                  <a:srgbClr val="E2AD2B"/>
                </a:solidFill>
                <a:latin typeface="Arial"/>
                <a:ea typeface="Arial"/>
                <a:cs typeface="Arial"/>
              </a:defRPr>
            </a:lvl9pPr>
          </a:lstStyle>
          <a:p xmlns:a="http://schemas.openxmlformats.org/drawingml/2006/main">
            <a:pPr algn="l">
              <a:buNone/>
              <a:defRPr sz="975" b="1">
                <a:solidFill>
                  <a:srgbClr val="E2AD2B"/>
                </a:solidFill>
                <a:latin typeface="Arial"/>
                <a:ea typeface="Arial"/>
                <a:cs typeface="Arial"/>
              </a:defRPr>
            </a:pPr>
            <a:r>
              <a:rPr sz="975" b="1">
                <a:solidFill>
                  <a:srgbClr val="E2AD2B"/>
                </a:solidFill>
                <a:latin typeface="Arial"/>
                <a:ea typeface="Arial"/>
                <a:cs typeface="Arial"/>
              </a:rPr>
              <a:t>WHAT IT GIVES</a:t>
            </a:r>
          </a:p>
        </p:txBody>
      </p:sp>
      <p:sp>
        <p:nvSpPr>
          <p:cNvPr id="10" name="">
            <a:extLst xmlns:a="http://schemas.openxmlformats.org/drawingml/2006/main">
              <a:ext uri="{FF2B5EF4-FFF2-40B4-BE49-F238E27FC236}">
                <a16:creationId xmlns:a16="http://schemas.microsoft.com/office/drawing/2014/main" id="{005F5143-D7C5-4E4C-A1C8-A4C7F82A0A40}"/>
              </a:ext>
            </a:extLst>
          </p:cNvPr>
          <p:cNvSpPr>
            <a:spLocks xmlns:a="http://schemas.openxmlformats.org/drawingml/2006/main" noGrp="1"/>
          </p:cNvSpPr>
          <p:nvPr/>
        </p:nvSpPr>
        <p:spPr>
          <a:xfrm xmlns:a="http://schemas.openxmlformats.org/drawingml/2006/main">
            <a:off x="647700" y="361950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F3F6F2"/>
                </a:solidFill>
                <a:latin typeface="Arial"/>
                <a:ea typeface="Arial"/>
                <a:cs typeface="Arial"/>
              </a:defRPr>
            </a:defPPr>
            <a:lvl1pPr algn="l">
              <a:buNone/>
              <a:defRPr sz="2175" b="1">
                <a:solidFill>
                  <a:srgbClr val="F3F6F2"/>
                </a:solidFill>
                <a:latin typeface="Arial"/>
                <a:ea typeface="Arial"/>
                <a:cs typeface="Arial"/>
              </a:defRPr>
            </a:lvl1pPr>
            <a:lvl2pPr algn="l">
              <a:buNone/>
              <a:defRPr sz="2175" b="1">
                <a:solidFill>
                  <a:srgbClr val="F3F6F2"/>
                </a:solidFill>
                <a:latin typeface="Arial"/>
                <a:ea typeface="Arial"/>
                <a:cs typeface="Arial"/>
              </a:defRPr>
            </a:lvl2pPr>
            <a:lvl3pPr algn="l">
              <a:buNone/>
              <a:defRPr sz="2175" b="1">
                <a:solidFill>
                  <a:srgbClr val="F3F6F2"/>
                </a:solidFill>
                <a:latin typeface="Arial"/>
                <a:ea typeface="Arial"/>
                <a:cs typeface="Arial"/>
              </a:defRPr>
            </a:lvl3pPr>
            <a:lvl4pPr algn="l">
              <a:buNone/>
              <a:defRPr sz="2175" b="1">
                <a:solidFill>
                  <a:srgbClr val="F3F6F2"/>
                </a:solidFill>
                <a:latin typeface="Arial"/>
                <a:ea typeface="Arial"/>
                <a:cs typeface="Arial"/>
              </a:defRPr>
            </a:lvl4pPr>
            <a:lvl5pPr algn="l">
              <a:buNone/>
              <a:defRPr sz="2175" b="1">
                <a:solidFill>
                  <a:srgbClr val="F3F6F2"/>
                </a:solidFill>
                <a:latin typeface="Arial"/>
                <a:ea typeface="Arial"/>
                <a:cs typeface="Arial"/>
              </a:defRPr>
            </a:lvl5pPr>
            <a:lvl6pPr algn="l">
              <a:buNone/>
              <a:defRPr sz="2175" b="1">
                <a:solidFill>
                  <a:srgbClr val="F3F6F2"/>
                </a:solidFill>
                <a:latin typeface="Arial"/>
                <a:ea typeface="Arial"/>
                <a:cs typeface="Arial"/>
              </a:defRPr>
            </a:lvl6pPr>
            <a:lvl7pPr algn="l">
              <a:buNone/>
              <a:defRPr sz="2175" b="1">
                <a:solidFill>
                  <a:srgbClr val="F3F6F2"/>
                </a:solidFill>
                <a:latin typeface="Arial"/>
                <a:ea typeface="Arial"/>
                <a:cs typeface="Arial"/>
              </a:defRPr>
            </a:lvl7pPr>
            <a:lvl8pPr algn="l">
              <a:buNone/>
              <a:defRPr sz="2175" b="1">
                <a:solidFill>
                  <a:srgbClr val="F3F6F2"/>
                </a:solidFill>
                <a:latin typeface="Arial"/>
                <a:ea typeface="Arial"/>
                <a:cs typeface="Arial"/>
              </a:defRPr>
            </a:lvl8pPr>
            <a:lvl9pPr algn="l">
              <a:buNone/>
              <a:defRPr sz="2175" b="1">
                <a:solidFill>
                  <a:srgbClr val="F3F6F2"/>
                </a:solidFill>
                <a:latin typeface="Arial"/>
                <a:ea typeface="Arial"/>
                <a:cs typeface="Arial"/>
              </a:defRPr>
            </a:lvl9pPr>
          </a:lstStyle>
          <a:p xmlns:a="http://schemas.openxmlformats.org/drawingml/2006/main">
            <a:pPr algn="l">
              <a:buNone/>
              <a:defRPr sz="2175" b="1">
                <a:solidFill>
                  <a:srgbClr val="F3F6F2"/>
                </a:solidFill>
                <a:latin typeface="Arial"/>
                <a:ea typeface="Arial"/>
                <a:cs typeface="Arial"/>
              </a:defRPr>
            </a:pPr>
            <a:r>
              <a:rPr sz="2175" b="1">
                <a:solidFill>
                  <a:srgbClr val="F3F6F2"/>
                </a:solidFill>
                <a:latin typeface="Arial"/>
                <a:ea typeface="Arial"/>
                <a:cs typeface="Arial"/>
              </a:rPr>
              <a:t>A ranked map of 1 km areas that may need an early site visit</a:t>
            </a:r>
          </a:p>
        </p:txBody>
      </p:sp>
      <p:sp>
        <p:nvSpPr>
          <p:cNvPr id="11" name="">
            <a:extLst xmlns:a="http://schemas.openxmlformats.org/drawingml/2006/main">
              <a:ext uri="{FF2B5EF4-FFF2-40B4-BE49-F238E27FC236}">
                <a16:creationId xmlns:a16="http://schemas.microsoft.com/office/drawing/2014/main" id="{0E26247C-152A-490B-8E0D-CBE8FCD4728C}"/>
              </a:ext>
            </a:extLst>
          </p:cNvPr>
          <p:cNvSpPr>
            <a:spLocks xmlns:a="http://schemas.openxmlformats.org/drawingml/2006/main" noGrp="1"/>
          </p:cNvSpPr>
          <p:nvPr/>
        </p:nvSpPr>
        <p:spPr>
          <a:xfrm xmlns:a="http://schemas.openxmlformats.org/drawingml/2006/main">
            <a:off x="64770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vl1pPr algn="l">
              <a:buNone/>
              <a:defRPr sz="1200" b="1">
                <a:solidFill>
                  <a:srgbClr val="F3F6F2"/>
                </a:solidFill>
                <a:latin typeface="Arial"/>
                <a:ea typeface="Arial"/>
                <a:cs typeface="Arial"/>
              </a:defRPr>
            </a:lvl1pPr>
            <a:lvl2pPr algn="l">
              <a:buNone/>
              <a:defRPr sz="1200" b="1">
                <a:solidFill>
                  <a:srgbClr val="F3F6F2"/>
                </a:solidFill>
                <a:latin typeface="Arial"/>
                <a:ea typeface="Arial"/>
                <a:cs typeface="Arial"/>
              </a:defRPr>
            </a:lvl2pPr>
            <a:lvl3pPr algn="l">
              <a:buNone/>
              <a:defRPr sz="1200" b="1">
                <a:solidFill>
                  <a:srgbClr val="F3F6F2"/>
                </a:solidFill>
                <a:latin typeface="Arial"/>
                <a:ea typeface="Arial"/>
                <a:cs typeface="Arial"/>
              </a:defRPr>
            </a:lvl3pPr>
            <a:lvl4pPr algn="l">
              <a:buNone/>
              <a:defRPr sz="1200" b="1">
                <a:solidFill>
                  <a:srgbClr val="F3F6F2"/>
                </a:solidFill>
                <a:latin typeface="Arial"/>
                <a:ea typeface="Arial"/>
                <a:cs typeface="Arial"/>
              </a:defRPr>
            </a:lvl4pPr>
            <a:lvl5pPr algn="l">
              <a:buNone/>
              <a:defRPr sz="1200" b="1">
                <a:solidFill>
                  <a:srgbClr val="F3F6F2"/>
                </a:solidFill>
                <a:latin typeface="Arial"/>
                <a:ea typeface="Arial"/>
                <a:cs typeface="Arial"/>
              </a:defRPr>
            </a:lvl5pPr>
            <a:lvl6pPr algn="l">
              <a:buNone/>
              <a:defRPr sz="1200" b="1">
                <a:solidFill>
                  <a:srgbClr val="F3F6F2"/>
                </a:solidFill>
                <a:latin typeface="Arial"/>
                <a:ea typeface="Arial"/>
                <a:cs typeface="Arial"/>
              </a:defRPr>
            </a:lvl6pPr>
            <a:lvl7pPr algn="l">
              <a:buNone/>
              <a:defRPr sz="1200" b="1">
                <a:solidFill>
                  <a:srgbClr val="F3F6F2"/>
                </a:solidFill>
                <a:latin typeface="Arial"/>
                <a:ea typeface="Arial"/>
                <a:cs typeface="Arial"/>
              </a:defRPr>
            </a:lvl7pPr>
            <a:lvl8pPr algn="l">
              <a:buNone/>
              <a:defRPr sz="1200" b="1">
                <a:solidFill>
                  <a:srgbClr val="F3F6F2"/>
                </a:solidFill>
                <a:latin typeface="Arial"/>
                <a:ea typeface="Arial"/>
                <a:cs typeface="Arial"/>
              </a:defRPr>
            </a:lvl8pPr>
            <a:lvl9pPr algn="l">
              <a:buNone/>
              <a:defRPr sz="1200" b="1">
                <a:solidFill>
                  <a:srgbClr val="F3F6F2"/>
                </a:solidFill>
                <a:latin typeface="Arial"/>
                <a:ea typeface="Arial"/>
                <a:cs typeface="Arial"/>
              </a:defRPr>
            </a:lvl9pPr>
          </a:lstStyle>
          <a:p xmlns:a="http://schemas.openxmlformats.org/drawingml/2006/main">
            <a:pPr algn="l">
              <a:buNone/>
              <a:defRPr sz="1200" b="1">
                <a:solidFill>
                  <a:srgbClr val="F3F6F2"/>
                </a:solidFill>
                <a:latin typeface="Arial"/>
                <a:ea typeface="Arial"/>
                <a:cs typeface="Arial"/>
              </a:defRPr>
            </a:pPr>
            <a:r>
              <a:rPr sz="1200" b="1">
                <a:solidFill>
                  <a:srgbClr val="F3F6F2"/>
                </a:solidFill>
                <a:latin typeface="Arial"/>
                <a:ea typeface="Arial"/>
                <a:cs typeface="Arial"/>
              </a:rPr>
              <a:t>Team Milkaholics</a:t>
            </a:r>
          </a:p>
        </p:txBody>
      </p:sp>
      <p:sp>
        <p:nvSpPr>
          <p:cNvPr id="12" name="">
            <a:extLst xmlns:a="http://schemas.openxmlformats.org/drawingml/2006/main">
              <a:ext uri="{FF2B5EF4-FFF2-40B4-BE49-F238E27FC236}">
                <a16:creationId xmlns:a16="http://schemas.microsoft.com/office/drawing/2014/main" id="{39A1B093-C6E0-4A78-B987-A0BAF36988D7}"/>
              </a:ext>
            </a:extLst>
          </p:cNvPr>
          <p:cNvSpPr>
            <a:spLocks xmlns:a="http://schemas.openxmlformats.org/drawingml/2006/main" noGrp="1"/>
          </p:cNvSpPr>
          <p:nvPr/>
        </p:nvSpPr>
        <p:spPr>
          <a:xfrm xmlns:a="http://schemas.openxmlformats.org/drawingml/2006/main">
            <a:off x="647700" y="6115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AFC4C6"/>
                </a:solidFill>
                <a:latin typeface="Arial"/>
                <a:ea typeface="Arial"/>
                <a:cs typeface="Arial"/>
              </a:defRPr>
            </a:defPPr>
            <a:lvl1pPr algn="l">
              <a:buNone/>
              <a:defRPr sz="1050">
                <a:solidFill>
                  <a:srgbClr val="AFC4C6"/>
                </a:solidFill>
                <a:latin typeface="Arial"/>
                <a:ea typeface="Arial"/>
                <a:cs typeface="Arial"/>
              </a:defRPr>
            </a:lvl1pPr>
            <a:lvl2pPr algn="l">
              <a:buNone/>
              <a:defRPr sz="1050">
                <a:solidFill>
                  <a:srgbClr val="AFC4C6"/>
                </a:solidFill>
                <a:latin typeface="Arial"/>
                <a:ea typeface="Arial"/>
                <a:cs typeface="Arial"/>
              </a:defRPr>
            </a:lvl2pPr>
            <a:lvl3pPr algn="l">
              <a:buNone/>
              <a:defRPr sz="1050">
                <a:solidFill>
                  <a:srgbClr val="AFC4C6"/>
                </a:solidFill>
                <a:latin typeface="Arial"/>
                <a:ea typeface="Arial"/>
                <a:cs typeface="Arial"/>
              </a:defRPr>
            </a:lvl3pPr>
            <a:lvl4pPr algn="l">
              <a:buNone/>
              <a:defRPr sz="1050">
                <a:solidFill>
                  <a:srgbClr val="AFC4C6"/>
                </a:solidFill>
                <a:latin typeface="Arial"/>
                <a:ea typeface="Arial"/>
                <a:cs typeface="Arial"/>
              </a:defRPr>
            </a:lvl4pPr>
            <a:lvl5pPr algn="l">
              <a:buNone/>
              <a:defRPr sz="1050">
                <a:solidFill>
                  <a:srgbClr val="AFC4C6"/>
                </a:solidFill>
                <a:latin typeface="Arial"/>
                <a:ea typeface="Arial"/>
                <a:cs typeface="Arial"/>
              </a:defRPr>
            </a:lvl5pPr>
            <a:lvl6pPr algn="l">
              <a:buNone/>
              <a:defRPr sz="1050">
                <a:solidFill>
                  <a:srgbClr val="AFC4C6"/>
                </a:solidFill>
                <a:latin typeface="Arial"/>
                <a:ea typeface="Arial"/>
                <a:cs typeface="Arial"/>
              </a:defRPr>
            </a:lvl6pPr>
            <a:lvl7pPr algn="l">
              <a:buNone/>
              <a:defRPr sz="1050">
                <a:solidFill>
                  <a:srgbClr val="AFC4C6"/>
                </a:solidFill>
                <a:latin typeface="Arial"/>
                <a:ea typeface="Arial"/>
                <a:cs typeface="Arial"/>
              </a:defRPr>
            </a:lvl7pPr>
            <a:lvl8pPr algn="l">
              <a:buNone/>
              <a:defRPr sz="1050">
                <a:solidFill>
                  <a:srgbClr val="AFC4C6"/>
                </a:solidFill>
                <a:latin typeface="Arial"/>
                <a:ea typeface="Arial"/>
                <a:cs typeface="Arial"/>
              </a:defRPr>
            </a:lvl8pPr>
            <a:lvl9pPr algn="l">
              <a:buNone/>
              <a:defRPr sz="1050">
                <a:solidFill>
                  <a:srgbClr val="AFC4C6"/>
                </a:solidFill>
                <a:latin typeface="Arial"/>
                <a:ea typeface="Arial"/>
                <a:cs typeface="Arial"/>
              </a:defRPr>
            </a:lvl9pPr>
          </a:lstStyle>
          <a:p xmlns:a="http://schemas.openxmlformats.org/drawingml/2006/main">
            <a:pPr algn="l">
              <a:buNone/>
              <a:defRPr sz="1050">
                <a:solidFill>
                  <a:srgbClr val="AFC4C6"/>
                </a:solidFill>
                <a:latin typeface="Arial"/>
                <a:ea typeface="Arial"/>
                <a:cs typeface="Arial"/>
              </a:defRPr>
            </a:pPr>
            <a:r>
              <a:rPr sz="1050">
                <a:solidFill>
                  <a:srgbClr val="AFC4C6"/>
                </a:solidFill>
                <a:latin typeface="Arial"/>
                <a:ea typeface="Arial"/>
                <a:cs typeface="Arial"/>
              </a:rPr>
              <a:t>Yusuf Karanib and Raed Mardoum</a:t>
            </a:r>
          </a:p>
        </p:txBody>
      </p:sp>
    </p:spTree>
    <p:extLst>
      <p:ext uri="{BB962C8B-B14F-4D97-AF65-F5344CB8AC3E}">
        <p14:creationId xmlns:p14="http://schemas.microsoft.com/office/powerpoint/2010/main" val="1942299925"/>
      </p:ext>
    </p:extLst>
  </p:cSld>
</p:sld>
</file>

<file path=ppt/slides/slide3.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6417949-2C3A-4A32-8FFC-CEB33A5B40E1}"/>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PROBLEM AND ANSWER</a:t>
            </a:r>
          </a:p>
        </p:txBody>
      </p:sp>
      <p:sp>
        <p:nvSpPr>
          <p:cNvPr id="2" name="">
            <a:extLst xmlns:a="http://schemas.openxmlformats.org/drawingml/2006/main">
              <a:ext uri="{FF2B5EF4-FFF2-40B4-BE49-F238E27FC236}">
                <a16:creationId xmlns:a16="http://schemas.microsoft.com/office/drawing/2014/main" id="{01C6B8B0-8C87-487D-A3BA-B615E42DDDD9}"/>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The problem and our answer</a:t>
            </a:r>
          </a:p>
        </p:txBody>
      </p:sp>
      <p:sp>
        <p:nvSpPr>
          <p:cNvPr id="3" name="">
            <a:extLst xmlns:a="http://schemas.openxmlformats.org/drawingml/2006/main">
              <a:ext uri="{FF2B5EF4-FFF2-40B4-BE49-F238E27FC236}">
                <a16:creationId xmlns:a16="http://schemas.microsoft.com/office/drawing/2014/main" id="{BBE6BBFF-9730-4A01-AFC5-04C4272954C1}"/>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8A095067-093E-4F26-BC19-0975BE934DED}"/>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EA285DC4-CDB0-4971-B10E-6FC6D45E0605}"/>
              </a:ext>
            </a:extLst>
          </p:cNvPr>
          <p:cNvSpPr>
            <a:spLocks xmlns:a="http://schemas.openxmlformats.org/drawingml/2006/main" noGrp="1"/>
          </p:cNvSpPr>
          <p:nvPr/>
        </p:nvSpPr>
        <p:spPr>
          <a:xfrm xmlns:a="http://schemas.openxmlformats.org/drawingml/2006/main">
            <a:off x="5905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B03048FD-EAAA-484E-AE58-64D3DFEF6370}"/>
              </a:ext>
            </a:extLst>
          </p:cNvPr>
          <p:cNvSpPr>
            <a:spLocks xmlns:a="http://schemas.openxmlformats.org/drawingml/2006/main" noGrp="1"/>
          </p:cNvSpPr>
          <p:nvPr/>
        </p:nvSpPr>
        <p:spPr>
          <a:xfrm xmlns:a="http://schemas.openxmlformats.org/drawingml/2006/main">
            <a:off x="7620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vl1pPr algn="l">
              <a:buNone/>
              <a:defRPr sz="2550" b="1">
                <a:solidFill>
                  <a:srgbClr val="F06449"/>
                </a:solidFill>
                <a:latin typeface="Arial"/>
                <a:ea typeface="Arial"/>
                <a:cs typeface="Arial"/>
              </a:defRPr>
            </a:lvl1pPr>
            <a:lvl2pPr algn="l">
              <a:buNone/>
              <a:defRPr sz="2550" b="1">
                <a:solidFill>
                  <a:srgbClr val="F06449"/>
                </a:solidFill>
                <a:latin typeface="Arial"/>
                <a:ea typeface="Arial"/>
                <a:cs typeface="Arial"/>
              </a:defRPr>
            </a:lvl2pPr>
            <a:lvl3pPr algn="l">
              <a:buNone/>
              <a:defRPr sz="2550" b="1">
                <a:solidFill>
                  <a:srgbClr val="F06449"/>
                </a:solidFill>
                <a:latin typeface="Arial"/>
                <a:ea typeface="Arial"/>
                <a:cs typeface="Arial"/>
              </a:defRPr>
            </a:lvl3pPr>
            <a:lvl4pPr algn="l">
              <a:buNone/>
              <a:defRPr sz="2550" b="1">
                <a:solidFill>
                  <a:srgbClr val="F06449"/>
                </a:solidFill>
                <a:latin typeface="Arial"/>
                <a:ea typeface="Arial"/>
                <a:cs typeface="Arial"/>
              </a:defRPr>
            </a:lvl4pPr>
            <a:lvl5pPr algn="l">
              <a:buNone/>
              <a:defRPr sz="2550" b="1">
                <a:solidFill>
                  <a:srgbClr val="F06449"/>
                </a:solidFill>
                <a:latin typeface="Arial"/>
                <a:ea typeface="Arial"/>
                <a:cs typeface="Arial"/>
              </a:defRPr>
            </a:lvl5pPr>
            <a:lvl6pPr algn="l">
              <a:buNone/>
              <a:defRPr sz="2550" b="1">
                <a:solidFill>
                  <a:srgbClr val="F06449"/>
                </a:solidFill>
                <a:latin typeface="Arial"/>
                <a:ea typeface="Arial"/>
                <a:cs typeface="Arial"/>
              </a:defRPr>
            </a:lvl6pPr>
            <a:lvl7pPr algn="l">
              <a:buNone/>
              <a:defRPr sz="2550" b="1">
                <a:solidFill>
                  <a:srgbClr val="F06449"/>
                </a:solidFill>
                <a:latin typeface="Arial"/>
                <a:ea typeface="Arial"/>
                <a:cs typeface="Arial"/>
              </a:defRPr>
            </a:lvl7pPr>
            <a:lvl8pPr algn="l">
              <a:buNone/>
              <a:defRPr sz="2550" b="1">
                <a:solidFill>
                  <a:srgbClr val="F06449"/>
                </a:solidFill>
                <a:latin typeface="Arial"/>
                <a:ea typeface="Arial"/>
                <a:cs typeface="Arial"/>
              </a:defRPr>
            </a:lvl8pPr>
            <a:lvl9pPr algn="l">
              <a:buNone/>
              <a:defRPr sz="2550" b="1">
                <a:solidFill>
                  <a:srgbClr val="F06449"/>
                </a:solidFill>
                <a:latin typeface="Arial"/>
                <a:ea typeface="Arial"/>
                <a:cs typeface="Arial"/>
              </a:defRPr>
            </a:lvl9pPr>
          </a:lstStyle>
          <a:p xmlns:a="http://schemas.openxmlformats.org/drawingml/2006/main">
            <a:pPr algn="l">
              <a:buNone/>
              <a:defRPr sz="2550" b="1">
                <a:solidFill>
                  <a:srgbClr val="F06449"/>
                </a:solidFill>
                <a:latin typeface="Arial"/>
                <a:ea typeface="Arial"/>
                <a:cs typeface="Arial"/>
              </a:defRPr>
            </a:pPr>
            <a:r>
              <a:rPr sz="2550" b="1">
                <a:solidFill>
                  <a:srgbClr val="F06449"/>
                </a:solidFill>
                <a:latin typeface="Arial"/>
                <a:ea typeface="Arial"/>
                <a:cs typeface="Arial"/>
              </a:rPr>
              <a:t>168.3 km²</a:t>
            </a:r>
          </a:p>
        </p:txBody>
      </p:sp>
      <p:sp>
        <p:nvSpPr>
          <p:cNvPr id="7" name="">
            <a:extLst xmlns:a="http://schemas.openxmlformats.org/drawingml/2006/main">
              <a:ext uri="{FF2B5EF4-FFF2-40B4-BE49-F238E27FC236}">
                <a16:creationId xmlns:a16="http://schemas.microsoft.com/office/drawing/2014/main" id="{1A7FA4CF-B5D6-4EA6-8C36-5D6942D012AD}"/>
              </a:ext>
            </a:extLst>
          </p:cNvPr>
          <p:cNvSpPr>
            <a:spLocks xmlns:a="http://schemas.openxmlformats.org/drawingml/2006/main" noGrp="1"/>
          </p:cNvSpPr>
          <p:nvPr/>
        </p:nvSpPr>
        <p:spPr>
          <a:xfrm xmlns:a="http://schemas.openxmlformats.org/drawingml/2006/main">
            <a:off x="7620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AREA WE STUDIED</a:t>
            </a:r>
          </a:p>
        </p:txBody>
      </p:sp>
      <p:sp>
        <p:nvSpPr>
          <p:cNvPr id="8" name="">
            <a:extLst xmlns:a="http://schemas.openxmlformats.org/drawingml/2006/main">
              <a:ext uri="{FF2B5EF4-FFF2-40B4-BE49-F238E27FC236}">
                <a16:creationId xmlns:a16="http://schemas.microsoft.com/office/drawing/2014/main" id="{371A335C-D70F-416C-8413-7BCC005014B0}"/>
              </a:ext>
            </a:extLst>
          </p:cNvPr>
          <p:cNvSpPr>
            <a:spLocks xmlns:a="http://schemas.openxmlformats.org/drawingml/2006/main" noGrp="1"/>
          </p:cNvSpPr>
          <p:nvPr/>
        </p:nvSpPr>
        <p:spPr>
          <a:xfrm xmlns:a="http://schemas.openxmlformats.org/drawingml/2006/main">
            <a:off x="32194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76F6CC25-C8E7-4E5D-8E91-62B512C5E166}"/>
              </a:ext>
            </a:extLst>
          </p:cNvPr>
          <p:cNvSpPr>
            <a:spLocks xmlns:a="http://schemas.openxmlformats.org/drawingml/2006/main" noGrp="1"/>
          </p:cNvSpPr>
          <p:nvPr/>
        </p:nvSpPr>
        <p:spPr>
          <a:xfrm xmlns:a="http://schemas.openxmlformats.org/drawingml/2006/main">
            <a:off x="33909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1 km</a:t>
            </a:r>
          </a:p>
        </p:txBody>
      </p:sp>
      <p:sp>
        <p:nvSpPr>
          <p:cNvPr id="10" name="">
            <a:extLst xmlns:a="http://schemas.openxmlformats.org/drawingml/2006/main">
              <a:ext uri="{FF2B5EF4-FFF2-40B4-BE49-F238E27FC236}">
                <a16:creationId xmlns:a16="http://schemas.microsoft.com/office/drawing/2014/main" id="{16A64CB7-1ED7-4426-80C2-0125644C62DB}"/>
              </a:ext>
            </a:extLst>
          </p:cNvPr>
          <p:cNvSpPr>
            <a:spLocks xmlns:a="http://schemas.openxmlformats.org/drawingml/2006/main" noGrp="1"/>
          </p:cNvSpPr>
          <p:nvPr/>
        </p:nvSpPr>
        <p:spPr>
          <a:xfrm xmlns:a="http://schemas.openxmlformats.org/drawingml/2006/main">
            <a:off x="33909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SIZE OF EACH CELL</a:t>
            </a:r>
          </a:p>
        </p:txBody>
      </p:sp>
      <p:sp>
        <p:nvSpPr>
          <p:cNvPr id="11" name="">
            <a:extLst xmlns:a="http://schemas.openxmlformats.org/drawingml/2006/main">
              <a:ext uri="{FF2B5EF4-FFF2-40B4-BE49-F238E27FC236}">
                <a16:creationId xmlns:a16="http://schemas.microsoft.com/office/drawing/2014/main" id="{CD3E5A9C-32F4-4428-9BBE-2A87595F6BCB}"/>
              </a:ext>
            </a:extLst>
          </p:cNvPr>
          <p:cNvSpPr>
            <a:spLocks xmlns:a="http://schemas.openxmlformats.org/drawingml/2006/main" noGrp="1"/>
          </p:cNvSpPr>
          <p:nvPr/>
        </p:nvSpPr>
        <p:spPr>
          <a:xfrm xmlns:a="http://schemas.openxmlformats.org/drawingml/2006/main">
            <a:off x="58483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8C8513FE-73BB-49A0-9C84-D97CB817F6DE}"/>
              </a:ext>
            </a:extLst>
          </p:cNvPr>
          <p:cNvSpPr>
            <a:spLocks xmlns:a="http://schemas.openxmlformats.org/drawingml/2006/main" noGrp="1"/>
          </p:cNvSpPr>
          <p:nvPr/>
        </p:nvSpPr>
        <p:spPr>
          <a:xfrm xmlns:a="http://schemas.openxmlformats.org/drawingml/2006/main">
            <a:off x="60198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Planners</a:t>
            </a:r>
          </a:p>
        </p:txBody>
      </p:sp>
      <p:sp>
        <p:nvSpPr>
          <p:cNvPr id="13" name="">
            <a:extLst xmlns:a="http://schemas.openxmlformats.org/drawingml/2006/main">
              <a:ext uri="{FF2B5EF4-FFF2-40B4-BE49-F238E27FC236}">
                <a16:creationId xmlns:a16="http://schemas.microsoft.com/office/drawing/2014/main" id="{EE6FA0F3-51AB-4E2D-ABEC-5FEBC2871B92}"/>
              </a:ext>
            </a:extLst>
          </p:cNvPr>
          <p:cNvSpPr>
            <a:spLocks xmlns:a="http://schemas.openxmlformats.org/drawingml/2006/main" noGrp="1"/>
          </p:cNvSpPr>
          <p:nvPr/>
        </p:nvSpPr>
        <p:spPr>
          <a:xfrm xmlns:a="http://schemas.openxmlformats.org/drawingml/2006/main">
            <a:off x="60198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WHO THIS IS FOR</a:t>
            </a:r>
          </a:p>
        </p:txBody>
      </p:sp>
      <p:sp>
        <p:nvSpPr>
          <p:cNvPr id="14" name="">
            <a:extLst xmlns:a="http://schemas.openxmlformats.org/drawingml/2006/main">
              <a:ext uri="{FF2B5EF4-FFF2-40B4-BE49-F238E27FC236}">
                <a16:creationId xmlns:a16="http://schemas.microsoft.com/office/drawing/2014/main" id="{6F0BECCA-6710-4FF2-B220-545BDB36567F}"/>
              </a:ext>
            </a:extLst>
          </p:cNvPr>
          <p:cNvSpPr>
            <a:spLocks xmlns:a="http://schemas.openxmlformats.org/drawingml/2006/main" noGrp="1"/>
          </p:cNvSpPr>
          <p:nvPr/>
        </p:nvSpPr>
        <p:spPr>
          <a:xfrm xmlns:a="http://schemas.openxmlformats.org/drawingml/2006/main">
            <a:off x="8477250" y="1619250"/>
            <a:ext cx="31242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5" name="">
            <a:extLst xmlns:a="http://schemas.openxmlformats.org/drawingml/2006/main">
              <a:ext uri="{FF2B5EF4-FFF2-40B4-BE49-F238E27FC236}">
                <a16:creationId xmlns:a16="http://schemas.microsoft.com/office/drawing/2014/main" id="{1A1F4A58-5CBC-4C7C-A949-34FDD4834CC2}"/>
              </a:ext>
            </a:extLst>
          </p:cNvPr>
          <p:cNvSpPr>
            <a:spLocks xmlns:a="http://schemas.openxmlformats.org/drawingml/2006/main" noGrp="1"/>
          </p:cNvSpPr>
          <p:nvPr/>
        </p:nvSpPr>
        <p:spPr>
          <a:xfrm xmlns:a="http://schemas.openxmlformats.org/drawingml/2006/main">
            <a:off x="8648700" y="173355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vl1pPr algn="l">
              <a:buNone/>
              <a:defRPr sz="2550" b="1">
                <a:solidFill>
                  <a:srgbClr val="6D5DD3"/>
                </a:solidFill>
                <a:latin typeface="Arial"/>
                <a:ea typeface="Arial"/>
                <a:cs typeface="Arial"/>
              </a:defRPr>
            </a:lvl1pPr>
            <a:lvl2pPr algn="l">
              <a:buNone/>
              <a:defRPr sz="2550" b="1">
                <a:solidFill>
                  <a:srgbClr val="6D5DD3"/>
                </a:solidFill>
                <a:latin typeface="Arial"/>
                <a:ea typeface="Arial"/>
                <a:cs typeface="Arial"/>
              </a:defRPr>
            </a:lvl2pPr>
            <a:lvl3pPr algn="l">
              <a:buNone/>
              <a:defRPr sz="2550" b="1">
                <a:solidFill>
                  <a:srgbClr val="6D5DD3"/>
                </a:solidFill>
                <a:latin typeface="Arial"/>
                <a:ea typeface="Arial"/>
                <a:cs typeface="Arial"/>
              </a:defRPr>
            </a:lvl3pPr>
            <a:lvl4pPr algn="l">
              <a:buNone/>
              <a:defRPr sz="2550" b="1">
                <a:solidFill>
                  <a:srgbClr val="6D5DD3"/>
                </a:solidFill>
                <a:latin typeface="Arial"/>
                <a:ea typeface="Arial"/>
                <a:cs typeface="Arial"/>
              </a:defRPr>
            </a:lvl4pPr>
            <a:lvl5pPr algn="l">
              <a:buNone/>
              <a:defRPr sz="2550" b="1">
                <a:solidFill>
                  <a:srgbClr val="6D5DD3"/>
                </a:solidFill>
                <a:latin typeface="Arial"/>
                <a:ea typeface="Arial"/>
                <a:cs typeface="Arial"/>
              </a:defRPr>
            </a:lvl5pPr>
            <a:lvl6pPr algn="l">
              <a:buNone/>
              <a:defRPr sz="2550" b="1">
                <a:solidFill>
                  <a:srgbClr val="6D5DD3"/>
                </a:solidFill>
                <a:latin typeface="Arial"/>
                <a:ea typeface="Arial"/>
                <a:cs typeface="Arial"/>
              </a:defRPr>
            </a:lvl6pPr>
            <a:lvl7pPr algn="l">
              <a:buNone/>
              <a:defRPr sz="2550" b="1">
                <a:solidFill>
                  <a:srgbClr val="6D5DD3"/>
                </a:solidFill>
                <a:latin typeface="Arial"/>
                <a:ea typeface="Arial"/>
                <a:cs typeface="Arial"/>
              </a:defRPr>
            </a:lvl7pPr>
            <a:lvl8pPr algn="l">
              <a:buNone/>
              <a:defRPr sz="2550" b="1">
                <a:solidFill>
                  <a:srgbClr val="6D5DD3"/>
                </a:solidFill>
                <a:latin typeface="Arial"/>
                <a:ea typeface="Arial"/>
                <a:cs typeface="Arial"/>
              </a:defRPr>
            </a:lvl8pPr>
            <a:lvl9pPr algn="l">
              <a:buNone/>
              <a:defRPr sz="2550" b="1">
                <a:solidFill>
                  <a:srgbClr val="6D5DD3"/>
                </a:solidFill>
                <a:latin typeface="Arial"/>
                <a:ea typeface="Arial"/>
                <a:cs typeface="Arial"/>
              </a:defRPr>
            </a:lvl9pPr>
          </a:lstStyle>
          <a:p xmlns:a="http://schemas.openxmlformats.org/drawingml/2006/main">
            <a:pPr algn="l">
              <a:buNone/>
              <a:defRPr sz="2550" b="1">
                <a:solidFill>
                  <a:srgbClr val="6D5DD3"/>
                </a:solidFill>
                <a:latin typeface="Arial"/>
                <a:ea typeface="Arial"/>
                <a:cs typeface="Arial"/>
              </a:defRPr>
            </a:pPr>
            <a:r>
              <a:rPr sz="2550" b="1">
                <a:solidFill>
                  <a:srgbClr val="6D5DD3"/>
                </a:solidFill>
                <a:latin typeface="Arial"/>
                <a:ea typeface="Arial"/>
                <a:cs typeface="Arial"/>
              </a:rPr>
              <a:t>Inspect first</a:t>
            </a:r>
          </a:p>
        </p:txBody>
      </p:sp>
      <p:sp>
        <p:nvSpPr>
          <p:cNvPr id="16" name="">
            <a:extLst xmlns:a="http://schemas.openxmlformats.org/drawingml/2006/main">
              <a:ext uri="{FF2B5EF4-FFF2-40B4-BE49-F238E27FC236}">
                <a16:creationId xmlns:a16="http://schemas.microsoft.com/office/drawing/2014/main" id="{58077EF7-4D4D-424F-938C-641B66B2D4BB}"/>
              </a:ext>
            </a:extLst>
          </p:cNvPr>
          <p:cNvSpPr>
            <a:spLocks xmlns:a="http://schemas.openxmlformats.org/drawingml/2006/main" noGrp="1"/>
          </p:cNvSpPr>
          <p:nvPr/>
        </p:nvSpPr>
        <p:spPr>
          <a:xfrm xmlns:a="http://schemas.openxmlformats.org/drawingml/2006/main">
            <a:off x="8648700" y="22479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WHAT THE TOOL SHOWS</a:t>
            </a:r>
          </a:p>
        </p:txBody>
      </p:sp>
      <p:sp>
        <p:nvSpPr>
          <p:cNvPr id="17" name="">
            <a:extLst xmlns:a="http://schemas.openxmlformats.org/drawingml/2006/main">
              <a:ext uri="{FF2B5EF4-FFF2-40B4-BE49-F238E27FC236}">
                <a16:creationId xmlns:a16="http://schemas.microsoft.com/office/drawing/2014/main" id="{C319642C-F1EF-4C95-83D6-29718AD9E391}"/>
              </a:ext>
            </a:extLst>
          </p:cNvPr>
          <p:cNvSpPr>
            <a:spLocks xmlns:a="http://schemas.openxmlformats.org/drawingml/2006/main" noGrp="1"/>
          </p:cNvSpPr>
          <p:nvPr/>
        </p:nvSpPr>
        <p:spPr>
          <a:xfrm xmlns:a="http://schemas.openxmlformats.org/drawingml/2006/main">
            <a:off x="590550" y="3048000"/>
            <a:ext cx="11010900" cy="2647950"/>
          </a:xfrm>
          <a:prstGeom xmlns:a="http://schemas.openxmlformats.org/drawingml/2006/main" prst="roundRect">
            <a:avLst>
              <a:gd name="adj" fmla="val 575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18F03271-9A91-47CE-BF03-7563D4E38AB2}"/>
              </a:ext>
            </a:extLst>
          </p:cNvPr>
          <p:cNvSpPr>
            <a:spLocks xmlns:a="http://schemas.openxmlformats.org/drawingml/2006/main" noGrp="1"/>
          </p:cNvSpPr>
          <p:nvPr/>
        </p:nvSpPr>
        <p:spPr>
          <a:xfrm xmlns:a="http://schemas.openxmlformats.org/drawingml/2006/main">
            <a:off x="8763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PROBLEM</a:t>
            </a:r>
          </a:p>
        </p:txBody>
      </p:sp>
      <p:sp>
        <p:nvSpPr>
          <p:cNvPr id="19" name="">
            <a:extLst xmlns:a="http://schemas.openxmlformats.org/drawingml/2006/main">
              <a:ext uri="{FF2B5EF4-FFF2-40B4-BE49-F238E27FC236}">
                <a16:creationId xmlns:a16="http://schemas.microsoft.com/office/drawing/2014/main" id="{1FFAECC6-867F-474F-9FC6-179FD63B97ED}"/>
              </a:ext>
            </a:extLst>
          </p:cNvPr>
          <p:cNvSpPr>
            <a:spLocks xmlns:a="http://schemas.openxmlformats.org/drawingml/2006/main" noGrp="1"/>
          </p:cNvSpPr>
          <p:nvPr/>
        </p:nvSpPr>
        <p:spPr>
          <a:xfrm xmlns:a="http://schemas.openxmlformats.org/drawingml/2006/main">
            <a:off x="8763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vl1pPr algn="l">
              <a:buNone/>
              <a:defRPr sz="1800" b="1">
                <a:solidFill>
                  <a:srgbClr val="F3F6F2"/>
                </a:solidFill>
                <a:latin typeface="Arial"/>
                <a:ea typeface="Arial"/>
                <a:cs typeface="Arial"/>
              </a:defRPr>
            </a:lvl1pPr>
            <a:lvl2pPr algn="l">
              <a:buNone/>
              <a:defRPr sz="1800" b="1">
                <a:solidFill>
                  <a:srgbClr val="F3F6F2"/>
                </a:solidFill>
                <a:latin typeface="Arial"/>
                <a:ea typeface="Arial"/>
                <a:cs typeface="Arial"/>
              </a:defRPr>
            </a:lvl2pPr>
            <a:lvl3pPr algn="l">
              <a:buNone/>
              <a:defRPr sz="1800" b="1">
                <a:solidFill>
                  <a:srgbClr val="F3F6F2"/>
                </a:solidFill>
                <a:latin typeface="Arial"/>
                <a:ea typeface="Arial"/>
                <a:cs typeface="Arial"/>
              </a:defRPr>
            </a:lvl3pPr>
            <a:lvl4pPr algn="l">
              <a:buNone/>
              <a:defRPr sz="1800" b="1">
                <a:solidFill>
                  <a:srgbClr val="F3F6F2"/>
                </a:solidFill>
                <a:latin typeface="Arial"/>
                <a:ea typeface="Arial"/>
                <a:cs typeface="Arial"/>
              </a:defRPr>
            </a:lvl4pPr>
            <a:lvl5pPr algn="l">
              <a:buNone/>
              <a:defRPr sz="1800" b="1">
                <a:solidFill>
                  <a:srgbClr val="F3F6F2"/>
                </a:solidFill>
                <a:latin typeface="Arial"/>
                <a:ea typeface="Arial"/>
                <a:cs typeface="Arial"/>
              </a:defRPr>
            </a:lvl5pPr>
            <a:lvl6pPr algn="l">
              <a:buNone/>
              <a:defRPr sz="1800" b="1">
                <a:solidFill>
                  <a:srgbClr val="F3F6F2"/>
                </a:solidFill>
                <a:latin typeface="Arial"/>
                <a:ea typeface="Arial"/>
                <a:cs typeface="Arial"/>
              </a:defRPr>
            </a:lvl6pPr>
            <a:lvl7pPr algn="l">
              <a:buNone/>
              <a:defRPr sz="1800" b="1">
                <a:solidFill>
                  <a:srgbClr val="F3F6F2"/>
                </a:solidFill>
                <a:latin typeface="Arial"/>
                <a:ea typeface="Arial"/>
                <a:cs typeface="Arial"/>
              </a:defRPr>
            </a:lvl7pPr>
            <a:lvl8pPr algn="l">
              <a:buNone/>
              <a:defRPr sz="1800" b="1">
                <a:solidFill>
                  <a:srgbClr val="F3F6F2"/>
                </a:solidFill>
                <a:latin typeface="Arial"/>
                <a:ea typeface="Arial"/>
                <a:cs typeface="Arial"/>
              </a:defRPr>
            </a:lvl8pPr>
            <a:lvl9pPr algn="l">
              <a:buNone/>
              <a:defRPr sz="1800" b="1">
                <a:solidFill>
                  <a:srgbClr val="F3F6F2"/>
                </a:solidFill>
                <a:latin typeface="Arial"/>
                <a:ea typeface="Arial"/>
                <a:cs typeface="Arial"/>
              </a:defRPr>
            </a:lvl9pPr>
          </a:lstStyle>
          <a:p xmlns:a="http://schemas.openxmlformats.org/drawingml/2006/main">
            <a:pPr algn="l">
              <a:buNone/>
              <a:defRPr sz="1800" b="1">
                <a:solidFill>
                  <a:srgbClr val="F3F6F2"/>
                </a:solidFill>
                <a:latin typeface="Arial"/>
                <a:ea typeface="Arial"/>
                <a:cs typeface="Arial"/>
              </a:defRPr>
            </a:pPr>
            <a:r>
              <a:rPr sz="1800" b="1">
                <a:solidFill>
                  <a:srgbClr val="F3F6F2"/>
                </a:solidFill>
                <a:latin typeface="Arial"/>
                <a:ea typeface="Arial"/>
                <a:cs typeface="Arial"/>
              </a:rPr>
              <a:t>Planners may need to compare separate maps for growth, heat, population and vegetation before choosing where to visit.</a:t>
            </a:r>
          </a:p>
        </p:txBody>
      </p:sp>
      <p:sp>
        <p:nvSpPr>
          <p:cNvPr id="20" name="">
            <a:extLst xmlns:a="http://schemas.openxmlformats.org/drawingml/2006/main">
              <a:ext uri="{FF2B5EF4-FFF2-40B4-BE49-F238E27FC236}">
                <a16:creationId xmlns:a16="http://schemas.microsoft.com/office/drawing/2014/main" id="{4C2D463A-24CF-441C-9EF0-4192F1D7C08C}"/>
              </a:ext>
            </a:extLst>
          </p:cNvPr>
          <p:cNvSpPr>
            <a:spLocks xmlns:a="http://schemas.openxmlformats.org/drawingml/2006/main" noGrp="1"/>
          </p:cNvSpPr>
          <p:nvPr/>
        </p:nvSpPr>
        <p:spPr>
          <a:xfrm xmlns:a="http://schemas.openxmlformats.org/drawingml/2006/main">
            <a:off x="5981700" y="3333750"/>
            <a:ext cx="9525" cy="198120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21" name="">
            <a:extLst xmlns:a="http://schemas.openxmlformats.org/drawingml/2006/main">
              <a:ext uri="{FF2B5EF4-FFF2-40B4-BE49-F238E27FC236}">
                <a16:creationId xmlns:a16="http://schemas.microsoft.com/office/drawing/2014/main" id="{8E8E1C0A-365E-46EE-90E6-A8B2BECA54B9}"/>
              </a:ext>
            </a:extLst>
          </p:cNvPr>
          <p:cNvSpPr>
            <a:spLocks xmlns:a="http://schemas.openxmlformats.org/drawingml/2006/main" noGrp="1"/>
          </p:cNvSpPr>
          <p:nvPr/>
        </p:nvSpPr>
        <p:spPr>
          <a:xfrm xmlns:a="http://schemas.openxmlformats.org/drawingml/2006/main">
            <a:off x="63246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OUR IDEA</a:t>
            </a:r>
          </a:p>
        </p:txBody>
      </p:sp>
      <p:sp>
        <p:nvSpPr>
          <p:cNvPr id="22" name="">
            <a:extLst xmlns:a="http://schemas.openxmlformats.org/drawingml/2006/main">
              <a:ext uri="{FF2B5EF4-FFF2-40B4-BE49-F238E27FC236}">
                <a16:creationId xmlns:a16="http://schemas.microsoft.com/office/drawing/2014/main" id="{5B597C61-6804-46B5-9315-26656345FF4A}"/>
              </a:ext>
            </a:extLst>
          </p:cNvPr>
          <p:cNvSpPr>
            <a:spLocks xmlns:a="http://schemas.openxmlformats.org/drawingml/2006/main" noGrp="1"/>
          </p:cNvSpPr>
          <p:nvPr/>
        </p:nvSpPr>
        <p:spPr>
          <a:xfrm xmlns:a="http://schemas.openxmlformats.org/drawingml/2006/main">
            <a:off x="63246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vl1pPr algn="l">
              <a:buNone/>
              <a:defRPr sz="1800" b="1">
                <a:solidFill>
                  <a:srgbClr val="F3F6F2"/>
                </a:solidFill>
                <a:latin typeface="Arial"/>
                <a:ea typeface="Arial"/>
                <a:cs typeface="Arial"/>
              </a:defRPr>
            </a:lvl1pPr>
            <a:lvl2pPr algn="l">
              <a:buNone/>
              <a:defRPr sz="1800" b="1">
                <a:solidFill>
                  <a:srgbClr val="F3F6F2"/>
                </a:solidFill>
                <a:latin typeface="Arial"/>
                <a:ea typeface="Arial"/>
                <a:cs typeface="Arial"/>
              </a:defRPr>
            </a:lvl2pPr>
            <a:lvl3pPr algn="l">
              <a:buNone/>
              <a:defRPr sz="1800" b="1">
                <a:solidFill>
                  <a:srgbClr val="F3F6F2"/>
                </a:solidFill>
                <a:latin typeface="Arial"/>
                <a:ea typeface="Arial"/>
                <a:cs typeface="Arial"/>
              </a:defRPr>
            </a:lvl3pPr>
            <a:lvl4pPr algn="l">
              <a:buNone/>
              <a:defRPr sz="1800" b="1">
                <a:solidFill>
                  <a:srgbClr val="F3F6F2"/>
                </a:solidFill>
                <a:latin typeface="Arial"/>
                <a:ea typeface="Arial"/>
                <a:cs typeface="Arial"/>
              </a:defRPr>
            </a:lvl4pPr>
            <a:lvl5pPr algn="l">
              <a:buNone/>
              <a:defRPr sz="1800" b="1">
                <a:solidFill>
                  <a:srgbClr val="F3F6F2"/>
                </a:solidFill>
                <a:latin typeface="Arial"/>
                <a:ea typeface="Arial"/>
                <a:cs typeface="Arial"/>
              </a:defRPr>
            </a:lvl5pPr>
            <a:lvl6pPr algn="l">
              <a:buNone/>
              <a:defRPr sz="1800" b="1">
                <a:solidFill>
                  <a:srgbClr val="F3F6F2"/>
                </a:solidFill>
                <a:latin typeface="Arial"/>
                <a:ea typeface="Arial"/>
                <a:cs typeface="Arial"/>
              </a:defRPr>
            </a:lvl6pPr>
            <a:lvl7pPr algn="l">
              <a:buNone/>
              <a:defRPr sz="1800" b="1">
                <a:solidFill>
                  <a:srgbClr val="F3F6F2"/>
                </a:solidFill>
                <a:latin typeface="Arial"/>
                <a:ea typeface="Arial"/>
                <a:cs typeface="Arial"/>
              </a:defRPr>
            </a:lvl7pPr>
            <a:lvl8pPr algn="l">
              <a:buNone/>
              <a:defRPr sz="1800" b="1">
                <a:solidFill>
                  <a:srgbClr val="F3F6F2"/>
                </a:solidFill>
                <a:latin typeface="Arial"/>
                <a:ea typeface="Arial"/>
                <a:cs typeface="Arial"/>
              </a:defRPr>
            </a:lvl8pPr>
            <a:lvl9pPr algn="l">
              <a:buNone/>
              <a:defRPr sz="1800" b="1">
                <a:solidFill>
                  <a:srgbClr val="F3F6F2"/>
                </a:solidFill>
                <a:latin typeface="Arial"/>
                <a:ea typeface="Arial"/>
                <a:cs typeface="Arial"/>
              </a:defRPr>
            </a:lvl9pPr>
          </a:lstStyle>
          <a:p xmlns:a="http://schemas.openxmlformats.org/drawingml/2006/main">
            <a:pPr algn="l">
              <a:buNone/>
              <a:defRPr sz="1800" b="1">
                <a:solidFill>
                  <a:srgbClr val="F3F6F2"/>
                </a:solidFill>
                <a:latin typeface="Arial"/>
                <a:ea typeface="Arial"/>
                <a:cs typeface="Arial"/>
              </a:defRPr>
            </a:pPr>
            <a:r>
              <a:rPr sz="1800" b="1">
                <a:solidFill>
                  <a:srgbClr val="F3F6F2"/>
                </a:solidFill>
                <a:latin typeface="Arial"/>
                <a:ea typeface="Arial"/>
                <a:cs typeface="Arial"/>
              </a:rPr>
              <a:t>HeatReady combines those maps and ranks 1 km areas. It gives planners a place to start, not a final decision.</a:t>
            </a:r>
          </a:p>
        </p:txBody>
      </p:sp>
    </p:spTree>
    <p:extLst>
      <p:ext uri="{BB962C8B-B14F-4D97-AF65-F5344CB8AC3E}">
        <p14:creationId xmlns:p14="http://schemas.microsoft.com/office/powerpoint/2010/main" val="134767712"/>
      </p:ext>
    </p:extLst>
  </p:cSld>
</p:sld>
</file>

<file path=ppt/slides/slide4.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F1BC564-D456-45E5-B417-233B6695878A}"/>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THE ANSWER</a:t>
            </a:r>
          </a:p>
        </p:txBody>
      </p:sp>
      <p:sp>
        <p:nvSpPr>
          <p:cNvPr id="2" name="">
            <a:extLst xmlns:a="http://schemas.openxmlformats.org/drawingml/2006/main">
              <a:ext uri="{FF2B5EF4-FFF2-40B4-BE49-F238E27FC236}">
                <a16:creationId xmlns:a16="http://schemas.microsoft.com/office/drawing/2014/main" id="{655F0DAC-8995-4304-BA1A-45499A563066}"/>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Where planners should inspect first</a:t>
            </a:r>
          </a:p>
        </p:txBody>
      </p:sp>
      <p:sp>
        <p:nvSpPr>
          <p:cNvPr id="3" name="">
            <a:extLst xmlns:a="http://schemas.openxmlformats.org/drawingml/2006/main">
              <a:ext uri="{FF2B5EF4-FFF2-40B4-BE49-F238E27FC236}">
                <a16:creationId xmlns:a16="http://schemas.microsoft.com/office/drawing/2014/main" id="{3F99823B-A178-49D0-AB9E-03F34CEB12E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1513DDA-5390-43EE-A9C5-D0CC1C0306E4}"/>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F0910914-0DA3-4F62-BC80-8D9ABF9BDECF}"/>
              </a:ext>
            </a:extLst>
          </p:cNvPr>
          <p:cNvPicPr>
            <a:picLocks xmlns:a="http://schemas.openxmlformats.org/drawingml/2006/main" noChangeAspect="1"/>
          </p:cNvPicPr>
          <p:nvPr/>
        </p:nvPicPr>
        <p:blipFill>
          <a:blip xmlns:r="http://schemas.openxmlformats.org/officeDocument/2006/relationships" xmlns:a="http://schemas.openxmlformats.org/drawingml/2006/main" r:embed="Rb81bdd1b0b04421f"/>
          <a:stretch xmlns:a="http://schemas.openxmlformats.org/drawingml/2006/main"/>
        </p:blipFill>
        <p:spPr>
          <a:xfrm xmlns:a="http://schemas.openxmlformats.org/drawingml/2006/main">
            <a:off x="1128967" y="1485900"/>
            <a:ext cx="4304790" cy="4762500"/>
          </a:xfrm>
          <a:prstGeom xmlns:a="http://schemas.openxmlformats.org/drawingml/2006/main" prst="roundRect">
            <a:avLst>
              <a:gd name="adj" fmla="val 2000"/>
            </a:avLst>
          </a:prstGeom>
        </p:spPr>
      </p:pic>
      <p:pic>
        <p:nvPicPr>
          <p:cNvPr id="6" name="">
            <a:extLst xmlns:a="http://schemas.openxmlformats.org/drawingml/2006/main">
              <a:ext uri="{FF2B5EF4-FFF2-40B4-BE49-F238E27FC236}">
                <a16:creationId xmlns:a16="http://schemas.microsoft.com/office/drawing/2014/main" id="{84C090A4-1724-478B-9CF2-2F8AFE84FC76}"/>
              </a:ext>
            </a:extLst>
          </p:cNvPr>
          <p:cNvPicPr>
            <a:picLocks xmlns:a="http://schemas.openxmlformats.org/drawingml/2006/main" noChangeAspect="1"/>
          </p:cNvPicPr>
          <p:nvPr/>
        </p:nvPicPr>
        <p:blipFill>
          <a:blip xmlns:r="http://schemas.openxmlformats.org/officeDocument/2006/relationships" xmlns:a="http://schemas.openxmlformats.org/drawingml/2006/main" r:embed="R10dd0753409146f5"/>
          <a:stretch xmlns:a="http://schemas.openxmlformats.org/drawingml/2006/main"/>
        </p:blipFill>
        <p:spPr>
          <a:xfrm xmlns:a="http://schemas.openxmlformats.org/drawingml/2006/main">
            <a:off x="6229350" y="1562100"/>
            <a:ext cx="5372100" cy="2571750"/>
          </a:xfrm>
          <a:prstGeom xmlns:a="http://schemas.openxmlformats.org/drawingml/2006/main" prst="roundRect">
            <a:avLst>
              <a:gd name="adj" fmla="val 3704"/>
            </a:avLst>
          </a:prstGeom>
        </p:spPr>
      </p:pic>
      <p:sp>
        <p:nvSpPr>
          <p:cNvPr id="7" name="">
            <a:extLst xmlns:a="http://schemas.openxmlformats.org/drawingml/2006/main">
              <a:ext uri="{FF2B5EF4-FFF2-40B4-BE49-F238E27FC236}">
                <a16:creationId xmlns:a16="http://schemas.microsoft.com/office/drawing/2014/main" id="{6FC8F549-06B3-4D08-9283-E16B04AE8E9E}"/>
              </a:ext>
            </a:extLst>
          </p:cNvPr>
          <p:cNvSpPr>
            <a:spLocks xmlns:a="http://schemas.openxmlformats.org/drawingml/2006/main" noGrp="1"/>
          </p:cNvSpPr>
          <p:nvPr/>
        </p:nvSpPr>
        <p:spPr>
          <a:xfrm xmlns:a="http://schemas.openxmlformats.org/drawingml/2006/main">
            <a:off x="62293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8" name="">
            <a:extLst xmlns:a="http://schemas.openxmlformats.org/drawingml/2006/main">
              <a:ext uri="{FF2B5EF4-FFF2-40B4-BE49-F238E27FC236}">
                <a16:creationId xmlns:a16="http://schemas.microsoft.com/office/drawing/2014/main" id="{5516A5D2-F89B-4164-8458-2FF063A88C01}"/>
              </a:ext>
            </a:extLst>
          </p:cNvPr>
          <p:cNvSpPr>
            <a:spLocks xmlns:a="http://schemas.openxmlformats.org/drawingml/2006/main" noGrp="1"/>
          </p:cNvSpPr>
          <p:nvPr/>
        </p:nvSpPr>
        <p:spPr>
          <a:xfrm xmlns:a="http://schemas.openxmlformats.org/drawingml/2006/main">
            <a:off x="64008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vl1pPr algn="l">
              <a:buNone/>
              <a:defRPr sz="2550" b="1">
                <a:solidFill>
                  <a:srgbClr val="F06449"/>
                </a:solidFill>
                <a:latin typeface="Arial"/>
                <a:ea typeface="Arial"/>
                <a:cs typeface="Arial"/>
              </a:defRPr>
            </a:lvl1pPr>
            <a:lvl2pPr algn="l">
              <a:buNone/>
              <a:defRPr sz="2550" b="1">
                <a:solidFill>
                  <a:srgbClr val="F06449"/>
                </a:solidFill>
                <a:latin typeface="Arial"/>
                <a:ea typeface="Arial"/>
                <a:cs typeface="Arial"/>
              </a:defRPr>
            </a:lvl2pPr>
            <a:lvl3pPr algn="l">
              <a:buNone/>
              <a:defRPr sz="2550" b="1">
                <a:solidFill>
                  <a:srgbClr val="F06449"/>
                </a:solidFill>
                <a:latin typeface="Arial"/>
                <a:ea typeface="Arial"/>
                <a:cs typeface="Arial"/>
              </a:defRPr>
            </a:lvl3pPr>
            <a:lvl4pPr algn="l">
              <a:buNone/>
              <a:defRPr sz="2550" b="1">
                <a:solidFill>
                  <a:srgbClr val="F06449"/>
                </a:solidFill>
                <a:latin typeface="Arial"/>
                <a:ea typeface="Arial"/>
                <a:cs typeface="Arial"/>
              </a:defRPr>
            </a:lvl4pPr>
            <a:lvl5pPr algn="l">
              <a:buNone/>
              <a:defRPr sz="2550" b="1">
                <a:solidFill>
                  <a:srgbClr val="F06449"/>
                </a:solidFill>
                <a:latin typeface="Arial"/>
                <a:ea typeface="Arial"/>
                <a:cs typeface="Arial"/>
              </a:defRPr>
            </a:lvl5pPr>
            <a:lvl6pPr algn="l">
              <a:buNone/>
              <a:defRPr sz="2550" b="1">
                <a:solidFill>
                  <a:srgbClr val="F06449"/>
                </a:solidFill>
                <a:latin typeface="Arial"/>
                <a:ea typeface="Arial"/>
                <a:cs typeface="Arial"/>
              </a:defRPr>
            </a:lvl6pPr>
            <a:lvl7pPr algn="l">
              <a:buNone/>
              <a:defRPr sz="2550" b="1">
                <a:solidFill>
                  <a:srgbClr val="F06449"/>
                </a:solidFill>
                <a:latin typeface="Arial"/>
                <a:ea typeface="Arial"/>
                <a:cs typeface="Arial"/>
              </a:defRPr>
            </a:lvl7pPr>
            <a:lvl8pPr algn="l">
              <a:buNone/>
              <a:defRPr sz="2550" b="1">
                <a:solidFill>
                  <a:srgbClr val="F06449"/>
                </a:solidFill>
                <a:latin typeface="Arial"/>
                <a:ea typeface="Arial"/>
                <a:cs typeface="Arial"/>
              </a:defRPr>
            </a:lvl8pPr>
            <a:lvl9pPr algn="l">
              <a:buNone/>
              <a:defRPr sz="2550" b="1">
                <a:solidFill>
                  <a:srgbClr val="F06449"/>
                </a:solidFill>
                <a:latin typeface="Arial"/>
                <a:ea typeface="Arial"/>
                <a:cs typeface="Arial"/>
              </a:defRPr>
            </a:lvl9pPr>
          </a:lstStyle>
          <a:p xmlns:a="http://schemas.openxmlformats.org/drawingml/2006/main">
            <a:pPr algn="l">
              <a:buNone/>
              <a:defRPr sz="2550" b="1">
                <a:solidFill>
                  <a:srgbClr val="F06449"/>
                </a:solidFill>
                <a:latin typeface="Arial"/>
                <a:ea typeface="Arial"/>
                <a:cs typeface="Arial"/>
              </a:defRPr>
            </a:pPr>
            <a:r>
              <a:rPr sz="2550" b="1">
                <a:solidFill>
                  <a:srgbClr val="F06449"/>
                </a:solidFill>
                <a:latin typeface="Arial"/>
                <a:ea typeface="Arial"/>
                <a:cs typeface="Arial"/>
              </a:rPr>
              <a:t>3.74 km²</a:t>
            </a:r>
          </a:p>
        </p:txBody>
      </p:sp>
      <p:sp>
        <p:nvSpPr>
          <p:cNvPr id="9" name="">
            <a:extLst xmlns:a="http://schemas.openxmlformats.org/drawingml/2006/main">
              <a:ext uri="{FF2B5EF4-FFF2-40B4-BE49-F238E27FC236}">
                <a16:creationId xmlns:a16="http://schemas.microsoft.com/office/drawing/2014/main" id="{4C0D6811-D0C8-469C-BBC9-2F82C960E012}"/>
              </a:ext>
            </a:extLst>
          </p:cNvPr>
          <p:cNvSpPr>
            <a:spLocks xmlns:a="http://schemas.openxmlformats.org/drawingml/2006/main" noGrp="1"/>
          </p:cNvSpPr>
          <p:nvPr/>
        </p:nvSpPr>
        <p:spPr>
          <a:xfrm xmlns:a="http://schemas.openxmlformats.org/drawingml/2006/main">
            <a:off x="64008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CONFIRMED GROWTH SIGNAL</a:t>
            </a:r>
          </a:p>
        </p:txBody>
      </p:sp>
      <p:sp>
        <p:nvSpPr>
          <p:cNvPr id="10" name="">
            <a:extLst xmlns:a="http://schemas.openxmlformats.org/drawingml/2006/main">
              <a:ext uri="{FF2B5EF4-FFF2-40B4-BE49-F238E27FC236}">
                <a16:creationId xmlns:a16="http://schemas.microsoft.com/office/drawing/2014/main" id="{990345E1-7C8B-4EFE-AF83-327FF9AC9BBF}"/>
              </a:ext>
            </a:extLst>
          </p:cNvPr>
          <p:cNvSpPr>
            <a:spLocks xmlns:a="http://schemas.openxmlformats.org/drawingml/2006/main" noGrp="1"/>
          </p:cNvSpPr>
          <p:nvPr/>
        </p:nvSpPr>
        <p:spPr>
          <a:xfrm xmlns:a="http://schemas.openxmlformats.org/drawingml/2006/main">
            <a:off x="80200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1" name="">
            <a:extLst xmlns:a="http://schemas.openxmlformats.org/drawingml/2006/main">
              <a:ext uri="{FF2B5EF4-FFF2-40B4-BE49-F238E27FC236}">
                <a16:creationId xmlns:a16="http://schemas.microsoft.com/office/drawing/2014/main" id="{AA0ABDC6-2CEE-43AD-A977-13841824ABC3}"/>
              </a:ext>
            </a:extLst>
          </p:cNvPr>
          <p:cNvSpPr>
            <a:spLocks xmlns:a="http://schemas.openxmlformats.org/drawingml/2006/main" noGrp="1"/>
          </p:cNvSpPr>
          <p:nvPr/>
        </p:nvSpPr>
        <p:spPr>
          <a:xfrm xmlns:a="http://schemas.openxmlformats.org/drawingml/2006/main">
            <a:off x="81915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14 / 67</a:t>
            </a:r>
          </a:p>
        </p:txBody>
      </p:sp>
      <p:sp>
        <p:nvSpPr>
          <p:cNvPr id="12" name="">
            <a:extLst xmlns:a="http://schemas.openxmlformats.org/drawingml/2006/main">
              <a:ext uri="{FF2B5EF4-FFF2-40B4-BE49-F238E27FC236}">
                <a16:creationId xmlns:a16="http://schemas.microsoft.com/office/drawing/2014/main" id="{72C8A53F-5DBE-4A27-B5C6-A497DC8645CF}"/>
              </a:ext>
            </a:extLst>
          </p:cNvPr>
          <p:cNvSpPr>
            <a:spLocks xmlns:a="http://schemas.openxmlformats.org/drawingml/2006/main" noGrp="1"/>
          </p:cNvSpPr>
          <p:nvPr/>
        </p:nvSpPr>
        <p:spPr>
          <a:xfrm xmlns:a="http://schemas.openxmlformats.org/drawingml/2006/main">
            <a:off x="81915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HIGH / ELIGIBLE CELLS</a:t>
            </a:r>
          </a:p>
        </p:txBody>
      </p:sp>
      <p:sp>
        <p:nvSpPr>
          <p:cNvPr id="13" name="">
            <a:extLst xmlns:a="http://schemas.openxmlformats.org/drawingml/2006/main">
              <a:ext uri="{FF2B5EF4-FFF2-40B4-BE49-F238E27FC236}">
                <a16:creationId xmlns:a16="http://schemas.microsoft.com/office/drawing/2014/main" id="{635F133B-7BD6-4CBD-B896-EC41868A0529}"/>
              </a:ext>
            </a:extLst>
          </p:cNvPr>
          <p:cNvSpPr>
            <a:spLocks xmlns:a="http://schemas.openxmlformats.org/drawingml/2006/main" noGrp="1"/>
          </p:cNvSpPr>
          <p:nvPr/>
        </p:nvSpPr>
        <p:spPr>
          <a:xfrm xmlns:a="http://schemas.openxmlformats.org/drawingml/2006/main">
            <a:off x="9810750" y="43243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F5278050-63B0-42DF-81A6-AA4D8858BCF2}"/>
              </a:ext>
            </a:extLst>
          </p:cNvPr>
          <p:cNvSpPr>
            <a:spLocks xmlns:a="http://schemas.openxmlformats.org/drawingml/2006/main" noGrp="1"/>
          </p:cNvSpPr>
          <p:nvPr/>
        </p:nvSpPr>
        <p:spPr>
          <a:xfrm xmlns:a="http://schemas.openxmlformats.org/drawingml/2006/main">
            <a:off x="9982200" y="44386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78.7</a:t>
            </a:r>
          </a:p>
        </p:txBody>
      </p:sp>
      <p:sp>
        <p:nvSpPr>
          <p:cNvPr id="15" name="">
            <a:extLst xmlns:a="http://schemas.openxmlformats.org/drawingml/2006/main">
              <a:ext uri="{FF2B5EF4-FFF2-40B4-BE49-F238E27FC236}">
                <a16:creationId xmlns:a16="http://schemas.microsoft.com/office/drawing/2014/main" id="{748DF7EE-4F01-44D7-BA6F-2FA308BA17EF}"/>
              </a:ext>
            </a:extLst>
          </p:cNvPr>
          <p:cNvSpPr>
            <a:spLocks xmlns:a="http://schemas.openxmlformats.org/drawingml/2006/main" noGrp="1"/>
          </p:cNvSpPr>
          <p:nvPr/>
        </p:nvSpPr>
        <p:spPr>
          <a:xfrm xmlns:a="http://schemas.openxmlformats.org/drawingml/2006/main">
            <a:off x="9982200" y="49530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TOP SCORE: R05C10</a:t>
            </a:r>
          </a:p>
        </p:txBody>
      </p:sp>
      <p:sp>
        <p:nvSpPr>
          <p:cNvPr id="16" name="">
            <a:extLst xmlns:a="http://schemas.openxmlformats.org/drawingml/2006/main">
              <a:ext uri="{FF2B5EF4-FFF2-40B4-BE49-F238E27FC236}">
                <a16:creationId xmlns:a16="http://schemas.microsoft.com/office/drawing/2014/main" id="{5EAE414E-EE46-43ED-A2F5-8EFAB06D0621}"/>
              </a:ext>
            </a:extLst>
          </p:cNvPr>
          <p:cNvSpPr>
            <a:spLocks xmlns:a="http://schemas.openxmlformats.org/drawingml/2006/main" noGrp="1"/>
          </p:cNvSpPr>
          <p:nvPr/>
        </p:nvSpPr>
        <p:spPr>
          <a:xfrm xmlns:a="http://schemas.openxmlformats.org/drawingml/2006/main">
            <a:off x="6229350" y="5543550"/>
            <a:ext cx="5372100" cy="704850"/>
          </a:xfrm>
          <a:prstGeom xmlns:a="http://schemas.openxmlformats.org/drawingml/2006/main" prst="roundRect">
            <a:avLst>
              <a:gd name="adj" fmla="val 13514"/>
            </a:avLst>
          </a:prstGeom>
          <a:solidFill xmlns:a="http://schemas.openxmlformats.org/drawingml/2006/main">
            <a:srgbClr val="113646"/>
          </a:solidFill>
          <a:ln xmlns:a="http://schemas.openxmlformats.org/drawingml/2006/main" w="9525">
            <a:solidFill>
              <a:srgbClr val="31505F"/>
            </a:solidFill>
            <a:prstDash val="solid"/>
          </a:ln>
        </p:spPr>
      </p:sp>
      <p:sp>
        <p:nvSpPr>
          <p:cNvPr id="17" name="">
            <a:extLst xmlns:a="http://schemas.openxmlformats.org/drawingml/2006/main">
              <a:ext uri="{FF2B5EF4-FFF2-40B4-BE49-F238E27FC236}">
                <a16:creationId xmlns:a16="http://schemas.microsoft.com/office/drawing/2014/main" id="{F52CE2C4-71B3-4124-843B-6D8A96995B56}"/>
              </a:ext>
            </a:extLst>
          </p:cNvPr>
          <p:cNvSpPr>
            <a:spLocks xmlns:a="http://schemas.openxmlformats.org/drawingml/2006/main" noGrp="1"/>
          </p:cNvSpPr>
          <p:nvPr/>
        </p:nvSpPr>
        <p:spPr>
          <a:xfrm xmlns:a="http://schemas.openxmlformats.org/drawingml/2006/main">
            <a:off x="6438900" y="56483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vl1pPr algn="l">
              <a:buNone/>
              <a:defRPr sz="1200" b="1">
                <a:solidFill>
                  <a:srgbClr val="F3F6F2"/>
                </a:solidFill>
                <a:latin typeface="Arial"/>
                <a:ea typeface="Arial"/>
                <a:cs typeface="Arial"/>
              </a:defRPr>
            </a:lvl1pPr>
            <a:lvl2pPr algn="l">
              <a:buNone/>
              <a:defRPr sz="1200" b="1">
                <a:solidFill>
                  <a:srgbClr val="F3F6F2"/>
                </a:solidFill>
                <a:latin typeface="Arial"/>
                <a:ea typeface="Arial"/>
                <a:cs typeface="Arial"/>
              </a:defRPr>
            </a:lvl2pPr>
            <a:lvl3pPr algn="l">
              <a:buNone/>
              <a:defRPr sz="1200" b="1">
                <a:solidFill>
                  <a:srgbClr val="F3F6F2"/>
                </a:solidFill>
                <a:latin typeface="Arial"/>
                <a:ea typeface="Arial"/>
                <a:cs typeface="Arial"/>
              </a:defRPr>
            </a:lvl3pPr>
            <a:lvl4pPr algn="l">
              <a:buNone/>
              <a:defRPr sz="1200" b="1">
                <a:solidFill>
                  <a:srgbClr val="F3F6F2"/>
                </a:solidFill>
                <a:latin typeface="Arial"/>
                <a:ea typeface="Arial"/>
                <a:cs typeface="Arial"/>
              </a:defRPr>
            </a:lvl4pPr>
            <a:lvl5pPr algn="l">
              <a:buNone/>
              <a:defRPr sz="1200" b="1">
                <a:solidFill>
                  <a:srgbClr val="F3F6F2"/>
                </a:solidFill>
                <a:latin typeface="Arial"/>
                <a:ea typeface="Arial"/>
                <a:cs typeface="Arial"/>
              </a:defRPr>
            </a:lvl5pPr>
            <a:lvl6pPr algn="l">
              <a:buNone/>
              <a:defRPr sz="1200" b="1">
                <a:solidFill>
                  <a:srgbClr val="F3F6F2"/>
                </a:solidFill>
                <a:latin typeface="Arial"/>
                <a:ea typeface="Arial"/>
                <a:cs typeface="Arial"/>
              </a:defRPr>
            </a:lvl6pPr>
            <a:lvl7pPr algn="l">
              <a:buNone/>
              <a:defRPr sz="1200" b="1">
                <a:solidFill>
                  <a:srgbClr val="F3F6F2"/>
                </a:solidFill>
                <a:latin typeface="Arial"/>
                <a:ea typeface="Arial"/>
                <a:cs typeface="Arial"/>
              </a:defRPr>
            </a:lvl7pPr>
            <a:lvl8pPr algn="l">
              <a:buNone/>
              <a:defRPr sz="1200" b="1">
                <a:solidFill>
                  <a:srgbClr val="F3F6F2"/>
                </a:solidFill>
                <a:latin typeface="Arial"/>
                <a:ea typeface="Arial"/>
                <a:cs typeface="Arial"/>
              </a:defRPr>
            </a:lvl8pPr>
            <a:lvl9pPr algn="l">
              <a:buNone/>
              <a:defRPr sz="1200" b="1">
                <a:solidFill>
                  <a:srgbClr val="F3F6F2"/>
                </a:solidFill>
                <a:latin typeface="Arial"/>
                <a:ea typeface="Arial"/>
                <a:cs typeface="Arial"/>
              </a:defRPr>
            </a:lvl9pPr>
          </a:lstStyle>
          <a:p xmlns:a="http://schemas.openxmlformats.org/drawingml/2006/main">
            <a:pPr algn="l">
              <a:buNone/>
              <a:defRPr sz="1200" b="1">
                <a:solidFill>
                  <a:srgbClr val="F3F6F2"/>
                </a:solidFill>
                <a:latin typeface="Arial"/>
                <a:ea typeface="Arial"/>
                <a:cs typeface="Arial"/>
              </a:defRPr>
            </a:pPr>
            <a:r>
              <a:rPr sz="1200" b="1">
                <a:solidFill>
                  <a:srgbClr val="F3F6F2"/>
                </a:solidFill>
                <a:latin typeface="Arial"/>
                <a:ea typeface="Arial"/>
                <a:cs typeface="Arial"/>
              </a:rPr>
              <a:t>The same result is available as a map, a table and GIS files.</a:t>
            </a:r>
          </a:p>
        </p:txBody>
      </p:sp>
    </p:spTree>
    <p:extLst>
      <p:ext uri="{BB962C8B-B14F-4D97-AF65-F5344CB8AC3E}">
        <p14:creationId xmlns:p14="http://schemas.microsoft.com/office/powerpoint/2010/main" val="1869661710"/>
      </p:ext>
    </p:extLst>
  </p:cSld>
</p:sld>
</file>

<file path=ppt/slides/slide5.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042D8F9-7FF3-478F-8B5B-9E7A383D390D}"/>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DATA AND METHOD</a:t>
            </a:r>
          </a:p>
        </p:txBody>
      </p:sp>
      <p:sp>
        <p:nvSpPr>
          <p:cNvPr id="2" name="">
            <a:extLst xmlns:a="http://schemas.openxmlformats.org/drawingml/2006/main">
              <a:ext uri="{FF2B5EF4-FFF2-40B4-BE49-F238E27FC236}">
                <a16:creationId xmlns:a16="http://schemas.microsoft.com/office/drawing/2014/main" id="{72E7C2D2-7E2F-477E-A4E4-7E40D4A8DC8C}"/>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The data behind the answer</a:t>
            </a:r>
          </a:p>
        </p:txBody>
      </p:sp>
      <p:sp>
        <p:nvSpPr>
          <p:cNvPr id="3" name="">
            <a:extLst xmlns:a="http://schemas.openxmlformats.org/drawingml/2006/main">
              <a:ext uri="{FF2B5EF4-FFF2-40B4-BE49-F238E27FC236}">
                <a16:creationId xmlns:a16="http://schemas.microsoft.com/office/drawing/2014/main" id="{14ABABF5-20FA-43DD-AA9B-A35A62F664CE}"/>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002BECAC-DB57-4799-B76A-F72B77D5F89E}"/>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3EE68BA7-4A71-4465-86AB-BE31D31B7C6B}"/>
              </a:ext>
            </a:extLst>
          </p:cNvPr>
          <p:cNvSpPr>
            <a:spLocks xmlns:a="http://schemas.openxmlformats.org/drawingml/2006/main" noGrp="1"/>
          </p:cNvSpPr>
          <p:nvPr/>
        </p:nvSpPr>
        <p:spPr>
          <a:xfrm xmlns:a="http://schemas.openxmlformats.org/drawingml/2006/main">
            <a:off x="590550" y="1562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338A2FD0-C617-4CEF-A6BC-ADC3449965ED}"/>
              </a:ext>
            </a:extLst>
          </p:cNvPr>
          <p:cNvSpPr>
            <a:spLocks xmlns:a="http://schemas.openxmlformats.org/drawingml/2006/main" noGrp="1"/>
          </p:cNvSpPr>
          <p:nvPr/>
        </p:nvSpPr>
        <p:spPr>
          <a:xfrm xmlns:a="http://schemas.openxmlformats.org/drawingml/2006/main">
            <a:off x="590550" y="1562100"/>
            <a:ext cx="76200" cy="514350"/>
          </a:xfrm>
          <a:prstGeom xmlns:a="http://schemas.openxmlformats.org/drawingml/2006/main" prst="rect">
            <a:avLst/>
          </a:prstGeom>
          <a:solidFill xmlns:a="http://schemas.openxmlformats.org/drawingml/2006/main">
            <a:srgbClr val="1AA58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FD67BC-FE4B-460C-8732-93376B0589F4}"/>
              </a:ext>
            </a:extLst>
          </p:cNvPr>
          <p:cNvSpPr>
            <a:spLocks xmlns:a="http://schemas.openxmlformats.org/drawingml/2006/main" noGrp="1"/>
          </p:cNvSpPr>
          <p:nvPr/>
        </p:nvSpPr>
        <p:spPr>
          <a:xfrm xmlns:a="http://schemas.openxmlformats.org/drawingml/2006/main">
            <a:off x="800100" y="1638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vl1pPr algn="l">
              <a:buNone/>
              <a:defRPr sz="1350" b="1">
                <a:solidFill>
                  <a:srgbClr val="1AA58F"/>
                </a:solidFill>
                <a:latin typeface="Arial"/>
                <a:ea typeface="Arial"/>
                <a:cs typeface="Arial"/>
              </a:defRPr>
            </a:lvl1pPr>
            <a:lvl2pPr algn="l">
              <a:buNone/>
              <a:defRPr sz="1350" b="1">
                <a:solidFill>
                  <a:srgbClr val="1AA58F"/>
                </a:solidFill>
                <a:latin typeface="Arial"/>
                <a:ea typeface="Arial"/>
                <a:cs typeface="Arial"/>
              </a:defRPr>
            </a:lvl2pPr>
            <a:lvl3pPr algn="l">
              <a:buNone/>
              <a:defRPr sz="1350" b="1">
                <a:solidFill>
                  <a:srgbClr val="1AA58F"/>
                </a:solidFill>
                <a:latin typeface="Arial"/>
                <a:ea typeface="Arial"/>
                <a:cs typeface="Arial"/>
              </a:defRPr>
            </a:lvl3pPr>
            <a:lvl4pPr algn="l">
              <a:buNone/>
              <a:defRPr sz="1350" b="1">
                <a:solidFill>
                  <a:srgbClr val="1AA58F"/>
                </a:solidFill>
                <a:latin typeface="Arial"/>
                <a:ea typeface="Arial"/>
                <a:cs typeface="Arial"/>
              </a:defRPr>
            </a:lvl4pPr>
            <a:lvl5pPr algn="l">
              <a:buNone/>
              <a:defRPr sz="1350" b="1">
                <a:solidFill>
                  <a:srgbClr val="1AA58F"/>
                </a:solidFill>
                <a:latin typeface="Arial"/>
                <a:ea typeface="Arial"/>
                <a:cs typeface="Arial"/>
              </a:defRPr>
            </a:lvl5pPr>
            <a:lvl6pPr algn="l">
              <a:buNone/>
              <a:defRPr sz="1350" b="1">
                <a:solidFill>
                  <a:srgbClr val="1AA58F"/>
                </a:solidFill>
                <a:latin typeface="Arial"/>
                <a:ea typeface="Arial"/>
                <a:cs typeface="Arial"/>
              </a:defRPr>
            </a:lvl6pPr>
            <a:lvl7pPr algn="l">
              <a:buNone/>
              <a:defRPr sz="1350" b="1">
                <a:solidFill>
                  <a:srgbClr val="1AA58F"/>
                </a:solidFill>
                <a:latin typeface="Arial"/>
                <a:ea typeface="Arial"/>
                <a:cs typeface="Arial"/>
              </a:defRPr>
            </a:lvl7pPr>
            <a:lvl8pPr algn="l">
              <a:buNone/>
              <a:defRPr sz="1350" b="1">
                <a:solidFill>
                  <a:srgbClr val="1AA58F"/>
                </a:solidFill>
                <a:latin typeface="Arial"/>
                <a:ea typeface="Arial"/>
                <a:cs typeface="Arial"/>
              </a:defRPr>
            </a:lvl8pPr>
            <a:lvl9pPr algn="l">
              <a:buNone/>
              <a:defRPr sz="1350" b="1">
                <a:solidFill>
                  <a:srgbClr val="1AA58F"/>
                </a:solidFill>
                <a:latin typeface="Arial"/>
                <a:ea typeface="Arial"/>
                <a:cs typeface="Arial"/>
              </a:defRPr>
            </a:lvl9pPr>
          </a:lstStyle>
          <a:p xmlns:a="http://schemas.openxmlformats.org/drawingml/2006/main">
            <a:pPr algn="l">
              <a:buNone/>
              <a:defRPr sz="1350" b="1">
                <a:solidFill>
                  <a:srgbClr val="1AA58F"/>
                </a:solidFill>
                <a:latin typeface="Arial"/>
                <a:ea typeface="Arial"/>
                <a:cs typeface="Arial"/>
              </a:defRPr>
            </a:pPr>
            <a:r>
              <a:rPr sz="1350" b="1">
                <a:solidFill>
                  <a:srgbClr val="1AA58F"/>
                </a:solidFill>
                <a:latin typeface="Arial"/>
                <a:ea typeface="Arial"/>
                <a:cs typeface="Arial"/>
              </a:rPr>
              <a:t>Sentinel-2</a:t>
            </a:r>
          </a:p>
        </p:txBody>
      </p:sp>
      <p:sp>
        <p:nvSpPr>
          <p:cNvPr id="8" name="">
            <a:extLst xmlns:a="http://schemas.openxmlformats.org/drawingml/2006/main">
              <a:ext uri="{FF2B5EF4-FFF2-40B4-BE49-F238E27FC236}">
                <a16:creationId xmlns:a16="http://schemas.microsoft.com/office/drawing/2014/main" id="{3BD83C39-F229-44EF-8609-BC01060994B7}"/>
              </a:ext>
            </a:extLst>
          </p:cNvPr>
          <p:cNvSpPr>
            <a:spLocks xmlns:a="http://schemas.openxmlformats.org/drawingml/2006/main" noGrp="1"/>
          </p:cNvSpPr>
          <p:nvPr/>
        </p:nvSpPr>
        <p:spPr>
          <a:xfrm xmlns:a="http://schemas.openxmlformats.org/drawingml/2006/main">
            <a:off x="2266950" y="1638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Shows vegetation and surface colour</a:t>
            </a:r>
          </a:p>
        </p:txBody>
      </p:sp>
      <p:sp>
        <p:nvSpPr>
          <p:cNvPr id="9" name="">
            <a:extLst xmlns:a="http://schemas.openxmlformats.org/drawingml/2006/main">
              <a:ext uri="{FF2B5EF4-FFF2-40B4-BE49-F238E27FC236}">
                <a16:creationId xmlns:a16="http://schemas.microsoft.com/office/drawing/2014/main" id="{0BEBEFC4-F6F0-4978-8B61-7F9D1E5A02B2}"/>
              </a:ext>
            </a:extLst>
          </p:cNvPr>
          <p:cNvSpPr>
            <a:spLocks xmlns:a="http://schemas.openxmlformats.org/drawingml/2006/main" noGrp="1"/>
          </p:cNvSpPr>
          <p:nvPr/>
        </p:nvSpPr>
        <p:spPr>
          <a:xfrm xmlns:a="http://schemas.openxmlformats.org/drawingml/2006/main">
            <a:off x="590550" y="2228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F55871AF-F15D-4C8D-B50A-F4D7ED5A6D61}"/>
              </a:ext>
            </a:extLst>
          </p:cNvPr>
          <p:cNvSpPr>
            <a:spLocks xmlns:a="http://schemas.openxmlformats.org/drawingml/2006/main" noGrp="1"/>
          </p:cNvSpPr>
          <p:nvPr/>
        </p:nvSpPr>
        <p:spPr>
          <a:xfrm xmlns:a="http://schemas.openxmlformats.org/drawingml/2006/main">
            <a:off x="590550" y="2228850"/>
            <a:ext cx="76200" cy="514350"/>
          </a:xfrm>
          <a:prstGeom xmlns:a="http://schemas.openxmlformats.org/drawingml/2006/main" prst="rect">
            <a:avLst/>
          </a:prstGeom>
          <a:solidFill xmlns:a="http://schemas.openxmlformats.org/drawingml/2006/main">
            <a:srgbClr val="3183B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CB64E1F-86E9-488B-BB21-516557E30C95}"/>
              </a:ext>
            </a:extLst>
          </p:cNvPr>
          <p:cNvSpPr>
            <a:spLocks xmlns:a="http://schemas.openxmlformats.org/drawingml/2006/main" noGrp="1"/>
          </p:cNvSpPr>
          <p:nvPr/>
        </p:nvSpPr>
        <p:spPr>
          <a:xfrm xmlns:a="http://schemas.openxmlformats.org/drawingml/2006/main">
            <a:off x="800100" y="2305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3183B8"/>
                </a:solidFill>
                <a:latin typeface="Arial"/>
                <a:ea typeface="Arial"/>
                <a:cs typeface="Arial"/>
              </a:defRPr>
            </a:defPPr>
            <a:lvl1pPr algn="l">
              <a:buNone/>
              <a:defRPr sz="1350" b="1">
                <a:solidFill>
                  <a:srgbClr val="3183B8"/>
                </a:solidFill>
                <a:latin typeface="Arial"/>
                <a:ea typeface="Arial"/>
                <a:cs typeface="Arial"/>
              </a:defRPr>
            </a:lvl1pPr>
            <a:lvl2pPr algn="l">
              <a:buNone/>
              <a:defRPr sz="1350" b="1">
                <a:solidFill>
                  <a:srgbClr val="3183B8"/>
                </a:solidFill>
                <a:latin typeface="Arial"/>
                <a:ea typeface="Arial"/>
                <a:cs typeface="Arial"/>
              </a:defRPr>
            </a:lvl2pPr>
            <a:lvl3pPr algn="l">
              <a:buNone/>
              <a:defRPr sz="1350" b="1">
                <a:solidFill>
                  <a:srgbClr val="3183B8"/>
                </a:solidFill>
                <a:latin typeface="Arial"/>
                <a:ea typeface="Arial"/>
                <a:cs typeface="Arial"/>
              </a:defRPr>
            </a:lvl3pPr>
            <a:lvl4pPr algn="l">
              <a:buNone/>
              <a:defRPr sz="1350" b="1">
                <a:solidFill>
                  <a:srgbClr val="3183B8"/>
                </a:solidFill>
                <a:latin typeface="Arial"/>
                <a:ea typeface="Arial"/>
                <a:cs typeface="Arial"/>
              </a:defRPr>
            </a:lvl4pPr>
            <a:lvl5pPr algn="l">
              <a:buNone/>
              <a:defRPr sz="1350" b="1">
                <a:solidFill>
                  <a:srgbClr val="3183B8"/>
                </a:solidFill>
                <a:latin typeface="Arial"/>
                <a:ea typeface="Arial"/>
                <a:cs typeface="Arial"/>
              </a:defRPr>
            </a:lvl5pPr>
            <a:lvl6pPr algn="l">
              <a:buNone/>
              <a:defRPr sz="1350" b="1">
                <a:solidFill>
                  <a:srgbClr val="3183B8"/>
                </a:solidFill>
                <a:latin typeface="Arial"/>
                <a:ea typeface="Arial"/>
                <a:cs typeface="Arial"/>
              </a:defRPr>
            </a:lvl6pPr>
            <a:lvl7pPr algn="l">
              <a:buNone/>
              <a:defRPr sz="1350" b="1">
                <a:solidFill>
                  <a:srgbClr val="3183B8"/>
                </a:solidFill>
                <a:latin typeface="Arial"/>
                <a:ea typeface="Arial"/>
                <a:cs typeface="Arial"/>
              </a:defRPr>
            </a:lvl7pPr>
            <a:lvl8pPr algn="l">
              <a:buNone/>
              <a:defRPr sz="1350" b="1">
                <a:solidFill>
                  <a:srgbClr val="3183B8"/>
                </a:solidFill>
                <a:latin typeface="Arial"/>
                <a:ea typeface="Arial"/>
                <a:cs typeface="Arial"/>
              </a:defRPr>
            </a:lvl8pPr>
            <a:lvl9pPr algn="l">
              <a:buNone/>
              <a:defRPr sz="1350" b="1">
                <a:solidFill>
                  <a:srgbClr val="3183B8"/>
                </a:solidFill>
                <a:latin typeface="Arial"/>
                <a:ea typeface="Arial"/>
                <a:cs typeface="Arial"/>
              </a:defRPr>
            </a:lvl9pPr>
          </a:lstStyle>
          <a:p xmlns:a="http://schemas.openxmlformats.org/drawingml/2006/main">
            <a:pPr algn="l">
              <a:buNone/>
              <a:defRPr sz="1350" b="1">
                <a:solidFill>
                  <a:srgbClr val="3183B8"/>
                </a:solidFill>
                <a:latin typeface="Arial"/>
                <a:ea typeface="Arial"/>
                <a:cs typeface="Arial"/>
              </a:defRPr>
            </a:pPr>
            <a:r>
              <a:rPr sz="1350" b="1">
                <a:solidFill>
                  <a:srgbClr val="3183B8"/>
                </a:solidFill>
                <a:latin typeface="Arial"/>
                <a:ea typeface="Arial"/>
                <a:cs typeface="Arial"/>
              </a:rPr>
              <a:t>Sentinel-1</a:t>
            </a:r>
          </a:p>
        </p:txBody>
      </p:sp>
      <p:sp>
        <p:nvSpPr>
          <p:cNvPr id="12" name="">
            <a:extLst xmlns:a="http://schemas.openxmlformats.org/drawingml/2006/main">
              <a:ext uri="{FF2B5EF4-FFF2-40B4-BE49-F238E27FC236}">
                <a16:creationId xmlns:a16="http://schemas.microsoft.com/office/drawing/2014/main" id="{5203F30A-BB3A-4B84-A355-B16A05967C35}"/>
              </a:ext>
            </a:extLst>
          </p:cNvPr>
          <p:cNvSpPr>
            <a:spLocks xmlns:a="http://schemas.openxmlformats.org/drawingml/2006/main" noGrp="1"/>
          </p:cNvSpPr>
          <p:nvPr/>
        </p:nvSpPr>
        <p:spPr>
          <a:xfrm xmlns:a="http://schemas.openxmlformats.org/drawingml/2006/main">
            <a:off x="2266950" y="2305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Radar check for built structures</a:t>
            </a:r>
          </a:p>
        </p:txBody>
      </p:sp>
      <p:sp>
        <p:nvSpPr>
          <p:cNvPr id="13" name="">
            <a:extLst xmlns:a="http://schemas.openxmlformats.org/drawingml/2006/main">
              <a:ext uri="{FF2B5EF4-FFF2-40B4-BE49-F238E27FC236}">
                <a16:creationId xmlns:a16="http://schemas.microsoft.com/office/drawing/2014/main" id="{CF0DD282-887E-4E63-A50B-DCF4F7E01ABF}"/>
              </a:ext>
            </a:extLst>
          </p:cNvPr>
          <p:cNvSpPr>
            <a:spLocks xmlns:a="http://schemas.openxmlformats.org/drawingml/2006/main" noGrp="1"/>
          </p:cNvSpPr>
          <p:nvPr/>
        </p:nvSpPr>
        <p:spPr>
          <a:xfrm xmlns:a="http://schemas.openxmlformats.org/drawingml/2006/main">
            <a:off x="590550" y="28956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F3B90B95-61DE-4B25-BE53-4D27CE7D06BA}"/>
              </a:ext>
            </a:extLst>
          </p:cNvPr>
          <p:cNvSpPr>
            <a:spLocks xmlns:a="http://schemas.openxmlformats.org/drawingml/2006/main" noGrp="1"/>
          </p:cNvSpPr>
          <p:nvPr/>
        </p:nvSpPr>
        <p:spPr>
          <a:xfrm xmlns:a="http://schemas.openxmlformats.org/drawingml/2006/main">
            <a:off x="590550" y="2895600"/>
            <a:ext cx="76200" cy="514350"/>
          </a:xfrm>
          <a:prstGeom xmlns:a="http://schemas.openxmlformats.org/drawingml/2006/main" prst="rect">
            <a:avLst/>
          </a:prstGeom>
          <a:solidFill xmlns:a="http://schemas.openxmlformats.org/drawingml/2006/main">
            <a:srgbClr val="E2AD2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320301A-4B99-4840-84AD-C251FBCEF142}"/>
              </a:ext>
            </a:extLst>
          </p:cNvPr>
          <p:cNvSpPr>
            <a:spLocks xmlns:a="http://schemas.openxmlformats.org/drawingml/2006/main" noGrp="1"/>
          </p:cNvSpPr>
          <p:nvPr/>
        </p:nvSpPr>
        <p:spPr>
          <a:xfrm xmlns:a="http://schemas.openxmlformats.org/drawingml/2006/main">
            <a:off x="800100" y="29718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vl1pPr algn="l">
              <a:buNone/>
              <a:defRPr sz="1350" b="1">
                <a:solidFill>
                  <a:srgbClr val="E2AD2B"/>
                </a:solidFill>
                <a:latin typeface="Arial"/>
                <a:ea typeface="Arial"/>
                <a:cs typeface="Arial"/>
              </a:defRPr>
            </a:lvl1pPr>
            <a:lvl2pPr algn="l">
              <a:buNone/>
              <a:defRPr sz="1350" b="1">
                <a:solidFill>
                  <a:srgbClr val="E2AD2B"/>
                </a:solidFill>
                <a:latin typeface="Arial"/>
                <a:ea typeface="Arial"/>
                <a:cs typeface="Arial"/>
              </a:defRPr>
            </a:lvl2pPr>
            <a:lvl3pPr algn="l">
              <a:buNone/>
              <a:defRPr sz="1350" b="1">
                <a:solidFill>
                  <a:srgbClr val="E2AD2B"/>
                </a:solidFill>
                <a:latin typeface="Arial"/>
                <a:ea typeface="Arial"/>
                <a:cs typeface="Arial"/>
              </a:defRPr>
            </a:lvl3pPr>
            <a:lvl4pPr algn="l">
              <a:buNone/>
              <a:defRPr sz="1350" b="1">
                <a:solidFill>
                  <a:srgbClr val="E2AD2B"/>
                </a:solidFill>
                <a:latin typeface="Arial"/>
                <a:ea typeface="Arial"/>
                <a:cs typeface="Arial"/>
              </a:defRPr>
            </a:lvl4pPr>
            <a:lvl5pPr algn="l">
              <a:buNone/>
              <a:defRPr sz="1350" b="1">
                <a:solidFill>
                  <a:srgbClr val="E2AD2B"/>
                </a:solidFill>
                <a:latin typeface="Arial"/>
                <a:ea typeface="Arial"/>
                <a:cs typeface="Arial"/>
              </a:defRPr>
            </a:lvl5pPr>
            <a:lvl6pPr algn="l">
              <a:buNone/>
              <a:defRPr sz="1350" b="1">
                <a:solidFill>
                  <a:srgbClr val="E2AD2B"/>
                </a:solidFill>
                <a:latin typeface="Arial"/>
                <a:ea typeface="Arial"/>
                <a:cs typeface="Arial"/>
              </a:defRPr>
            </a:lvl6pPr>
            <a:lvl7pPr algn="l">
              <a:buNone/>
              <a:defRPr sz="1350" b="1">
                <a:solidFill>
                  <a:srgbClr val="E2AD2B"/>
                </a:solidFill>
                <a:latin typeface="Arial"/>
                <a:ea typeface="Arial"/>
                <a:cs typeface="Arial"/>
              </a:defRPr>
            </a:lvl7pPr>
            <a:lvl8pPr algn="l">
              <a:buNone/>
              <a:defRPr sz="1350" b="1">
                <a:solidFill>
                  <a:srgbClr val="E2AD2B"/>
                </a:solidFill>
                <a:latin typeface="Arial"/>
                <a:ea typeface="Arial"/>
                <a:cs typeface="Arial"/>
              </a:defRPr>
            </a:lvl8pPr>
            <a:lvl9pPr algn="l">
              <a:buNone/>
              <a:defRPr sz="1350" b="1">
                <a:solidFill>
                  <a:srgbClr val="E2AD2B"/>
                </a:solidFill>
                <a:latin typeface="Arial"/>
                <a:ea typeface="Arial"/>
                <a:cs typeface="Arial"/>
              </a:defRPr>
            </a:lvl9pPr>
          </a:lstStyle>
          <a:p xmlns:a="http://schemas.openxmlformats.org/drawingml/2006/main">
            <a:pPr algn="l">
              <a:buNone/>
              <a:defRPr sz="1350" b="1">
                <a:solidFill>
                  <a:srgbClr val="E2AD2B"/>
                </a:solidFill>
                <a:latin typeface="Arial"/>
                <a:ea typeface="Arial"/>
                <a:cs typeface="Arial"/>
              </a:defRPr>
            </a:pPr>
            <a:r>
              <a:rPr sz="1350" b="1">
                <a:solidFill>
                  <a:srgbClr val="E2AD2B"/>
                </a:solidFill>
                <a:latin typeface="Arial"/>
                <a:ea typeface="Arial"/>
                <a:cs typeface="Arial"/>
              </a:rPr>
              <a:t>Annual land cover</a:t>
            </a:r>
          </a:p>
        </p:txBody>
      </p:sp>
      <p:sp>
        <p:nvSpPr>
          <p:cNvPr id="16" name="">
            <a:extLst xmlns:a="http://schemas.openxmlformats.org/drawingml/2006/main">
              <a:ext uri="{FF2B5EF4-FFF2-40B4-BE49-F238E27FC236}">
                <a16:creationId xmlns:a16="http://schemas.microsoft.com/office/drawing/2014/main" id="{4E3B4D2C-0822-4620-BBB9-20D7BB83928E}"/>
              </a:ext>
            </a:extLst>
          </p:cNvPr>
          <p:cNvSpPr>
            <a:spLocks xmlns:a="http://schemas.openxmlformats.org/drawingml/2006/main" noGrp="1"/>
          </p:cNvSpPr>
          <p:nvPr/>
        </p:nvSpPr>
        <p:spPr>
          <a:xfrm xmlns:a="http://schemas.openxmlformats.org/drawingml/2006/main">
            <a:off x="2266950" y="29718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Flags possible growth from 2018 to 2023</a:t>
            </a:r>
          </a:p>
        </p:txBody>
      </p:sp>
      <p:sp>
        <p:nvSpPr>
          <p:cNvPr id="17" name="">
            <a:extLst xmlns:a="http://schemas.openxmlformats.org/drawingml/2006/main">
              <a:ext uri="{FF2B5EF4-FFF2-40B4-BE49-F238E27FC236}">
                <a16:creationId xmlns:a16="http://schemas.microsoft.com/office/drawing/2014/main" id="{59F0C637-DAAD-42A9-BE27-186F4FE98489}"/>
              </a:ext>
            </a:extLst>
          </p:cNvPr>
          <p:cNvSpPr>
            <a:spLocks xmlns:a="http://schemas.openxmlformats.org/drawingml/2006/main" noGrp="1"/>
          </p:cNvSpPr>
          <p:nvPr/>
        </p:nvSpPr>
        <p:spPr>
          <a:xfrm xmlns:a="http://schemas.openxmlformats.org/drawingml/2006/main">
            <a:off x="590550" y="35623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CDF52522-88DC-4E43-8EE3-D8B430A5C506}"/>
              </a:ext>
            </a:extLst>
          </p:cNvPr>
          <p:cNvSpPr>
            <a:spLocks xmlns:a="http://schemas.openxmlformats.org/drawingml/2006/main" noGrp="1"/>
          </p:cNvSpPr>
          <p:nvPr/>
        </p:nvSpPr>
        <p:spPr>
          <a:xfrm xmlns:a="http://schemas.openxmlformats.org/drawingml/2006/main">
            <a:off x="590550" y="3562350"/>
            <a:ext cx="76200" cy="514350"/>
          </a:xfrm>
          <a:prstGeom xmlns:a="http://schemas.openxmlformats.org/drawingml/2006/main" prst="rect">
            <a:avLst/>
          </a:prstGeom>
          <a:solidFill xmlns:a="http://schemas.openxmlformats.org/drawingml/2006/main">
            <a:srgbClr val="F0644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7F504DB-122F-437B-A9F9-FDF315DDF7C2}"/>
              </a:ext>
            </a:extLst>
          </p:cNvPr>
          <p:cNvSpPr>
            <a:spLocks xmlns:a="http://schemas.openxmlformats.org/drawingml/2006/main" noGrp="1"/>
          </p:cNvSpPr>
          <p:nvPr/>
        </p:nvSpPr>
        <p:spPr>
          <a:xfrm xmlns:a="http://schemas.openxmlformats.org/drawingml/2006/main">
            <a:off x="800100" y="3638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F06449"/>
                </a:solidFill>
                <a:latin typeface="Arial"/>
                <a:ea typeface="Arial"/>
                <a:cs typeface="Arial"/>
              </a:defRPr>
            </a:defPPr>
            <a:lvl1pPr algn="l">
              <a:buNone/>
              <a:defRPr sz="1350" b="1">
                <a:solidFill>
                  <a:srgbClr val="F06449"/>
                </a:solidFill>
                <a:latin typeface="Arial"/>
                <a:ea typeface="Arial"/>
                <a:cs typeface="Arial"/>
              </a:defRPr>
            </a:lvl1pPr>
            <a:lvl2pPr algn="l">
              <a:buNone/>
              <a:defRPr sz="1350" b="1">
                <a:solidFill>
                  <a:srgbClr val="F06449"/>
                </a:solidFill>
                <a:latin typeface="Arial"/>
                <a:ea typeface="Arial"/>
                <a:cs typeface="Arial"/>
              </a:defRPr>
            </a:lvl2pPr>
            <a:lvl3pPr algn="l">
              <a:buNone/>
              <a:defRPr sz="1350" b="1">
                <a:solidFill>
                  <a:srgbClr val="F06449"/>
                </a:solidFill>
                <a:latin typeface="Arial"/>
                <a:ea typeface="Arial"/>
                <a:cs typeface="Arial"/>
              </a:defRPr>
            </a:lvl3pPr>
            <a:lvl4pPr algn="l">
              <a:buNone/>
              <a:defRPr sz="1350" b="1">
                <a:solidFill>
                  <a:srgbClr val="F06449"/>
                </a:solidFill>
                <a:latin typeface="Arial"/>
                <a:ea typeface="Arial"/>
                <a:cs typeface="Arial"/>
              </a:defRPr>
            </a:lvl4pPr>
            <a:lvl5pPr algn="l">
              <a:buNone/>
              <a:defRPr sz="1350" b="1">
                <a:solidFill>
                  <a:srgbClr val="F06449"/>
                </a:solidFill>
                <a:latin typeface="Arial"/>
                <a:ea typeface="Arial"/>
                <a:cs typeface="Arial"/>
              </a:defRPr>
            </a:lvl5pPr>
            <a:lvl6pPr algn="l">
              <a:buNone/>
              <a:defRPr sz="1350" b="1">
                <a:solidFill>
                  <a:srgbClr val="F06449"/>
                </a:solidFill>
                <a:latin typeface="Arial"/>
                <a:ea typeface="Arial"/>
                <a:cs typeface="Arial"/>
              </a:defRPr>
            </a:lvl6pPr>
            <a:lvl7pPr algn="l">
              <a:buNone/>
              <a:defRPr sz="1350" b="1">
                <a:solidFill>
                  <a:srgbClr val="F06449"/>
                </a:solidFill>
                <a:latin typeface="Arial"/>
                <a:ea typeface="Arial"/>
                <a:cs typeface="Arial"/>
              </a:defRPr>
            </a:lvl7pPr>
            <a:lvl8pPr algn="l">
              <a:buNone/>
              <a:defRPr sz="1350" b="1">
                <a:solidFill>
                  <a:srgbClr val="F06449"/>
                </a:solidFill>
                <a:latin typeface="Arial"/>
                <a:ea typeface="Arial"/>
                <a:cs typeface="Arial"/>
              </a:defRPr>
            </a:lvl8pPr>
            <a:lvl9pPr algn="l">
              <a:buNone/>
              <a:defRPr sz="1350" b="1">
                <a:solidFill>
                  <a:srgbClr val="F06449"/>
                </a:solidFill>
                <a:latin typeface="Arial"/>
                <a:ea typeface="Arial"/>
                <a:cs typeface="Arial"/>
              </a:defRPr>
            </a:lvl9pPr>
          </a:lstStyle>
          <a:p xmlns:a="http://schemas.openxmlformats.org/drawingml/2006/main">
            <a:pPr algn="l">
              <a:buNone/>
              <a:defRPr sz="1350" b="1">
                <a:solidFill>
                  <a:srgbClr val="F06449"/>
                </a:solidFill>
                <a:latin typeface="Arial"/>
                <a:ea typeface="Arial"/>
                <a:cs typeface="Arial"/>
              </a:defRPr>
            </a:pPr>
            <a:r>
              <a:rPr sz="1350" b="1">
                <a:solidFill>
                  <a:srgbClr val="F06449"/>
                </a:solidFill>
                <a:latin typeface="Arial"/>
                <a:ea typeface="Arial"/>
                <a:cs typeface="Arial"/>
              </a:rPr>
              <a:t>Landsat 8</a:t>
            </a:r>
          </a:p>
        </p:txBody>
      </p:sp>
      <p:sp>
        <p:nvSpPr>
          <p:cNvPr id="20" name="">
            <a:extLst xmlns:a="http://schemas.openxmlformats.org/drawingml/2006/main">
              <a:ext uri="{FF2B5EF4-FFF2-40B4-BE49-F238E27FC236}">
                <a16:creationId xmlns:a16="http://schemas.microsoft.com/office/drawing/2014/main" id="{E4BC7A50-BAE4-49C5-800C-7DA4313E84C8}"/>
              </a:ext>
            </a:extLst>
          </p:cNvPr>
          <p:cNvSpPr>
            <a:spLocks xmlns:a="http://schemas.openxmlformats.org/drawingml/2006/main" noGrp="1"/>
          </p:cNvSpPr>
          <p:nvPr/>
        </p:nvSpPr>
        <p:spPr>
          <a:xfrm xmlns:a="http://schemas.openxmlformats.org/drawingml/2006/main">
            <a:off x="2266950" y="36385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Measures land surface temperature</a:t>
            </a:r>
          </a:p>
        </p:txBody>
      </p:sp>
      <p:sp>
        <p:nvSpPr>
          <p:cNvPr id="21" name="">
            <a:extLst xmlns:a="http://schemas.openxmlformats.org/drawingml/2006/main">
              <a:ext uri="{FF2B5EF4-FFF2-40B4-BE49-F238E27FC236}">
                <a16:creationId xmlns:a16="http://schemas.microsoft.com/office/drawing/2014/main" id="{5DC4EBA4-F3F5-4F85-8C2E-9C5D50D4ED4C}"/>
              </a:ext>
            </a:extLst>
          </p:cNvPr>
          <p:cNvSpPr>
            <a:spLocks xmlns:a="http://schemas.openxmlformats.org/drawingml/2006/main" noGrp="1"/>
          </p:cNvSpPr>
          <p:nvPr/>
        </p:nvSpPr>
        <p:spPr>
          <a:xfrm xmlns:a="http://schemas.openxmlformats.org/drawingml/2006/main">
            <a:off x="590550" y="4229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2" name="">
            <a:extLst xmlns:a="http://schemas.openxmlformats.org/drawingml/2006/main">
              <a:ext uri="{FF2B5EF4-FFF2-40B4-BE49-F238E27FC236}">
                <a16:creationId xmlns:a16="http://schemas.microsoft.com/office/drawing/2014/main" id="{D9B5B77D-1DD3-47A9-B04B-C349FB31EB55}"/>
              </a:ext>
            </a:extLst>
          </p:cNvPr>
          <p:cNvSpPr>
            <a:spLocks xmlns:a="http://schemas.openxmlformats.org/drawingml/2006/main" noGrp="1"/>
          </p:cNvSpPr>
          <p:nvPr/>
        </p:nvSpPr>
        <p:spPr>
          <a:xfrm xmlns:a="http://schemas.openxmlformats.org/drawingml/2006/main">
            <a:off x="590550" y="4229100"/>
            <a:ext cx="76200" cy="514350"/>
          </a:xfrm>
          <a:prstGeom xmlns:a="http://schemas.openxmlformats.org/drawingml/2006/main" prst="rect">
            <a:avLst/>
          </a:prstGeom>
          <a:solidFill xmlns:a="http://schemas.openxmlformats.org/drawingml/2006/main">
            <a:srgbClr val="6D5DD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26E13BC-9EAA-49C3-B8F9-196C0595B49A}"/>
              </a:ext>
            </a:extLst>
          </p:cNvPr>
          <p:cNvSpPr>
            <a:spLocks xmlns:a="http://schemas.openxmlformats.org/drawingml/2006/main" noGrp="1"/>
          </p:cNvSpPr>
          <p:nvPr/>
        </p:nvSpPr>
        <p:spPr>
          <a:xfrm xmlns:a="http://schemas.openxmlformats.org/drawingml/2006/main">
            <a:off x="800100" y="4305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vl1pPr algn="l">
              <a:buNone/>
              <a:defRPr sz="1350" b="1">
                <a:solidFill>
                  <a:srgbClr val="6D5DD3"/>
                </a:solidFill>
                <a:latin typeface="Arial"/>
                <a:ea typeface="Arial"/>
                <a:cs typeface="Arial"/>
              </a:defRPr>
            </a:lvl1pPr>
            <a:lvl2pPr algn="l">
              <a:buNone/>
              <a:defRPr sz="1350" b="1">
                <a:solidFill>
                  <a:srgbClr val="6D5DD3"/>
                </a:solidFill>
                <a:latin typeface="Arial"/>
                <a:ea typeface="Arial"/>
                <a:cs typeface="Arial"/>
              </a:defRPr>
            </a:lvl2pPr>
            <a:lvl3pPr algn="l">
              <a:buNone/>
              <a:defRPr sz="1350" b="1">
                <a:solidFill>
                  <a:srgbClr val="6D5DD3"/>
                </a:solidFill>
                <a:latin typeface="Arial"/>
                <a:ea typeface="Arial"/>
                <a:cs typeface="Arial"/>
              </a:defRPr>
            </a:lvl3pPr>
            <a:lvl4pPr algn="l">
              <a:buNone/>
              <a:defRPr sz="1350" b="1">
                <a:solidFill>
                  <a:srgbClr val="6D5DD3"/>
                </a:solidFill>
                <a:latin typeface="Arial"/>
                <a:ea typeface="Arial"/>
                <a:cs typeface="Arial"/>
              </a:defRPr>
            </a:lvl4pPr>
            <a:lvl5pPr algn="l">
              <a:buNone/>
              <a:defRPr sz="1350" b="1">
                <a:solidFill>
                  <a:srgbClr val="6D5DD3"/>
                </a:solidFill>
                <a:latin typeface="Arial"/>
                <a:ea typeface="Arial"/>
                <a:cs typeface="Arial"/>
              </a:defRPr>
            </a:lvl5pPr>
            <a:lvl6pPr algn="l">
              <a:buNone/>
              <a:defRPr sz="1350" b="1">
                <a:solidFill>
                  <a:srgbClr val="6D5DD3"/>
                </a:solidFill>
                <a:latin typeface="Arial"/>
                <a:ea typeface="Arial"/>
                <a:cs typeface="Arial"/>
              </a:defRPr>
            </a:lvl6pPr>
            <a:lvl7pPr algn="l">
              <a:buNone/>
              <a:defRPr sz="1350" b="1">
                <a:solidFill>
                  <a:srgbClr val="6D5DD3"/>
                </a:solidFill>
                <a:latin typeface="Arial"/>
                <a:ea typeface="Arial"/>
                <a:cs typeface="Arial"/>
              </a:defRPr>
            </a:lvl7pPr>
            <a:lvl8pPr algn="l">
              <a:buNone/>
              <a:defRPr sz="1350" b="1">
                <a:solidFill>
                  <a:srgbClr val="6D5DD3"/>
                </a:solidFill>
                <a:latin typeface="Arial"/>
                <a:ea typeface="Arial"/>
                <a:cs typeface="Arial"/>
              </a:defRPr>
            </a:lvl8pPr>
            <a:lvl9pPr algn="l">
              <a:buNone/>
              <a:defRPr sz="1350" b="1">
                <a:solidFill>
                  <a:srgbClr val="6D5DD3"/>
                </a:solidFill>
                <a:latin typeface="Arial"/>
                <a:ea typeface="Arial"/>
                <a:cs typeface="Arial"/>
              </a:defRPr>
            </a:lvl9pPr>
          </a:lstStyle>
          <a:p xmlns:a="http://schemas.openxmlformats.org/drawingml/2006/main">
            <a:pPr algn="l">
              <a:buNone/>
              <a:defRPr sz="1350" b="1">
                <a:solidFill>
                  <a:srgbClr val="6D5DD3"/>
                </a:solidFill>
                <a:latin typeface="Arial"/>
                <a:ea typeface="Arial"/>
                <a:cs typeface="Arial"/>
              </a:defRPr>
            </a:pPr>
            <a:r>
              <a:rPr sz="1350" b="1">
                <a:solidFill>
                  <a:srgbClr val="6D5DD3"/>
                </a:solidFill>
                <a:latin typeface="Arial"/>
                <a:ea typeface="Arial"/>
                <a:cs typeface="Arial"/>
              </a:rPr>
              <a:t>WorldPop</a:t>
            </a:r>
          </a:p>
        </p:txBody>
      </p:sp>
      <p:sp>
        <p:nvSpPr>
          <p:cNvPr id="24" name="">
            <a:extLst xmlns:a="http://schemas.openxmlformats.org/drawingml/2006/main">
              <a:ext uri="{FF2B5EF4-FFF2-40B4-BE49-F238E27FC236}">
                <a16:creationId xmlns:a16="http://schemas.microsoft.com/office/drawing/2014/main" id="{1D9CFD79-F9A5-4991-B4D0-A034A7B907F9}"/>
              </a:ext>
            </a:extLst>
          </p:cNvPr>
          <p:cNvSpPr>
            <a:spLocks xmlns:a="http://schemas.openxmlformats.org/drawingml/2006/main" noGrp="1"/>
          </p:cNvSpPr>
          <p:nvPr/>
        </p:nvSpPr>
        <p:spPr>
          <a:xfrm xmlns:a="http://schemas.openxmlformats.org/drawingml/2006/main">
            <a:off x="2266950" y="4305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Estimates where people live</a:t>
            </a:r>
          </a:p>
        </p:txBody>
      </p:sp>
      <p:sp>
        <p:nvSpPr>
          <p:cNvPr id="25" name="">
            <a:extLst xmlns:a="http://schemas.openxmlformats.org/drawingml/2006/main">
              <a:ext uri="{FF2B5EF4-FFF2-40B4-BE49-F238E27FC236}">
                <a16:creationId xmlns:a16="http://schemas.microsoft.com/office/drawing/2014/main" id="{9BB483BB-93FE-442C-B9CE-F4F6AFB2D713}"/>
              </a:ext>
            </a:extLst>
          </p:cNvPr>
          <p:cNvSpPr>
            <a:spLocks xmlns:a="http://schemas.openxmlformats.org/drawingml/2006/main" noGrp="1"/>
          </p:cNvSpPr>
          <p:nvPr/>
        </p:nvSpPr>
        <p:spPr>
          <a:xfrm xmlns:a="http://schemas.openxmlformats.org/drawingml/2006/main">
            <a:off x="590550" y="4895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6" name="">
            <a:extLst xmlns:a="http://schemas.openxmlformats.org/drawingml/2006/main">
              <a:ext uri="{FF2B5EF4-FFF2-40B4-BE49-F238E27FC236}">
                <a16:creationId xmlns:a16="http://schemas.microsoft.com/office/drawing/2014/main" id="{4F1AE3EC-A07E-408C-BC2A-654AB68CACDD}"/>
              </a:ext>
            </a:extLst>
          </p:cNvPr>
          <p:cNvSpPr>
            <a:spLocks xmlns:a="http://schemas.openxmlformats.org/drawingml/2006/main" noGrp="1"/>
          </p:cNvSpPr>
          <p:nvPr/>
        </p:nvSpPr>
        <p:spPr>
          <a:xfrm xmlns:a="http://schemas.openxmlformats.org/drawingml/2006/main">
            <a:off x="590550" y="4895850"/>
            <a:ext cx="76200" cy="514350"/>
          </a:xfrm>
          <a:prstGeom xmlns:a="http://schemas.openxmlformats.org/drawingml/2006/main" prst="rect">
            <a:avLst/>
          </a:prstGeom>
          <a:solidFill xmlns:a="http://schemas.openxmlformats.org/drawingml/2006/main">
            <a:srgbClr val="D9678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7B95DEB-CF73-4BF3-ACA2-420F938D2BB0}"/>
              </a:ext>
            </a:extLst>
          </p:cNvPr>
          <p:cNvSpPr>
            <a:spLocks xmlns:a="http://schemas.openxmlformats.org/drawingml/2006/main" noGrp="1"/>
          </p:cNvSpPr>
          <p:nvPr/>
        </p:nvSpPr>
        <p:spPr>
          <a:xfrm xmlns:a="http://schemas.openxmlformats.org/drawingml/2006/main">
            <a:off x="800100" y="4972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96787"/>
                </a:solidFill>
                <a:latin typeface="Arial"/>
                <a:ea typeface="Arial"/>
                <a:cs typeface="Arial"/>
              </a:defRPr>
            </a:defPPr>
            <a:lvl1pPr algn="l">
              <a:buNone/>
              <a:defRPr sz="1350" b="1">
                <a:solidFill>
                  <a:srgbClr val="D96787"/>
                </a:solidFill>
                <a:latin typeface="Arial"/>
                <a:ea typeface="Arial"/>
                <a:cs typeface="Arial"/>
              </a:defRPr>
            </a:lvl1pPr>
            <a:lvl2pPr algn="l">
              <a:buNone/>
              <a:defRPr sz="1350" b="1">
                <a:solidFill>
                  <a:srgbClr val="D96787"/>
                </a:solidFill>
                <a:latin typeface="Arial"/>
                <a:ea typeface="Arial"/>
                <a:cs typeface="Arial"/>
              </a:defRPr>
            </a:lvl2pPr>
            <a:lvl3pPr algn="l">
              <a:buNone/>
              <a:defRPr sz="1350" b="1">
                <a:solidFill>
                  <a:srgbClr val="D96787"/>
                </a:solidFill>
                <a:latin typeface="Arial"/>
                <a:ea typeface="Arial"/>
                <a:cs typeface="Arial"/>
              </a:defRPr>
            </a:lvl3pPr>
            <a:lvl4pPr algn="l">
              <a:buNone/>
              <a:defRPr sz="1350" b="1">
                <a:solidFill>
                  <a:srgbClr val="D96787"/>
                </a:solidFill>
                <a:latin typeface="Arial"/>
                <a:ea typeface="Arial"/>
                <a:cs typeface="Arial"/>
              </a:defRPr>
            </a:lvl4pPr>
            <a:lvl5pPr algn="l">
              <a:buNone/>
              <a:defRPr sz="1350" b="1">
                <a:solidFill>
                  <a:srgbClr val="D96787"/>
                </a:solidFill>
                <a:latin typeface="Arial"/>
                <a:ea typeface="Arial"/>
                <a:cs typeface="Arial"/>
              </a:defRPr>
            </a:lvl5pPr>
            <a:lvl6pPr algn="l">
              <a:buNone/>
              <a:defRPr sz="1350" b="1">
                <a:solidFill>
                  <a:srgbClr val="D96787"/>
                </a:solidFill>
                <a:latin typeface="Arial"/>
                <a:ea typeface="Arial"/>
                <a:cs typeface="Arial"/>
              </a:defRPr>
            </a:lvl6pPr>
            <a:lvl7pPr algn="l">
              <a:buNone/>
              <a:defRPr sz="1350" b="1">
                <a:solidFill>
                  <a:srgbClr val="D96787"/>
                </a:solidFill>
                <a:latin typeface="Arial"/>
                <a:ea typeface="Arial"/>
                <a:cs typeface="Arial"/>
              </a:defRPr>
            </a:lvl7pPr>
            <a:lvl8pPr algn="l">
              <a:buNone/>
              <a:defRPr sz="1350" b="1">
                <a:solidFill>
                  <a:srgbClr val="D96787"/>
                </a:solidFill>
                <a:latin typeface="Arial"/>
                <a:ea typeface="Arial"/>
                <a:cs typeface="Arial"/>
              </a:defRPr>
            </a:lvl8pPr>
            <a:lvl9pPr algn="l">
              <a:buNone/>
              <a:defRPr sz="1350" b="1">
                <a:solidFill>
                  <a:srgbClr val="D96787"/>
                </a:solidFill>
                <a:latin typeface="Arial"/>
                <a:ea typeface="Arial"/>
                <a:cs typeface="Arial"/>
              </a:defRPr>
            </a:lvl9pPr>
          </a:lstStyle>
          <a:p xmlns:a="http://schemas.openxmlformats.org/drawingml/2006/main">
            <a:pPr algn="l">
              <a:buNone/>
              <a:defRPr sz="1350" b="1">
                <a:solidFill>
                  <a:srgbClr val="D96787"/>
                </a:solidFill>
                <a:latin typeface="Arial"/>
                <a:ea typeface="Arial"/>
                <a:cs typeface="Arial"/>
              </a:defRPr>
            </a:pPr>
            <a:r>
              <a:rPr sz="1350" b="1">
                <a:solidFill>
                  <a:srgbClr val="D96787"/>
                </a:solidFill>
                <a:latin typeface="Arial"/>
                <a:ea typeface="Arial"/>
                <a:cs typeface="Arial"/>
              </a:rPr>
              <a:t>Planet Tanager</a:t>
            </a:r>
          </a:p>
        </p:txBody>
      </p:sp>
      <p:sp>
        <p:nvSpPr>
          <p:cNvPr id="28" name="">
            <a:extLst xmlns:a="http://schemas.openxmlformats.org/drawingml/2006/main">
              <a:ext uri="{FF2B5EF4-FFF2-40B4-BE49-F238E27FC236}">
                <a16:creationId xmlns:a16="http://schemas.microsoft.com/office/drawing/2014/main" id="{3EDC8CDD-A56A-4365-B397-8584C33329EB}"/>
              </a:ext>
            </a:extLst>
          </p:cNvPr>
          <p:cNvSpPr>
            <a:spLocks xmlns:a="http://schemas.openxmlformats.org/drawingml/2006/main" noGrp="1"/>
          </p:cNvSpPr>
          <p:nvPr/>
        </p:nvSpPr>
        <p:spPr>
          <a:xfrm xmlns:a="http://schemas.openxmlformats.org/drawingml/2006/main">
            <a:off x="2266950" y="4972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Tests a desert classification problem</a:t>
            </a:r>
          </a:p>
        </p:txBody>
      </p:sp>
      <p:pic>
        <p:nvPicPr>
          <p:cNvPr id="29" name="">
            <a:extLst xmlns:a="http://schemas.openxmlformats.org/drawingml/2006/main">
              <a:ext uri="{FF2B5EF4-FFF2-40B4-BE49-F238E27FC236}">
                <a16:creationId xmlns:a16="http://schemas.microsoft.com/office/drawing/2014/main" id="{A296D165-F667-40DC-B6E7-0C9348FEA606}"/>
              </a:ext>
            </a:extLst>
          </p:cNvPr>
          <p:cNvPicPr>
            <a:picLocks xmlns:a="http://schemas.openxmlformats.org/drawingml/2006/main" noChangeAspect="1"/>
          </p:cNvPicPr>
          <p:nvPr/>
        </p:nvPicPr>
        <p:blipFill>
          <a:blip xmlns:r="http://schemas.openxmlformats.org/officeDocument/2006/relationships" xmlns:a="http://schemas.openxmlformats.org/drawingml/2006/main" r:embed="R7682288bf31e4920"/>
          <a:stretch xmlns:a="http://schemas.openxmlformats.org/drawingml/2006/main"/>
        </p:blipFill>
        <p:spPr>
          <a:xfrm xmlns:a="http://schemas.openxmlformats.org/drawingml/2006/main">
            <a:off x="6527807" y="1562100"/>
            <a:ext cx="4451336" cy="4038600"/>
          </a:xfrm>
          <a:prstGeom xmlns:a="http://schemas.openxmlformats.org/drawingml/2006/main" prst="roundRect">
            <a:avLst>
              <a:gd name="adj" fmla="val 2358"/>
            </a:avLst>
          </a:prstGeom>
        </p:spPr>
      </p:pic>
      <p:sp>
        <p:nvSpPr>
          <p:cNvPr id="30" name="">
            <a:extLst xmlns:a="http://schemas.openxmlformats.org/drawingml/2006/main">
              <a:ext uri="{FF2B5EF4-FFF2-40B4-BE49-F238E27FC236}">
                <a16:creationId xmlns:a16="http://schemas.microsoft.com/office/drawing/2014/main" id="{C8D1CAA3-D3D5-41FD-906F-406BB656771C}"/>
              </a:ext>
            </a:extLst>
          </p:cNvPr>
          <p:cNvSpPr>
            <a:spLocks xmlns:a="http://schemas.openxmlformats.org/drawingml/2006/main" noGrp="1"/>
          </p:cNvSpPr>
          <p:nvPr/>
        </p:nvSpPr>
        <p:spPr>
          <a:xfrm xmlns:a="http://schemas.openxmlformats.org/drawingml/2006/main">
            <a:off x="6527768" y="5715000"/>
            <a:ext cx="4451318" cy="609600"/>
          </a:xfrm>
          <a:prstGeom xmlns:a="http://schemas.openxmlformats.org/drawingml/2006/main" prst="roundRect">
            <a:avLst>
              <a:gd name="adj" fmla="val 18519"/>
            </a:avLst>
          </a:prstGeom>
          <a:solidFill xmlns:a="http://schemas.openxmlformats.org/drawingml/2006/main">
            <a:srgbClr val="113646"/>
          </a:solidFill>
          <a:ln xmlns:a="http://schemas.openxmlformats.org/drawingml/2006/main" w="9525">
            <a:solidFill>
              <a:srgbClr val="31505F"/>
            </a:solidFill>
            <a:prstDash val="solid"/>
          </a:ln>
        </p:spPr>
      </p:sp>
      <p:sp>
        <p:nvSpPr>
          <p:cNvPr id="31" name="">
            <a:extLst xmlns:a="http://schemas.openxmlformats.org/drawingml/2006/main">
              <a:ext uri="{FF2B5EF4-FFF2-40B4-BE49-F238E27FC236}">
                <a16:creationId xmlns:a16="http://schemas.microsoft.com/office/drawing/2014/main" id="{EECFC289-CEF2-490B-A433-52CD6C7BBAA8}"/>
              </a:ext>
            </a:extLst>
          </p:cNvPr>
          <p:cNvSpPr>
            <a:spLocks xmlns:a="http://schemas.openxmlformats.org/drawingml/2006/main" noGrp="1"/>
          </p:cNvSpPr>
          <p:nvPr/>
        </p:nvSpPr>
        <p:spPr>
          <a:xfrm xmlns:a="http://schemas.openxmlformats.org/drawingml/2006/main">
            <a:off x="6718268" y="5772150"/>
            <a:ext cx="407031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F3F6F2"/>
                </a:solidFill>
                <a:latin typeface="Arial"/>
                <a:ea typeface="Arial"/>
                <a:cs typeface="Arial"/>
              </a:defRPr>
            </a:defPPr>
            <a:lvl1pPr algn="l">
              <a:buNone/>
              <a:defRPr sz="1050" b="1">
                <a:solidFill>
                  <a:srgbClr val="F3F6F2"/>
                </a:solidFill>
                <a:latin typeface="Arial"/>
                <a:ea typeface="Arial"/>
                <a:cs typeface="Arial"/>
              </a:defRPr>
            </a:lvl1pPr>
            <a:lvl2pPr algn="l">
              <a:buNone/>
              <a:defRPr sz="1050" b="1">
                <a:solidFill>
                  <a:srgbClr val="F3F6F2"/>
                </a:solidFill>
                <a:latin typeface="Arial"/>
                <a:ea typeface="Arial"/>
                <a:cs typeface="Arial"/>
              </a:defRPr>
            </a:lvl2pPr>
            <a:lvl3pPr algn="l">
              <a:buNone/>
              <a:defRPr sz="1050" b="1">
                <a:solidFill>
                  <a:srgbClr val="F3F6F2"/>
                </a:solidFill>
                <a:latin typeface="Arial"/>
                <a:ea typeface="Arial"/>
                <a:cs typeface="Arial"/>
              </a:defRPr>
            </a:lvl3pPr>
            <a:lvl4pPr algn="l">
              <a:buNone/>
              <a:defRPr sz="1050" b="1">
                <a:solidFill>
                  <a:srgbClr val="F3F6F2"/>
                </a:solidFill>
                <a:latin typeface="Arial"/>
                <a:ea typeface="Arial"/>
                <a:cs typeface="Arial"/>
              </a:defRPr>
            </a:lvl4pPr>
            <a:lvl5pPr algn="l">
              <a:buNone/>
              <a:defRPr sz="1050" b="1">
                <a:solidFill>
                  <a:srgbClr val="F3F6F2"/>
                </a:solidFill>
                <a:latin typeface="Arial"/>
                <a:ea typeface="Arial"/>
                <a:cs typeface="Arial"/>
              </a:defRPr>
            </a:lvl5pPr>
            <a:lvl6pPr algn="l">
              <a:buNone/>
              <a:defRPr sz="1050" b="1">
                <a:solidFill>
                  <a:srgbClr val="F3F6F2"/>
                </a:solidFill>
                <a:latin typeface="Arial"/>
                <a:ea typeface="Arial"/>
                <a:cs typeface="Arial"/>
              </a:defRPr>
            </a:lvl6pPr>
            <a:lvl7pPr algn="l">
              <a:buNone/>
              <a:defRPr sz="1050" b="1">
                <a:solidFill>
                  <a:srgbClr val="F3F6F2"/>
                </a:solidFill>
                <a:latin typeface="Arial"/>
                <a:ea typeface="Arial"/>
                <a:cs typeface="Arial"/>
              </a:defRPr>
            </a:lvl7pPr>
            <a:lvl8pPr algn="l">
              <a:buNone/>
              <a:defRPr sz="1050" b="1">
                <a:solidFill>
                  <a:srgbClr val="F3F6F2"/>
                </a:solidFill>
                <a:latin typeface="Arial"/>
                <a:ea typeface="Arial"/>
                <a:cs typeface="Arial"/>
              </a:defRPr>
            </a:lvl8pPr>
            <a:lvl9pPr algn="l">
              <a:buNone/>
              <a:defRPr sz="1050" b="1">
                <a:solidFill>
                  <a:srgbClr val="F3F6F2"/>
                </a:solidFill>
                <a:latin typeface="Arial"/>
                <a:ea typeface="Arial"/>
                <a:cs typeface="Arial"/>
              </a:defRPr>
            </a:lvl9pPr>
          </a:lstStyle>
          <a:p xmlns:a="http://schemas.openxmlformats.org/drawingml/2006/main">
            <a:pPr algn="l">
              <a:buNone/>
              <a:defRPr sz="1050" b="1">
                <a:solidFill>
                  <a:srgbClr val="F3F6F2"/>
                </a:solidFill>
                <a:latin typeface="Arial"/>
                <a:ea typeface="Arial"/>
                <a:cs typeface="Arial"/>
              </a:defRPr>
            </a:pPr>
            <a:r>
              <a:rPr sz="1050" b="1">
                <a:solidFill>
                  <a:srgbClr val="F3F6F2"/>
                </a:solidFill>
                <a:latin typeface="Arial"/>
                <a:ea typeface="Arial"/>
                <a:cs typeface="Arial"/>
              </a:rPr>
              <a:t>Annual maps flag growth. Optical and radar data check it. Heat, population and vegetation set the score.</a:t>
            </a:r>
          </a:p>
        </p:txBody>
      </p:sp>
    </p:spTree>
    <p:extLst>
      <p:ext uri="{BB962C8B-B14F-4D97-AF65-F5344CB8AC3E}">
        <p14:creationId xmlns:p14="http://schemas.microsoft.com/office/powerpoint/2010/main" val="1626140486"/>
      </p:ext>
    </p:extLst>
  </p:cSld>
</p:sld>
</file>

<file path=ppt/slides/slide6.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7A84D2F-26D1-4231-AA87-63C6D635579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VALIDATION EVIDENCE</a:t>
            </a:r>
          </a:p>
        </p:txBody>
      </p:sp>
      <p:sp>
        <p:nvSpPr>
          <p:cNvPr id="2" name="">
            <a:extLst xmlns:a="http://schemas.openxmlformats.org/drawingml/2006/main">
              <a:ext uri="{FF2B5EF4-FFF2-40B4-BE49-F238E27FC236}">
                <a16:creationId xmlns:a16="http://schemas.microsoft.com/office/drawing/2014/main" id="{8F6D0951-B3B2-4534-8A12-1CC7C57EA1BF}"/>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How well the model matched the reference</a:t>
            </a:r>
          </a:p>
        </p:txBody>
      </p:sp>
      <p:sp>
        <p:nvSpPr>
          <p:cNvPr id="3" name="">
            <a:extLst xmlns:a="http://schemas.openxmlformats.org/drawingml/2006/main">
              <a:ext uri="{FF2B5EF4-FFF2-40B4-BE49-F238E27FC236}">
                <a16:creationId xmlns:a16="http://schemas.microsoft.com/office/drawing/2014/main" id="{1020BED9-8E4E-4B7F-B19D-C5EDCD00231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E1465013-EAC2-4FE9-811F-A3DCD42F22D6}"/>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C1A2895B-111A-467F-BBF9-4B5B2BBB34DF}"/>
              </a:ext>
            </a:extLst>
          </p:cNvPr>
          <p:cNvSpPr>
            <a:spLocks xmlns:a="http://schemas.openxmlformats.org/drawingml/2006/main" noGrp="1"/>
          </p:cNvSpPr>
          <p:nvPr/>
        </p:nvSpPr>
        <p:spPr>
          <a:xfrm xmlns:a="http://schemas.openxmlformats.org/drawingml/2006/main">
            <a:off x="590550" y="15049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CBD0535E-73D3-40CC-813B-62C0BD2CC498}"/>
              </a:ext>
            </a:extLst>
          </p:cNvPr>
          <p:cNvSpPr>
            <a:spLocks xmlns:a="http://schemas.openxmlformats.org/drawingml/2006/main" noGrp="1"/>
          </p:cNvSpPr>
          <p:nvPr/>
        </p:nvSpPr>
        <p:spPr>
          <a:xfrm xmlns:a="http://schemas.openxmlformats.org/drawingml/2006/main">
            <a:off x="762000" y="16192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0.88</a:t>
            </a:r>
          </a:p>
        </p:txBody>
      </p:sp>
      <p:sp>
        <p:nvSpPr>
          <p:cNvPr id="7" name="">
            <a:extLst xmlns:a="http://schemas.openxmlformats.org/drawingml/2006/main">
              <a:ext uri="{FF2B5EF4-FFF2-40B4-BE49-F238E27FC236}">
                <a16:creationId xmlns:a16="http://schemas.microsoft.com/office/drawing/2014/main" id="{C398429F-75DF-4862-A396-AF1E476E0759}"/>
              </a:ext>
            </a:extLst>
          </p:cNvPr>
          <p:cNvSpPr>
            <a:spLocks xmlns:a="http://schemas.openxmlformats.org/drawingml/2006/main" noGrp="1"/>
          </p:cNvSpPr>
          <p:nvPr/>
        </p:nvSpPr>
        <p:spPr>
          <a:xfrm xmlns:a="http://schemas.openxmlformats.org/drawingml/2006/main">
            <a:off x="762000" y="21336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F1 AGREEMENT</a:t>
            </a:r>
          </a:p>
        </p:txBody>
      </p:sp>
      <p:sp>
        <p:nvSpPr>
          <p:cNvPr id="8" name="">
            <a:extLst xmlns:a="http://schemas.openxmlformats.org/drawingml/2006/main">
              <a:ext uri="{FF2B5EF4-FFF2-40B4-BE49-F238E27FC236}">
                <a16:creationId xmlns:a16="http://schemas.microsoft.com/office/drawing/2014/main" id="{E25D8105-1190-402B-A4D7-DA3BC803BCD8}"/>
              </a:ext>
            </a:extLst>
          </p:cNvPr>
          <p:cNvSpPr>
            <a:spLocks xmlns:a="http://schemas.openxmlformats.org/drawingml/2006/main" noGrp="1"/>
          </p:cNvSpPr>
          <p:nvPr/>
        </p:nvSpPr>
        <p:spPr>
          <a:xfrm xmlns:a="http://schemas.openxmlformats.org/drawingml/2006/main">
            <a:off x="251460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77765BA8-DD76-415B-908C-50C0C0B78456}"/>
              </a:ext>
            </a:extLst>
          </p:cNvPr>
          <p:cNvSpPr>
            <a:spLocks xmlns:a="http://schemas.openxmlformats.org/drawingml/2006/main" noGrp="1"/>
          </p:cNvSpPr>
          <p:nvPr/>
        </p:nvSpPr>
        <p:spPr>
          <a:xfrm xmlns:a="http://schemas.openxmlformats.org/drawingml/2006/main">
            <a:off x="268605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vl1pPr algn="l">
              <a:buNone/>
              <a:defRPr sz="2550" b="1">
                <a:solidFill>
                  <a:srgbClr val="6D5DD3"/>
                </a:solidFill>
                <a:latin typeface="Arial"/>
                <a:ea typeface="Arial"/>
                <a:cs typeface="Arial"/>
              </a:defRPr>
            </a:lvl1pPr>
            <a:lvl2pPr algn="l">
              <a:buNone/>
              <a:defRPr sz="2550" b="1">
                <a:solidFill>
                  <a:srgbClr val="6D5DD3"/>
                </a:solidFill>
                <a:latin typeface="Arial"/>
                <a:ea typeface="Arial"/>
                <a:cs typeface="Arial"/>
              </a:defRPr>
            </a:lvl2pPr>
            <a:lvl3pPr algn="l">
              <a:buNone/>
              <a:defRPr sz="2550" b="1">
                <a:solidFill>
                  <a:srgbClr val="6D5DD3"/>
                </a:solidFill>
                <a:latin typeface="Arial"/>
                <a:ea typeface="Arial"/>
                <a:cs typeface="Arial"/>
              </a:defRPr>
            </a:lvl3pPr>
            <a:lvl4pPr algn="l">
              <a:buNone/>
              <a:defRPr sz="2550" b="1">
                <a:solidFill>
                  <a:srgbClr val="6D5DD3"/>
                </a:solidFill>
                <a:latin typeface="Arial"/>
                <a:ea typeface="Arial"/>
                <a:cs typeface="Arial"/>
              </a:defRPr>
            </a:lvl4pPr>
            <a:lvl5pPr algn="l">
              <a:buNone/>
              <a:defRPr sz="2550" b="1">
                <a:solidFill>
                  <a:srgbClr val="6D5DD3"/>
                </a:solidFill>
                <a:latin typeface="Arial"/>
                <a:ea typeface="Arial"/>
                <a:cs typeface="Arial"/>
              </a:defRPr>
            </a:lvl5pPr>
            <a:lvl6pPr algn="l">
              <a:buNone/>
              <a:defRPr sz="2550" b="1">
                <a:solidFill>
                  <a:srgbClr val="6D5DD3"/>
                </a:solidFill>
                <a:latin typeface="Arial"/>
                <a:ea typeface="Arial"/>
                <a:cs typeface="Arial"/>
              </a:defRPr>
            </a:lvl6pPr>
            <a:lvl7pPr algn="l">
              <a:buNone/>
              <a:defRPr sz="2550" b="1">
                <a:solidFill>
                  <a:srgbClr val="6D5DD3"/>
                </a:solidFill>
                <a:latin typeface="Arial"/>
                <a:ea typeface="Arial"/>
                <a:cs typeface="Arial"/>
              </a:defRPr>
            </a:lvl7pPr>
            <a:lvl8pPr algn="l">
              <a:buNone/>
              <a:defRPr sz="2550" b="1">
                <a:solidFill>
                  <a:srgbClr val="6D5DD3"/>
                </a:solidFill>
                <a:latin typeface="Arial"/>
                <a:ea typeface="Arial"/>
                <a:cs typeface="Arial"/>
              </a:defRPr>
            </a:lvl8pPr>
            <a:lvl9pPr algn="l">
              <a:buNone/>
              <a:defRPr sz="2550" b="1">
                <a:solidFill>
                  <a:srgbClr val="6D5DD3"/>
                </a:solidFill>
                <a:latin typeface="Arial"/>
                <a:ea typeface="Arial"/>
                <a:cs typeface="Arial"/>
              </a:defRPr>
            </a:lvl9pPr>
          </a:lstStyle>
          <a:p xmlns:a="http://schemas.openxmlformats.org/drawingml/2006/main">
            <a:pPr algn="l">
              <a:buNone/>
              <a:defRPr sz="2550" b="1">
                <a:solidFill>
                  <a:srgbClr val="6D5DD3"/>
                </a:solidFill>
                <a:latin typeface="Arial"/>
                <a:ea typeface="Arial"/>
                <a:cs typeface="Arial"/>
              </a:defRPr>
            </a:pPr>
            <a:r>
              <a:rPr sz="2550" b="1">
                <a:solidFill>
                  <a:srgbClr val="6D5DD3"/>
                </a:solidFill>
                <a:latin typeface="Arial"/>
                <a:ea typeface="Arial"/>
                <a:cs typeface="Arial"/>
              </a:rPr>
              <a:t>0.78</a:t>
            </a:r>
          </a:p>
        </p:txBody>
      </p:sp>
      <p:sp>
        <p:nvSpPr>
          <p:cNvPr id="10" name="">
            <a:extLst xmlns:a="http://schemas.openxmlformats.org/drawingml/2006/main">
              <a:ext uri="{FF2B5EF4-FFF2-40B4-BE49-F238E27FC236}">
                <a16:creationId xmlns:a16="http://schemas.microsoft.com/office/drawing/2014/main" id="{E80FD1CD-071B-4410-8333-41BB620456A1}"/>
              </a:ext>
            </a:extLst>
          </p:cNvPr>
          <p:cNvSpPr>
            <a:spLocks xmlns:a="http://schemas.openxmlformats.org/drawingml/2006/main" noGrp="1"/>
          </p:cNvSpPr>
          <p:nvPr/>
        </p:nvSpPr>
        <p:spPr>
          <a:xfrm xmlns:a="http://schemas.openxmlformats.org/drawingml/2006/main">
            <a:off x="268605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INTERSECTION OVER UNION</a:t>
            </a:r>
          </a:p>
        </p:txBody>
      </p:sp>
      <p:sp>
        <p:nvSpPr>
          <p:cNvPr id="11" name="">
            <a:extLst xmlns:a="http://schemas.openxmlformats.org/drawingml/2006/main">
              <a:ext uri="{FF2B5EF4-FFF2-40B4-BE49-F238E27FC236}">
                <a16:creationId xmlns:a16="http://schemas.microsoft.com/office/drawing/2014/main" id="{B881E1D3-04E1-4E60-8B1B-A21CBEC511A3}"/>
              </a:ext>
            </a:extLst>
          </p:cNvPr>
          <p:cNvSpPr>
            <a:spLocks xmlns:a="http://schemas.openxmlformats.org/drawingml/2006/main" noGrp="1"/>
          </p:cNvSpPr>
          <p:nvPr/>
        </p:nvSpPr>
        <p:spPr>
          <a:xfrm xmlns:a="http://schemas.openxmlformats.org/drawingml/2006/main">
            <a:off x="474345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62495634-BA8D-413D-8972-10B9F4C45E97}"/>
              </a:ext>
            </a:extLst>
          </p:cNvPr>
          <p:cNvSpPr>
            <a:spLocks xmlns:a="http://schemas.openxmlformats.org/drawingml/2006/main" noGrp="1"/>
          </p:cNvSpPr>
          <p:nvPr/>
        </p:nvSpPr>
        <p:spPr>
          <a:xfrm xmlns:a="http://schemas.openxmlformats.org/drawingml/2006/main">
            <a:off x="491490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0.89</a:t>
            </a:r>
          </a:p>
        </p:txBody>
      </p:sp>
      <p:sp>
        <p:nvSpPr>
          <p:cNvPr id="13" name="">
            <a:extLst xmlns:a="http://schemas.openxmlformats.org/drawingml/2006/main">
              <a:ext uri="{FF2B5EF4-FFF2-40B4-BE49-F238E27FC236}">
                <a16:creationId xmlns:a16="http://schemas.microsoft.com/office/drawing/2014/main" id="{9AFB6D63-86DC-40E9-BF59-8069FF5A1424}"/>
              </a:ext>
            </a:extLst>
          </p:cNvPr>
          <p:cNvSpPr>
            <a:spLocks xmlns:a="http://schemas.openxmlformats.org/drawingml/2006/main" noGrp="1"/>
          </p:cNvSpPr>
          <p:nvPr/>
        </p:nvSpPr>
        <p:spPr>
          <a:xfrm xmlns:a="http://schemas.openxmlformats.org/drawingml/2006/main">
            <a:off x="491490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BALANCED ACCURACY</a:t>
            </a:r>
          </a:p>
        </p:txBody>
      </p:sp>
      <p:sp>
        <p:nvSpPr>
          <p:cNvPr id="14" name="">
            <a:extLst xmlns:a="http://schemas.openxmlformats.org/drawingml/2006/main">
              <a:ext uri="{FF2B5EF4-FFF2-40B4-BE49-F238E27FC236}">
                <a16:creationId xmlns:a16="http://schemas.microsoft.com/office/drawing/2014/main" id="{0409CE89-648B-42AB-906B-799D048E51BA}"/>
              </a:ext>
            </a:extLst>
          </p:cNvPr>
          <p:cNvSpPr>
            <a:spLocks xmlns:a="http://schemas.openxmlformats.org/drawingml/2006/main" noGrp="1"/>
          </p:cNvSpPr>
          <p:nvPr/>
        </p:nvSpPr>
        <p:spPr>
          <a:xfrm xmlns:a="http://schemas.openxmlformats.org/drawingml/2006/main">
            <a:off x="7029450" y="1504950"/>
            <a:ext cx="45720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F06449"/>
            </a:solidFill>
            <a:prstDash val="solid"/>
          </a:ln>
        </p:spPr>
      </p:sp>
      <p:sp>
        <p:nvSpPr>
          <p:cNvPr id="15" name="">
            <a:extLst xmlns:a="http://schemas.openxmlformats.org/drawingml/2006/main">
              <a:ext uri="{FF2B5EF4-FFF2-40B4-BE49-F238E27FC236}">
                <a16:creationId xmlns:a16="http://schemas.microsoft.com/office/drawing/2014/main" id="{2D89BAFB-FE0D-4A8B-A1B7-615789F872F9}"/>
              </a:ext>
            </a:extLst>
          </p:cNvPr>
          <p:cNvSpPr>
            <a:spLocks xmlns:a="http://schemas.openxmlformats.org/drawingml/2006/main" noGrp="1"/>
          </p:cNvSpPr>
          <p:nvPr/>
        </p:nvSpPr>
        <p:spPr>
          <a:xfrm xmlns:a="http://schemas.openxmlformats.org/drawingml/2006/main">
            <a:off x="7239000" y="1685925"/>
            <a:ext cx="415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F3F6F2"/>
                </a:solidFill>
                <a:latin typeface="Arial"/>
                <a:ea typeface="Arial"/>
                <a:cs typeface="Arial"/>
              </a:defRPr>
            </a:defPPr>
            <a:lvl1pPr algn="l">
              <a:buNone/>
              <a:defRPr sz="1425" b="1">
                <a:solidFill>
                  <a:srgbClr val="F3F6F2"/>
                </a:solidFill>
                <a:latin typeface="Arial"/>
                <a:ea typeface="Arial"/>
                <a:cs typeface="Arial"/>
              </a:defRPr>
            </a:lvl1pPr>
            <a:lvl2pPr algn="l">
              <a:buNone/>
              <a:defRPr sz="1425" b="1">
                <a:solidFill>
                  <a:srgbClr val="F3F6F2"/>
                </a:solidFill>
                <a:latin typeface="Arial"/>
                <a:ea typeface="Arial"/>
                <a:cs typeface="Arial"/>
              </a:defRPr>
            </a:lvl2pPr>
            <a:lvl3pPr algn="l">
              <a:buNone/>
              <a:defRPr sz="1425" b="1">
                <a:solidFill>
                  <a:srgbClr val="F3F6F2"/>
                </a:solidFill>
                <a:latin typeface="Arial"/>
                <a:ea typeface="Arial"/>
                <a:cs typeface="Arial"/>
              </a:defRPr>
            </a:lvl3pPr>
            <a:lvl4pPr algn="l">
              <a:buNone/>
              <a:defRPr sz="1425" b="1">
                <a:solidFill>
                  <a:srgbClr val="F3F6F2"/>
                </a:solidFill>
                <a:latin typeface="Arial"/>
                <a:ea typeface="Arial"/>
                <a:cs typeface="Arial"/>
              </a:defRPr>
            </a:lvl4pPr>
            <a:lvl5pPr algn="l">
              <a:buNone/>
              <a:defRPr sz="1425" b="1">
                <a:solidFill>
                  <a:srgbClr val="F3F6F2"/>
                </a:solidFill>
                <a:latin typeface="Arial"/>
                <a:ea typeface="Arial"/>
                <a:cs typeface="Arial"/>
              </a:defRPr>
            </a:lvl5pPr>
            <a:lvl6pPr algn="l">
              <a:buNone/>
              <a:defRPr sz="1425" b="1">
                <a:solidFill>
                  <a:srgbClr val="F3F6F2"/>
                </a:solidFill>
                <a:latin typeface="Arial"/>
                <a:ea typeface="Arial"/>
                <a:cs typeface="Arial"/>
              </a:defRPr>
            </a:lvl6pPr>
            <a:lvl7pPr algn="l">
              <a:buNone/>
              <a:defRPr sz="1425" b="1">
                <a:solidFill>
                  <a:srgbClr val="F3F6F2"/>
                </a:solidFill>
                <a:latin typeface="Arial"/>
                <a:ea typeface="Arial"/>
                <a:cs typeface="Arial"/>
              </a:defRPr>
            </a:lvl7pPr>
            <a:lvl8pPr algn="l">
              <a:buNone/>
              <a:defRPr sz="1425" b="1">
                <a:solidFill>
                  <a:srgbClr val="F3F6F2"/>
                </a:solidFill>
                <a:latin typeface="Arial"/>
                <a:ea typeface="Arial"/>
                <a:cs typeface="Arial"/>
              </a:defRPr>
            </a:lvl8pPr>
            <a:lvl9pPr algn="l">
              <a:buNone/>
              <a:defRPr sz="1425" b="1">
                <a:solidFill>
                  <a:srgbClr val="F3F6F2"/>
                </a:solidFill>
                <a:latin typeface="Arial"/>
                <a:ea typeface="Arial"/>
                <a:cs typeface="Arial"/>
              </a:defRPr>
            </a:lvl9pPr>
          </a:lstStyle>
          <a:p xmlns:a="http://schemas.openxmlformats.org/drawingml/2006/main">
            <a:pPr algn="l">
              <a:buNone/>
              <a:defRPr sz="1425" b="1">
                <a:solidFill>
                  <a:srgbClr val="F3F6F2"/>
                </a:solidFill>
                <a:latin typeface="Arial"/>
                <a:ea typeface="Arial"/>
                <a:cs typeface="Arial"/>
              </a:defRPr>
            </a:pPr>
            <a:r>
              <a:rPr sz="1425" b="1">
                <a:solidFill>
                  <a:srgbClr val="F3F6F2"/>
                </a:solidFill>
                <a:latin typeface="Arial"/>
                <a:ea typeface="Arial"/>
                <a:cs typeface="Arial"/>
              </a:rPr>
              <a:t>The model matched a separate satellite reference well. This is not the same as field accuracy.</a:t>
            </a:r>
          </a:p>
        </p:txBody>
      </p:sp>
      <p:pic>
        <p:nvPicPr>
          <p:cNvPr id="16" name="">
            <a:extLst xmlns:a="http://schemas.openxmlformats.org/drawingml/2006/main">
              <a:ext uri="{FF2B5EF4-FFF2-40B4-BE49-F238E27FC236}">
                <a16:creationId xmlns:a16="http://schemas.microsoft.com/office/drawing/2014/main" id="{09CAEDA2-16E2-4E4D-98A1-8E32132C7C47}"/>
              </a:ext>
            </a:extLst>
          </p:cNvPr>
          <p:cNvPicPr>
            <a:picLocks xmlns:a="http://schemas.openxmlformats.org/drawingml/2006/main" noChangeAspect="1"/>
          </p:cNvPicPr>
          <p:nvPr/>
        </p:nvPicPr>
        <p:blipFill>
          <a:blip xmlns:r="http://schemas.openxmlformats.org/officeDocument/2006/relationships" xmlns:a="http://schemas.openxmlformats.org/drawingml/2006/main" r:embed="R88cbfa8641544e3c"/>
          <a:stretch xmlns:a="http://schemas.openxmlformats.org/drawingml/2006/main"/>
        </p:blipFill>
        <p:spPr>
          <a:xfrm xmlns:a="http://schemas.openxmlformats.org/drawingml/2006/main">
            <a:off x="590550" y="2913104"/>
            <a:ext cx="7010400" cy="2974893"/>
          </a:xfrm>
          <a:prstGeom xmlns:a="http://schemas.openxmlformats.org/drawingml/2006/main" prst="roundRect">
            <a:avLst>
              <a:gd name="adj" fmla="val 2941"/>
            </a:avLst>
          </a:prstGeom>
        </p:spPr>
      </p:pic>
      <p:sp>
        <p:nvSpPr>
          <p:cNvPr id="17" name="">
            <a:extLst xmlns:a="http://schemas.openxmlformats.org/drawingml/2006/main">
              <a:ext uri="{FF2B5EF4-FFF2-40B4-BE49-F238E27FC236}">
                <a16:creationId xmlns:a16="http://schemas.microsoft.com/office/drawing/2014/main" id="{6E53C711-8BCE-4FF9-84CB-C516B06C908C}"/>
              </a:ext>
            </a:extLst>
          </p:cNvPr>
          <p:cNvSpPr>
            <a:spLocks xmlns:a="http://schemas.openxmlformats.org/drawingml/2006/main" noGrp="1"/>
          </p:cNvSpPr>
          <p:nvPr/>
        </p:nvSpPr>
        <p:spPr>
          <a:xfrm xmlns:a="http://schemas.openxmlformats.org/drawingml/2006/main">
            <a:off x="7886700" y="2781300"/>
            <a:ext cx="3714750" cy="3238500"/>
          </a:xfrm>
          <a:prstGeom xmlns:a="http://schemas.openxmlformats.org/drawingml/2006/main" prst="roundRect">
            <a:avLst>
              <a:gd name="adj" fmla="val 4118"/>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AFB3771E-70FA-4866-AB58-F9E6AD9ED744}"/>
              </a:ext>
            </a:extLst>
          </p:cNvPr>
          <p:cNvSpPr>
            <a:spLocks xmlns:a="http://schemas.openxmlformats.org/drawingml/2006/main" noGrp="1"/>
          </p:cNvSpPr>
          <p:nvPr/>
        </p:nvSpPr>
        <p:spPr>
          <a:xfrm xmlns:a="http://schemas.openxmlformats.org/drawingml/2006/main">
            <a:off x="8115300" y="30099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MAIN LIMITATIONS</a:t>
            </a:r>
          </a:p>
        </p:txBody>
      </p:sp>
      <p:sp>
        <p:nvSpPr>
          <p:cNvPr id="19" name="">
            <a:extLst xmlns:a="http://schemas.openxmlformats.org/drawingml/2006/main">
              <a:ext uri="{FF2B5EF4-FFF2-40B4-BE49-F238E27FC236}">
                <a16:creationId xmlns:a16="http://schemas.microsoft.com/office/drawing/2014/main" id="{30C5B26E-D35F-4268-8DCC-DE5292CF3C45}"/>
              </a:ext>
            </a:extLst>
          </p:cNvPr>
          <p:cNvSpPr>
            <a:spLocks xmlns:a="http://schemas.openxmlformats.org/drawingml/2006/main" noGrp="1"/>
          </p:cNvSpPr>
          <p:nvPr/>
        </p:nvSpPr>
        <p:spPr>
          <a:xfrm xmlns:a="http://schemas.openxmlformats.org/drawingml/2006/main">
            <a:off x="8115300" y="33909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Surface temperature is not air temperature or personal heat exposure.</a:t>
            </a:r>
          </a:p>
        </p:txBody>
      </p:sp>
      <p:sp>
        <p:nvSpPr>
          <p:cNvPr id="20" name="">
            <a:extLst xmlns:a="http://schemas.openxmlformats.org/drawingml/2006/main">
              <a:ext uri="{FF2B5EF4-FFF2-40B4-BE49-F238E27FC236}">
                <a16:creationId xmlns:a16="http://schemas.microsoft.com/office/drawing/2014/main" id="{06F0C5E1-0D33-4A88-AE60-D3ED406AD63B}"/>
              </a:ext>
            </a:extLst>
          </p:cNvPr>
          <p:cNvSpPr>
            <a:spLocks xmlns:a="http://schemas.openxmlformats.org/drawingml/2006/main" noGrp="1"/>
          </p:cNvSpPr>
          <p:nvPr/>
        </p:nvSpPr>
        <p:spPr>
          <a:xfrm xmlns:a="http://schemas.openxmlformats.org/drawingml/2006/main">
            <a:off x="8115300" y="40957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WorldPop is an estimate, not a current population or worker count.</a:t>
            </a:r>
          </a:p>
        </p:txBody>
      </p:sp>
      <p:sp>
        <p:nvSpPr>
          <p:cNvPr id="21" name="">
            <a:extLst xmlns:a="http://schemas.openxmlformats.org/drawingml/2006/main">
              <a:ext uri="{FF2B5EF4-FFF2-40B4-BE49-F238E27FC236}">
                <a16:creationId xmlns:a16="http://schemas.microsoft.com/office/drawing/2014/main" id="{64A4325D-C1CB-4EDB-B7D4-6C36B09C7F9C}"/>
              </a:ext>
            </a:extLst>
          </p:cNvPr>
          <p:cNvSpPr>
            <a:spLocks xmlns:a="http://schemas.openxmlformats.org/drawingml/2006/main" noGrp="1"/>
          </p:cNvSpPr>
          <p:nvPr/>
        </p:nvSpPr>
        <p:spPr>
          <a:xfrm xmlns:a="http://schemas.openxmlformats.org/drawingml/2006/main">
            <a:off x="8115300" y="47053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Bright desert and roofs can still confuse the model.</a:t>
            </a:r>
          </a:p>
        </p:txBody>
      </p:sp>
      <p:sp>
        <p:nvSpPr>
          <p:cNvPr id="22" name="">
            <a:extLst xmlns:a="http://schemas.openxmlformats.org/drawingml/2006/main">
              <a:ext uri="{FF2B5EF4-FFF2-40B4-BE49-F238E27FC236}">
                <a16:creationId xmlns:a16="http://schemas.microsoft.com/office/drawing/2014/main" id="{A9FAFBDA-FA14-4468-AEFD-2C33E7FE5F59}"/>
              </a:ext>
            </a:extLst>
          </p:cNvPr>
          <p:cNvSpPr>
            <a:spLocks xmlns:a="http://schemas.openxmlformats.org/drawingml/2006/main" noGrp="1"/>
          </p:cNvSpPr>
          <p:nvPr/>
        </p:nvSpPr>
        <p:spPr>
          <a:xfrm xmlns:a="http://schemas.openxmlformats.org/drawingml/2006/main">
            <a:off x="8115300" y="52768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A real user still needs to review the score weights.</a:t>
            </a:r>
          </a:p>
        </p:txBody>
      </p:sp>
    </p:spTree>
    <p:extLst>
      <p:ext uri="{BB962C8B-B14F-4D97-AF65-F5344CB8AC3E}">
        <p14:creationId xmlns:p14="http://schemas.microsoft.com/office/powerpoint/2010/main" val="517216802"/>
      </p:ext>
    </p:extLst>
  </p:cSld>
</p:sld>
</file>

<file path=ppt/slides/slide7.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9FD5FE6-7A2B-4163-BD4B-775FB0FEE29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DIFFERENCE</a:t>
            </a:r>
          </a:p>
        </p:txBody>
      </p:sp>
      <p:sp>
        <p:nvSpPr>
          <p:cNvPr id="2" name="">
            <a:extLst xmlns:a="http://schemas.openxmlformats.org/drawingml/2006/main">
              <a:ext uri="{FF2B5EF4-FFF2-40B4-BE49-F238E27FC236}">
                <a16:creationId xmlns:a16="http://schemas.microsoft.com/office/drawing/2014/main" id="{5FA2513D-95EC-480A-9D43-8DC4D08FEF0B}"/>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Why we used more than one signal</a:t>
            </a:r>
          </a:p>
        </p:txBody>
      </p:sp>
      <p:sp>
        <p:nvSpPr>
          <p:cNvPr id="3" name="">
            <a:extLst xmlns:a="http://schemas.openxmlformats.org/drawingml/2006/main">
              <a:ext uri="{FF2B5EF4-FFF2-40B4-BE49-F238E27FC236}">
                <a16:creationId xmlns:a16="http://schemas.microsoft.com/office/drawing/2014/main" id="{A7CC9035-8208-4151-A13B-C25259C5C835}"/>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B108633-9392-4628-B76D-1ACC3CD8A490}"/>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25AB0C63-12B7-449A-83A7-31C6343B2BFE}"/>
              </a:ext>
            </a:extLst>
          </p:cNvPr>
          <p:cNvPicPr>
            <a:picLocks xmlns:a="http://schemas.openxmlformats.org/drawingml/2006/main" noChangeAspect="1"/>
          </p:cNvPicPr>
          <p:nvPr/>
        </p:nvPicPr>
        <p:blipFill>
          <a:blip xmlns:r="http://schemas.openxmlformats.org/officeDocument/2006/relationships" xmlns:a="http://schemas.openxmlformats.org/drawingml/2006/main" r:embed="Rf48f23a94cfb4aac"/>
          <a:stretch xmlns:a="http://schemas.openxmlformats.org/drawingml/2006/main"/>
        </p:blipFill>
        <p:spPr>
          <a:xfrm xmlns:a="http://schemas.openxmlformats.org/drawingml/2006/main">
            <a:off x="590550" y="1964391"/>
            <a:ext cx="6477000" cy="2576793"/>
          </a:xfrm>
          <a:prstGeom xmlns:a="http://schemas.openxmlformats.org/drawingml/2006/main" prst="roundRect">
            <a:avLst>
              <a:gd name="adj" fmla="val 2817"/>
            </a:avLst>
          </a:prstGeom>
        </p:spPr>
      </p:pic>
      <p:sp>
        <p:nvSpPr>
          <p:cNvPr id="6" name="">
            <a:extLst xmlns:a="http://schemas.openxmlformats.org/drawingml/2006/main">
              <a:ext uri="{FF2B5EF4-FFF2-40B4-BE49-F238E27FC236}">
                <a16:creationId xmlns:a16="http://schemas.microsoft.com/office/drawing/2014/main" id="{E2D46F12-86D7-47BC-8A50-67561E805C64}"/>
              </a:ext>
            </a:extLst>
          </p:cNvPr>
          <p:cNvSpPr>
            <a:spLocks xmlns:a="http://schemas.openxmlformats.org/drawingml/2006/main" noGrp="1"/>
          </p:cNvSpPr>
          <p:nvPr/>
        </p:nvSpPr>
        <p:spPr>
          <a:xfrm xmlns:a="http://schemas.openxmlformats.org/drawingml/2006/main">
            <a:off x="7334250" y="1562100"/>
            <a:ext cx="4267200" cy="3381375"/>
          </a:xfrm>
          <a:prstGeom xmlns:a="http://schemas.openxmlformats.org/drawingml/2006/main" prst="roundRect">
            <a:avLst>
              <a:gd name="adj" fmla="val 3944"/>
            </a:avLst>
          </a:prstGeom>
          <a:solidFill xmlns:a="http://schemas.openxmlformats.org/drawingml/2006/main">
            <a:srgbClr val="113646"/>
          </a:solidFill>
          <a:ln xmlns:a="http://schemas.openxmlformats.org/drawingml/2006/main" w="9525">
            <a:solidFill>
              <a:srgbClr val="31505F"/>
            </a:solidFill>
            <a:prstDash val="solid"/>
          </a:ln>
        </p:spPr>
      </p:sp>
      <p:sp>
        <p:nvSpPr>
          <p:cNvPr id="7" name="">
            <a:extLst xmlns:a="http://schemas.openxmlformats.org/drawingml/2006/main">
              <a:ext uri="{FF2B5EF4-FFF2-40B4-BE49-F238E27FC236}">
                <a16:creationId xmlns:a16="http://schemas.microsoft.com/office/drawing/2014/main" id="{7EC9BA80-266B-4427-9035-7D9CDFA65029}"/>
              </a:ext>
            </a:extLst>
          </p:cNvPr>
          <p:cNvSpPr>
            <a:spLocks xmlns:a="http://schemas.openxmlformats.org/drawingml/2006/main" noGrp="1"/>
          </p:cNvSpPr>
          <p:nvPr/>
        </p:nvSpPr>
        <p:spPr>
          <a:xfrm xmlns:a="http://schemas.openxmlformats.org/drawingml/2006/main">
            <a:off x="7581900" y="1809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THREE CHECKS</a:t>
            </a:r>
          </a:p>
        </p:txBody>
      </p:sp>
      <p:sp>
        <p:nvSpPr>
          <p:cNvPr id="8" name="">
            <a:extLst xmlns:a="http://schemas.openxmlformats.org/drawingml/2006/main">
              <a:ext uri="{FF2B5EF4-FFF2-40B4-BE49-F238E27FC236}">
                <a16:creationId xmlns:a16="http://schemas.microsoft.com/office/drawing/2014/main" id="{C362E6B9-B927-4975-B5D8-05066B43271B}"/>
              </a:ext>
            </a:extLst>
          </p:cNvPr>
          <p:cNvSpPr>
            <a:spLocks xmlns:a="http://schemas.openxmlformats.org/drawingml/2006/main" noGrp="1"/>
          </p:cNvSpPr>
          <p:nvPr/>
        </p:nvSpPr>
        <p:spPr>
          <a:xfrm xmlns:a="http://schemas.openxmlformats.org/drawingml/2006/main">
            <a:off x="7581900" y="22098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Annual maps suggest where growth may have happened.</a:t>
            </a:r>
          </a:p>
        </p:txBody>
      </p:sp>
      <p:sp>
        <p:nvSpPr>
          <p:cNvPr id="9" name="">
            <a:extLst xmlns:a="http://schemas.openxmlformats.org/drawingml/2006/main">
              <a:ext uri="{FF2B5EF4-FFF2-40B4-BE49-F238E27FC236}">
                <a16:creationId xmlns:a16="http://schemas.microsoft.com/office/drawing/2014/main" id="{1D860BB5-F7AB-4D48-AE85-FBD861FB0A21}"/>
              </a:ext>
            </a:extLst>
          </p:cNvPr>
          <p:cNvSpPr>
            <a:spLocks xmlns:a="http://schemas.openxmlformats.org/drawingml/2006/main" noGrp="1"/>
          </p:cNvSpPr>
          <p:nvPr/>
        </p:nvSpPr>
        <p:spPr>
          <a:xfrm xmlns:a="http://schemas.openxmlformats.org/drawingml/2006/main">
            <a:off x="7581900" y="2876550"/>
            <a:ext cx="3619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Optical and radar data check the same places.</a:t>
            </a:r>
          </a:p>
        </p:txBody>
      </p:sp>
      <p:sp>
        <p:nvSpPr>
          <p:cNvPr id="10" name="">
            <a:extLst xmlns:a="http://schemas.openxmlformats.org/drawingml/2006/main">
              <a:ext uri="{FF2B5EF4-FFF2-40B4-BE49-F238E27FC236}">
                <a16:creationId xmlns:a16="http://schemas.microsoft.com/office/drawing/2014/main" id="{0AE34ECE-FE2F-4B3E-ACC6-8A9184698696}"/>
              </a:ext>
            </a:extLst>
          </p:cNvPr>
          <p:cNvSpPr>
            <a:spLocks xmlns:a="http://schemas.openxmlformats.org/drawingml/2006/main" noGrp="1"/>
          </p:cNvSpPr>
          <p:nvPr/>
        </p:nvSpPr>
        <p:spPr>
          <a:xfrm xmlns:a="http://schemas.openxmlformats.org/drawingml/2006/main">
            <a:off x="7581900" y="3657600"/>
            <a:ext cx="361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Each final score keeps its four parts visible.</a:t>
            </a:r>
          </a:p>
        </p:txBody>
      </p:sp>
      <p:sp>
        <p:nvSpPr>
          <p:cNvPr id="11" name="">
            <a:extLst xmlns:a="http://schemas.openxmlformats.org/drawingml/2006/main">
              <a:ext uri="{FF2B5EF4-FFF2-40B4-BE49-F238E27FC236}">
                <a16:creationId xmlns:a16="http://schemas.microsoft.com/office/drawing/2014/main" id="{D1734CF4-0839-4FD8-8FF1-416EC8EB57FF}"/>
              </a:ext>
            </a:extLst>
          </p:cNvPr>
          <p:cNvSpPr>
            <a:spLocks xmlns:a="http://schemas.openxmlformats.org/drawingml/2006/main" noGrp="1"/>
          </p:cNvSpPr>
          <p:nvPr/>
        </p:nvSpPr>
        <p:spPr>
          <a:xfrm xmlns:a="http://schemas.openxmlformats.org/drawingml/2006/main">
            <a:off x="7581900" y="44386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E2AD2B"/>
                </a:solidFill>
                <a:latin typeface="Arial"/>
                <a:ea typeface="Arial"/>
                <a:cs typeface="Arial"/>
              </a:defRPr>
            </a:defPPr>
            <a:lvl1pPr algn="l">
              <a:buNone/>
              <a:defRPr sz="1050" b="1">
                <a:solidFill>
                  <a:srgbClr val="E2AD2B"/>
                </a:solidFill>
                <a:latin typeface="Arial"/>
                <a:ea typeface="Arial"/>
                <a:cs typeface="Arial"/>
              </a:defRPr>
            </a:lvl1pPr>
            <a:lvl2pPr algn="l">
              <a:buNone/>
              <a:defRPr sz="1050" b="1">
                <a:solidFill>
                  <a:srgbClr val="E2AD2B"/>
                </a:solidFill>
                <a:latin typeface="Arial"/>
                <a:ea typeface="Arial"/>
                <a:cs typeface="Arial"/>
              </a:defRPr>
            </a:lvl2pPr>
            <a:lvl3pPr algn="l">
              <a:buNone/>
              <a:defRPr sz="1050" b="1">
                <a:solidFill>
                  <a:srgbClr val="E2AD2B"/>
                </a:solidFill>
                <a:latin typeface="Arial"/>
                <a:ea typeface="Arial"/>
                <a:cs typeface="Arial"/>
              </a:defRPr>
            </a:lvl3pPr>
            <a:lvl4pPr algn="l">
              <a:buNone/>
              <a:defRPr sz="1050" b="1">
                <a:solidFill>
                  <a:srgbClr val="E2AD2B"/>
                </a:solidFill>
                <a:latin typeface="Arial"/>
                <a:ea typeface="Arial"/>
                <a:cs typeface="Arial"/>
              </a:defRPr>
            </a:lvl4pPr>
            <a:lvl5pPr algn="l">
              <a:buNone/>
              <a:defRPr sz="1050" b="1">
                <a:solidFill>
                  <a:srgbClr val="E2AD2B"/>
                </a:solidFill>
                <a:latin typeface="Arial"/>
                <a:ea typeface="Arial"/>
                <a:cs typeface="Arial"/>
              </a:defRPr>
            </a:lvl5pPr>
            <a:lvl6pPr algn="l">
              <a:buNone/>
              <a:defRPr sz="1050" b="1">
                <a:solidFill>
                  <a:srgbClr val="E2AD2B"/>
                </a:solidFill>
                <a:latin typeface="Arial"/>
                <a:ea typeface="Arial"/>
                <a:cs typeface="Arial"/>
              </a:defRPr>
            </a:lvl6pPr>
            <a:lvl7pPr algn="l">
              <a:buNone/>
              <a:defRPr sz="1050" b="1">
                <a:solidFill>
                  <a:srgbClr val="E2AD2B"/>
                </a:solidFill>
                <a:latin typeface="Arial"/>
                <a:ea typeface="Arial"/>
                <a:cs typeface="Arial"/>
              </a:defRPr>
            </a:lvl7pPr>
            <a:lvl8pPr algn="l">
              <a:buNone/>
              <a:defRPr sz="1050" b="1">
                <a:solidFill>
                  <a:srgbClr val="E2AD2B"/>
                </a:solidFill>
                <a:latin typeface="Arial"/>
                <a:ea typeface="Arial"/>
                <a:cs typeface="Arial"/>
              </a:defRPr>
            </a:lvl8pPr>
            <a:lvl9pPr algn="l">
              <a:buNone/>
              <a:defRPr sz="1050" b="1">
                <a:solidFill>
                  <a:srgbClr val="E2AD2B"/>
                </a:solidFill>
                <a:latin typeface="Arial"/>
                <a:ea typeface="Arial"/>
                <a:cs typeface="Arial"/>
              </a:defRPr>
            </a:lvl9pPr>
          </a:lstStyle>
          <a:p xmlns:a="http://schemas.openxmlformats.org/drawingml/2006/main">
            <a:pPr algn="l">
              <a:buNone/>
              <a:defRPr sz="1050" b="1">
                <a:solidFill>
                  <a:srgbClr val="E2AD2B"/>
                </a:solidFill>
                <a:latin typeface="Arial"/>
                <a:ea typeface="Arial"/>
                <a:cs typeface="Arial"/>
              </a:defRPr>
            </a:pPr>
            <a:r>
              <a:rPr sz="1050" b="1">
                <a:solidFill>
                  <a:srgbClr val="E2AD2B"/>
                </a:solidFill>
                <a:latin typeface="Arial"/>
                <a:ea typeface="Arial"/>
                <a:cs typeface="Arial"/>
              </a:rPr>
              <a:t>The Tanager check showed that one built-up index can confuse bright desert with buildings.</a:t>
            </a:r>
          </a:p>
        </p:txBody>
      </p:sp>
      <p:sp>
        <p:nvSpPr>
          <p:cNvPr id="12" name="">
            <a:extLst xmlns:a="http://schemas.openxmlformats.org/drawingml/2006/main">
              <a:ext uri="{FF2B5EF4-FFF2-40B4-BE49-F238E27FC236}">
                <a16:creationId xmlns:a16="http://schemas.microsoft.com/office/drawing/2014/main" id="{BCD48F82-AF83-45EF-89B2-DF14175A6ECB}"/>
              </a:ext>
            </a:extLst>
          </p:cNvPr>
          <p:cNvSpPr>
            <a:spLocks xmlns:a="http://schemas.openxmlformats.org/drawingml/2006/main" noGrp="1"/>
          </p:cNvSpPr>
          <p:nvPr/>
        </p:nvSpPr>
        <p:spPr>
          <a:xfrm xmlns:a="http://schemas.openxmlformats.org/drawingml/2006/main">
            <a:off x="590550" y="5219700"/>
            <a:ext cx="11010900" cy="990600"/>
          </a:xfrm>
          <a:prstGeom xmlns:a="http://schemas.openxmlformats.org/drawingml/2006/main" prst="roundRect">
            <a:avLst>
              <a:gd name="adj" fmla="val 13462"/>
            </a:avLst>
          </a:prstGeom>
          <a:solidFill xmlns:a="http://schemas.openxmlformats.org/drawingml/2006/main">
            <a:srgbClr val="113646"/>
          </a:solidFill>
          <a:ln xmlns:a="http://schemas.openxmlformats.org/drawingml/2006/main" w="9525">
            <a:solidFill>
              <a:srgbClr val="31505F"/>
            </a:solidFill>
            <a:prstDash val="solid"/>
          </a:ln>
        </p:spPr>
      </p:sp>
      <p:sp>
        <p:nvSpPr>
          <p:cNvPr id="13" name="">
            <a:extLst xmlns:a="http://schemas.openxmlformats.org/drawingml/2006/main">
              <a:ext uri="{FF2B5EF4-FFF2-40B4-BE49-F238E27FC236}">
                <a16:creationId xmlns:a16="http://schemas.microsoft.com/office/drawing/2014/main" id="{4815301D-98A9-4EDF-BA4A-FEF17255E86E}"/>
              </a:ext>
            </a:extLst>
          </p:cNvPr>
          <p:cNvSpPr>
            <a:spLocks xmlns:a="http://schemas.openxmlformats.org/drawingml/2006/main" noGrp="1"/>
          </p:cNvSpPr>
          <p:nvPr/>
        </p:nvSpPr>
        <p:spPr>
          <a:xfrm xmlns:a="http://schemas.openxmlformats.org/drawingml/2006/main">
            <a:off x="838200" y="537210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WHY IT HELPS</a:t>
            </a:r>
          </a:p>
        </p:txBody>
      </p:sp>
      <p:sp>
        <p:nvSpPr>
          <p:cNvPr id="14" name="">
            <a:extLst xmlns:a="http://schemas.openxmlformats.org/drawingml/2006/main">
              <a:ext uri="{FF2B5EF4-FFF2-40B4-BE49-F238E27FC236}">
                <a16:creationId xmlns:a16="http://schemas.microsoft.com/office/drawing/2014/main" id="{41015C48-7FB2-4A85-8424-6E750D654802}"/>
              </a:ext>
            </a:extLst>
          </p:cNvPr>
          <p:cNvSpPr>
            <a:spLocks xmlns:a="http://schemas.openxmlformats.org/drawingml/2006/main" noGrp="1"/>
          </p:cNvSpPr>
          <p:nvPr/>
        </p:nvSpPr>
        <p:spPr>
          <a:xfrm xmlns:a="http://schemas.openxmlformats.org/drawingml/2006/main">
            <a:off x="2571750" y="5372100"/>
            <a:ext cx="8667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F3F6F2"/>
                </a:solidFill>
                <a:latin typeface="Arial"/>
                <a:ea typeface="Arial"/>
                <a:cs typeface="Arial"/>
              </a:defRPr>
            </a:defPPr>
            <a:lvl1pPr algn="l">
              <a:buNone/>
              <a:defRPr sz="1575" b="1">
                <a:solidFill>
                  <a:srgbClr val="F3F6F2"/>
                </a:solidFill>
                <a:latin typeface="Arial"/>
                <a:ea typeface="Arial"/>
                <a:cs typeface="Arial"/>
              </a:defRPr>
            </a:lvl1pPr>
            <a:lvl2pPr algn="l">
              <a:buNone/>
              <a:defRPr sz="1575" b="1">
                <a:solidFill>
                  <a:srgbClr val="F3F6F2"/>
                </a:solidFill>
                <a:latin typeface="Arial"/>
                <a:ea typeface="Arial"/>
                <a:cs typeface="Arial"/>
              </a:defRPr>
            </a:lvl2pPr>
            <a:lvl3pPr algn="l">
              <a:buNone/>
              <a:defRPr sz="1575" b="1">
                <a:solidFill>
                  <a:srgbClr val="F3F6F2"/>
                </a:solidFill>
                <a:latin typeface="Arial"/>
                <a:ea typeface="Arial"/>
                <a:cs typeface="Arial"/>
              </a:defRPr>
            </a:lvl3pPr>
            <a:lvl4pPr algn="l">
              <a:buNone/>
              <a:defRPr sz="1575" b="1">
                <a:solidFill>
                  <a:srgbClr val="F3F6F2"/>
                </a:solidFill>
                <a:latin typeface="Arial"/>
                <a:ea typeface="Arial"/>
                <a:cs typeface="Arial"/>
              </a:defRPr>
            </a:lvl4pPr>
            <a:lvl5pPr algn="l">
              <a:buNone/>
              <a:defRPr sz="1575" b="1">
                <a:solidFill>
                  <a:srgbClr val="F3F6F2"/>
                </a:solidFill>
                <a:latin typeface="Arial"/>
                <a:ea typeface="Arial"/>
                <a:cs typeface="Arial"/>
              </a:defRPr>
            </a:lvl5pPr>
            <a:lvl6pPr algn="l">
              <a:buNone/>
              <a:defRPr sz="1575" b="1">
                <a:solidFill>
                  <a:srgbClr val="F3F6F2"/>
                </a:solidFill>
                <a:latin typeface="Arial"/>
                <a:ea typeface="Arial"/>
                <a:cs typeface="Arial"/>
              </a:defRPr>
            </a:lvl6pPr>
            <a:lvl7pPr algn="l">
              <a:buNone/>
              <a:defRPr sz="1575" b="1">
                <a:solidFill>
                  <a:srgbClr val="F3F6F2"/>
                </a:solidFill>
                <a:latin typeface="Arial"/>
                <a:ea typeface="Arial"/>
                <a:cs typeface="Arial"/>
              </a:defRPr>
            </a:lvl7pPr>
            <a:lvl8pPr algn="l">
              <a:buNone/>
              <a:defRPr sz="1575" b="1">
                <a:solidFill>
                  <a:srgbClr val="F3F6F2"/>
                </a:solidFill>
                <a:latin typeface="Arial"/>
                <a:ea typeface="Arial"/>
                <a:cs typeface="Arial"/>
              </a:defRPr>
            </a:lvl8pPr>
            <a:lvl9pPr algn="l">
              <a:buNone/>
              <a:defRPr sz="1575" b="1">
                <a:solidFill>
                  <a:srgbClr val="F3F6F2"/>
                </a:solidFill>
                <a:latin typeface="Arial"/>
                <a:ea typeface="Arial"/>
                <a:cs typeface="Arial"/>
              </a:defRPr>
            </a:lvl9pPr>
          </a:lstStyle>
          <a:p xmlns:a="http://schemas.openxmlformats.org/drawingml/2006/main">
            <a:pPr algn="l">
              <a:buNone/>
              <a:defRPr sz="1575" b="1">
                <a:solidFill>
                  <a:srgbClr val="F3F6F2"/>
                </a:solidFill>
                <a:latin typeface="Arial"/>
                <a:ea typeface="Arial"/>
                <a:cs typeface="Arial"/>
              </a:defRPr>
            </a:pPr>
            <a:r>
              <a:rPr sz="1575" b="1">
                <a:solidFill>
                  <a:srgbClr val="F3F6F2"/>
                </a:solidFill>
                <a:latin typeface="Arial"/>
                <a:ea typeface="Arial"/>
                <a:cs typeface="Arial"/>
              </a:rPr>
              <a:t>A planner gets one ranked list and can still see the evidence behind each area.</a:t>
            </a:r>
          </a:p>
        </p:txBody>
      </p:sp>
    </p:spTree>
    <p:extLst>
      <p:ext uri="{BB962C8B-B14F-4D97-AF65-F5344CB8AC3E}">
        <p14:creationId xmlns:p14="http://schemas.microsoft.com/office/powerpoint/2010/main" val="1586517085"/>
      </p:ext>
    </p:extLst>
  </p:cSld>
</p:sld>
</file>

<file path=ppt/slides/slide8.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DB1B963-9DF9-4716-BF0C-ED4B8F5855A7}"/>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NEXT STEP</a:t>
            </a:r>
          </a:p>
        </p:txBody>
      </p:sp>
      <p:sp>
        <p:nvSpPr>
          <p:cNvPr id="2" name="">
            <a:extLst xmlns:a="http://schemas.openxmlformats.org/drawingml/2006/main">
              <a:ext uri="{FF2B5EF4-FFF2-40B4-BE49-F238E27FC236}">
                <a16:creationId xmlns:a16="http://schemas.microsoft.com/office/drawing/2014/main" id="{619F628E-2AFD-4ECE-9173-2F80E09DD290}"/>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How we would test it with planners</a:t>
            </a:r>
          </a:p>
        </p:txBody>
      </p:sp>
      <p:sp>
        <p:nvSpPr>
          <p:cNvPr id="3" name="">
            <a:extLst xmlns:a="http://schemas.openxmlformats.org/drawingml/2006/main">
              <a:ext uri="{FF2B5EF4-FFF2-40B4-BE49-F238E27FC236}">
                <a16:creationId xmlns:a16="http://schemas.microsoft.com/office/drawing/2014/main" id="{EED12C04-19E6-49C4-9FF6-FCDE13367A5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DA3F38C-5196-4DD9-9CE5-7343F9F1AD23}"/>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7280FD12-1BBC-4B04-9B6D-C883C167E4A8}"/>
              </a:ext>
            </a:extLst>
          </p:cNvPr>
          <p:cNvSpPr>
            <a:spLocks xmlns:a="http://schemas.openxmlformats.org/drawingml/2006/main" noGrp="1"/>
          </p:cNvSpPr>
          <p:nvPr/>
        </p:nvSpPr>
        <p:spPr>
          <a:xfrm xmlns:a="http://schemas.openxmlformats.org/drawingml/2006/main">
            <a:off x="59055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D5FD5403-D9EB-492F-B5B6-AB048E7A9AA4}"/>
              </a:ext>
            </a:extLst>
          </p:cNvPr>
          <p:cNvSpPr>
            <a:spLocks xmlns:a="http://schemas.openxmlformats.org/drawingml/2006/main" noGrp="1"/>
          </p:cNvSpPr>
          <p:nvPr/>
        </p:nvSpPr>
        <p:spPr>
          <a:xfrm xmlns:a="http://schemas.openxmlformats.org/drawingml/2006/main">
            <a:off x="800100" y="1885950"/>
            <a:ext cx="495300" cy="495300"/>
          </a:xfrm>
          <a:prstGeom xmlns:a="http://schemas.openxmlformats.org/drawingml/2006/main" prst="ellipse">
            <a:avLst/>
          </a:prstGeom>
          <a:solidFill xmlns:a="http://schemas.openxmlformats.org/drawingml/2006/main">
            <a:srgbClr val="1AA58F"/>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1</a:t>
            </a:r>
          </a:p>
        </p:txBody>
      </p:sp>
      <p:sp>
        <p:nvSpPr>
          <p:cNvPr id="7" name="">
            <a:extLst xmlns:a="http://schemas.openxmlformats.org/drawingml/2006/main">
              <a:ext uri="{FF2B5EF4-FFF2-40B4-BE49-F238E27FC236}">
                <a16:creationId xmlns:a16="http://schemas.microsoft.com/office/drawing/2014/main" id="{DBB75A91-1537-4CAE-8FD7-C27475AE6BAC}"/>
              </a:ext>
            </a:extLst>
          </p:cNvPr>
          <p:cNvSpPr>
            <a:spLocks xmlns:a="http://schemas.openxmlformats.org/drawingml/2006/main" noGrp="1"/>
          </p:cNvSpPr>
          <p:nvPr/>
        </p:nvSpPr>
        <p:spPr>
          <a:xfrm xmlns:a="http://schemas.openxmlformats.org/drawingml/2006/main">
            <a:off x="80010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Talk to users</a:t>
            </a:r>
          </a:p>
        </p:txBody>
      </p:sp>
      <p:sp>
        <p:nvSpPr>
          <p:cNvPr id="8" name="">
            <a:extLst xmlns:a="http://schemas.openxmlformats.org/drawingml/2006/main">
              <a:ext uri="{FF2B5EF4-FFF2-40B4-BE49-F238E27FC236}">
                <a16:creationId xmlns:a16="http://schemas.microsoft.com/office/drawing/2014/main" id="{50E6D35D-B0F9-400D-9DDE-B454A88C2A9B}"/>
              </a:ext>
            </a:extLst>
          </p:cNvPr>
          <p:cNvSpPr>
            <a:spLocks xmlns:a="http://schemas.openxmlformats.org/drawingml/2006/main" noGrp="1"/>
          </p:cNvSpPr>
          <p:nvPr/>
        </p:nvSpPr>
        <p:spPr>
          <a:xfrm xmlns:a="http://schemas.openxmlformats.org/drawingml/2006/main">
            <a:off x="80010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Ask planners and GIS staff how they choose inspection areas today.</a:t>
            </a:r>
          </a:p>
        </p:txBody>
      </p:sp>
      <p:sp>
        <p:nvSpPr>
          <p:cNvPr id="9" name="">
            <a:extLst xmlns:a="http://schemas.openxmlformats.org/drawingml/2006/main">
              <a:ext uri="{FF2B5EF4-FFF2-40B4-BE49-F238E27FC236}">
                <a16:creationId xmlns:a16="http://schemas.microsoft.com/office/drawing/2014/main" id="{37D955D8-8D27-4FCC-9810-7C3A76A6152C}"/>
              </a:ext>
            </a:extLst>
          </p:cNvPr>
          <p:cNvSpPr>
            <a:spLocks xmlns:a="http://schemas.openxmlformats.org/drawingml/2006/main" noGrp="1"/>
          </p:cNvSpPr>
          <p:nvPr/>
        </p:nvSpPr>
        <p:spPr>
          <a:xfrm xmlns:a="http://schemas.openxmlformats.org/drawingml/2006/main">
            <a:off x="334327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5825BD5A-1283-490F-8928-58676203D1B5}"/>
              </a:ext>
            </a:extLst>
          </p:cNvPr>
          <p:cNvSpPr>
            <a:spLocks xmlns:a="http://schemas.openxmlformats.org/drawingml/2006/main" noGrp="1"/>
          </p:cNvSpPr>
          <p:nvPr/>
        </p:nvSpPr>
        <p:spPr>
          <a:xfrm xmlns:a="http://schemas.openxmlformats.org/drawingml/2006/main">
            <a:off x="3552825" y="1885950"/>
            <a:ext cx="495300" cy="495300"/>
          </a:xfrm>
          <a:prstGeom xmlns:a="http://schemas.openxmlformats.org/drawingml/2006/main" prst="ellipse">
            <a:avLst/>
          </a:prstGeom>
          <a:solidFill xmlns:a="http://schemas.openxmlformats.org/drawingml/2006/main">
            <a:srgbClr val="E2AD2B"/>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2</a:t>
            </a:r>
          </a:p>
        </p:txBody>
      </p:sp>
      <p:sp>
        <p:nvSpPr>
          <p:cNvPr id="11" name="">
            <a:extLst xmlns:a="http://schemas.openxmlformats.org/drawingml/2006/main">
              <a:ext uri="{FF2B5EF4-FFF2-40B4-BE49-F238E27FC236}">
                <a16:creationId xmlns:a16="http://schemas.microsoft.com/office/drawing/2014/main" id="{98F1D138-ED9E-4793-BC4C-C10437379E36}"/>
              </a:ext>
            </a:extLst>
          </p:cNvPr>
          <p:cNvSpPr>
            <a:spLocks xmlns:a="http://schemas.openxmlformats.org/drawingml/2006/main" noGrp="1"/>
          </p:cNvSpPr>
          <p:nvPr/>
        </p:nvSpPr>
        <p:spPr>
          <a:xfrm xmlns:a="http://schemas.openxmlformats.org/drawingml/2006/main">
            <a:off x="355282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Check the top five</a:t>
            </a:r>
          </a:p>
        </p:txBody>
      </p:sp>
      <p:sp>
        <p:nvSpPr>
          <p:cNvPr id="12" name="">
            <a:extLst xmlns:a="http://schemas.openxmlformats.org/drawingml/2006/main">
              <a:ext uri="{FF2B5EF4-FFF2-40B4-BE49-F238E27FC236}">
                <a16:creationId xmlns:a16="http://schemas.microsoft.com/office/drawing/2014/main" id="{CD812E68-6FC3-4FCB-9EBD-643983B2D3FE}"/>
              </a:ext>
            </a:extLst>
          </p:cNvPr>
          <p:cNvSpPr>
            <a:spLocks xmlns:a="http://schemas.openxmlformats.org/drawingml/2006/main" noGrp="1"/>
          </p:cNvSpPr>
          <p:nvPr/>
        </p:nvSpPr>
        <p:spPr>
          <a:xfrm xmlns:a="http://schemas.openxmlformats.org/drawingml/2006/main">
            <a:off x="355282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Compare the ranking with local plans and visits to the area.</a:t>
            </a:r>
          </a:p>
        </p:txBody>
      </p:sp>
      <p:sp>
        <p:nvSpPr>
          <p:cNvPr id="13" name="">
            <a:extLst xmlns:a="http://schemas.openxmlformats.org/drawingml/2006/main">
              <a:ext uri="{FF2B5EF4-FFF2-40B4-BE49-F238E27FC236}">
                <a16:creationId xmlns:a16="http://schemas.microsoft.com/office/drawing/2014/main" id="{826A4375-85BA-4255-BF7C-A4AACD519587}"/>
              </a:ext>
            </a:extLst>
          </p:cNvPr>
          <p:cNvSpPr>
            <a:spLocks xmlns:a="http://schemas.openxmlformats.org/drawingml/2006/main" noGrp="1"/>
          </p:cNvSpPr>
          <p:nvPr/>
        </p:nvSpPr>
        <p:spPr>
          <a:xfrm xmlns:a="http://schemas.openxmlformats.org/drawingml/2006/main">
            <a:off x="609600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0AD84B9D-2B1E-4D1C-981F-BC8F73DFEF41}"/>
              </a:ext>
            </a:extLst>
          </p:cNvPr>
          <p:cNvSpPr>
            <a:spLocks xmlns:a="http://schemas.openxmlformats.org/drawingml/2006/main" noGrp="1"/>
          </p:cNvSpPr>
          <p:nvPr/>
        </p:nvSpPr>
        <p:spPr>
          <a:xfrm xmlns:a="http://schemas.openxmlformats.org/drawingml/2006/main">
            <a:off x="6305550" y="1885950"/>
            <a:ext cx="495300" cy="495300"/>
          </a:xfrm>
          <a:prstGeom xmlns:a="http://schemas.openxmlformats.org/drawingml/2006/main" prst="ellipse">
            <a:avLst/>
          </a:prstGeom>
          <a:solidFill xmlns:a="http://schemas.openxmlformats.org/drawingml/2006/main">
            <a:srgbClr val="F06449"/>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3</a:t>
            </a:r>
          </a:p>
        </p:txBody>
      </p:sp>
      <p:sp>
        <p:nvSpPr>
          <p:cNvPr id="15" name="">
            <a:extLst xmlns:a="http://schemas.openxmlformats.org/drawingml/2006/main">
              <a:ext uri="{FF2B5EF4-FFF2-40B4-BE49-F238E27FC236}">
                <a16:creationId xmlns:a16="http://schemas.microsoft.com/office/drawing/2014/main" id="{5FA37AE1-7C7C-4307-B35A-CF7B30B783AB}"/>
              </a:ext>
            </a:extLst>
          </p:cNvPr>
          <p:cNvSpPr>
            <a:spLocks xmlns:a="http://schemas.openxmlformats.org/drawingml/2006/main" noGrp="1"/>
          </p:cNvSpPr>
          <p:nvPr/>
        </p:nvSpPr>
        <p:spPr>
          <a:xfrm xmlns:a="http://schemas.openxmlformats.org/drawingml/2006/main">
            <a:off x="630555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Fix the score</a:t>
            </a:r>
          </a:p>
        </p:txBody>
      </p:sp>
      <p:sp>
        <p:nvSpPr>
          <p:cNvPr id="16" name="">
            <a:extLst xmlns:a="http://schemas.openxmlformats.org/drawingml/2006/main">
              <a:ext uri="{FF2B5EF4-FFF2-40B4-BE49-F238E27FC236}">
                <a16:creationId xmlns:a16="http://schemas.microsoft.com/office/drawing/2014/main" id="{0ACE3E1F-8F58-4551-AA79-887702A60239}"/>
              </a:ext>
            </a:extLst>
          </p:cNvPr>
          <p:cNvSpPr>
            <a:spLocks xmlns:a="http://schemas.openxmlformats.org/drawingml/2006/main" noGrp="1"/>
          </p:cNvSpPr>
          <p:nvPr/>
        </p:nvSpPr>
        <p:spPr>
          <a:xfrm xmlns:a="http://schemas.openxmlformats.org/drawingml/2006/main">
            <a:off x="630555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Adjust the weights and add local information that we are missing.</a:t>
            </a:r>
          </a:p>
        </p:txBody>
      </p:sp>
      <p:sp>
        <p:nvSpPr>
          <p:cNvPr id="17" name="">
            <a:extLst xmlns:a="http://schemas.openxmlformats.org/drawingml/2006/main">
              <a:ext uri="{FF2B5EF4-FFF2-40B4-BE49-F238E27FC236}">
                <a16:creationId xmlns:a16="http://schemas.microsoft.com/office/drawing/2014/main" id="{06C1AA94-6740-4603-A8BD-9CFF64036BC6}"/>
              </a:ext>
            </a:extLst>
          </p:cNvPr>
          <p:cNvSpPr>
            <a:spLocks xmlns:a="http://schemas.openxmlformats.org/drawingml/2006/main" noGrp="1"/>
          </p:cNvSpPr>
          <p:nvPr/>
        </p:nvSpPr>
        <p:spPr>
          <a:xfrm xmlns:a="http://schemas.openxmlformats.org/drawingml/2006/main">
            <a:off x="884872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D404599A-7F95-40C4-941C-5E7FB150B909}"/>
              </a:ext>
            </a:extLst>
          </p:cNvPr>
          <p:cNvSpPr>
            <a:spLocks xmlns:a="http://schemas.openxmlformats.org/drawingml/2006/main" noGrp="1"/>
          </p:cNvSpPr>
          <p:nvPr/>
        </p:nvSpPr>
        <p:spPr>
          <a:xfrm xmlns:a="http://schemas.openxmlformats.org/drawingml/2006/main">
            <a:off x="9058275" y="1885950"/>
            <a:ext cx="495300" cy="495300"/>
          </a:xfrm>
          <a:prstGeom xmlns:a="http://schemas.openxmlformats.org/drawingml/2006/main" prst="ellipse">
            <a:avLst/>
          </a:prstGeom>
          <a:solidFill xmlns:a="http://schemas.openxmlformats.org/drawingml/2006/main">
            <a:srgbClr val="6D5DD3"/>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4</a:t>
            </a:r>
          </a:p>
        </p:txBody>
      </p:sp>
      <p:sp>
        <p:nvSpPr>
          <p:cNvPr id="19" name="">
            <a:extLst xmlns:a="http://schemas.openxmlformats.org/drawingml/2006/main">
              <a:ext uri="{FF2B5EF4-FFF2-40B4-BE49-F238E27FC236}">
                <a16:creationId xmlns:a16="http://schemas.microsoft.com/office/drawing/2014/main" id="{5B3D57F8-D4FF-4947-B125-598624344CC3}"/>
              </a:ext>
            </a:extLst>
          </p:cNvPr>
          <p:cNvSpPr>
            <a:spLocks xmlns:a="http://schemas.openxmlformats.org/drawingml/2006/main" noGrp="1"/>
          </p:cNvSpPr>
          <p:nvPr/>
        </p:nvSpPr>
        <p:spPr>
          <a:xfrm xmlns:a="http://schemas.openxmlformats.org/drawingml/2006/main">
            <a:off x="905827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Test again</a:t>
            </a:r>
          </a:p>
        </p:txBody>
      </p:sp>
      <p:sp>
        <p:nvSpPr>
          <p:cNvPr id="20" name="">
            <a:extLst xmlns:a="http://schemas.openxmlformats.org/drawingml/2006/main">
              <a:ext uri="{FF2B5EF4-FFF2-40B4-BE49-F238E27FC236}">
                <a16:creationId xmlns:a16="http://schemas.microsoft.com/office/drawing/2014/main" id="{63082BDA-E25D-4A50-8880-952F30254E0E}"/>
              </a:ext>
            </a:extLst>
          </p:cNvPr>
          <p:cNvSpPr>
            <a:spLocks xmlns:a="http://schemas.openxmlformats.org/drawingml/2006/main" noGrp="1"/>
          </p:cNvSpPr>
          <p:nvPr/>
        </p:nvSpPr>
        <p:spPr>
          <a:xfrm xmlns:a="http://schemas.openxmlformats.org/drawingml/2006/main">
            <a:off x="905827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Run the same process in another part of Riyadh.</a:t>
            </a:r>
          </a:p>
        </p:txBody>
      </p:sp>
      <p:sp>
        <p:nvSpPr>
          <p:cNvPr id="21" name="">
            <a:extLst xmlns:a="http://schemas.openxmlformats.org/drawingml/2006/main">
              <a:ext uri="{FF2B5EF4-FFF2-40B4-BE49-F238E27FC236}">
                <a16:creationId xmlns:a16="http://schemas.microsoft.com/office/drawing/2014/main" id="{09FCF0FC-F06E-43F8-9876-5F57937245C3}"/>
              </a:ext>
            </a:extLst>
          </p:cNvPr>
          <p:cNvSpPr>
            <a:spLocks xmlns:a="http://schemas.openxmlformats.org/drawingml/2006/main" noGrp="1"/>
          </p:cNvSpPr>
          <p:nvPr/>
        </p:nvSpPr>
        <p:spPr>
          <a:xfrm xmlns:a="http://schemas.openxmlformats.org/drawingml/2006/main">
            <a:off x="590550" y="4762500"/>
            <a:ext cx="11010900" cy="1352550"/>
          </a:xfrm>
          <a:prstGeom xmlns:a="http://schemas.openxmlformats.org/drawingml/2006/main" prst="roundRect">
            <a:avLst>
              <a:gd name="adj" fmla="val 11268"/>
            </a:avLst>
          </a:prstGeom>
          <a:solidFill xmlns:a="http://schemas.openxmlformats.org/drawingml/2006/main">
            <a:srgbClr val="0D2A3A"/>
          </a:solidFill>
          <a:ln xmlns:a="http://schemas.openxmlformats.org/drawingml/2006/main" w="9525">
            <a:solidFill>
              <a:srgbClr val="1AA58F"/>
            </a:solidFill>
            <a:prstDash val="solid"/>
          </a:ln>
        </p:spPr>
      </p:sp>
      <p:sp>
        <p:nvSpPr>
          <p:cNvPr id="22" name="">
            <a:extLst xmlns:a="http://schemas.openxmlformats.org/drawingml/2006/main">
              <a:ext uri="{FF2B5EF4-FFF2-40B4-BE49-F238E27FC236}">
                <a16:creationId xmlns:a16="http://schemas.microsoft.com/office/drawing/2014/main" id="{83A2017B-C175-402F-8D81-FB8A1DDCBD87}"/>
              </a:ext>
            </a:extLst>
          </p:cNvPr>
          <p:cNvSpPr>
            <a:spLocks xmlns:a="http://schemas.openxmlformats.org/drawingml/2006/main" noGrp="1"/>
          </p:cNvSpPr>
          <p:nvPr/>
        </p:nvSpPr>
        <p:spPr>
          <a:xfrm xmlns:a="http://schemas.openxmlformats.org/drawingml/2006/main">
            <a:off x="838200" y="5010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THE TEST</a:t>
            </a:r>
          </a:p>
        </p:txBody>
      </p:sp>
      <p:sp>
        <p:nvSpPr>
          <p:cNvPr id="23" name="">
            <a:extLst xmlns:a="http://schemas.openxmlformats.org/drawingml/2006/main">
              <a:ext uri="{FF2B5EF4-FFF2-40B4-BE49-F238E27FC236}">
                <a16:creationId xmlns:a16="http://schemas.microsoft.com/office/drawing/2014/main" id="{46EF34DC-EDB2-451C-8CBE-3DAE083D2B4C}"/>
              </a:ext>
            </a:extLst>
          </p:cNvPr>
          <p:cNvSpPr>
            <a:spLocks xmlns:a="http://schemas.openxmlformats.org/drawingml/2006/main" noGrp="1"/>
          </p:cNvSpPr>
          <p:nvPr/>
        </p:nvSpPr>
        <p:spPr>
          <a:xfrm xmlns:a="http://schemas.openxmlformats.org/drawingml/2006/main">
            <a:off x="838200" y="5334000"/>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F3F6F2"/>
                </a:solidFill>
                <a:latin typeface="Arial"/>
                <a:ea typeface="Arial"/>
                <a:cs typeface="Arial"/>
              </a:defRPr>
            </a:defPPr>
            <a:lvl1pPr algn="l">
              <a:buNone/>
              <a:defRPr sz="2025" b="1">
                <a:solidFill>
                  <a:srgbClr val="F3F6F2"/>
                </a:solidFill>
                <a:latin typeface="Arial"/>
                <a:ea typeface="Arial"/>
                <a:cs typeface="Arial"/>
              </a:defRPr>
            </a:lvl1pPr>
            <a:lvl2pPr algn="l">
              <a:buNone/>
              <a:defRPr sz="2025" b="1">
                <a:solidFill>
                  <a:srgbClr val="F3F6F2"/>
                </a:solidFill>
                <a:latin typeface="Arial"/>
                <a:ea typeface="Arial"/>
                <a:cs typeface="Arial"/>
              </a:defRPr>
            </a:lvl2pPr>
            <a:lvl3pPr algn="l">
              <a:buNone/>
              <a:defRPr sz="2025" b="1">
                <a:solidFill>
                  <a:srgbClr val="F3F6F2"/>
                </a:solidFill>
                <a:latin typeface="Arial"/>
                <a:ea typeface="Arial"/>
                <a:cs typeface="Arial"/>
              </a:defRPr>
            </a:lvl3pPr>
            <a:lvl4pPr algn="l">
              <a:buNone/>
              <a:defRPr sz="2025" b="1">
                <a:solidFill>
                  <a:srgbClr val="F3F6F2"/>
                </a:solidFill>
                <a:latin typeface="Arial"/>
                <a:ea typeface="Arial"/>
                <a:cs typeface="Arial"/>
              </a:defRPr>
            </a:lvl4pPr>
            <a:lvl5pPr algn="l">
              <a:buNone/>
              <a:defRPr sz="2025" b="1">
                <a:solidFill>
                  <a:srgbClr val="F3F6F2"/>
                </a:solidFill>
                <a:latin typeface="Arial"/>
                <a:ea typeface="Arial"/>
                <a:cs typeface="Arial"/>
              </a:defRPr>
            </a:lvl5pPr>
            <a:lvl6pPr algn="l">
              <a:buNone/>
              <a:defRPr sz="2025" b="1">
                <a:solidFill>
                  <a:srgbClr val="F3F6F2"/>
                </a:solidFill>
                <a:latin typeface="Arial"/>
                <a:ea typeface="Arial"/>
                <a:cs typeface="Arial"/>
              </a:defRPr>
            </a:lvl6pPr>
            <a:lvl7pPr algn="l">
              <a:buNone/>
              <a:defRPr sz="2025" b="1">
                <a:solidFill>
                  <a:srgbClr val="F3F6F2"/>
                </a:solidFill>
                <a:latin typeface="Arial"/>
                <a:ea typeface="Arial"/>
                <a:cs typeface="Arial"/>
              </a:defRPr>
            </a:lvl7pPr>
            <a:lvl8pPr algn="l">
              <a:buNone/>
              <a:defRPr sz="2025" b="1">
                <a:solidFill>
                  <a:srgbClr val="F3F6F2"/>
                </a:solidFill>
                <a:latin typeface="Arial"/>
                <a:ea typeface="Arial"/>
                <a:cs typeface="Arial"/>
              </a:defRPr>
            </a:lvl8pPr>
            <a:lvl9pPr algn="l">
              <a:buNone/>
              <a:defRPr sz="2025" b="1">
                <a:solidFill>
                  <a:srgbClr val="F3F6F2"/>
                </a:solidFill>
                <a:latin typeface="Arial"/>
                <a:ea typeface="Arial"/>
                <a:cs typeface="Arial"/>
              </a:defRPr>
            </a:lvl9pPr>
          </a:lstStyle>
          <a:p xmlns:a="http://schemas.openxmlformats.org/drawingml/2006/main">
            <a:pPr algn="l">
              <a:buNone/>
              <a:defRPr sz="2025" b="1">
                <a:solidFill>
                  <a:srgbClr val="F3F6F2"/>
                </a:solidFill>
                <a:latin typeface="Arial"/>
                <a:ea typeface="Arial"/>
                <a:cs typeface="Arial"/>
              </a:defRPr>
            </a:pPr>
            <a:r>
              <a:rPr sz="2025" b="1">
                <a:solidFill>
                  <a:srgbClr val="F3F6F2"/>
                </a:solidFill>
                <a:latin typeface="Arial"/>
                <a:ea typeface="Arial"/>
                <a:cs typeface="Arial"/>
              </a:rPr>
              <a:t>Does HeatReady save time without sending staff to the wrong places?</a:t>
            </a:r>
          </a:p>
        </p:txBody>
      </p:sp>
    </p:spTree>
    <p:extLst>
      <p:ext uri="{BB962C8B-B14F-4D97-AF65-F5344CB8AC3E}">
        <p14:creationId xmlns:p14="http://schemas.microsoft.com/office/powerpoint/2010/main" val="668288"/>
      </p:ext>
    </p:extLst>
  </p:cSld>
</p:sld>
</file>

<file path=ppt/slides/slide9.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B91714-5FB9-4453-BADB-112E4B67FF8E}"/>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7423A398-9928-46C9-85A7-C1D9AA0CCB34}"/>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Data sources and dates</a:t>
            </a:r>
          </a:p>
        </p:txBody>
      </p:sp>
      <p:sp>
        <p:nvSpPr>
          <p:cNvPr id="3" name="">
            <a:extLst xmlns:a="http://schemas.openxmlformats.org/drawingml/2006/main">
              <a:ext uri="{FF2B5EF4-FFF2-40B4-BE49-F238E27FC236}">
                <a16:creationId xmlns:a16="http://schemas.microsoft.com/office/drawing/2014/main" id="{D654D0FE-28CD-4725-81E8-6A4929F0F665}"/>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5F11A6D4-6C25-4641-B1D0-47A99D288096}"/>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graphicFrame>
        <p:nvGraphicFramePr>
          <p:cNvPr id="5" name="">
            <a:extLst xmlns:a="http://schemas.openxmlformats.org/drawingml/2006/main">
              <a:ext uri="{FF2B5EF4-FFF2-40B4-BE49-F238E27FC236}">
                <a16:creationId xmlns:a16="http://schemas.microsoft.com/office/drawing/2014/main" id="{C9CC7C63-5C64-4082-9772-AAD8DC0A7DB8}"/>
              </a:ext>
            </a:extLst>
          </p:cNvPr>
          <p:cNvGraphicFramePr/>
          <p:nvPr/>
        </p:nvGraphicFramePr>
        <p:xfrm>
          <a:off xmlns:a="http://schemas.openxmlformats.org/drawingml/2006/main" x="590550" y="1562100"/>
          <a:ext xmlns:a="http://schemas.openxmlformats.org/drawingml/2006/main" cx="11010900" cy="4191000"/>
        </p:xfrm>
        <a:graphic xmlns:a="http://schemas.openxmlformats.org/drawingml/2006/main">
          <a:graphicData uri="http://schemas.openxmlformats.org/drawingml/2006/table">
            <a:tbl>
              <a:tblPr/>
              <a:tblGrid>
                <a:gridCol w="2095500"/>
                <a:gridCol w="2476500"/>
                <a:gridCol w="3905250"/>
                <a:gridCol w="2533650"/>
              </a:tblGrid>
              <a:tr h="523875">
                <a:tc>
                  <a:txBody>
                    <a:bodyPr/>
                    <a:lstStyle/>
                    <a:p>
                      <a:r>
                        <a:rPr sz="1050" b="1">
                          <a:solidFill>
                            <a:srgbClr val="F3F6F2"/>
                          </a:solidFill>
                        </a:rPr>
                        <a:t>Source</a:t>
                      </a:r>
                    </a:p>
                  </a:txBody>
                  <a:tcPr marL="95250" marR="95250" marT="76200" marB="76200">
                    <a:lnL w="9525">
                      <a:solidFill>
                        <a:srgbClr val="31505F"/>
                      </a:solidFill>
                      <a:prstDash val="solid"/>
                    </a:lnL>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Dates used</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Role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Access / licence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r>
              <a:tr h="523875">
                <a:tc>
                  <a:txBody>
                    <a:bodyPr/>
                    <a:lstStyle/>
                    <a:p>
                      <a:r>
                        <a:rPr sz="900">
                          <a:solidFill>
                            <a:srgbClr val="F3F6F2"/>
                          </a:solidFill>
                        </a:rPr>
                        <a:t>Sentinel-2 L2A</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11 May 2018; 10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Optical features, masks, vegetation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Copernicus open access</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Sentinel-1 RTC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2018; 6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Radar structure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Microsoft PC;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IO/Esri annual LULC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2018-2023</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Trend + candidate endpoint change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Landsat 8 C2 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Land-surface temperature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US public domain</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ESA WorldCover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2021</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Spatial holdout reference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WorldPop Global2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Modelled population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Planet Tanager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15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Spectral context + sensitivity test</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Open urban archive;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bl>
          </a:graphicData>
        </a:graphic>
      </p:graphicFrame>
      <p:sp>
        <p:nvSpPr>
          <p:cNvPr id="6" name="">
            <a:extLst xmlns:a="http://schemas.openxmlformats.org/drawingml/2006/main">
              <a:ext uri="{FF2B5EF4-FFF2-40B4-BE49-F238E27FC236}">
                <a16:creationId xmlns:a16="http://schemas.microsoft.com/office/drawing/2014/main" id="{F080BA81-7416-4DF5-AFDE-D950358E8BC3}"/>
              </a:ext>
            </a:extLst>
          </p:cNvPr>
          <p:cNvSpPr>
            <a:spLocks xmlns:a="http://schemas.openxmlformats.org/drawingml/2006/main" noGrp="1"/>
          </p:cNvSpPr>
          <p:nvPr/>
        </p:nvSpPr>
        <p:spPr>
          <a:xfrm xmlns:a="http://schemas.openxmlformats.org/drawingml/2006/main">
            <a:off x="590550" y="5924550"/>
            <a:ext cx="11010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E2AD2B"/>
                </a:solidFill>
                <a:latin typeface="Arial"/>
                <a:ea typeface="Arial"/>
                <a:cs typeface="Arial"/>
              </a:defRPr>
            </a:defPPr>
            <a:lvl1pPr algn="l">
              <a:buNone/>
              <a:defRPr sz="1125" b="1">
                <a:solidFill>
                  <a:srgbClr val="E2AD2B"/>
                </a:solidFill>
                <a:latin typeface="Arial"/>
                <a:ea typeface="Arial"/>
                <a:cs typeface="Arial"/>
              </a:defRPr>
            </a:lvl1pPr>
            <a:lvl2pPr algn="l">
              <a:buNone/>
              <a:defRPr sz="1125" b="1">
                <a:solidFill>
                  <a:srgbClr val="E2AD2B"/>
                </a:solidFill>
                <a:latin typeface="Arial"/>
                <a:ea typeface="Arial"/>
                <a:cs typeface="Arial"/>
              </a:defRPr>
            </a:lvl2pPr>
            <a:lvl3pPr algn="l">
              <a:buNone/>
              <a:defRPr sz="1125" b="1">
                <a:solidFill>
                  <a:srgbClr val="E2AD2B"/>
                </a:solidFill>
                <a:latin typeface="Arial"/>
                <a:ea typeface="Arial"/>
                <a:cs typeface="Arial"/>
              </a:defRPr>
            </a:lvl3pPr>
            <a:lvl4pPr algn="l">
              <a:buNone/>
              <a:defRPr sz="1125" b="1">
                <a:solidFill>
                  <a:srgbClr val="E2AD2B"/>
                </a:solidFill>
                <a:latin typeface="Arial"/>
                <a:ea typeface="Arial"/>
                <a:cs typeface="Arial"/>
              </a:defRPr>
            </a:lvl4pPr>
            <a:lvl5pPr algn="l">
              <a:buNone/>
              <a:defRPr sz="1125" b="1">
                <a:solidFill>
                  <a:srgbClr val="E2AD2B"/>
                </a:solidFill>
                <a:latin typeface="Arial"/>
                <a:ea typeface="Arial"/>
                <a:cs typeface="Arial"/>
              </a:defRPr>
            </a:lvl5pPr>
            <a:lvl6pPr algn="l">
              <a:buNone/>
              <a:defRPr sz="1125" b="1">
                <a:solidFill>
                  <a:srgbClr val="E2AD2B"/>
                </a:solidFill>
                <a:latin typeface="Arial"/>
                <a:ea typeface="Arial"/>
                <a:cs typeface="Arial"/>
              </a:defRPr>
            </a:lvl6pPr>
            <a:lvl7pPr algn="l">
              <a:buNone/>
              <a:defRPr sz="1125" b="1">
                <a:solidFill>
                  <a:srgbClr val="E2AD2B"/>
                </a:solidFill>
                <a:latin typeface="Arial"/>
                <a:ea typeface="Arial"/>
                <a:cs typeface="Arial"/>
              </a:defRPr>
            </a:lvl7pPr>
            <a:lvl8pPr algn="l">
              <a:buNone/>
              <a:defRPr sz="1125" b="1">
                <a:solidFill>
                  <a:srgbClr val="E2AD2B"/>
                </a:solidFill>
                <a:latin typeface="Arial"/>
                <a:ea typeface="Arial"/>
                <a:cs typeface="Arial"/>
              </a:defRPr>
            </a:lvl8pPr>
            <a:lvl9pPr algn="l">
              <a:buNone/>
              <a:defRPr sz="1125" b="1">
                <a:solidFill>
                  <a:srgbClr val="E2AD2B"/>
                </a:solidFill>
                <a:latin typeface="Arial"/>
                <a:ea typeface="Arial"/>
                <a:cs typeface="Arial"/>
              </a:defRPr>
            </a:lvl9pPr>
          </a:lstStyle>
          <a:p xmlns:a="http://schemas.openxmlformats.org/drawingml/2006/main">
            <a:pPr algn="l">
              <a:buNone/>
              <a:defRPr sz="1125" b="1">
                <a:solidFill>
                  <a:srgbClr val="E2AD2B"/>
                </a:solidFill>
                <a:latin typeface="Arial"/>
                <a:ea typeface="Arial"/>
                <a:cs typeface="Arial"/>
              </a:defRPr>
            </a:pPr>
            <a:r>
              <a:rPr sz="1125" b="1">
                <a:solidFill>
                  <a:srgbClr val="E2AD2B"/>
                </a:solidFill>
                <a:latin typeface="Arial"/>
                <a:ea typeface="Arial"/>
                <a:cs typeface="Arial"/>
              </a:rPr>
              <a:t>Item IDs, processing steps and licences are documented in the repository. Satellite 813 imagery was not used.</a:t>
            </a:r>
          </a:p>
        </p:txBody>
      </p:sp>
    </p:spTree>
    <p:extLst>
      <p:ext uri="{BB962C8B-B14F-4D97-AF65-F5344CB8AC3E}">
        <p14:creationId xmlns:p14="http://schemas.microsoft.com/office/powerpoint/2010/main" val="1928980311"/>
      </p:ext>
    </p:extLst>
  </p:cSld>
</p:sld>
</file>

<file path=ppt/slides/slide10.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AA154A0-9152-428E-944B-0E0870E1B3AC}"/>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Validation evidence and limits</a:t>
            </a:r>
          </a:p>
        </p:txBody>
      </p:sp>
      <p:sp>
        <p:nvSpPr>
          <p:cNvPr id="2" name="">
            <a:extLst xmlns:a="http://schemas.openxmlformats.org/drawingml/2006/main">
              <a:ext uri="{FF2B5EF4-FFF2-40B4-BE49-F238E27FC236}">
                <a16:creationId xmlns:a16="http://schemas.microsoft.com/office/drawing/2014/main" id="{6ED6BF42-0F2A-494C-9F7C-AF560F1F71FB}"/>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3" name="">
            <a:extLst xmlns:a="http://schemas.openxmlformats.org/drawingml/2006/main">
              <a:ext uri="{FF2B5EF4-FFF2-40B4-BE49-F238E27FC236}">
                <a16:creationId xmlns:a16="http://schemas.microsoft.com/office/drawing/2014/main" id="{A2321ABB-9646-48BE-B8A8-5B587465525B}"/>
              </a:ext>
            </a:extLst>
          </p:cNvPr>
          <p:cNvPicPr>
            <a:picLocks xmlns:a="http://schemas.openxmlformats.org/drawingml/2006/main" noChangeAspect="1"/>
          </p:cNvPicPr>
          <p:nvPr/>
        </p:nvPicPr>
        <p:blipFill>
          <a:blip xmlns:r="http://schemas.openxmlformats.org/officeDocument/2006/relationships" xmlns:a="http://schemas.openxmlformats.org/drawingml/2006/main" r:embed="R58c1eb7409894d6e"/>
          <a:stretch xmlns:a="http://schemas.openxmlformats.org/drawingml/2006/main"/>
        </p:blipFill>
        <p:spPr>
          <a:xfrm xmlns:a="http://schemas.openxmlformats.org/drawingml/2006/main">
            <a:off x="590550" y="2361849"/>
            <a:ext cx="6286500" cy="2667703"/>
          </a:xfrm>
          <a:prstGeom xmlns:a="http://schemas.openxmlformats.org/drawingml/2006/main" prst="roundRect">
            <a:avLst>
              <a:gd name="adj" fmla="val 2232"/>
            </a:avLst>
          </a:prstGeom>
        </p:spPr>
      </p:pic>
      <p:sp>
        <p:nvSpPr>
          <p:cNvPr id="4" name="">
            <a:extLst xmlns:a="http://schemas.openxmlformats.org/drawingml/2006/main">
              <a:ext uri="{FF2B5EF4-FFF2-40B4-BE49-F238E27FC236}">
                <a16:creationId xmlns:a16="http://schemas.microsoft.com/office/drawing/2014/main" id="{6EFEFC61-26E1-4023-B21A-B918F60BA0DE}"/>
              </a:ext>
            </a:extLst>
          </p:cNvPr>
          <p:cNvSpPr>
            <a:spLocks xmlns:a="http://schemas.openxmlformats.org/drawingml/2006/main" noGrp="1"/>
          </p:cNvSpPr>
          <p:nvPr/>
        </p:nvSpPr>
        <p:spPr>
          <a:xfrm xmlns:a="http://schemas.openxmlformats.org/drawingml/2006/main">
            <a:off x="590550" y="59245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AFC4C6"/>
                </a:solidFill>
                <a:latin typeface="Arial"/>
                <a:ea typeface="Arial"/>
                <a:cs typeface="Arial"/>
              </a:defRPr>
            </a:defPPr>
            <a:lvl1pPr algn="ctr">
              <a:buNone/>
              <a:defRPr sz="1125" b="1">
                <a:solidFill>
                  <a:srgbClr val="AFC4C6"/>
                </a:solidFill>
                <a:latin typeface="Arial"/>
                <a:ea typeface="Arial"/>
                <a:cs typeface="Arial"/>
              </a:defRPr>
            </a:lvl1pPr>
            <a:lvl2pPr algn="ctr">
              <a:buNone/>
              <a:defRPr sz="1125" b="1">
                <a:solidFill>
                  <a:srgbClr val="AFC4C6"/>
                </a:solidFill>
                <a:latin typeface="Arial"/>
                <a:ea typeface="Arial"/>
                <a:cs typeface="Arial"/>
              </a:defRPr>
            </a:lvl2pPr>
            <a:lvl3pPr algn="ctr">
              <a:buNone/>
              <a:defRPr sz="1125" b="1">
                <a:solidFill>
                  <a:srgbClr val="AFC4C6"/>
                </a:solidFill>
                <a:latin typeface="Arial"/>
                <a:ea typeface="Arial"/>
                <a:cs typeface="Arial"/>
              </a:defRPr>
            </a:lvl3pPr>
            <a:lvl4pPr algn="ctr">
              <a:buNone/>
              <a:defRPr sz="1125" b="1">
                <a:solidFill>
                  <a:srgbClr val="AFC4C6"/>
                </a:solidFill>
                <a:latin typeface="Arial"/>
                <a:ea typeface="Arial"/>
                <a:cs typeface="Arial"/>
              </a:defRPr>
            </a:lvl4pPr>
            <a:lvl5pPr algn="ctr">
              <a:buNone/>
              <a:defRPr sz="1125" b="1">
                <a:solidFill>
                  <a:srgbClr val="AFC4C6"/>
                </a:solidFill>
                <a:latin typeface="Arial"/>
                <a:ea typeface="Arial"/>
                <a:cs typeface="Arial"/>
              </a:defRPr>
            </a:lvl5pPr>
            <a:lvl6pPr algn="ctr">
              <a:buNone/>
              <a:defRPr sz="1125" b="1">
                <a:solidFill>
                  <a:srgbClr val="AFC4C6"/>
                </a:solidFill>
                <a:latin typeface="Arial"/>
                <a:ea typeface="Arial"/>
                <a:cs typeface="Arial"/>
              </a:defRPr>
            </a:lvl6pPr>
            <a:lvl7pPr algn="ctr">
              <a:buNone/>
              <a:defRPr sz="1125" b="1">
                <a:solidFill>
                  <a:srgbClr val="AFC4C6"/>
                </a:solidFill>
                <a:latin typeface="Arial"/>
                <a:ea typeface="Arial"/>
                <a:cs typeface="Arial"/>
              </a:defRPr>
            </a:lvl7pPr>
            <a:lvl8pPr algn="ctr">
              <a:buNone/>
              <a:defRPr sz="1125" b="1">
                <a:solidFill>
                  <a:srgbClr val="AFC4C6"/>
                </a:solidFill>
                <a:latin typeface="Arial"/>
                <a:ea typeface="Arial"/>
                <a:cs typeface="Arial"/>
              </a:defRPr>
            </a:lvl8pPr>
            <a:lvl9pPr algn="ctr">
              <a:buNone/>
              <a:defRPr sz="1125" b="1">
                <a:solidFill>
                  <a:srgbClr val="AFC4C6"/>
                </a:solidFill>
                <a:latin typeface="Arial"/>
                <a:ea typeface="Arial"/>
                <a:cs typeface="Arial"/>
              </a:defRPr>
            </a:lvl9pPr>
          </a:lstStyle>
          <a:p xmlns:a="http://schemas.openxmlformats.org/drawingml/2006/main">
            <a:pPr algn="ctr">
              <a:buNone/>
              <a:defRPr sz="1125" b="1">
                <a:solidFill>
                  <a:srgbClr val="AFC4C6"/>
                </a:solidFill>
                <a:latin typeface="Arial"/>
                <a:ea typeface="Arial"/>
                <a:cs typeface="Arial"/>
              </a:defRPr>
            </a:pPr>
            <a:r>
              <a:rPr sz="1125" b="1">
                <a:solidFill>
                  <a:srgbClr val="AFC4C6"/>
                </a:solidFill>
                <a:latin typeface="Arial"/>
                <a:ea typeface="Arial"/>
                <a:cs typeface="Arial"/>
              </a:rPr>
              <a:t>Training area: west    Tuning area: middle    Test area: east</a:t>
            </a:r>
          </a:p>
        </p:txBody>
      </p:sp>
      <p:sp>
        <p:nvSpPr>
          <p:cNvPr id="5" name="">
            <a:extLst xmlns:a="http://schemas.openxmlformats.org/drawingml/2006/main">
              <a:ext uri="{FF2B5EF4-FFF2-40B4-BE49-F238E27FC236}">
                <a16:creationId xmlns:a16="http://schemas.microsoft.com/office/drawing/2014/main" id="{49EE530E-A791-4BE6-829C-0F4A240B8DC3}"/>
              </a:ext>
            </a:extLst>
          </p:cNvPr>
          <p:cNvSpPr>
            <a:spLocks xmlns:a="http://schemas.openxmlformats.org/drawingml/2006/main" noGrp="1"/>
          </p:cNvSpPr>
          <p:nvPr/>
        </p:nvSpPr>
        <p:spPr>
          <a:xfrm xmlns:a="http://schemas.openxmlformats.org/drawingml/2006/main">
            <a:off x="7181850" y="1562100"/>
            <a:ext cx="9525" cy="47053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7892BC8B-5090-46B8-968F-5192225D6C63}"/>
              </a:ext>
            </a:extLst>
          </p:cNvPr>
          <p:cNvSpPr>
            <a:spLocks xmlns:a="http://schemas.openxmlformats.org/drawingml/2006/main" noGrp="1"/>
          </p:cNvSpPr>
          <p:nvPr/>
        </p:nvSpPr>
        <p:spPr>
          <a:xfrm xmlns:a="http://schemas.openxmlformats.org/drawingml/2006/main">
            <a:off x="7524750" y="16383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RESULTS</a:t>
            </a:r>
          </a:p>
        </p:txBody>
      </p:sp>
      <p:sp>
        <p:nvSpPr>
          <p:cNvPr id="7" name="">
            <a:extLst xmlns:a="http://schemas.openxmlformats.org/drawingml/2006/main">
              <a:ext uri="{FF2B5EF4-FFF2-40B4-BE49-F238E27FC236}">
                <a16:creationId xmlns:a16="http://schemas.microsoft.com/office/drawing/2014/main" id="{7728A8B3-4DF4-4F84-B272-B2A2D3F27E14}"/>
              </a:ext>
            </a:extLst>
          </p:cNvPr>
          <p:cNvSpPr>
            <a:spLocks xmlns:a="http://schemas.openxmlformats.org/drawingml/2006/main" noGrp="1"/>
          </p:cNvSpPr>
          <p:nvPr/>
        </p:nvSpPr>
        <p:spPr>
          <a:xfrm xmlns:a="http://schemas.openxmlformats.org/drawingml/2006/main">
            <a:off x="7524750" y="19812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The east-side holdout was compared with WorldCover.</a:t>
            </a:r>
          </a:p>
        </p:txBody>
      </p:sp>
      <p:sp>
        <p:nvSpPr>
          <p:cNvPr id="8" name="">
            <a:extLst xmlns:a="http://schemas.openxmlformats.org/drawingml/2006/main">
              <a:ext uri="{FF2B5EF4-FFF2-40B4-BE49-F238E27FC236}">
                <a16:creationId xmlns:a16="http://schemas.microsoft.com/office/drawing/2014/main" id="{6CF4CB5F-E3EA-48BD-BCAB-7D4A7E8C74F3}"/>
              </a:ext>
            </a:extLst>
          </p:cNvPr>
          <p:cNvSpPr>
            <a:spLocks xmlns:a="http://schemas.openxmlformats.org/drawingml/2006/main" noGrp="1"/>
          </p:cNvSpPr>
          <p:nvPr/>
        </p:nvSpPr>
        <p:spPr>
          <a:xfrm xmlns:a="http://schemas.openxmlformats.org/drawingml/2006/main">
            <a:off x="7524750" y="25527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F1 0.88, IoU 0.78 and balanced accuracy 0.89.</a:t>
            </a:r>
          </a:p>
        </p:txBody>
      </p:sp>
      <p:sp>
        <p:nvSpPr>
          <p:cNvPr id="9" name="">
            <a:extLst xmlns:a="http://schemas.openxmlformats.org/drawingml/2006/main">
              <a:ext uri="{FF2B5EF4-FFF2-40B4-BE49-F238E27FC236}">
                <a16:creationId xmlns:a16="http://schemas.microsoft.com/office/drawing/2014/main" id="{6D866C21-5947-4B6C-8446-030BA60B1FDF}"/>
              </a:ext>
            </a:extLst>
          </p:cNvPr>
          <p:cNvSpPr>
            <a:spLocks xmlns:a="http://schemas.openxmlformats.org/drawingml/2006/main" noGrp="1"/>
          </p:cNvSpPr>
          <p:nvPr/>
        </p:nvSpPr>
        <p:spPr>
          <a:xfrm xmlns:a="http://schemas.openxmlformats.org/drawingml/2006/main">
            <a:off x="7524750" y="3124200"/>
            <a:ext cx="369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The test contains 36,156 reference pixels.</a:t>
            </a:r>
          </a:p>
        </p:txBody>
      </p:sp>
      <p:sp>
        <p:nvSpPr>
          <p:cNvPr id="10" name="">
            <a:extLst xmlns:a="http://schemas.openxmlformats.org/drawingml/2006/main">
              <a:ext uri="{FF2B5EF4-FFF2-40B4-BE49-F238E27FC236}">
                <a16:creationId xmlns:a16="http://schemas.microsoft.com/office/drawing/2014/main" id="{4850286E-1497-4113-99E9-B0892888683D}"/>
              </a:ext>
            </a:extLst>
          </p:cNvPr>
          <p:cNvSpPr>
            <a:spLocks xmlns:a="http://schemas.openxmlformats.org/drawingml/2006/main" noGrp="1"/>
          </p:cNvSpPr>
          <p:nvPr/>
        </p:nvSpPr>
        <p:spPr>
          <a:xfrm xmlns:a="http://schemas.openxmlformats.org/drawingml/2006/main">
            <a:off x="7524750" y="38100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LIMITS</a:t>
            </a:r>
          </a:p>
        </p:txBody>
      </p:sp>
      <p:sp>
        <p:nvSpPr>
          <p:cNvPr id="11" name="">
            <a:extLst xmlns:a="http://schemas.openxmlformats.org/drawingml/2006/main">
              <a:ext uri="{FF2B5EF4-FFF2-40B4-BE49-F238E27FC236}">
                <a16:creationId xmlns:a16="http://schemas.microsoft.com/office/drawing/2014/main" id="{EEADD76E-0B7A-4439-9CDC-D35C59E5CCBC}"/>
              </a:ext>
            </a:extLst>
          </p:cNvPr>
          <p:cNvSpPr>
            <a:spLocks xmlns:a="http://schemas.openxmlformats.org/drawingml/2006/main" noGrp="1"/>
          </p:cNvSpPr>
          <p:nvPr/>
        </p:nvSpPr>
        <p:spPr>
          <a:xfrm xmlns:a="http://schemas.openxmlformats.org/drawingml/2006/main">
            <a:off x="7524750" y="417195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Field accuracy.</a:t>
            </a:r>
          </a:p>
        </p:txBody>
      </p:sp>
      <p:sp>
        <p:nvSpPr>
          <p:cNvPr id="12" name="">
            <a:extLst xmlns:a="http://schemas.openxmlformats.org/drawingml/2006/main">
              <a:ext uri="{FF2B5EF4-FFF2-40B4-BE49-F238E27FC236}">
                <a16:creationId xmlns:a16="http://schemas.microsoft.com/office/drawing/2014/main" id="{398FC2DB-BACA-410E-9E4C-717EF1C0A957}"/>
              </a:ext>
            </a:extLst>
          </p:cNvPr>
          <p:cNvSpPr>
            <a:spLocks xmlns:a="http://schemas.openxmlformats.org/drawingml/2006/main" noGrp="1"/>
          </p:cNvSpPr>
          <p:nvPr/>
        </p:nvSpPr>
        <p:spPr>
          <a:xfrm xmlns:a="http://schemas.openxmlformats.org/drawingml/2006/main">
            <a:off x="7524750" y="462915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Air temperature or health outcomes.</a:t>
            </a:r>
          </a:p>
        </p:txBody>
      </p:sp>
      <p:sp>
        <p:nvSpPr>
          <p:cNvPr id="13" name="">
            <a:extLst xmlns:a="http://schemas.openxmlformats.org/drawingml/2006/main">
              <a:ext uri="{FF2B5EF4-FFF2-40B4-BE49-F238E27FC236}">
                <a16:creationId xmlns:a16="http://schemas.microsoft.com/office/drawing/2014/main" id="{97D2E08A-EF85-459D-BD49-3041B1F680C3}"/>
              </a:ext>
            </a:extLst>
          </p:cNvPr>
          <p:cNvSpPr>
            <a:spLocks xmlns:a="http://schemas.openxmlformats.org/drawingml/2006/main" noGrp="1"/>
          </p:cNvSpPr>
          <p:nvPr/>
        </p:nvSpPr>
        <p:spPr>
          <a:xfrm xmlns:a="http://schemas.openxmlformats.org/drawingml/2006/main">
            <a:off x="7524750" y="5086350"/>
            <a:ext cx="3695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Municipal approval or user acceptance.</a:t>
            </a:r>
          </a:p>
        </p:txBody>
      </p:sp>
      <p:sp>
        <p:nvSpPr>
          <p:cNvPr id="14" name="">
            <a:extLst xmlns:a="http://schemas.openxmlformats.org/drawingml/2006/main">
              <a:ext uri="{FF2B5EF4-FFF2-40B4-BE49-F238E27FC236}">
                <a16:creationId xmlns:a16="http://schemas.microsoft.com/office/drawing/2014/main" id="{2AB7ACB5-C0F0-40A3-9BD0-EC51B35C89D1}"/>
              </a:ext>
            </a:extLst>
          </p:cNvPr>
          <p:cNvSpPr>
            <a:spLocks xmlns:a="http://schemas.openxmlformats.org/drawingml/2006/main" noGrp="1"/>
          </p:cNvSpPr>
          <p:nvPr/>
        </p:nvSpPr>
        <p:spPr>
          <a:xfrm xmlns:a="http://schemas.openxmlformats.org/drawingml/2006/main">
            <a:off x="7524750" y="575310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vl1pPr algn="l">
              <a:buNone/>
              <a:defRPr sz="1350" b="1">
                <a:solidFill>
                  <a:srgbClr val="E2AD2B"/>
                </a:solidFill>
                <a:latin typeface="Arial"/>
                <a:ea typeface="Arial"/>
                <a:cs typeface="Arial"/>
              </a:defRPr>
            </a:lvl1pPr>
            <a:lvl2pPr algn="l">
              <a:buNone/>
              <a:defRPr sz="1350" b="1">
                <a:solidFill>
                  <a:srgbClr val="E2AD2B"/>
                </a:solidFill>
                <a:latin typeface="Arial"/>
                <a:ea typeface="Arial"/>
                <a:cs typeface="Arial"/>
              </a:defRPr>
            </a:lvl2pPr>
            <a:lvl3pPr algn="l">
              <a:buNone/>
              <a:defRPr sz="1350" b="1">
                <a:solidFill>
                  <a:srgbClr val="E2AD2B"/>
                </a:solidFill>
                <a:latin typeface="Arial"/>
                <a:ea typeface="Arial"/>
                <a:cs typeface="Arial"/>
              </a:defRPr>
            </a:lvl3pPr>
            <a:lvl4pPr algn="l">
              <a:buNone/>
              <a:defRPr sz="1350" b="1">
                <a:solidFill>
                  <a:srgbClr val="E2AD2B"/>
                </a:solidFill>
                <a:latin typeface="Arial"/>
                <a:ea typeface="Arial"/>
                <a:cs typeface="Arial"/>
              </a:defRPr>
            </a:lvl4pPr>
            <a:lvl5pPr algn="l">
              <a:buNone/>
              <a:defRPr sz="1350" b="1">
                <a:solidFill>
                  <a:srgbClr val="E2AD2B"/>
                </a:solidFill>
                <a:latin typeface="Arial"/>
                <a:ea typeface="Arial"/>
                <a:cs typeface="Arial"/>
              </a:defRPr>
            </a:lvl5pPr>
            <a:lvl6pPr algn="l">
              <a:buNone/>
              <a:defRPr sz="1350" b="1">
                <a:solidFill>
                  <a:srgbClr val="E2AD2B"/>
                </a:solidFill>
                <a:latin typeface="Arial"/>
                <a:ea typeface="Arial"/>
                <a:cs typeface="Arial"/>
              </a:defRPr>
            </a:lvl6pPr>
            <a:lvl7pPr algn="l">
              <a:buNone/>
              <a:defRPr sz="1350" b="1">
                <a:solidFill>
                  <a:srgbClr val="E2AD2B"/>
                </a:solidFill>
                <a:latin typeface="Arial"/>
                <a:ea typeface="Arial"/>
                <a:cs typeface="Arial"/>
              </a:defRPr>
            </a:lvl7pPr>
            <a:lvl8pPr algn="l">
              <a:buNone/>
              <a:defRPr sz="1350" b="1">
                <a:solidFill>
                  <a:srgbClr val="E2AD2B"/>
                </a:solidFill>
                <a:latin typeface="Arial"/>
                <a:ea typeface="Arial"/>
                <a:cs typeface="Arial"/>
              </a:defRPr>
            </a:lvl8pPr>
            <a:lvl9pPr algn="l">
              <a:buNone/>
              <a:defRPr sz="1350" b="1">
                <a:solidFill>
                  <a:srgbClr val="E2AD2B"/>
                </a:solidFill>
                <a:latin typeface="Arial"/>
                <a:ea typeface="Arial"/>
                <a:cs typeface="Arial"/>
              </a:defRPr>
            </a:lvl9pPr>
          </a:lstStyle>
          <a:p xmlns:a="http://schemas.openxmlformats.org/drawingml/2006/main">
            <a:pPr algn="l">
              <a:buNone/>
              <a:defRPr sz="1350" b="1">
                <a:solidFill>
                  <a:srgbClr val="E2AD2B"/>
                </a:solidFill>
                <a:latin typeface="Arial"/>
                <a:ea typeface="Arial"/>
                <a:cs typeface="Arial"/>
              </a:defRPr>
            </a:pPr>
            <a:r>
              <a:rPr sz="1350" b="1">
                <a:solidFill>
                  <a:srgbClr val="E2AD2B"/>
                </a:solidFill>
                <a:latin typeface="Arial"/>
                <a:ea typeface="Arial"/>
                <a:cs typeface="Arial"/>
              </a:rPr>
              <a:t>Next: field and user review of the top-ranked cells.</a:t>
            </a:r>
          </a:p>
        </p:txBody>
      </p:sp>
      <p:sp>
        <p:nvSpPr>
          <p:cNvPr id="15" name="">
            <a:extLst xmlns:a="http://schemas.openxmlformats.org/drawingml/2006/main">
              <a:ext uri="{FF2B5EF4-FFF2-40B4-BE49-F238E27FC236}">
                <a16:creationId xmlns:a16="http://schemas.microsoft.com/office/drawing/2014/main" id="{5069E975-441A-438B-BA4E-69457F3D20B5}"/>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16" name="">
            <a:extLst xmlns:a="http://schemas.openxmlformats.org/drawingml/2006/main">
              <a:ext uri="{FF2B5EF4-FFF2-40B4-BE49-F238E27FC236}">
                <a16:creationId xmlns:a16="http://schemas.microsoft.com/office/drawing/2014/main" id="{1A326DC3-1A0B-4C82-B2B4-88B751099826}"/>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10</a:t>
            </a:r>
          </a:p>
        </p:txBody>
      </p:sp>
    </p:spTree>
    <p:extLst>
      <p:ext uri="{BB962C8B-B14F-4D97-AF65-F5344CB8AC3E}">
        <p14:creationId xmlns:p14="http://schemas.microsoft.com/office/powerpoint/2010/main" val="2063543567"/>
      </p:ext>
    </p:extLst>
  </p:cSld>
</p:sld>
</file>

<file path=ppt/theme/theme1.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2026-10-26T17:45:36.3300000Z</dcterms:created>
  <dcterms:modified xsi:type="dcterms:W3CDTF">2026-10-26T17:45:36.3300000Z</dcterms:modified>
</coreProperties>
</file>